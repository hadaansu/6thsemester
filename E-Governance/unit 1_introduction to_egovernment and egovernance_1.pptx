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59"/>
  </p:notesMasterIdLst>
  <p:sldIdLst>
    <p:sldId id="256" r:id="rId2"/>
    <p:sldId id="662" r:id="rId3"/>
    <p:sldId id="661" r:id="rId4"/>
    <p:sldId id="627" r:id="rId5"/>
    <p:sldId id="623" r:id="rId6"/>
    <p:sldId id="629" r:id="rId7"/>
    <p:sldId id="554" r:id="rId8"/>
    <p:sldId id="555" r:id="rId9"/>
    <p:sldId id="556" r:id="rId10"/>
    <p:sldId id="576" r:id="rId11"/>
    <p:sldId id="577" r:id="rId12"/>
    <p:sldId id="630" r:id="rId13"/>
    <p:sldId id="592" r:id="rId14"/>
    <p:sldId id="593" r:id="rId15"/>
    <p:sldId id="594" r:id="rId16"/>
    <p:sldId id="595" r:id="rId17"/>
    <p:sldId id="588" r:id="rId18"/>
    <p:sldId id="589" r:id="rId19"/>
    <p:sldId id="590" r:id="rId20"/>
    <p:sldId id="591" r:id="rId21"/>
    <p:sldId id="646" r:id="rId22"/>
    <p:sldId id="579" r:id="rId23"/>
    <p:sldId id="596" r:id="rId24"/>
    <p:sldId id="647" r:id="rId25"/>
    <p:sldId id="632" r:id="rId26"/>
    <p:sldId id="633" r:id="rId27"/>
    <p:sldId id="650" r:id="rId28"/>
    <p:sldId id="634" r:id="rId29"/>
    <p:sldId id="635" r:id="rId30"/>
    <p:sldId id="637" r:id="rId31"/>
    <p:sldId id="638" r:id="rId32"/>
    <p:sldId id="639" r:id="rId33"/>
    <p:sldId id="640" r:id="rId34"/>
    <p:sldId id="642" r:id="rId35"/>
    <p:sldId id="643" r:id="rId36"/>
    <p:sldId id="641" r:id="rId37"/>
    <p:sldId id="644" r:id="rId38"/>
    <p:sldId id="645" r:id="rId39"/>
    <p:sldId id="652" r:id="rId40"/>
    <p:sldId id="614" r:id="rId41"/>
    <p:sldId id="615" r:id="rId42"/>
    <p:sldId id="616" r:id="rId43"/>
    <p:sldId id="564" r:id="rId44"/>
    <p:sldId id="597" r:id="rId45"/>
    <p:sldId id="598" r:id="rId46"/>
    <p:sldId id="599" r:id="rId47"/>
    <p:sldId id="600" r:id="rId48"/>
    <p:sldId id="601" r:id="rId49"/>
    <p:sldId id="602" r:id="rId50"/>
    <p:sldId id="565" r:id="rId51"/>
    <p:sldId id="603" r:id="rId52"/>
    <p:sldId id="604" r:id="rId53"/>
    <p:sldId id="655" r:id="rId54"/>
    <p:sldId id="659" r:id="rId55"/>
    <p:sldId id="660" r:id="rId56"/>
    <p:sldId id="658" r:id="rId57"/>
    <p:sldId id="285" r:id="rId58"/>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02"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79425"/>
          </a:xfrm>
          <a:prstGeom prst="rect">
            <a:avLst/>
          </a:prstGeom>
        </p:spPr>
        <p:txBody>
          <a:bodyPr vert="horz" lIns="91440" tIns="45720" rIns="91440" bIns="45720" rtlCol="0"/>
          <a:lstStyle>
            <a:lvl1pPr algn="r">
              <a:defRPr sz="1200"/>
            </a:lvl1pPr>
          </a:lstStyle>
          <a:p>
            <a:fld id="{8A1C1795-FAF8-4669-91CD-DA70F26634A2}" type="datetimeFigureOut">
              <a:rPr lang="en-US" smtClean="0"/>
              <a:pPr/>
              <a:t>6/22/2025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1440" tIns="45720" rIns="91440" bIns="45720" rtlCol="0" anchor="b"/>
          <a:lstStyle>
            <a:lvl1pPr algn="r">
              <a:defRPr sz="1200"/>
            </a:lvl1pPr>
          </a:lstStyle>
          <a:p>
            <a:fld id="{88128EF9-718D-42DF-B821-EF4EC86CF799}" type="slidenum">
              <a:rPr lang="en-US" smtClean="0"/>
              <a:pPr/>
              <a:t>‹#›</a:t>
            </a:fld>
            <a:endParaRPr lang="en-US"/>
          </a:p>
        </p:txBody>
      </p:sp>
    </p:spTree>
    <p:extLst>
      <p:ext uri="{BB962C8B-B14F-4D97-AF65-F5344CB8AC3E}">
        <p14:creationId xmlns:p14="http://schemas.microsoft.com/office/powerpoint/2010/main" val="2835702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Gto</a:t>
            </a:r>
            <a:r>
              <a:rPr lang="en-US" dirty="0"/>
              <a:t> B – oil corporation</a:t>
            </a:r>
          </a:p>
        </p:txBody>
      </p:sp>
      <p:sp>
        <p:nvSpPr>
          <p:cNvPr id="4" name="Slide Number Placeholder 3"/>
          <p:cNvSpPr>
            <a:spLocks noGrp="1"/>
          </p:cNvSpPr>
          <p:nvPr>
            <p:ph type="sldNum" sz="quarter" idx="5"/>
          </p:nvPr>
        </p:nvSpPr>
        <p:spPr/>
        <p:txBody>
          <a:bodyPr/>
          <a:lstStyle/>
          <a:p>
            <a:fld id="{88128EF9-718D-42DF-B821-EF4EC86CF799}" type="slidenum">
              <a:rPr lang="en-US" smtClean="0"/>
              <a:pPr/>
              <a:t>5</a:t>
            </a:fld>
            <a:endParaRPr lang="en-US"/>
          </a:p>
        </p:txBody>
      </p:sp>
    </p:spTree>
    <p:extLst>
      <p:ext uri="{BB962C8B-B14F-4D97-AF65-F5344CB8AC3E}">
        <p14:creationId xmlns:p14="http://schemas.microsoft.com/office/powerpoint/2010/main" val="3554659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128EF9-718D-42DF-B821-EF4EC86CF799}" type="slidenum">
              <a:rPr lang="en-US" smtClean="0"/>
              <a:pPr/>
              <a:t>6</a:t>
            </a:fld>
            <a:endParaRPr lang="en-US"/>
          </a:p>
        </p:txBody>
      </p:sp>
    </p:spTree>
    <p:extLst>
      <p:ext uri="{BB962C8B-B14F-4D97-AF65-F5344CB8AC3E}">
        <p14:creationId xmlns:p14="http://schemas.microsoft.com/office/powerpoint/2010/main" val="1839601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and equal access</a:t>
            </a:r>
          </a:p>
        </p:txBody>
      </p:sp>
      <p:sp>
        <p:nvSpPr>
          <p:cNvPr id="4" name="Slide Number Placeholder 3"/>
          <p:cNvSpPr>
            <a:spLocks noGrp="1"/>
          </p:cNvSpPr>
          <p:nvPr>
            <p:ph type="sldNum" sz="quarter" idx="5"/>
          </p:nvPr>
        </p:nvSpPr>
        <p:spPr/>
        <p:txBody>
          <a:bodyPr/>
          <a:lstStyle/>
          <a:p>
            <a:fld id="{88128EF9-718D-42DF-B821-EF4EC86CF799}" type="slidenum">
              <a:rPr lang="en-US" smtClean="0"/>
              <a:pPr/>
              <a:t>11</a:t>
            </a:fld>
            <a:endParaRPr lang="en-US"/>
          </a:p>
        </p:txBody>
      </p:sp>
    </p:spTree>
    <p:extLst>
      <p:ext uri="{BB962C8B-B14F-4D97-AF65-F5344CB8AC3E}">
        <p14:creationId xmlns:p14="http://schemas.microsoft.com/office/powerpoint/2010/main" val="3584894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a:t>
            </a:r>
            <a:r>
              <a:rPr lang="en-US" dirty="0" err="1"/>
              <a:t>tapism</a:t>
            </a:r>
            <a:r>
              <a:rPr lang="en-US" dirty="0"/>
              <a:t> …file </a:t>
            </a:r>
            <a:r>
              <a:rPr lang="en-US" dirty="0" err="1"/>
              <a:t>lukaune</a:t>
            </a:r>
            <a:r>
              <a:rPr lang="en-US" dirty="0"/>
              <a:t> … file </a:t>
            </a:r>
            <a:r>
              <a:rPr lang="en-US" dirty="0" err="1"/>
              <a:t>yeta</a:t>
            </a:r>
            <a:r>
              <a:rPr lang="en-US" dirty="0"/>
              <a:t> </a:t>
            </a:r>
            <a:r>
              <a:rPr lang="en-US" dirty="0" err="1"/>
              <a:t>uti</a:t>
            </a:r>
            <a:r>
              <a:rPr lang="en-US" dirty="0"/>
              <a:t> </a:t>
            </a:r>
            <a:r>
              <a:rPr lang="en-US" dirty="0" err="1"/>
              <a:t>ghumaune</a:t>
            </a:r>
            <a:r>
              <a:rPr lang="en-US" dirty="0"/>
              <a:t> </a:t>
            </a:r>
          </a:p>
        </p:txBody>
      </p:sp>
      <p:sp>
        <p:nvSpPr>
          <p:cNvPr id="4" name="Slide Number Placeholder 3"/>
          <p:cNvSpPr>
            <a:spLocks noGrp="1"/>
          </p:cNvSpPr>
          <p:nvPr>
            <p:ph type="sldNum" sz="quarter" idx="5"/>
          </p:nvPr>
        </p:nvSpPr>
        <p:spPr/>
        <p:txBody>
          <a:bodyPr/>
          <a:lstStyle/>
          <a:p>
            <a:fld id="{88128EF9-718D-42DF-B821-EF4EC86CF799}" type="slidenum">
              <a:rPr lang="en-US" smtClean="0"/>
              <a:pPr/>
              <a:t>16</a:t>
            </a:fld>
            <a:endParaRPr lang="en-US"/>
          </a:p>
        </p:txBody>
      </p:sp>
    </p:spTree>
    <p:extLst>
      <p:ext uri="{BB962C8B-B14F-4D97-AF65-F5344CB8AC3E}">
        <p14:creationId xmlns:p14="http://schemas.microsoft.com/office/powerpoint/2010/main" val="4050077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StoneSerif"/>
              </a:rPr>
              <a:t>(Avison and</a:t>
            </a:r>
          </a:p>
          <a:p>
            <a:pPr algn="l"/>
            <a:r>
              <a:rPr lang="en-US" sz="1800" b="0" i="0" u="none" strike="noStrike" baseline="0" dirty="0">
                <a:latin typeface="StoneSerif"/>
              </a:rPr>
              <a:t>Fitzgerald, 2003).</a:t>
            </a:r>
            <a:endParaRPr lang="en-US" dirty="0"/>
          </a:p>
        </p:txBody>
      </p:sp>
      <p:sp>
        <p:nvSpPr>
          <p:cNvPr id="4" name="Slide Number Placeholder 3"/>
          <p:cNvSpPr>
            <a:spLocks noGrp="1"/>
          </p:cNvSpPr>
          <p:nvPr>
            <p:ph type="sldNum" sz="quarter" idx="5"/>
          </p:nvPr>
        </p:nvSpPr>
        <p:spPr/>
        <p:txBody>
          <a:bodyPr/>
          <a:lstStyle/>
          <a:p>
            <a:fld id="{88128EF9-718D-42DF-B821-EF4EC86CF799}" type="slidenum">
              <a:rPr lang="en-US" smtClean="0"/>
              <a:pPr/>
              <a:t>26</a:t>
            </a:fld>
            <a:endParaRPr lang="en-US" dirty="0"/>
          </a:p>
        </p:txBody>
      </p:sp>
    </p:spTree>
    <p:extLst>
      <p:ext uri="{BB962C8B-B14F-4D97-AF65-F5344CB8AC3E}">
        <p14:creationId xmlns:p14="http://schemas.microsoft.com/office/powerpoint/2010/main" val="2964785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latin typeface="StoneSerif"/>
              </a:rPr>
              <a:t>adapted from </a:t>
            </a:r>
            <a:r>
              <a:rPr lang="en-US" sz="1800" b="0" i="0" u="none" strike="noStrike" baseline="0" dirty="0" err="1">
                <a:latin typeface="StoneSerif"/>
              </a:rPr>
              <a:t>Heeks</a:t>
            </a:r>
            <a:r>
              <a:rPr lang="en-US" sz="1800" b="0" i="0" u="none" strike="noStrike" baseline="0" dirty="0">
                <a:latin typeface="StoneSerif"/>
              </a:rPr>
              <a:t> and Bhatnagar, 2001).</a:t>
            </a:r>
            <a:endParaRPr lang="en-US" dirty="0"/>
          </a:p>
        </p:txBody>
      </p:sp>
      <p:sp>
        <p:nvSpPr>
          <p:cNvPr id="4" name="Slide Number Placeholder 3"/>
          <p:cNvSpPr>
            <a:spLocks noGrp="1"/>
          </p:cNvSpPr>
          <p:nvPr>
            <p:ph type="sldNum" sz="quarter" idx="5"/>
          </p:nvPr>
        </p:nvSpPr>
        <p:spPr/>
        <p:txBody>
          <a:bodyPr/>
          <a:lstStyle/>
          <a:p>
            <a:fld id="{88128EF9-718D-42DF-B821-EF4EC86CF799}" type="slidenum">
              <a:rPr lang="en-US" smtClean="0"/>
              <a:pPr/>
              <a:t>30</a:t>
            </a:fld>
            <a:endParaRPr lang="en-US"/>
          </a:p>
        </p:txBody>
      </p:sp>
    </p:spTree>
    <p:extLst>
      <p:ext uri="{BB962C8B-B14F-4D97-AF65-F5344CB8AC3E}">
        <p14:creationId xmlns:p14="http://schemas.microsoft.com/office/powerpoint/2010/main" val="305443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algn="l"/>
            <a:r>
              <a:rPr lang="en-US" sz="1800" b="0" i="0" u="none" strike="noStrike" baseline="0" dirty="0">
                <a:latin typeface="Symbol" panose="05050102010706020507" pitchFamily="18" charset="2"/>
              </a:rPr>
              <a:t>• </a:t>
            </a:r>
            <a:r>
              <a:rPr lang="en-US" sz="1800" b="1" i="0" u="none" strike="noStrike" baseline="0" dirty="0">
                <a:latin typeface="StoneSerif-Semibold"/>
              </a:rPr>
              <a:t>C</a:t>
            </a:r>
            <a:r>
              <a:rPr lang="en-US" sz="1800" b="0" i="0" u="none" strike="noStrike" baseline="0" dirty="0">
                <a:latin typeface="StoneSerif"/>
              </a:rPr>
              <a:t>apture: Gathering the raw data necessary</a:t>
            </a:r>
          </a:p>
          <a:p>
            <a:pPr algn="l"/>
            <a:r>
              <a:rPr lang="en-US" sz="1800" b="0" i="0" u="none" strike="noStrike" baseline="0" dirty="0">
                <a:latin typeface="StoneSerif"/>
              </a:rPr>
              <a:t>for the e-government system. The</a:t>
            </a:r>
          </a:p>
          <a:p>
            <a:pPr algn="l"/>
            <a:r>
              <a:rPr lang="en-US" sz="1800" b="0" i="0" u="none" strike="noStrike" baseline="0" dirty="0">
                <a:latin typeface="StoneSerif"/>
              </a:rPr>
              <a:t>taxpayer obtains the basic data on their</a:t>
            </a:r>
          </a:p>
          <a:p>
            <a:pPr algn="l"/>
            <a:r>
              <a:rPr lang="en-US" sz="1800" b="0" i="0" u="none" strike="noStrike" baseline="0" dirty="0">
                <a:latin typeface="StoneSerif"/>
              </a:rPr>
              <a:t>various sources of income.</a:t>
            </a:r>
          </a:p>
          <a:p>
            <a:pPr algn="l"/>
            <a:r>
              <a:rPr lang="en-US" sz="1800" b="0" i="0" u="none" strike="noStrike" baseline="0" dirty="0">
                <a:latin typeface="Symbol" panose="05050102010706020507" pitchFamily="18" charset="2"/>
              </a:rPr>
              <a:t>• </a:t>
            </a:r>
            <a:r>
              <a:rPr lang="en-US" sz="1800" b="1" i="0" u="none" strike="noStrike" baseline="0" dirty="0">
                <a:latin typeface="StoneSerif-Semibold"/>
              </a:rPr>
              <a:t>I</a:t>
            </a:r>
            <a:r>
              <a:rPr lang="en-US" sz="1800" b="0" i="0" u="none" strike="noStrike" baseline="0" dirty="0">
                <a:latin typeface="StoneSerif"/>
              </a:rPr>
              <a:t>nput: Entering the data onto the system.</a:t>
            </a:r>
          </a:p>
          <a:p>
            <a:pPr algn="l"/>
            <a:r>
              <a:rPr lang="en-US" sz="1800" b="0" i="0" u="none" strike="noStrike" baseline="0" dirty="0">
                <a:latin typeface="StoneSerif"/>
              </a:rPr>
              <a:t>The taxpayer types the data into an</a:t>
            </a:r>
          </a:p>
          <a:p>
            <a:pPr algn="l"/>
            <a:r>
              <a:rPr lang="en-US" sz="1800" b="0" i="0" u="none" strike="noStrike" baseline="0" dirty="0">
                <a:latin typeface="StoneSerif"/>
              </a:rPr>
              <a:t>e-form on the revenue agency’s web site.</a:t>
            </a:r>
          </a:p>
          <a:p>
            <a:pPr algn="l"/>
            <a:r>
              <a:rPr lang="en-US" sz="1800" b="0" i="0" u="none" strike="noStrike" baseline="0" dirty="0">
                <a:latin typeface="Symbol" panose="05050102010706020507" pitchFamily="18" charset="2"/>
              </a:rPr>
              <a:t>• </a:t>
            </a:r>
            <a:r>
              <a:rPr lang="en-US" sz="1800" b="1" i="0" u="none" strike="noStrike" baseline="0" dirty="0">
                <a:latin typeface="StoneSerif-Semibold"/>
              </a:rPr>
              <a:t>P</a:t>
            </a:r>
            <a:r>
              <a:rPr lang="en-US" sz="1800" b="0" i="0" u="none" strike="noStrike" baseline="0" dirty="0">
                <a:latin typeface="StoneSerif"/>
              </a:rPr>
              <a:t>rocess: Altering the data via calculation,</a:t>
            </a:r>
          </a:p>
          <a:p>
            <a:pPr algn="l"/>
            <a:r>
              <a:rPr lang="en-US" sz="1800" b="0" i="0" u="none" strike="noStrike" baseline="0" dirty="0">
                <a:latin typeface="StoneSerif"/>
              </a:rPr>
              <a:t>classification, selection, and so on. The</a:t>
            </a:r>
          </a:p>
          <a:p>
            <a:pPr algn="l"/>
            <a:r>
              <a:rPr lang="en-US" sz="1800" b="0" i="0" u="none" strike="noStrike" baseline="0" dirty="0">
                <a:latin typeface="StoneSerif"/>
              </a:rPr>
              <a:t>e-tax system uses the different tax rates</a:t>
            </a:r>
          </a:p>
          <a:p>
            <a:pPr algn="l"/>
            <a:r>
              <a:rPr lang="en-US" sz="1800" b="0" i="0" u="none" strike="noStrike" baseline="0" dirty="0">
                <a:latin typeface="StoneSerif"/>
              </a:rPr>
              <a:t>for different income types to calculate</a:t>
            </a:r>
          </a:p>
          <a:p>
            <a:pPr algn="l"/>
            <a:r>
              <a:rPr lang="en-US" sz="1800" b="0" i="0" u="none" strike="noStrike" baseline="0" dirty="0">
                <a:latin typeface="StoneSerif"/>
              </a:rPr>
              <a:t>the total tax owed.</a:t>
            </a:r>
          </a:p>
          <a:p>
            <a:pPr algn="l"/>
            <a:r>
              <a:rPr lang="en-US" sz="1800" b="0" i="0" u="none" strike="noStrike" baseline="0" dirty="0">
                <a:latin typeface="Symbol" panose="05050102010706020507" pitchFamily="18" charset="2"/>
              </a:rPr>
              <a:t>• </a:t>
            </a:r>
            <a:r>
              <a:rPr lang="en-US" sz="1800" b="1" i="0" u="none" strike="noStrike" baseline="0" dirty="0">
                <a:latin typeface="StoneSerif-Semibold"/>
              </a:rPr>
              <a:t>S</a:t>
            </a:r>
            <a:r>
              <a:rPr lang="en-US" sz="1800" b="0" i="0" u="none" strike="noStrike" baseline="0" dirty="0">
                <a:latin typeface="StoneSerif"/>
              </a:rPr>
              <a:t>tore: Holding raw and processed data</a:t>
            </a:r>
          </a:p>
          <a:p>
            <a:pPr algn="l"/>
            <a:r>
              <a:rPr lang="en-US" sz="1800" b="0" i="0" u="none" strike="noStrike" baseline="0" dirty="0">
                <a:latin typeface="StoneSerif"/>
              </a:rPr>
              <a:t>on the system. The e-tax system stores all</a:t>
            </a:r>
          </a:p>
          <a:p>
            <a:pPr algn="l"/>
            <a:r>
              <a:rPr lang="en-US" sz="1800" b="0" i="0" u="none" strike="noStrike" baseline="0" dirty="0">
                <a:latin typeface="StoneSerif"/>
              </a:rPr>
              <a:t>details entered and calculated about this</a:t>
            </a:r>
          </a:p>
          <a:p>
            <a:pPr algn="l"/>
            <a:r>
              <a:rPr lang="en-US" sz="1800" b="0" i="0" u="none" strike="noStrike" baseline="0" dirty="0">
                <a:latin typeface="StoneSerif"/>
              </a:rPr>
              <a:t>taxpayer.</a:t>
            </a:r>
          </a:p>
          <a:p>
            <a:pPr algn="l"/>
            <a:r>
              <a:rPr lang="en-US" sz="1800" b="0" i="0" u="none" strike="noStrike" baseline="0" dirty="0">
                <a:latin typeface="Symbol" panose="05050102010706020507" pitchFamily="18" charset="2"/>
              </a:rPr>
              <a:t>• </a:t>
            </a:r>
            <a:r>
              <a:rPr lang="en-US" sz="1800" b="1" i="0" u="none" strike="noStrike" baseline="0" dirty="0">
                <a:latin typeface="StoneSerif-Semibold"/>
              </a:rPr>
              <a:t>O</a:t>
            </a:r>
            <a:r>
              <a:rPr lang="en-US" sz="1800" b="0" i="0" u="none" strike="noStrike" baseline="0" dirty="0">
                <a:latin typeface="StoneSerif"/>
              </a:rPr>
              <a:t>utput: Issuing the processed data. The</a:t>
            </a:r>
          </a:p>
          <a:p>
            <a:pPr algn="l"/>
            <a:r>
              <a:rPr lang="en-US" sz="1800" b="0" i="0" u="none" strike="noStrike" baseline="0" dirty="0">
                <a:latin typeface="StoneSerif"/>
              </a:rPr>
              <a:t>total tax calculated is displayed to the</a:t>
            </a:r>
          </a:p>
          <a:p>
            <a:pPr algn="l"/>
            <a:r>
              <a:rPr lang="en-US" sz="1800" b="0" i="0" u="none" strike="noStrike" baseline="0" dirty="0">
                <a:latin typeface="StoneSerif"/>
              </a:rPr>
              <a:t>taxpayer.</a:t>
            </a:r>
          </a:p>
          <a:p>
            <a:pPr algn="l"/>
            <a:r>
              <a:rPr lang="en-US" sz="1800" b="0" i="0" u="none" strike="noStrike" baseline="0" dirty="0">
                <a:latin typeface="Symbol" panose="05050102010706020507" pitchFamily="18" charset="2"/>
              </a:rPr>
              <a:t>• </a:t>
            </a:r>
            <a:r>
              <a:rPr lang="en-US" sz="1800" b="1" i="0" u="none" strike="noStrike" baseline="0" dirty="0">
                <a:latin typeface="StoneSerif-Semibold"/>
              </a:rPr>
              <a:t>D</a:t>
            </a:r>
            <a:r>
              <a:rPr lang="en-US" sz="1800" b="0" i="0" u="none" strike="noStrike" baseline="0" dirty="0">
                <a:latin typeface="StoneSerif"/>
              </a:rPr>
              <a:t>ecision: If the processed data is useful</a:t>
            </a:r>
          </a:p>
          <a:p>
            <a:pPr algn="l"/>
            <a:r>
              <a:rPr lang="en-US" sz="1800" b="0" i="0" u="none" strike="noStrike" baseline="0" dirty="0">
                <a:latin typeface="StoneSerif"/>
              </a:rPr>
              <a:t>enough to be seen as information, it is</a:t>
            </a:r>
          </a:p>
          <a:p>
            <a:pPr algn="l"/>
            <a:r>
              <a:rPr lang="en-US" sz="1800" b="0" i="0" u="none" strike="noStrike" baseline="0" dirty="0">
                <a:latin typeface="StoneSerif"/>
              </a:rPr>
              <a:t>used for decision making. The taxpayer</a:t>
            </a:r>
          </a:p>
          <a:p>
            <a:pPr algn="l"/>
            <a:r>
              <a:rPr lang="en-US" sz="1800" b="0" i="0" u="none" strike="noStrike" baseline="0" dirty="0">
                <a:latin typeface="StoneSerif"/>
              </a:rPr>
              <a:t>determines whether to challenge or</a:t>
            </a:r>
          </a:p>
          <a:p>
            <a:pPr algn="l"/>
            <a:r>
              <a:rPr lang="en-US" sz="1800" b="0" i="0" u="none" strike="noStrike" baseline="0" dirty="0">
                <a:latin typeface="StoneSerif"/>
              </a:rPr>
              <a:t>accept the calculated tax sum.</a:t>
            </a:r>
          </a:p>
          <a:p>
            <a:pPr algn="l"/>
            <a:r>
              <a:rPr lang="en-US" sz="1800" b="0" i="0" u="none" strike="noStrike" baseline="0" dirty="0">
                <a:latin typeface="Symbol" panose="05050102010706020507" pitchFamily="18" charset="2"/>
              </a:rPr>
              <a:t>• </a:t>
            </a:r>
            <a:r>
              <a:rPr lang="en-US" sz="1800" b="1" i="0" u="none" strike="noStrike" baseline="0" dirty="0">
                <a:latin typeface="StoneSerif-Semibold"/>
              </a:rPr>
              <a:t>A</a:t>
            </a:r>
            <a:r>
              <a:rPr lang="en-US" sz="1800" b="0" i="0" u="none" strike="noStrike" baseline="0" dirty="0">
                <a:latin typeface="StoneSerif"/>
              </a:rPr>
              <a:t>ction: Implementation of the decision.</a:t>
            </a:r>
          </a:p>
          <a:p>
            <a:pPr algn="l"/>
            <a:r>
              <a:rPr lang="en-US" sz="1800" b="0" i="0" u="none" strike="noStrike" baseline="0" dirty="0">
                <a:latin typeface="StoneSerif"/>
              </a:rPr>
              <a:t>If all is well, the taxpayer authorizes payment</a:t>
            </a:r>
          </a:p>
          <a:p>
            <a:pPr algn="l"/>
            <a:r>
              <a:rPr lang="en-US" sz="1800" b="0" i="0" u="none" strike="noStrike" baseline="0" dirty="0">
                <a:latin typeface="StoneSerif"/>
              </a:rPr>
              <a:t>of the tax owed.</a:t>
            </a:r>
            <a:endParaRPr lang="en-US" dirty="0"/>
          </a:p>
        </p:txBody>
      </p:sp>
      <p:sp>
        <p:nvSpPr>
          <p:cNvPr id="4" name="Slide Number Placeholder 3"/>
          <p:cNvSpPr>
            <a:spLocks noGrp="1"/>
          </p:cNvSpPr>
          <p:nvPr>
            <p:ph type="sldNum" sz="quarter" idx="5"/>
          </p:nvPr>
        </p:nvSpPr>
        <p:spPr/>
        <p:txBody>
          <a:bodyPr/>
          <a:lstStyle/>
          <a:p>
            <a:fld id="{88128EF9-718D-42DF-B821-EF4EC86CF799}" type="slidenum">
              <a:rPr lang="en-US" smtClean="0"/>
              <a:pPr/>
              <a:t>31</a:t>
            </a:fld>
            <a:endParaRPr lang="en-US"/>
          </a:p>
        </p:txBody>
      </p:sp>
    </p:spTree>
    <p:extLst>
      <p:ext uri="{BB962C8B-B14F-4D97-AF65-F5344CB8AC3E}">
        <p14:creationId xmlns:p14="http://schemas.microsoft.com/office/powerpoint/2010/main" val="373260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Design-Reality Gap Analysis </a:t>
            </a:r>
            <a:r>
              <a:rPr lang="en-US" sz="1200" b="1" i="0" kern="1200" dirty="0">
                <a:solidFill>
                  <a:schemeClr val="tx1"/>
                </a:solidFill>
                <a:effectLst/>
                <a:latin typeface="+mn-lt"/>
                <a:ea typeface="+mn-ea"/>
                <a:cs typeface="+mn-cs"/>
              </a:rPr>
              <a:t>framework</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There are seven dimensions of the Model of Conception: information, technology, processes, objectives and values, staffing and skills, management and structures, other resources: time and money.</a:t>
            </a:r>
          </a:p>
          <a:p>
            <a:r>
              <a:rPr lang="en-US" sz="1200" b="1" i="0" kern="1200" dirty="0">
                <a:solidFill>
                  <a:schemeClr val="tx1"/>
                </a:solidFill>
                <a:effectLst/>
                <a:latin typeface="+mn-lt"/>
                <a:ea typeface="+mn-ea"/>
                <a:cs typeface="+mn-cs"/>
              </a:rPr>
              <a:t>SWOT</a:t>
            </a:r>
            <a:r>
              <a:rPr lang="en-US" sz="1200" b="0" i="0" kern="1200" dirty="0">
                <a:solidFill>
                  <a:schemeClr val="tx1"/>
                </a:solidFill>
                <a:effectLst/>
                <a:latin typeface="+mn-lt"/>
                <a:ea typeface="+mn-ea"/>
                <a:cs typeface="+mn-cs"/>
              </a:rPr>
              <a:t> (strengths, weaknesses, opportunities, and threats)</a:t>
            </a:r>
            <a:endParaRPr lang="en-US" dirty="0"/>
          </a:p>
        </p:txBody>
      </p:sp>
      <p:sp>
        <p:nvSpPr>
          <p:cNvPr id="4" name="Slide Number Placeholder 3"/>
          <p:cNvSpPr>
            <a:spLocks noGrp="1"/>
          </p:cNvSpPr>
          <p:nvPr>
            <p:ph type="sldNum" sz="quarter" idx="10"/>
          </p:nvPr>
        </p:nvSpPr>
        <p:spPr/>
        <p:txBody>
          <a:bodyPr/>
          <a:lstStyle/>
          <a:p>
            <a:fld id="{88128EF9-718D-42DF-B821-EF4EC86CF799}" type="slidenum">
              <a:rPr lang="en-US" smtClean="0"/>
              <a:pPr/>
              <a:t>37</a:t>
            </a:fld>
            <a:endParaRPr lang="en-US"/>
          </a:p>
        </p:txBody>
      </p:sp>
    </p:spTree>
    <p:extLst>
      <p:ext uri="{BB962C8B-B14F-4D97-AF65-F5344CB8AC3E}">
        <p14:creationId xmlns:p14="http://schemas.microsoft.com/office/powerpoint/2010/main" val="3477335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C5B2C9F-A7F1-4DAD-A5D6-46C0D2287315}" type="datetime1">
              <a:rPr lang="en-US" smtClean="0"/>
              <a:t>6/22/2025</a:t>
            </a:fld>
            <a:endParaRPr lang="en-US" dirty="0"/>
          </a:p>
        </p:txBody>
      </p:sp>
      <p:sp>
        <p:nvSpPr>
          <p:cNvPr id="5" name="Footer Placeholder 4"/>
          <p:cNvSpPr>
            <a:spLocks noGrp="1"/>
          </p:cNvSpPr>
          <p:nvPr>
            <p:ph type="ftr" sz="quarter" idx="11"/>
          </p:nvPr>
        </p:nvSpPr>
        <p:spPr/>
        <p:txBody>
          <a:bodyPr/>
          <a:lstStyle/>
          <a:p>
            <a:r>
              <a:rPr lang="en-US"/>
              <a:t>Er. S.N.Mishra</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8CD023-E542-4208-9C32-314E2E6D0305}" type="datetime1">
              <a:rPr lang="en-US" smtClean="0"/>
              <a:t>6/22/2025</a:t>
            </a:fld>
            <a:endParaRPr lang="en-US" dirty="0"/>
          </a:p>
        </p:txBody>
      </p:sp>
      <p:sp>
        <p:nvSpPr>
          <p:cNvPr id="5" name="Footer Placeholder 4"/>
          <p:cNvSpPr>
            <a:spLocks noGrp="1"/>
          </p:cNvSpPr>
          <p:nvPr>
            <p:ph type="ftr" sz="quarter" idx="11"/>
          </p:nvPr>
        </p:nvSpPr>
        <p:spPr/>
        <p:txBody>
          <a:bodyPr/>
          <a:lstStyle/>
          <a:p>
            <a:r>
              <a:rPr lang="en-US"/>
              <a:t>Er. S.N.Mishra</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A1445B-FD56-41B7-8AA5-BAD344047D64}" type="datetime1">
              <a:rPr lang="en-US" smtClean="0"/>
              <a:t>6/22/2025</a:t>
            </a:fld>
            <a:endParaRPr lang="en-US" dirty="0"/>
          </a:p>
        </p:txBody>
      </p:sp>
      <p:sp>
        <p:nvSpPr>
          <p:cNvPr id="5" name="Footer Placeholder 4"/>
          <p:cNvSpPr>
            <a:spLocks noGrp="1"/>
          </p:cNvSpPr>
          <p:nvPr>
            <p:ph type="ftr" sz="quarter" idx="11"/>
          </p:nvPr>
        </p:nvSpPr>
        <p:spPr/>
        <p:txBody>
          <a:bodyPr/>
          <a:lstStyle/>
          <a:p>
            <a:r>
              <a:rPr lang="en-US"/>
              <a:t>Er. S.N.Mishra</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811C4A-6F93-49EA-A388-31744ADCEF3A}" type="datetime1">
              <a:rPr lang="en-US" smtClean="0"/>
              <a:t>6/22/2025</a:t>
            </a:fld>
            <a:endParaRPr lang="en-US" dirty="0"/>
          </a:p>
        </p:txBody>
      </p:sp>
      <p:sp>
        <p:nvSpPr>
          <p:cNvPr id="6" name="Footer Placeholder 5"/>
          <p:cNvSpPr>
            <a:spLocks noGrp="1"/>
          </p:cNvSpPr>
          <p:nvPr>
            <p:ph type="ftr" sz="quarter" idx="11"/>
          </p:nvPr>
        </p:nvSpPr>
        <p:spPr/>
        <p:txBody>
          <a:bodyPr/>
          <a:lstStyle/>
          <a:p>
            <a:r>
              <a:rPr lang="en-US"/>
              <a:t>Er. S.N.Mishra</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3143DEF-7E95-43FD-B16C-5D09BB70D2FB}" type="datetime1">
              <a:rPr lang="en-US" smtClean="0"/>
              <a:t>6/22/2025</a:t>
            </a:fld>
            <a:endParaRPr lang="en-US" dirty="0"/>
          </a:p>
        </p:txBody>
      </p:sp>
      <p:sp>
        <p:nvSpPr>
          <p:cNvPr id="8" name="Footer Placeholder 7"/>
          <p:cNvSpPr>
            <a:spLocks noGrp="1"/>
          </p:cNvSpPr>
          <p:nvPr>
            <p:ph type="ftr" sz="quarter" idx="11"/>
          </p:nvPr>
        </p:nvSpPr>
        <p:spPr/>
        <p:txBody>
          <a:bodyPr/>
          <a:lstStyle/>
          <a:p>
            <a:r>
              <a:rPr lang="en-US"/>
              <a:t>Er. S.N.Mishra</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F4C8C2-1E97-464A-A5A7-5259923C9661}" type="datetime1">
              <a:rPr lang="en-US" smtClean="0"/>
              <a:t>6/22/2025</a:t>
            </a:fld>
            <a:endParaRPr lang="en-US" dirty="0"/>
          </a:p>
        </p:txBody>
      </p:sp>
      <p:sp>
        <p:nvSpPr>
          <p:cNvPr id="4" name="Footer Placeholder 3"/>
          <p:cNvSpPr>
            <a:spLocks noGrp="1"/>
          </p:cNvSpPr>
          <p:nvPr>
            <p:ph type="ftr" sz="quarter" idx="11"/>
          </p:nvPr>
        </p:nvSpPr>
        <p:spPr/>
        <p:txBody>
          <a:bodyPr/>
          <a:lstStyle/>
          <a:p>
            <a:r>
              <a:rPr lang="en-US"/>
              <a:t>Er. S.N.Mishra</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2B5803-DE94-4D10-9314-BC8CC03D7475}" type="datetime1">
              <a:rPr lang="en-US" smtClean="0"/>
              <a:t>6/22/2025</a:t>
            </a:fld>
            <a:endParaRPr lang="en-US" dirty="0"/>
          </a:p>
        </p:txBody>
      </p:sp>
      <p:sp>
        <p:nvSpPr>
          <p:cNvPr id="3" name="Footer Placeholder 2"/>
          <p:cNvSpPr>
            <a:spLocks noGrp="1"/>
          </p:cNvSpPr>
          <p:nvPr>
            <p:ph type="ftr" sz="quarter" idx="11"/>
          </p:nvPr>
        </p:nvSpPr>
        <p:spPr/>
        <p:txBody>
          <a:bodyPr/>
          <a:lstStyle/>
          <a:p>
            <a:r>
              <a:rPr lang="en-US"/>
              <a:t>Er. S.N.Mishra</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C4DC48-FB7F-4CD5-8241-0319A08205C2}" type="datetime1">
              <a:rPr lang="en-US" smtClean="0"/>
              <a:t>6/22/2025</a:t>
            </a:fld>
            <a:endParaRPr lang="en-US" dirty="0"/>
          </a:p>
        </p:txBody>
      </p:sp>
      <p:sp>
        <p:nvSpPr>
          <p:cNvPr id="6" name="Footer Placeholder 5"/>
          <p:cNvSpPr>
            <a:spLocks noGrp="1"/>
          </p:cNvSpPr>
          <p:nvPr>
            <p:ph type="ftr" sz="quarter" idx="11"/>
          </p:nvPr>
        </p:nvSpPr>
        <p:spPr/>
        <p:txBody>
          <a:bodyPr/>
          <a:lstStyle/>
          <a:p>
            <a:r>
              <a:rPr lang="en-US"/>
              <a:t>Er. S.N.Mishra</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3B2E6A-6B5C-4E1D-895A-100BDB9C4010}" type="datetime1">
              <a:rPr lang="en-US" smtClean="0"/>
              <a:t>6/22/2025</a:t>
            </a:fld>
            <a:endParaRPr lang="en-US" dirty="0"/>
          </a:p>
        </p:txBody>
      </p:sp>
      <p:sp>
        <p:nvSpPr>
          <p:cNvPr id="6" name="Footer Placeholder 5"/>
          <p:cNvSpPr>
            <a:spLocks noGrp="1"/>
          </p:cNvSpPr>
          <p:nvPr>
            <p:ph type="ftr" sz="quarter" idx="11"/>
          </p:nvPr>
        </p:nvSpPr>
        <p:spPr/>
        <p:txBody>
          <a:bodyPr/>
          <a:lstStyle/>
          <a:p>
            <a:r>
              <a:rPr lang="en-US"/>
              <a:t>Er. S.N.Mishra</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CF4148-2074-4331-9B24-697FCCEB3D1C}" type="datetime1">
              <a:rPr lang="en-US" smtClean="0"/>
              <a:t>6/22/2025</a:t>
            </a:fld>
            <a:endParaRPr lang="en-US" dirty="0"/>
          </a:p>
        </p:txBody>
      </p:sp>
      <p:sp>
        <p:nvSpPr>
          <p:cNvPr id="5" name="Footer Placeholder 4"/>
          <p:cNvSpPr>
            <a:spLocks noGrp="1"/>
          </p:cNvSpPr>
          <p:nvPr>
            <p:ph type="ftr" sz="quarter" idx="11"/>
          </p:nvPr>
        </p:nvSpPr>
        <p:spPr/>
        <p:txBody>
          <a:bodyPr/>
          <a:lstStyle/>
          <a:p>
            <a:r>
              <a:rPr lang="en-US"/>
              <a:t>Er. S.N.Mishra</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8EBC8D-8E06-4AA5-B907-3F97DB73FB47}" type="datetime1">
              <a:rPr lang="en-US" smtClean="0"/>
              <a:t>6/22/2025</a:t>
            </a:fld>
            <a:endParaRPr lang="en-US" dirty="0"/>
          </a:p>
        </p:txBody>
      </p:sp>
      <p:sp>
        <p:nvSpPr>
          <p:cNvPr id="5" name="Footer Placeholder 4"/>
          <p:cNvSpPr>
            <a:spLocks noGrp="1"/>
          </p:cNvSpPr>
          <p:nvPr>
            <p:ph type="ftr" sz="quarter" idx="11"/>
          </p:nvPr>
        </p:nvSpPr>
        <p:spPr/>
        <p:txBody>
          <a:bodyPr/>
          <a:lstStyle/>
          <a:p>
            <a:r>
              <a:rPr lang="en-US"/>
              <a:t>Er. S.N.Mishra</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CE9744-7696-4627-8CE6-B2896F0EE1F2}" type="datetime1">
              <a:rPr lang="en-US" smtClean="0"/>
              <a:t>6/22/2025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Er. S.N.Mishra</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143000"/>
            <a:ext cx="8686800" cy="1829761"/>
          </a:xfrm>
        </p:spPr>
        <p:txBody>
          <a:bodyPr>
            <a:normAutofit fontScale="90000"/>
          </a:bodyPr>
          <a:lstStyle/>
          <a:p>
            <a:pPr algn="ctr"/>
            <a:r>
              <a:rPr lang="en-US" b="1" dirty="0">
                <a:solidFill>
                  <a:srgbClr val="7030A0"/>
                </a:solidFill>
              </a:rPr>
              <a:t>Unit-1</a:t>
            </a:r>
            <a:br>
              <a:rPr lang="en-US" b="1" dirty="0">
                <a:solidFill>
                  <a:srgbClr val="7030A0"/>
                </a:solidFill>
              </a:rPr>
            </a:br>
            <a:r>
              <a:rPr lang="en-US" b="1" dirty="0">
                <a:solidFill>
                  <a:srgbClr val="7030A0"/>
                </a:solidFill>
              </a:rPr>
              <a:t>Introduction to E-Government and E-Governance </a:t>
            </a:r>
            <a:r>
              <a:rPr lang="en-US" b="1" dirty="0"/>
              <a:t/>
            </a:r>
            <a:br>
              <a:rPr lang="en-US" b="1" dirty="0"/>
            </a:br>
            <a:r>
              <a:rPr lang="en-US" dirty="0"/>
              <a:t/>
            </a:r>
            <a:br>
              <a:rPr lang="en-US" dirty="0"/>
            </a:br>
            <a:r>
              <a:rPr lang="en-US" dirty="0"/>
              <a:t> </a:t>
            </a:r>
            <a:br>
              <a:rPr lang="en-US" dirty="0"/>
            </a:br>
            <a:endParaRPr lang="en-US" dirty="0"/>
          </a:p>
        </p:txBody>
      </p:sp>
      <p:sp>
        <p:nvSpPr>
          <p:cNvPr id="6" name="Subtitle 5"/>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algn="just">
              <a:buFont typeface="Wingdings" pitchFamily="2" charset="2"/>
              <a:buChar char="Ø"/>
            </a:pPr>
            <a:r>
              <a:rPr lang="en-US" dirty="0"/>
              <a:t>E-government can be defined as the use of ICTs to more effectively and efficiently deliver government services to citizens and businesses.</a:t>
            </a:r>
          </a:p>
          <a:p>
            <a:pPr algn="just">
              <a:buFont typeface="Wingdings" pitchFamily="2" charset="2"/>
              <a:buChar char="Ø"/>
            </a:pPr>
            <a:r>
              <a:rPr lang="en-US" dirty="0"/>
              <a:t>The underlying principle of e-government, supported by an effective </a:t>
            </a:r>
            <a:r>
              <a:rPr lang="en-US" dirty="0">
                <a:solidFill>
                  <a:srgbClr val="FF0000"/>
                </a:solidFill>
              </a:rPr>
              <a:t>e-governance</a:t>
            </a:r>
            <a:r>
              <a:rPr lang="en-US" dirty="0"/>
              <a:t> institutional framework, is to improve the internal workings of the public sector by reducing financial costs and transaction times so as to better integrate work flows and processes and enable effective resource utilization across the various public sector agencies aiming for sustainable solutions.</a:t>
            </a:r>
          </a:p>
        </p:txBody>
      </p:sp>
      <p:sp>
        <p:nvSpPr>
          <p:cNvPr id="5" name="Title 1"/>
          <p:cNvSpPr>
            <a:spLocks noGrp="1"/>
          </p:cNvSpPr>
          <p:nvPr>
            <p:ph type="title"/>
          </p:nvPr>
        </p:nvSpPr>
        <p:spPr>
          <a:xfrm>
            <a:off x="457200" y="274638"/>
            <a:ext cx="8229600" cy="1143000"/>
          </a:xfrm>
        </p:spPr>
        <p:txBody>
          <a:bodyPr/>
          <a:lstStyle/>
          <a:p>
            <a:r>
              <a:rPr lang="en-US" dirty="0">
                <a:solidFill>
                  <a:srgbClr val="0070C0"/>
                </a:solidFill>
              </a:rPr>
              <a:t>What is E-Government?</a:t>
            </a:r>
            <a:endParaRPr lang="en-US" dirty="0"/>
          </a:p>
        </p:txBody>
      </p:sp>
    </p:spTree>
    <p:extLst>
      <p:ext uri="{BB962C8B-B14F-4D97-AF65-F5344CB8AC3E}">
        <p14:creationId xmlns:p14="http://schemas.microsoft.com/office/powerpoint/2010/main" val="23164901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Advantages of E-Government</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a:t>It ensures greater level of efficiency and effectiveness in government activities and operations.</a:t>
            </a:r>
          </a:p>
          <a:p>
            <a:pPr algn="just"/>
            <a:r>
              <a:rPr lang="en-US" dirty="0"/>
              <a:t>Improves access of information to the common mass.</a:t>
            </a:r>
          </a:p>
          <a:p>
            <a:pPr algn="just"/>
            <a:r>
              <a:rPr lang="en-US" dirty="0"/>
              <a:t>It ensures the transparency in the operation of government programs.</a:t>
            </a:r>
          </a:p>
          <a:p>
            <a:pPr algn="just"/>
            <a:r>
              <a:rPr lang="en-US" dirty="0"/>
              <a:t>It increases the reach of the government to the general public</a:t>
            </a:r>
          </a:p>
          <a:p>
            <a:pPr algn="just"/>
            <a:r>
              <a:rPr lang="en-US" dirty="0"/>
              <a:t>It helps in improving the quality of public services</a:t>
            </a:r>
          </a:p>
          <a:p>
            <a:pPr algn="just"/>
            <a:r>
              <a:rPr lang="en-US" dirty="0"/>
              <a:t>Increases communication between various government agencies.</a:t>
            </a:r>
          </a:p>
        </p:txBody>
      </p:sp>
    </p:spTree>
    <p:extLst>
      <p:ext uri="{BB962C8B-B14F-4D97-AF65-F5344CB8AC3E}">
        <p14:creationId xmlns:p14="http://schemas.microsoft.com/office/powerpoint/2010/main" val="22982333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solidFill>
                  <a:srgbClr val="0070C0"/>
                </a:solidFill>
              </a:rPr>
              <a:t>What is E-Governance?</a:t>
            </a:r>
            <a:endParaRPr lang="en-US" dirty="0"/>
          </a:p>
        </p:txBody>
      </p:sp>
      <p:sp>
        <p:nvSpPr>
          <p:cNvPr id="3" name="Content Placeholder 2"/>
          <p:cNvSpPr>
            <a:spLocks noGrp="1"/>
          </p:cNvSpPr>
          <p:nvPr>
            <p:ph idx="1"/>
          </p:nvPr>
        </p:nvSpPr>
        <p:spPr>
          <a:xfrm>
            <a:off x="457200" y="1371600"/>
            <a:ext cx="8229600" cy="4525963"/>
          </a:xfrm>
        </p:spPr>
        <p:txBody>
          <a:bodyPr>
            <a:normAutofit lnSpcReduction="10000"/>
          </a:bodyPr>
          <a:lstStyle/>
          <a:p>
            <a:pPr algn="just"/>
            <a:r>
              <a:rPr lang="en-US" sz="2600" dirty="0"/>
              <a:t>E-government is also known as e-</a:t>
            </a:r>
            <a:r>
              <a:rPr lang="en-US" sz="2600" dirty="0" err="1"/>
              <a:t>gov</a:t>
            </a:r>
            <a:r>
              <a:rPr lang="en-US" sz="2600" dirty="0"/>
              <a:t>, electronic government, Internet governance, digital government, online government, connected government</a:t>
            </a:r>
          </a:p>
          <a:p>
            <a:pPr algn="just"/>
            <a:r>
              <a:rPr lang="en-US" sz="2800" dirty="0"/>
              <a:t>E-Governance is more about </a:t>
            </a:r>
            <a:r>
              <a:rPr lang="en-US" sz="2800" dirty="0">
                <a:solidFill>
                  <a:srgbClr val="FF0000"/>
                </a:solidFill>
              </a:rPr>
              <a:t>Governance</a:t>
            </a:r>
            <a:r>
              <a:rPr lang="en-US" sz="2800" dirty="0"/>
              <a:t> than about “E” </a:t>
            </a:r>
            <a:endParaRPr lang="en-US" sz="2600" dirty="0"/>
          </a:p>
          <a:p>
            <a:pPr algn="just"/>
            <a:r>
              <a:rPr lang="en-US" sz="2600" dirty="0"/>
              <a:t>E – Government: (short for electronic government) is the use of technological communications devices, such as computers and the Internet to provide public services to citizens and other persons in a country or region. </a:t>
            </a:r>
          </a:p>
          <a:p>
            <a:pPr algn="just"/>
            <a:r>
              <a:rPr lang="en-US" sz="2800" dirty="0"/>
              <a:t>The term e‐Governance implies technology driven  governance.</a:t>
            </a:r>
          </a:p>
          <a:p>
            <a:pPr algn="just"/>
            <a:endParaRPr lang="en-US" sz="2600" dirty="0"/>
          </a:p>
          <a:p>
            <a:endParaRPr lang="en-US" dirty="0"/>
          </a:p>
        </p:txBody>
      </p:sp>
    </p:spTree>
    <p:extLst>
      <p:ext uri="{BB962C8B-B14F-4D97-AF65-F5344CB8AC3E}">
        <p14:creationId xmlns:p14="http://schemas.microsoft.com/office/powerpoint/2010/main" val="8928219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solidFill>
                  <a:srgbClr val="0070C0"/>
                </a:solidFill>
              </a:rPr>
              <a:t>E-Governance</a:t>
            </a:r>
            <a:endParaRPr lang="en-US" dirty="0"/>
          </a:p>
        </p:txBody>
      </p:sp>
      <p:sp>
        <p:nvSpPr>
          <p:cNvPr id="3" name="Content Placeholder 2"/>
          <p:cNvSpPr>
            <a:spLocks noGrp="1"/>
          </p:cNvSpPr>
          <p:nvPr>
            <p:ph idx="1"/>
          </p:nvPr>
        </p:nvSpPr>
        <p:spPr>
          <a:xfrm>
            <a:off x="457200" y="1064342"/>
            <a:ext cx="8229600" cy="4525963"/>
          </a:xfrm>
        </p:spPr>
        <p:txBody>
          <a:bodyPr>
            <a:normAutofit fontScale="25000" lnSpcReduction="20000"/>
          </a:bodyPr>
          <a:lstStyle/>
          <a:p>
            <a:pPr algn="just"/>
            <a:r>
              <a:rPr lang="en-US" sz="8800" dirty="0"/>
              <a:t>E-Governance is the application of </a:t>
            </a:r>
            <a:r>
              <a:rPr lang="en-US" sz="8800" dirty="0">
                <a:solidFill>
                  <a:srgbClr val="FF0000"/>
                </a:solidFill>
              </a:rPr>
              <a:t>Information and Communication Technology  (ICT)  </a:t>
            </a:r>
            <a:r>
              <a:rPr lang="en-US" sz="8800" dirty="0"/>
              <a:t>for delivering  government services, exchange of  information communication transactions, integration of various stand‐alone systems and services between   </a:t>
            </a:r>
            <a:r>
              <a:rPr lang="en-US" sz="8800" dirty="0">
                <a:solidFill>
                  <a:srgbClr val="00B050"/>
                </a:solidFill>
              </a:rPr>
              <a:t>Government‐to‐Citizens(G2C), Government‐to-Business(G2B), Government‐to‐Government(G2G</a:t>
            </a:r>
            <a:r>
              <a:rPr lang="en-US" sz="8800" dirty="0"/>
              <a:t>) as well as back office processes and  interactions within the entire  government  frame  work.</a:t>
            </a:r>
          </a:p>
          <a:p>
            <a:pPr algn="just"/>
            <a:r>
              <a:rPr lang="en-US" sz="8800" dirty="0"/>
              <a:t> It also involves collaborating with business partners of the government by conducting electronic transactions with them. Besides, it entails enabling </a:t>
            </a:r>
            <a:r>
              <a:rPr lang="en-US" sz="8800" dirty="0">
                <a:solidFill>
                  <a:srgbClr val="FF0000"/>
                </a:solidFill>
              </a:rPr>
              <a:t>the general public to interact with the government</a:t>
            </a:r>
            <a:r>
              <a:rPr lang="en-US" sz="8800" dirty="0"/>
              <a:t>, through electronic  means, for getting the desired services.</a:t>
            </a:r>
          </a:p>
          <a:p>
            <a:pPr algn="just"/>
            <a:r>
              <a:rPr lang="en-US" sz="8800" dirty="0"/>
              <a:t>In other words, e-governance means application of electronic means in the interaction between </a:t>
            </a:r>
            <a:endParaRPr lang="en" sz="8800" dirty="0"/>
          </a:p>
          <a:p>
            <a:pPr marL="0" indent="0" algn="just">
              <a:buNone/>
            </a:pPr>
            <a:r>
              <a:rPr lang="en" sz="8800" dirty="0"/>
              <a:t>	</a:t>
            </a:r>
            <a:r>
              <a:rPr lang="en-US" sz="8000" dirty="0"/>
              <a:t>1. Government (G) and citizens (C), both ways (i.e. G2C and C2G) </a:t>
            </a:r>
          </a:p>
          <a:p>
            <a:pPr marL="0" indent="0" algn="just">
              <a:buNone/>
            </a:pPr>
            <a:r>
              <a:rPr lang="en-US" sz="8000" dirty="0"/>
              <a:t>	2. Government or businesses (B), both ways (i.e. G2B and B2G) </a:t>
            </a:r>
          </a:p>
          <a:p>
            <a:pPr marL="0" indent="0" algn="just">
              <a:buNone/>
            </a:pPr>
            <a:r>
              <a:rPr lang="en-US" sz="8000" dirty="0"/>
              <a:t>	3. Internal government operation (G2G) </a:t>
            </a:r>
          </a:p>
          <a:p>
            <a:pPr>
              <a:buFont typeface="Wingdings" pitchFamily="2" charset="2"/>
              <a:buChar char="Ø"/>
            </a:pPr>
            <a:endParaRPr lang="en-US" sz="2000" dirty="0"/>
          </a:p>
          <a:p>
            <a:pPr>
              <a:buFont typeface="Wingdings" pitchFamily="2" charset="2"/>
              <a:buChar char="Ø"/>
            </a:pPr>
            <a:endParaRPr lang="en-GB" sz="2000" dirty="0"/>
          </a:p>
          <a:p>
            <a:endParaRPr lang="en-US" dirty="0"/>
          </a:p>
        </p:txBody>
      </p:sp>
    </p:spTree>
    <p:extLst>
      <p:ext uri="{BB962C8B-B14F-4D97-AF65-F5344CB8AC3E}">
        <p14:creationId xmlns:p14="http://schemas.microsoft.com/office/powerpoint/2010/main" val="29612422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solidFill>
                  <a:srgbClr val="0070C0"/>
                </a:solidFill>
              </a:rPr>
              <a:t>E-Governance</a:t>
            </a:r>
            <a:endParaRPr lang="en-US" dirty="0"/>
          </a:p>
        </p:txBody>
      </p:sp>
      <p:sp>
        <p:nvSpPr>
          <p:cNvPr id="3" name="Content Placeholder 2"/>
          <p:cNvSpPr>
            <a:spLocks noGrp="1"/>
          </p:cNvSpPr>
          <p:nvPr>
            <p:ph idx="1"/>
          </p:nvPr>
        </p:nvSpPr>
        <p:spPr>
          <a:xfrm>
            <a:off x="365022" y="987937"/>
            <a:ext cx="8413955" cy="5334000"/>
          </a:xfrm>
        </p:spPr>
        <p:txBody>
          <a:bodyPr>
            <a:normAutofit fontScale="62500" lnSpcReduction="20000"/>
          </a:bodyPr>
          <a:lstStyle/>
          <a:p>
            <a:pPr algn="just">
              <a:buFont typeface="Wingdings" pitchFamily="2" charset="2"/>
              <a:buChar char="§"/>
            </a:pPr>
            <a:r>
              <a:rPr lang="en-US" dirty="0"/>
              <a:t> It establishes </a:t>
            </a:r>
          </a:p>
          <a:p>
            <a:pPr lvl="1" algn="just">
              <a:buFont typeface="Wingdings" panose="05000000000000000000" pitchFamily="2" charset="2"/>
              <a:buChar char="ü"/>
            </a:pPr>
            <a:r>
              <a:rPr lang="en-US" sz="3200" dirty="0"/>
              <a:t> a </a:t>
            </a:r>
            <a:r>
              <a:rPr lang="en-US" sz="3200" dirty="0">
                <a:solidFill>
                  <a:srgbClr val="FF0000"/>
                </a:solidFill>
              </a:rPr>
              <a:t>relationship between government officials and citizens</a:t>
            </a:r>
            <a:r>
              <a:rPr lang="en-US" sz="3200" dirty="0"/>
              <a:t>, providing 	greater access to government information and services by 	making 	the government accessible online</a:t>
            </a:r>
          </a:p>
          <a:p>
            <a:pPr lvl="1" algn="just">
              <a:buFont typeface="Wingdings" panose="05000000000000000000" pitchFamily="2" charset="2"/>
              <a:buChar char="ü"/>
            </a:pPr>
            <a:r>
              <a:rPr lang="en-US" sz="3200" dirty="0"/>
              <a:t> </a:t>
            </a:r>
            <a:r>
              <a:rPr lang="en-US" sz="3200" dirty="0">
                <a:solidFill>
                  <a:srgbClr val="FF0000"/>
                </a:solidFill>
              </a:rPr>
              <a:t>promoting citizen participation </a:t>
            </a:r>
            <a:r>
              <a:rPr lang="en-US" sz="3200" dirty="0"/>
              <a:t>by enabling citizens to interact more 	conveniently with government officials, such as by requesting 	government service and filing required documents through website </a:t>
            </a:r>
          </a:p>
          <a:p>
            <a:pPr lvl="1" algn="just">
              <a:buFont typeface="Wingdings" panose="05000000000000000000" pitchFamily="2" charset="2"/>
              <a:buChar char="ü"/>
            </a:pPr>
            <a:r>
              <a:rPr lang="en-US" sz="3200" dirty="0"/>
              <a:t> increasing government accountability by making its operations more  transparent, thereby reducing the opportunities for  corruption</a:t>
            </a:r>
          </a:p>
          <a:p>
            <a:pPr lvl="1" algn="just">
              <a:buFont typeface="Wingdings" panose="05000000000000000000" pitchFamily="2" charset="2"/>
              <a:buChar char="ü"/>
            </a:pPr>
            <a:r>
              <a:rPr lang="en-US" sz="3200" dirty="0"/>
              <a:t>supporting development goals by providing business, rural and 	traditionally underserved communities with information, opportunities 	and communications capabilities.</a:t>
            </a:r>
          </a:p>
          <a:p>
            <a:pPr algn="just">
              <a:buFont typeface="Wingdings" pitchFamily="2" charset="2"/>
              <a:buChar char="§"/>
            </a:pPr>
            <a:r>
              <a:rPr lang="en-US" dirty="0"/>
              <a:t> The aim, ultimately is to simplify and improve governance and enable people's participation in governance through mail, and Internet. </a:t>
            </a:r>
          </a:p>
          <a:p>
            <a:pPr algn="just">
              <a:buFont typeface="Wingdings" pitchFamily="2" charset="2"/>
              <a:buChar char="§"/>
            </a:pPr>
            <a:r>
              <a:rPr lang="en-US" dirty="0"/>
              <a:t>  E-governance is much </a:t>
            </a:r>
            <a:r>
              <a:rPr lang="en-US" dirty="0">
                <a:solidFill>
                  <a:srgbClr val="FF0000"/>
                </a:solidFill>
              </a:rPr>
              <a:t>more than just preparing some websites</a:t>
            </a:r>
            <a:r>
              <a:rPr lang="en-US" dirty="0"/>
              <a:t>.</a:t>
            </a:r>
          </a:p>
          <a:p>
            <a:pPr lvl="1" algn="just">
              <a:buFont typeface="Wingdings" panose="05000000000000000000" pitchFamily="2" charset="2"/>
              <a:buChar char="ü"/>
            </a:pPr>
            <a:r>
              <a:rPr lang="en-US" sz="3200" dirty="0"/>
              <a:t> It ranges from the </a:t>
            </a:r>
            <a:r>
              <a:rPr lang="en-US" sz="3200" dirty="0">
                <a:solidFill>
                  <a:srgbClr val="00B050"/>
                </a:solidFill>
              </a:rPr>
              <a:t>use of Internet for the deliver of plain web    based  information</a:t>
            </a:r>
            <a:r>
              <a:rPr lang="en-US" sz="3200" dirty="0"/>
              <a:t> at its simplest level to services and online transactions on the one hand and utilizing IT in the democratic process itself, i.e. 	election on the other. </a:t>
            </a:r>
            <a:endParaRPr lang="en-GB" sz="3200" dirty="0"/>
          </a:p>
          <a:p>
            <a:endParaRPr lang="en-US" dirty="0"/>
          </a:p>
        </p:txBody>
      </p:sp>
    </p:spTree>
    <p:extLst>
      <p:ext uri="{BB962C8B-B14F-4D97-AF65-F5344CB8AC3E}">
        <p14:creationId xmlns:p14="http://schemas.microsoft.com/office/powerpoint/2010/main" val="37179569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3200" dirty="0">
                <a:solidFill>
                  <a:srgbClr val="0070C0"/>
                </a:solidFill>
              </a:rPr>
              <a:t>E‐Government</a:t>
            </a:r>
          </a:p>
        </p:txBody>
      </p:sp>
      <p:sp>
        <p:nvSpPr>
          <p:cNvPr id="3" name="Content Placeholder 2"/>
          <p:cNvSpPr>
            <a:spLocks noGrp="1"/>
          </p:cNvSpPr>
          <p:nvPr>
            <p:ph idx="1"/>
          </p:nvPr>
        </p:nvSpPr>
        <p:spPr>
          <a:xfrm>
            <a:off x="533400" y="914400"/>
            <a:ext cx="8229600" cy="5715000"/>
          </a:xfrm>
        </p:spPr>
        <p:txBody>
          <a:bodyPr>
            <a:normAutofit/>
          </a:bodyPr>
          <a:lstStyle/>
          <a:p>
            <a:r>
              <a:rPr lang="en-US" i="1" dirty="0"/>
              <a:t>E‐government is not only used in developed countries. </a:t>
            </a:r>
          </a:p>
          <a:p>
            <a:r>
              <a:rPr lang="en-US" i="1" dirty="0"/>
              <a:t>Some of the most innovative uses of the Internet in governance are being successfully used in the developing countries, as well.</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b="1" dirty="0">
                <a:solidFill>
                  <a:srgbClr val="0070C0"/>
                </a:solidFill>
              </a:rPr>
              <a:t>Non‐Internet e‐Government</a:t>
            </a:r>
          </a:p>
        </p:txBody>
      </p:sp>
      <p:sp>
        <p:nvSpPr>
          <p:cNvPr id="3" name="Content Placeholder 2"/>
          <p:cNvSpPr>
            <a:spLocks noGrp="1"/>
          </p:cNvSpPr>
          <p:nvPr>
            <p:ph idx="1"/>
          </p:nvPr>
        </p:nvSpPr>
        <p:spPr>
          <a:xfrm>
            <a:off x="304800" y="762000"/>
            <a:ext cx="8229600" cy="5562600"/>
          </a:xfrm>
        </p:spPr>
        <p:txBody>
          <a:bodyPr>
            <a:normAutofit fontScale="85000" lnSpcReduction="20000"/>
          </a:bodyPr>
          <a:lstStyle/>
          <a:p>
            <a:pPr algn="just"/>
            <a:r>
              <a:rPr lang="en-US" dirty="0"/>
              <a:t>While e‐government is often thought of as </a:t>
            </a:r>
            <a:r>
              <a:rPr lang="en-US" dirty="0">
                <a:solidFill>
                  <a:srgbClr val="FF0000"/>
                </a:solidFill>
              </a:rPr>
              <a:t>online government</a:t>
            </a:r>
            <a:r>
              <a:rPr lang="en-US" dirty="0"/>
              <a:t> or </a:t>
            </a:r>
            <a:r>
              <a:rPr lang="en-US" dirty="0">
                <a:solidFill>
                  <a:srgbClr val="FF0000"/>
                </a:solidFill>
              </a:rPr>
              <a:t>Internet-based government</a:t>
            </a:r>
            <a:r>
              <a:rPr lang="en-US" dirty="0"/>
              <a:t>, many non‐Internet “electronic government“ technologies can be used in this context.</a:t>
            </a:r>
          </a:p>
          <a:p>
            <a:pPr algn="just"/>
            <a:r>
              <a:rPr lang="en-US" dirty="0"/>
              <a:t>Some non-Internet forms include telephone, fax, PDA, SMS text messaging, MMS, wireless networks and services, Bluetooth, CCTV, tracking systems, RFID, biometric identification, road traffic  management and regulatory enforcement, identity cards, smart cards and other Near Field Communication applications; polling station technology (where non‐online e-voting is being considered), TV and radio‐based delivery of  government services, online community facilities, news groups and electronic mailing lists, online chat, and instant messaging technologies.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8"/>
            <a:ext cx="8229600" cy="661885"/>
          </a:xfrm>
        </p:spPr>
        <p:txBody>
          <a:bodyPr>
            <a:normAutofit/>
          </a:bodyPr>
          <a:lstStyle/>
          <a:p>
            <a:r>
              <a:rPr lang="en-US" sz="2800" b="1" dirty="0">
                <a:solidFill>
                  <a:srgbClr val="0070C0"/>
                </a:solidFill>
              </a:rPr>
              <a:t>Difference between e-governance and e‐government</a:t>
            </a:r>
          </a:p>
        </p:txBody>
      </p:sp>
      <p:sp>
        <p:nvSpPr>
          <p:cNvPr id="3" name="Content Placeholder 2"/>
          <p:cNvSpPr>
            <a:spLocks noGrp="1"/>
          </p:cNvSpPr>
          <p:nvPr>
            <p:ph idx="1"/>
          </p:nvPr>
        </p:nvSpPr>
        <p:spPr>
          <a:xfrm>
            <a:off x="457200" y="874609"/>
            <a:ext cx="8229600" cy="5686425"/>
          </a:xfrm>
        </p:spPr>
        <p:txBody>
          <a:bodyPr>
            <a:noAutofit/>
          </a:bodyPr>
          <a:lstStyle/>
          <a:p>
            <a:pPr algn="just"/>
            <a:r>
              <a:rPr lang="en-US" sz="2000" dirty="0"/>
              <a:t>Both the terms are treated to be the same, however,  there is some difference between the two.</a:t>
            </a:r>
          </a:p>
          <a:p>
            <a:r>
              <a:rPr lang="en-US" sz="2000" dirty="0"/>
              <a:t> e-Governance is a broader topic that deals with the whole spectrum of the relationship and networks within government regarding the usage and application of ICT Whereas e-Government is a narrower discipline dealing with the development of online government services to the citizen and businesses such as e-tax, e transportation, e-procurement, e-participation amongst others. </a:t>
            </a:r>
          </a:p>
          <a:p>
            <a:pPr algn="just"/>
            <a:r>
              <a:rPr lang="en-US" sz="2000" dirty="0">
                <a:solidFill>
                  <a:srgbClr val="FF0000"/>
                </a:solidFill>
              </a:rPr>
              <a:t>E-government</a:t>
            </a:r>
            <a:r>
              <a:rPr lang="en-US" sz="2000" dirty="0"/>
              <a:t>  is the use of the ICTs in public administrations combined with organizational change and new skills to improve public services and democratic processes and to strengthen support to public.</a:t>
            </a:r>
          </a:p>
          <a:p>
            <a:pPr algn="just"/>
            <a:r>
              <a:rPr lang="en-US" sz="2000" dirty="0"/>
              <a:t>As a matter of fact, the governance of ICTs requires most probably a substantial increase in regulation and policy-making capabilities, with all the expertise and opinion-shaping processes among the various social stakeholders of these concerns.</a:t>
            </a:r>
          </a:p>
          <a:p>
            <a:pPr algn="just"/>
            <a:r>
              <a:rPr lang="en-US" sz="2000" dirty="0"/>
              <a:t>So, the perspective of the e-governance is "</a:t>
            </a:r>
            <a:r>
              <a:rPr lang="en-US" sz="2000" b="1" i="1" dirty="0"/>
              <a:t>the use of the technologies that both help governing and have to be governed</a:t>
            </a:r>
            <a:r>
              <a:rPr lang="en-US" sz="2000" dirty="0"/>
              <a: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25910"/>
          </a:xfrm>
        </p:spPr>
        <p:txBody>
          <a:bodyPr>
            <a:noAutofit/>
          </a:bodyPr>
          <a:lstStyle/>
          <a:p>
            <a:r>
              <a:rPr lang="en-US" sz="2800" b="1" dirty="0">
                <a:solidFill>
                  <a:srgbClr val="0070C0"/>
                </a:solidFill>
              </a:rPr>
              <a:t>Difference between e-governance and e‐government</a:t>
            </a:r>
            <a:endParaRPr lang="en-US" sz="2800" dirty="0">
              <a:solidFill>
                <a:srgbClr val="0070C0"/>
              </a:solidFill>
            </a:endParaRPr>
          </a:p>
        </p:txBody>
      </p:sp>
      <p:sp>
        <p:nvSpPr>
          <p:cNvPr id="3" name="Content Placeholder 2"/>
          <p:cNvSpPr>
            <a:spLocks noGrp="1"/>
          </p:cNvSpPr>
          <p:nvPr>
            <p:ph idx="1"/>
          </p:nvPr>
        </p:nvSpPr>
        <p:spPr>
          <a:xfrm>
            <a:off x="462116" y="1000330"/>
            <a:ext cx="8229600" cy="5257800"/>
          </a:xfrm>
        </p:spPr>
        <p:txBody>
          <a:bodyPr>
            <a:normAutofit fontScale="70000" lnSpcReduction="20000"/>
          </a:bodyPr>
          <a:lstStyle/>
          <a:p>
            <a:pPr algn="just"/>
            <a:r>
              <a:rPr lang="en-US" dirty="0">
                <a:solidFill>
                  <a:srgbClr val="FF0000"/>
                </a:solidFill>
              </a:rPr>
              <a:t>E-Governance is the future</a:t>
            </a:r>
            <a:r>
              <a:rPr lang="en-US" dirty="0"/>
              <a:t>: many countries are looking forward to for a corruption free government. </a:t>
            </a:r>
          </a:p>
          <a:p>
            <a:pPr algn="just"/>
            <a:r>
              <a:rPr lang="en-US" b="1" dirty="0">
                <a:solidFill>
                  <a:srgbClr val="002060"/>
                </a:solidFill>
              </a:rPr>
              <a:t>E‐government is one‐way</a:t>
            </a:r>
            <a:r>
              <a:rPr lang="en-US" b="1" dirty="0"/>
              <a:t> communication protocol whereas </a:t>
            </a:r>
            <a:r>
              <a:rPr lang="en-US" b="1" dirty="0">
                <a:solidFill>
                  <a:srgbClr val="FF0000"/>
                </a:solidFill>
              </a:rPr>
              <a:t>E‐governance is two‐way </a:t>
            </a:r>
            <a:r>
              <a:rPr lang="en-US" b="1" dirty="0"/>
              <a:t>communication protocol</a:t>
            </a:r>
            <a:r>
              <a:rPr lang="en-US" dirty="0"/>
              <a:t>.</a:t>
            </a:r>
          </a:p>
          <a:p>
            <a:r>
              <a:rPr lang="en-US" dirty="0"/>
              <a:t>The essence of E-governance is to reach the beneficiary and ensure that the services intended to reach the desired individual has been met with. </a:t>
            </a:r>
          </a:p>
          <a:p>
            <a:r>
              <a:rPr lang="en-US" dirty="0"/>
              <a:t>There should be an </a:t>
            </a:r>
            <a:r>
              <a:rPr lang="en-US" dirty="0">
                <a:solidFill>
                  <a:srgbClr val="00B050"/>
                </a:solidFill>
              </a:rPr>
              <a:t>auto-response system to support the essence of E-governance</a:t>
            </a:r>
            <a:r>
              <a:rPr lang="en-US" dirty="0"/>
              <a:t>, whereby the Government realizes the effectiveness of its governance.</a:t>
            </a:r>
          </a:p>
          <a:p>
            <a:r>
              <a:rPr lang="en-US" b="1" i="1" dirty="0"/>
              <a:t>E-governance is by the governed, for the  governed and of the governed.</a:t>
            </a:r>
          </a:p>
          <a:p>
            <a:r>
              <a:rPr lang="en-US" dirty="0"/>
              <a:t>Best form of E‐governance </a:t>
            </a:r>
            <a:r>
              <a:rPr lang="en-US" dirty="0">
                <a:solidFill>
                  <a:srgbClr val="FF0000"/>
                </a:solidFill>
              </a:rPr>
              <a:t>cuts down on unwanted interference </a:t>
            </a:r>
            <a:r>
              <a:rPr lang="en-US" dirty="0"/>
              <a:t>of too many layers while delivering governmental services.</a:t>
            </a:r>
          </a:p>
          <a:p>
            <a:pPr lvl="1"/>
            <a:r>
              <a:rPr lang="en-US" dirty="0"/>
              <a:t> It depends on good infrastructural setup with the support of local processes and parameters for governments to reach their citizens or end beneficiaries.</a:t>
            </a:r>
            <a:endParaRPr lang="en-US" b="1" i="1" dirty="0"/>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3200" b="1" dirty="0">
                <a:solidFill>
                  <a:srgbClr val="0070C0"/>
                </a:solidFill>
              </a:rPr>
              <a:t>Difference between e­-governance and e‐government</a:t>
            </a:r>
            <a:endParaRPr lang="en-US" sz="3200" dirty="0"/>
          </a:p>
        </p:txBody>
      </p:sp>
      <p:sp>
        <p:nvSpPr>
          <p:cNvPr id="5" name="Content Placeholder 4"/>
          <p:cNvSpPr>
            <a:spLocks noGrp="1"/>
          </p:cNvSpPr>
          <p:nvPr>
            <p:ph idx="1"/>
          </p:nvPr>
        </p:nvSpPr>
        <p:spPr>
          <a:xfrm>
            <a:off x="457200" y="1219200"/>
            <a:ext cx="8229600" cy="5105400"/>
          </a:xfrm>
        </p:spPr>
        <p:txBody>
          <a:bodyPr>
            <a:normAutofit/>
          </a:bodyPr>
          <a:lstStyle/>
          <a:p>
            <a:r>
              <a:rPr lang="en-US" sz="2800" dirty="0"/>
              <a:t>Budget for planning, development and growth can be derived from well laid out E‐governance systems.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buNone/>
            </a:pPr>
            <a:endParaRPr lang="en-US" dirty="0"/>
          </a:p>
        </p:txBody>
      </p:sp>
      <p:pic>
        <p:nvPicPr>
          <p:cNvPr id="7" name="Picture 6"/>
          <p:cNvPicPr/>
          <p:nvPr/>
        </p:nvPicPr>
        <p:blipFill>
          <a:blip r:embed="rId3"/>
          <a:srcRect/>
          <a:stretch>
            <a:fillRect/>
          </a:stretch>
        </p:blipFill>
        <p:spPr bwMode="auto">
          <a:xfrm>
            <a:off x="1828800" y="2438400"/>
            <a:ext cx="4953000" cy="304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762000"/>
          </a:xfrm>
        </p:spPr>
        <p:txBody>
          <a:bodyPr>
            <a:noAutofit/>
          </a:bodyPr>
          <a:lstStyle/>
          <a:p>
            <a:r>
              <a:rPr lang="en-US" sz="3200" b="1" dirty="0">
                <a:solidFill>
                  <a:srgbClr val="0070C0"/>
                </a:solidFill>
              </a:rPr>
              <a:t>Difference between e-governance and e‐government</a:t>
            </a:r>
            <a:endParaRPr lang="en-US" sz="3200"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813049519"/>
              </p:ext>
            </p:extLst>
          </p:nvPr>
        </p:nvGraphicFramePr>
        <p:xfrm>
          <a:off x="457200" y="838200"/>
          <a:ext cx="8332839" cy="5694681"/>
        </p:xfrm>
        <a:graphic>
          <a:graphicData uri="http://schemas.openxmlformats.org/drawingml/2006/table">
            <a:tbl>
              <a:tblPr firstRow="1" bandRow="1">
                <a:tableStyleId>{5C22544A-7EE6-4342-B048-85BDC9FD1C3A}</a:tableStyleId>
              </a:tblPr>
              <a:tblGrid>
                <a:gridCol w="2777613">
                  <a:extLst>
                    <a:ext uri="{9D8B030D-6E8A-4147-A177-3AD203B41FA5}">
                      <a16:colId xmlns:a16="http://schemas.microsoft.com/office/drawing/2014/main" val="3133988880"/>
                    </a:ext>
                  </a:extLst>
                </a:gridCol>
                <a:gridCol w="2777613">
                  <a:extLst>
                    <a:ext uri="{9D8B030D-6E8A-4147-A177-3AD203B41FA5}">
                      <a16:colId xmlns:a16="http://schemas.microsoft.com/office/drawing/2014/main" val="2599621938"/>
                    </a:ext>
                  </a:extLst>
                </a:gridCol>
                <a:gridCol w="2777613">
                  <a:extLst>
                    <a:ext uri="{9D8B030D-6E8A-4147-A177-3AD203B41FA5}">
                      <a16:colId xmlns:a16="http://schemas.microsoft.com/office/drawing/2014/main" val="3402853914"/>
                    </a:ext>
                  </a:extLst>
                </a:gridCol>
              </a:tblGrid>
              <a:tr h="459547">
                <a:tc>
                  <a:txBody>
                    <a:bodyPr/>
                    <a:lstStyle/>
                    <a:p>
                      <a:pPr algn="ctr" fontAlgn="ctr"/>
                      <a:r>
                        <a:rPr lang="en-US" b="1" cap="all" dirty="0">
                          <a:effectLst/>
                        </a:rPr>
                        <a:t>BASIS FOR COMPARISON</a:t>
                      </a:r>
                    </a:p>
                  </a:txBody>
                  <a:tcPr marL="50800" marR="50800" marT="50800" marB="50800" anchor="ctr"/>
                </a:tc>
                <a:tc>
                  <a:txBody>
                    <a:bodyPr/>
                    <a:lstStyle/>
                    <a:p>
                      <a:pPr algn="ctr" fontAlgn="ctr"/>
                      <a:r>
                        <a:rPr lang="en-US" b="1" cap="all" dirty="0">
                          <a:effectLst/>
                        </a:rPr>
                        <a:t>E-GOVERNMENT</a:t>
                      </a:r>
                    </a:p>
                  </a:txBody>
                  <a:tcPr marL="50800" marR="50800" marT="50800" marB="50800" anchor="ctr"/>
                </a:tc>
                <a:tc>
                  <a:txBody>
                    <a:bodyPr/>
                    <a:lstStyle/>
                    <a:p>
                      <a:pPr algn="ctr" fontAlgn="ctr"/>
                      <a:r>
                        <a:rPr lang="en-US" b="1" cap="all">
                          <a:effectLst/>
                        </a:rPr>
                        <a:t>E-GOVERNANCE</a:t>
                      </a:r>
                    </a:p>
                  </a:txBody>
                  <a:tcPr marL="50800" marR="50800" marT="50800" marB="50800" anchor="ctr"/>
                </a:tc>
                <a:extLst>
                  <a:ext uri="{0D108BD9-81ED-4DB2-BD59-A6C34878D82A}">
                    <a16:rowId xmlns:a16="http://schemas.microsoft.com/office/drawing/2014/main" val="3431076271"/>
                  </a:ext>
                </a:extLst>
              </a:tr>
              <a:tr h="2136274">
                <a:tc>
                  <a:txBody>
                    <a:bodyPr/>
                    <a:lstStyle/>
                    <a:p>
                      <a:pPr algn="l" fontAlgn="t"/>
                      <a:r>
                        <a:rPr lang="en-US">
                          <a:effectLst/>
                        </a:rPr>
                        <a:t>Meaning</a:t>
                      </a:r>
                    </a:p>
                  </a:txBody>
                  <a:tcPr marL="50800" marR="50800" marT="50800" marB="50800"/>
                </a:tc>
                <a:tc>
                  <a:txBody>
                    <a:bodyPr/>
                    <a:lstStyle/>
                    <a:p>
                      <a:pPr algn="l" fontAlgn="t"/>
                      <a:r>
                        <a:rPr lang="en-US" dirty="0">
                          <a:effectLst/>
                        </a:rPr>
                        <a:t>The application of ICT, with the aim of supporting government operations, aware citizens and deliver services is called as e-Government.</a:t>
                      </a:r>
                    </a:p>
                  </a:txBody>
                  <a:tcPr marL="50800" marR="50800" marT="50800" marB="50800"/>
                </a:tc>
                <a:tc>
                  <a:txBody>
                    <a:bodyPr/>
                    <a:lstStyle/>
                    <a:p>
                      <a:pPr algn="l" fontAlgn="t"/>
                      <a:r>
                        <a:rPr lang="en-US">
                          <a:effectLst/>
                        </a:rPr>
                        <a:t>e-Governance refers to the use of ICT in enhancing the range and quality of information and services delivered to the public, in an effective manner.</a:t>
                      </a:r>
                    </a:p>
                  </a:txBody>
                  <a:tcPr marL="50800" marR="50800" marT="50800" marB="50800"/>
                </a:tc>
                <a:extLst>
                  <a:ext uri="{0D108BD9-81ED-4DB2-BD59-A6C34878D82A}">
                    <a16:rowId xmlns:a16="http://schemas.microsoft.com/office/drawing/2014/main" val="2834882093"/>
                  </a:ext>
                </a:extLst>
              </a:tr>
              <a:tr h="459547">
                <a:tc>
                  <a:txBody>
                    <a:bodyPr/>
                    <a:lstStyle/>
                    <a:p>
                      <a:pPr algn="l" fontAlgn="t"/>
                      <a:r>
                        <a:rPr lang="en-US" dirty="0">
                          <a:effectLst/>
                        </a:rPr>
                        <a:t>Behavior</a:t>
                      </a:r>
                    </a:p>
                  </a:txBody>
                  <a:tcPr marL="50800" marR="50800" marT="50800" marB="50800"/>
                </a:tc>
                <a:tc>
                  <a:txBody>
                    <a:bodyPr/>
                    <a:lstStyle/>
                    <a:p>
                      <a:pPr algn="l" fontAlgn="t"/>
                      <a:r>
                        <a:rPr lang="en-US" dirty="0"/>
                        <a:t>It is  like the institution or the apparatus to perform the job</a:t>
                      </a:r>
                      <a:endParaRPr lang="en-US" dirty="0">
                        <a:effectLst/>
                      </a:endParaRPr>
                    </a:p>
                  </a:txBody>
                  <a:tcPr marL="50800" marR="50800" marT="50800" marB="50800"/>
                </a:tc>
                <a:tc>
                  <a:txBody>
                    <a:bodyPr/>
                    <a:lstStyle/>
                    <a:p>
                      <a:pPr algn="l" fontAlgn="t"/>
                      <a:r>
                        <a:rPr lang="en-US" dirty="0"/>
                        <a:t>It is the manner or the process to guide a society to best achieve its goals and interests</a:t>
                      </a:r>
                      <a:endParaRPr lang="en-US" dirty="0">
                        <a:effectLst/>
                      </a:endParaRPr>
                    </a:p>
                  </a:txBody>
                  <a:tcPr marL="50800" marR="50800" marT="50800" marB="50800"/>
                </a:tc>
                <a:extLst>
                  <a:ext uri="{0D108BD9-81ED-4DB2-BD59-A6C34878D82A}">
                    <a16:rowId xmlns:a16="http://schemas.microsoft.com/office/drawing/2014/main" val="10002"/>
                  </a:ext>
                </a:extLst>
              </a:tr>
              <a:tr h="459547">
                <a:tc>
                  <a:txBody>
                    <a:bodyPr/>
                    <a:lstStyle/>
                    <a:p>
                      <a:pPr algn="l" fontAlgn="t"/>
                      <a:r>
                        <a:rPr lang="en-US" dirty="0">
                          <a:effectLst/>
                        </a:rPr>
                        <a:t>What is it?</a:t>
                      </a:r>
                    </a:p>
                  </a:txBody>
                  <a:tcPr marL="50800" marR="50800" marT="50800" marB="50800"/>
                </a:tc>
                <a:tc>
                  <a:txBody>
                    <a:bodyPr/>
                    <a:lstStyle/>
                    <a:p>
                      <a:pPr algn="l" fontAlgn="t"/>
                      <a:r>
                        <a:rPr lang="en-US">
                          <a:effectLst/>
                        </a:rPr>
                        <a:t>System</a:t>
                      </a:r>
                    </a:p>
                  </a:txBody>
                  <a:tcPr marL="50800" marR="50800" marT="50800" marB="50800"/>
                </a:tc>
                <a:tc>
                  <a:txBody>
                    <a:bodyPr/>
                    <a:lstStyle/>
                    <a:p>
                      <a:pPr algn="l" fontAlgn="t"/>
                      <a:r>
                        <a:rPr lang="en-US" dirty="0">
                          <a:effectLst/>
                        </a:rPr>
                        <a:t>Functionality</a:t>
                      </a:r>
                    </a:p>
                  </a:txBody>
                  <a:tcPr marL="50800" marR="50800" marT="50800" marB="50800"/>
                </a:tc>
                <a:extLst>
                  <a:ext uri="{0D108BD9-81ED-4DB2-BD59-A6C34878D82A}">
                    <a16:rowId xmlns:a16="http://schemas.microsoft.com/office/drawing/2014/main" val="494809235"/>
                  </a:ext>
                </a:extLst>
              </a:tr>
              <a:tr h="794893">
                <a:tc>
                  <a:txBody>
                    <a:bodyPr/>
                    <a:lstStyle/>
                    <a:p>
                      <a:pPr algn="l" fontAlgn="t"/>
                      <a:r>
                        <a:rPr lang="en-US">
                          <a:effectLst/>
                        </a:rPr>
                        <a:t>Communication Protocol</a:t>
                      </a:r>
                    </a:p>
                  </a:txBody>
                  <a:tcPr marL="50800" marR="50800" marT="50800" marB="50800"/>
                </a:tc>
                <a:tc>
                  <a:txBody>
                    <a:bodyPr/>
                    <a:lstStyle/>
                    <a:p>
                      <a:pPr algn="l" fontAlgn="t"/>
                      <a:r>
                        <a:rPr lang="en-US">
                          <a:effectLst/>
                        </a:rPr>
                        <a:t>One way communication protocol</a:t>
                      </a:r>
                    </a:p>
                  </a:txBody>
                  <a:tcPr marL="50800" marR="50800" marT="50800" marB="50800"/>
                </a:tc>
                <a:tc>
                  <a:txBody>
                    <a:bodyPr/>
                    <a:lstStyle/>
                    <a:p>
                      <a:pPr algn="l" fontAlgn="t"/>
                      <a:r>
                        <a:rPr lang="en-US" dirty="0">
                          <a:effectLst/>
                        </a:rPr>
                        <a:t>Two way communication protocol</a:t>
                      </a:r>
                    </a:p>
                  </a:txBody>
                  <a:tcPr marL="50800" marR="50800" marT="50800" marB="50800"/>
                </a:tc>
                <a:extLst>
                  <a:ext uri="{0D108BD9-81ED-4DB2-BD59-A6C34878D82A}">
                    <a16:rowId xmlns:a16="http://schemas.microsoft.com/office/drawing/2014/main" val="4104623552"/>
                  </a:ext>
                </a:extLst>
              </a:tr>
              <a:tr h="645540">
                <a:tc>
                  <a:txBody>
                    <a:bodyPr/>
                    <a:lstStyle/>
                    <a:p>
                      <a:r>
                        <a:rPr lang="en-US" dirty="0"/>
                        <a:t>Discipline</a:t>
                      </a:r>
                    </a:p>
                  </a:txBody>
                  <a:tcPr/>
                </a:tc>
                <a:tc>
                  <a:txBody>
                    <a:bodyPr/>
                    <a:lstStyle/>
                    <a:p>
                      <a:r>
                        <a:rPr lang="en-US" sz="1800" b="0" i="0" kern="1200" dirty="0">
                          <a:solidFill>
                            <a:schemeClr val="dk1"/>
                          </a:solidFill>
                          <a:effectLst/>
                          <a:latin typeface="+mn-lt"/>
                          <a:ea typeface="+mn-ea"/>
                          <a:cs typeface="+mn-cs"/>
                        </a:rPr>
                        <a:t>e-Government is actually a narrower discipline</a:t>
                      </a:r>
                      <a:endParaRPr lang="en-US" dirty="0"/>
                    </a:p>
                  </a:txBody>
                  <a:tcPr/>
                </a:tc>
                <a:tc>
                  <a:txBody>
                    <a:bodyPr/>
                    <a:lstStyle/>
                    <a:p>
                      <a:r>
                        <a:rPr lang="en-US" sz="1800" b="0" i="0" kern="1200" dirty="0">
                          <a:solidFill>
                            <a:schemeClr val="dk1"/>
                          </a:solidFill>
                          <a:effectLst/>
                          <a:latin typeface="+mn-lt"/>
                          <a:ea typeface="+mn-ea"/>
                          <a:cs typeface="+mn-cs"/>
                        </a:rPr>
                        <a:t>e-Governance is a broader topic</a:t>
                      </a:r>
                      <a:endParaRPr lang="en-US" dirty="0"/>
                    </a:p>
                  </a:txBody>
                  <a:tcPr/>
                </a:tc>
                <a:extLst>
                  <a:ext uri="{0D108BD9-81ED-4DB2-BD59-A6C34878D82A}">
                    <a16:rowId xmlns:a16="http://schemas.microsoft.com/office/drawing/2014/main" val="3461466297"/>
                  </a:ext>
                </a:extLst>
              </a:tr>
            </a:tbl>
          </a:graphicData>
        </a:graphic>
      </p:graphicFrame>
    </p:spTree>
    <p:extLst>
      <p:ext uri="{BB962C8B-B14F-4D97-AF65-F5344CB8AC3E}">
        <p14:creationId xmlns:p14="http://schemas.microsoft.com/office/powerpoint/2010/main" val="4050056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87362"/>
          </a:xfrm>
        </p:spPr>
        <p:txBody>
          <a:bodyPr>
            <a:normAutofit fontScale="90000"/>
          </a:bodyPr>
          <a:lstStyle/>
          <a:p>
            <a:r>
              <a:rPr lang="en-US" b="1" dirty="0">
                <a:solidFill>
                  <a:srgbClr val="0070C0"/>
                </a:solidFill>
              </a:rPr>
              <a:t/>
            </a:r>
            <a:br>
              <a:rPr lang="en-US" b="1" dirty="0">
                <a:solidFill>
                  <a:srgbClr val="0070C0"/>
                </a:solidFill>
              </a:rPr>
            </a:br>
            <a:r>
              <a:rPr lang="en-US" b="1" dirty="0">
                <a:solidFill>
                  <a:srgbClr val="0070C0"/>
                </a:solidFill>
              </a:rPr>
              <a:t>WHY e‐GOVERNANCE?</a:t>
            </a:r>
            <a:r>
              <a:rPr lang="en-US" b="1" dirty="0"/>
              <a:t/>
            </a:r>
            <a:br>
              <a:rPr lang="en-US" b="1" dirty="0"/>
            </a:br>
            <a:endParaRPr lang="en-US" dirty="0"/>
          </a:p>
        </p:txBody>
      </p:sp>
      <p:sp>
        <p:nvSpPr>
          <p:cNvPr id="3" name="Content Placeholder 2"/>
          <p:cNvSpPr>
            <a:spLocks noGrp="1"/>
          </p:cNvSpPr>
          <p:nvPr>
            <p:ph idx="1"/>
          </p:nvPr>
        </p:nvSpPr>
        <p:spPr>
          <a:xfrm>
            <a:off x="457200" y="762000"/>
            <a:ext cx="8458200" cy="6096000"/>
          </a:xfrm>
        </p:spPr>
        <p:txBody>
          <a:bodyPr>
            <a:noAutofit/>
          </a:bodyPr>
          <a:lstStyle/>
          <a:p>
            <a:pPr lvl="0" algn="just">
              <a:buFont typeface="Wingdings" pitchFamily="2" charset="2"/>
              <a:buChar char="§"/>
            </a:pPr>
            <a:r>
              <a:rPr lang="en-US" sz="2000" b="1" dirty="0">
                <a:solidFill>
                  <a:srgbClr val="FF0000"/>
                </a:solidFill>
              </a:rPr>
              <a:t>To build an informed society</a:t>
            </a:r>
          </a:p>
          <a:p>
            <a:pPr lvl="1" algn="just">
              <a:buFont typeface="Wingdings" pitchFamily="2" charset="2"/>
              <a:buChar char="ü"/>
            </a:pPr>
            <a:r>
              <a:rPr lang="en-US" sz="1900" dirty="0"/>
              <a:t>An informed society is an </a:t>
            </a:r>
            <a:r>
              <a:rPr lang="en-US" sz="1900" dirty="0">
                <a:solidFill>
                  <a:srgbClr val="FF0000"/>
                </a:solidFill>
              </a:rPr>
              <a:t>empowered society</a:t>
            </a:r>
            <a:r>
              <a:rPr lang="en-US" sz="1900" dirty="0"/>
              <a:t>.</a:t>
            </a:r>
          </a:p>
          <a:p>
            <a:pPr lvl="1" algn="just">
              <a:buFont typeface="Wingdings" pitchFamily="2" charset="2"/>
              <a:buChar char="ü"/>
            </a:pPr>
            <a:r>
              <a:rPr lang="en-US" sz="1900" dirty="0"/>
              <a:t> Only informed people can make a Government responsible.</a:t>
            </a:r>
          </a:p>
          <a:p>
            <a:pPr lvl="1" algn="just">
              <a:buFont typeface="Wingdings" pitchFamily="2" charset="2"/>
              <a:buChar char="ü"/>
            </a:pPr>
            <a:r>
              <a:rPr lang="en-US" sz="1900" dirty="0"/>
              <a:t>So providing access to all to every piece of information of the Government and of public importance is one of the basic </a:t>
            </a:r>
            <a:r>
              <a:rPr lang="en-US" sz="1900" dirty="0">
                <a:solidFill>
                  <a:srgbClr val="00B050"/>
                </a:solidFill>
              </a:rPr>
              <a:t>objectives of E‐Governance</a:t>
            </a:r>
            <a:r>
              <a:rPr lang="en-US" sz="1900" dirty="0"/>
              <a:t>.</a:t>
            </a:r>
            <a:endParaRPr lang="en-US" sz="1900" dirty="0">
              <a:solidFill>
                <a:srgbClr val="FF0000"/>
              </a:solidFill>
            </a:endParaRPr>
          </a:p>
          <a:p>
            <a:pPr lvl="0" algn="just">
              <a:buFont typeface="Wingdings" pitchFamily="2" charset="2"/>
              <a:buChar char="§"/>
            </a:pPr>
            <a:r>
              <a:rPr lang="en-US" sz="2000" b="1" dirty="0">
                <a:solidFill>
                  <a:srgbClr val="FF0000"/>
                </a:solidFill>
              </a:rPr>
              <a:t>To increase Government and Citizen interaction</a:t>
            </a:r>
          </a:p>
          <a:p>
            <a:pPr lvl="1" algn="just">
              <a:buFont typeface="Wingdings" pitchFamily="2" charset="2"/>
              <a:buChar char="ü"/>
            </a:pPr>
            <a:r>
              <a:rPr lang="en-US" sz="1900" dirty="0"/>
              <a:t>In the physical world, the Government and Citizens hardly interact.</a:t>
            </a:r>
          </a:p>
          <a:p>
            <a:pPr lvl="1" algn="just">
              <a:buFont typeface="Wingdings" pitchFamily="2" charset="2"/>
              <a:buChar char="ü"/>
            </a:pPr>
            <a:r>
              <a:rPr lang="en-US" sz="1900" dirty="0"/>
              <a:t> The amount of feedback from and to the citizens is very negligible.</a:t>
            </a:r>
          </a:p>
          <a:p>
            <a:pPr lvl="1" algn="just">
              <a:buFont typeface="Wingdings" pitchFamily="2" charset="2"/>
              <a:buChar char="ü"/>
            </a:pPr>
            <a:r>
              <a:rPr lang="en-US" sz="1900" dirty="0"/>
              <a:t> E-Governance aims at </a:t>
            </a:r>
            <a:r>
              <a:rPr lang="en-US" sz="1900" dirty="0">
                <a:solidFill>
                  <a:srgbClr val="00B050"/>
                </a:solidFill>
              </a:rPr>
              <a:t>build a feedback framework, to get feedback from the people and to make the Government </a:t>
            </a:r>
            <a:r>
              <a:rPr lang="en-US" sz="1900" dirty="0"/>
              <a:t>aware of people's problems. </a:t>
            </a:r>
          </a:p>
          <a:p>
            <a:pPr lvl="0" algn="just">
              <a:buFont typeface="Wingdings" pitchFamily="2" charset="2"/>
              <a:buChar char="§"/>
            </a:pPr>
            <a:r>
              <a:rPr lang="en-US" sz="2000" b="1" dirty="0">
                <a:solidFill>
                  <a:srgbClr val="FF0000"/>
                </a:solidFill>
              </a:rPr>
              <a:t>To encourage citizen participation</a:t>
            </a:r>
          </a:p>
          <a:p>
            <a:pPr lvl="1" algn="just">
              <a:buFont typeface="Wingdings" pitchFamily="2" charset="2"/>
              <a:buChar char="ü"/>
            </a:pPr>
            <a:r>
              <a:rPr lang="en-US" sz="1900" dirty="0"/>
              <a:t>True democracy requires participation of each individual citizen. </a:t>
            </a:r>
          </a:p>
          <a:p>
            <a:pPr lvl="1" algn="just">
              <a:buFont typeface="Wingdings" pitchFamily="2" charset="2"/>
              <a:buChar char="ü"/>
            </a:pPr>
            <a:r>
              <a:rPr lang="en-US" sz="1900" dirty="0"/>
              <a:t>E‐governance aims to restore democracy to its true meaning by improving citizen participation in the Governing process, by improving the feedback, access to information and overall participation of the citizens in the decision-making.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solidFill>
                  <a:srgbClr val="0070C0"/>
                </a:solidFill>
              </a:rPr>
              <a:t/>
            </a:r>
            <a:br>
              <a:rPr lang="en-US" b="1" dirty="0">
                <a:solidFill>
                  <a:srgbClr val="0070C0"/>
                </a:solidFill>
              </a:rPr>
            </a:br>
            <a:r>
              <a:rPr lang="en-US" b="1" dirty="0">
                <a:solidFill>
                  <a:srgbClr val="0070C0"/>
                </a:solidFill>
              </a:rPr>
              <a:t>WHY e‐GOVERNANCE?</a:t>
            </a:r>
            <a:r>
              <a:rPr lang="en-US" b="1" dirty="0"/>
              <a:t/>
            </a:r>
            <a:br>
              <a:rPr lang="en-US" b="1" dirty="0"/>
            </a:br>
            <a:endParaRPr lang="en-US" dirty="0"/>
          </a:p>
        </p:txBody>
      </p:sp>
      <p:sp>
        <p:nvSpPr>
          <p:cNvPr id="3" name="Content Placeholder 2"/>
          <p:cNvSpPr>
            <a:spLocks noGrp="1"/>
          </p:cNvSpPr>
          <p:nvPr>
            <p:ph idx="1"/>
          </p:nvPr>
        </p:nvSpPr>
        <p:spPr>
          <a:xfrm>
            <a:off x="533400" y="914400"/>
            <a:ext cx="8229600" cy="5181600"/>
          </a:xfrm>
        </p:spPr>
        <p:txBody>
          <a:bodyPr>
            <a:normAutofit fontScale="25000" lnSpcReduction="20000"/>
          </a:bodyPr>
          <a:lstStyle/>
          <a:p>
            <a:pPr lvl="0" algn="just"/>
            <a:r>
              <a:rPr lang="en-US" sz="8000" b="1" dirty="0">
                <a:solidFill>
                  <a:srgbClr val="FF0000"/>
                </a:solidFill>
              </a:rPr>
              <a:t>To bring transparency in the governing process</a:t>
            </a:r>
          </a:p>
          <a:p>
            <a:pPr lvl="1" algn="just">
              <a:buFont typeface="Wingdings" pitchFamily="2" charset="2"/>
              <a:buChar char="ü"/>
            </a:pPr>
            <a:r>
              <a:rPr lang="en-US" sz="8000" dirty="0"/>
              <a:t>E-governance carries an objective to make the Governing process transparent by making all the Government data and information available to the people for access.</a:t>
            </a:r>
          </a:p>
          <a:p>
            <a:pPr lvl="1" algn="just">
              <a:buFont typeface="Wingdings" pitchFamily="2" charset="2"/>
              <a:buChar char="ü"/>
            </a:pPr>
            <a:r>
              <a:rPr lang="en-US" sz="8000" dirty="0"/>
              <a:t>It is to make people know the decisions, and policies of the Government.</a:t>
            </a:r>
          </a:p>
          <a:p>
            <a:pPr lvl="0" algn="just"/>
            <a:r>
              <a:rPr lang="en-US" sz="8000" b="1" dirty="0">
                <a:solidFill>
                  <a:srgbClr val="FF0000"/>
                </a:solidFill>
              </a:rPr>
              <a:t>To make the Government accountable </a:t>
            </a:r>
          </a:p>
          <a:p>
            <a:pPr lvl="1" algn="just">
              <a:buFont typeface="Wingdings" pitchFamily="2" charset="2"/>
              <a:buChar char="ü"/>
            </a:pPr>
            <a:r>
              <a:rPr lang="en-US" sz="8000" dirty="0"/>
              <a:t>Government is </a:t>
            </a:r>
            <a:r>
              <a:rPr lang="en-US" sz="8000" dirty="0">
                <a:solidFill>
                  <a:srgbClr val="00B050"/>
                </a:solidFill>
              </a:rPr>
              <a:t>responsible and answerable </a:t>
            </a:r>
            <a:r>
              <a:rPr lang="en-US" sz="8000" dirty="0"/>
              <a:t>for every act decision taken by it.</a:t>
            </a:r>
          </a:p>
          <a:p>
            <a:pPr lvl="1" algn="just">
              <a:buFont typeface="Wingdings" pitchFamily="2" charset="2"/>
              <a:buChar char="ü"/>
            </a:pPr>
            <a:r>
              <a:rPr lang="en-US" sz="8000" dirty="0"/>
              <a:t>E-Governance aims  will help make the Government more accountable than now by bringing transparency's and making the citizens more informed. </a:t>
            </a:r>
          </a:p>
          <a:p>
            <a:pPr lvl="0" algn="just"/>
            <a:r>
              <a:rPr lang="en-US" sz="8000" b="1" dirty="0">
                <a:solidFill>
                  <a:srgbClr val="FF0000"/>
                </a:solidFill>
              </a:rPr>
              <a:t>To reduce the cost of Governance</a:t>
            </a:r>
            <a:r>
              <a:rPr lang="en-US" sz="8000" b="1" dirty="0"/>
              <a:t> </a:t>
            </a:r>
          </a:p>
          <a:p>
            <a:pPr lvl="1" algn="just">
              <a:buFont typeface="Wingdings" pitchFamily="2" charset="2"/>
              <a:buChar char="ü"/>
            </a:pPr>
            <a:r>
              <a:rPr lang="en-US" sz="8000" dirty="0"/>
              <a:t>E-Governance also aims to reduce cost of governance by cutting down on expenditure on physical delivery of information and services.</a:t>
            </a:r>
          </a:p>
          <a:p>
            <a:pPr lvl="1" algn="just">
              <a:buFont typeface="Wingdings" pitchFamily="2" charset="2"/>
              <a:buChar char="ü"/>
            </a:pPr>
            <a:r>
              <a:rPr lang="en-US" sz="8000" dirty="0"/>
              <a:t>It aims to do this by cutting down on stationary, which amounts to the most of the government's expenditure.</a:t>
            </a:r>
          </a:p>
          <a:p>
            <a:pPr lvl="1" algn="just">
              <a:buFont typeface="Wingdings" pitchFamily="2" charset="2"/>
              <a:buChar char="ü"/>
            </a:pPr>
            <a:r>
              <a:rPr lang="en-US" sz="8000" dirty="0"/>
              <a:t>It also does away with the physical communication thereby reducing the time required for communication while reducing cost.</a:t>
            </a:r>
          </a:p>
          <a:p>
            <a:endParaRPr lang="en-US" dirty="0"/>
          </a:p>
          <a:p>
            <a:endParaRPr lang="en-US"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63562"/>
          </a:xfrm>
        </p:spPr>
        <p:txBody>
          <a:bodyPr>
            <a:normAutofit fontScale="90000"/>
          </a:bodyPr>
          <a:lstStyle/>
          <a:p>
            <a:r>
              <a:rPr lang="en-US" b="1" dirty="0">
                <a:solidFill>
                  <a:srgbClr val="0070C0"/>
                </a:solidFill>
              </a:rPr>
              <a:t>WHY e‐GOVERNANCE?</a:t>
            </a:r>
            <a:endParaRPr lang="en-US" dirty="0"/>
          </a:p>
        </p:txBody>
      </p:sp>
      <p:sp>
        <p:nvSpPr>
          <p:cNvPr id="3" name="Content Placeholder 2"/>
          <p:cNvSpPr>
            <a:spLocks noGrp="1"/>
          </p:cNvSpPr>
          <p:nvPr>
            <p:ph idx="1"/>
          </p:nvPr>
        </p:nvSpPr>
        <p:spPr>
          <a:xfrm>
            <a:off x="439994" y="990600"/>
            <a:ext cx="8229600" cy="4525963"/>
          </a:xfrm>
        </p:spPr>
        <p:txBody>
          <a:bodyPr>
            <a:normAutofit/>
          </a:bodyPr>
          <a:lstStyle/>
          <a:p>
            <a:pPr lvl="0" algn="just"/>
            <a:r>
              <a:rPr lang="en-US" sz="2400" b="1" dirty="0">
                <a:solidFill>
                  <a:srgbClr val="FF0000"/>
                </a:solidFill>
              </a:rPr>
              <a:t>To reduce the reaction time of the Government</a:t>
            </a:r>
          </a:p>
          <a:p>
            <a:pPr lvl="1" algn="just">
              <a:buFont typeface="Wingdings" pitchFamily="2" charset="2"/>
              <a:buChar char="ü"/>
            </a:pPr>
            <a:r>
              <a:rPr lang="en-US" sz="2400" dirty="0"/>
              <a:t>Normally due to red </a:t>
            </a:r>
            <a:r>
              <a:rPr lang="en-US" sz="2400" dirty="0" err="1"/>
              <a:t>tapism</a:t>
            </a:r>
            <a:r>
              <a:rPr lang="en-US" sz="2400" dirty="0"/>
              <a:t> and other reasons, the Government 	takes long to reply to people's queries and problems.</a:t>
            </a:r>
          </a:p>
          <a:p>
            <a:pPr lvl="1" algn="just">
              <a:buFont typeface="Wingdings" pitchFamily="2" charset="2"/>
              <a:buChar char="ü"/>
            </a:pPr>
            <a:r>
              <a:rPr lang="en-US" sz="2400" dirty="0"/>
              <a:t>E-Governance aims to reduce the reaction time of the Government to the people's queries and problems,  because  problems are basically Government's problems as Government is for the people.</a:t>
            </a:r>
          </a:p>
          <a:p>
            <a:pPr lvl="0">
              <a:buNone/>
            </a:pPr>
            <a:endParaRPr lang="en-US"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solidFill>
                  <a:srgbClr val="0070C0"/>
                </a:solidFill>
              </a:rPr>
              <a:t>WHY e‐GOVERNANCE?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962301755"/>
              </p:ext>
            </p:extLst>
          </p:nvPr>
        </p:nvGraphicFramePr>
        <p:xfrm>
          <a:off x="533400" y="1066800"/>
          <a:ext cx="8229599" cy="5289550"/>
        </p:xfrm>
        <a:graphic>
          <a:graphicData uri="http://schemas.openxmlformats.org/drawingml/2006/table">
            <a:tbl>
              <a:tblPr/>
              <a:tblGrid>
                <a:gridCol w="8229599">
                  <a:extLst>
                    <a:ext uri="{9D8B030D-6E8A-4147-A177-3AD203B41FA5}">
                      <a16:colId xmlns:a16="http://schemas.microsoft.com/office/drawing/2014/main" val="20000"/>
                    </a:ext>
                  </a:extLst>
                </a:gridCol>
              </a:tblGrid>
              <a:tr h="5289550">
                <a:tc>
                  <a:txBody>
                    <a:bodyPr/>
                    <a:lstStyle/>
                    <a:p>
                      <a:pPr algn="just"/>
                      <a:r>
                        <a:rPr lang="en-US" sz="1800" kern="1200" dirty="0">
                          <a:solidFill>
                            <a:schemeClr val="tx1"/>
                          </a:solidFill>
                          <a:latin typeface="+mn-lt"/>
                          <a:ea typeface="+mn-ea"/>
                          <a:cs typeface="+mn-cs"/>
                        </a:rPr>
                        <a:t>E‐Governance provides </a:t>
                      </a:r>
                      <a:r>
                        <a:rPr lang="en-US" sz="1800" b="1" kern="1200" dirty="0">
                          <a:solidFill>
                            <a:srgbClr val="FF0000"/>
                          </a:solidFill>
                          <a:latin typeface="+mn-lt"/>
                          <a:ea typeface="+mn-ea"/>
                          <a:cs typeface="+mn-cs"/>
                        </a:rPr>
                        <a:t>SMARRT </a:t>
                      </a:r>
                      <a:r>
                        <a:rPr lang="en-US" sz="1800" kern="1200" dirty="0">
                          <a:solidFill>
                            <a:srgbClr val="FF0000"/>
                          </a:solidFill>
                          <a:latin typeface="+mn-lt"/>
                          <a:ea typeface="+mn-ea"/>
                          <a:cs typeface="+mn-cs"/>
                        </a:rPr>
                        <a:t>Government</a:t>
                      </a:r>
                      <a:r>
                        <a:rPr lang="en-US" sz="1800" kern="1200" dirty="0">
                          <a:solidFill>
                            <a:schemeClr val="tx1"/>
                          </a:solidFill>
                          <a:latin typeface="+mn-lt"/>
                          <a:ea typeface="+mn-ea"/>
                          <a:cs typeface="+mn-cs"/>
                        </a:rPr>
                        <a:t>. The Acronym </a:t>
                      </a:r>
                      <a:r>
                        <a:rPr lang="en-US" sz="1800" b="1" kern="1200" dirty="0">
                          <a:solidFill>
                            <a:srgbClr val="FF0000"/>
                          </a:solidFill>
                          <a:latin typeface="+mn-lt"/>
                          <a:ea typeface="+mn-ea"/>
                          <a:cs typeface="+mn-cs"/>
                        </a:rPr>
                        <a:t>SMARRT </a:t>
                      </a:r>
                      <a:r>
                        <a:rPr lang="en-US" sz="1800" kern="1200" dirty="0">
                          <a:solidFill>
                            <a:srgbClr val="FF0000"/>
                          </a:solidFill>
                          <a:latin typeface="+mn-lt"/>
                          <a:ea typeface="+mn-ea"/>
                          <a:cs typeface="+mn-cs"/>
                        </a:rPr>
                        <a:t>refers to Simple, Moral,  Accountable, Responsive, Responsible and Transparent Government</a:t>
                      </a:r>
                      <a:r>
                        <a:rPr lang="en-US" sz="1800" kern="1200" dirty="0">
                          <a:solidFill>
                            <a:schemeClr val="tx1"/>
                          </a:solidFill>
                          <a:latin typeface="+mn-lt"/>
                          <a:ea typeface="+mn-ea"/>
                          <a:cs typeface="+mn-cs"/>
                        </a:rPr>
                        <a:t>.</a:t>
                      </a:r>
                    </a:p>
                    <a:p>
                      <a:pPr algn="just"/>
                      <a:r>
                        <a:rPr lang="en-US" sz="1800" kern="1200" dirty="0">
                          <a:solidFill>
                            <a:schemeClr val="tx1"/>
                          </a:solidFill>
                          <a:latin typeface="+mn-lt"/>
                          <a:ea typeface="+mn-ea"/>
                          <a:cs typeface="+mn-cs"/>
                        </a:rPr>
                        <a:t> </a:t>
                      </a:r>
                    </a:p>
                    <a:p>
                      <a:pPr algn="just"/>
                      <a:r>
                        <a:rPr lang="en-US" sz="1800" b="1" kern="1200" dirty="0">
                          <a:solidFill>
                            <a:schemeClr val="tx1"/>
                          </a:solidFill>
                          <a:latin typeface="+mn-lt"/>
                          <a:ea typeface="+mn-ea"/>
                          <a:cs typeface="+mn-cs"/>
                        </a:rPr>
                        <a:t>S</a:t>
                      </a:r>
                      <a:r>
                        <a:rPr lang="en-US" sz="1800" kern="1200" dirty="0">
                          <a:solidFill>
                            <a:schemeClr val="tx1"/>
                          </a:solidFill>
                          <a:latin typeface="+mn-lt"/>
                          <a:ea typeface="+mn-ea"/>
                          <a:cs typeface="+mn-cs"/>
                        </a:rPr>
                        <a:t>-The use of ICT brings simplicity in governance through electronic documentation, online submission, online service delivery, etc.</a:t>
                      </a:r>
                    </a:p>
                    <a:p>
                      <a:pPr algn="just"/>
                      <a:r>
                        <a:rPr lang="en-US" sz="1800" b="1" kern="1200" dirty="0">
                          <a:solidFill>
                            <a:schemeClr val="tx1"/>
                          </a:solidFill>
                          <a:latin typeface="+mn-lt"/>
                          <a:ea typeface="+mn-ea"/>
                          <a:cs typeface="+mn-cs"/>
                        </a:rPr>
                        <a:t>M</a:t>
                      </a:r>
                      <a:r>
                        <a:rPr lang="en-US" sz="1800" kern="1200" dirty="0">
                          <a:solidFill>
                            <a:schemeClr val="tx1"/>
                          </a:solidFill>
                          <a:latin typeface="+mn-lt"/>
                          <a:ea typeface="+mn-ea"/>
                          <a:cs typeface="+mn-cs"/>
                        </a:rPr>
                        <a:t>-It brings Morality to governance as immoralities like bribing, red-</a:t>
                      </a:r>
                      <a:r>
                        <a:rPr lang="en-US" sz="1800" kern="1200" dirty="0" err="1">
                          <a:solidFill>
                            <a:schemeClr val="tx1"/>
                          </a:solidFill>
                          <a:latin typeface="+mn-lt"/>
                          <a:ea typeface="+mn-ea"/>
                          <a:cs typeface="+mn-cs"/>
                        </a:rPr>
                        <a:t>tapism</a:t>
                      </a:r>
                      <a:r>
                        <a:rPr lang="en-US" sz="1800" kern="1200" dirty="0">
                          <a:solidFill>
                            <a:schemeClr val="tx1"/>
                          </a:solidFill>
                          <a:latin typeface="+mn-lt"/>
                          <a:ea typeface="+mn-ea"/>
                          <a:cs typeface="+mn-cs"/>
                        </a:rPr>
                        <a:t>, etc. are eliminated. </a:t>
                      </a:r>
                    </a:p>
                    <a:p>
                      <a:pPr algn="just"/>
                      <a:r>
                        <a:rPr lang="en-US" sz="1800" b="1" kern="1200" dirty="0">
                          <a:solidFill>
                            <a:schemeClr val="tx1"/>
                          </a:solidFill>
                          <a:latin typeface="+mn-lt"/>
                          <a:ea typeface="+mn-ea"/>
                          <a:cs typeface="+mn-cs"/>
                        </a:rPr>
                        <a:t>A</a:t>
                      </a:r>
                      <a:r>
                        <a:rPr lang="en-US" sz="1800" kern="1200" dirty="0">
                          <a:solidFill>
                            <a:schemeClr val="tx1"/>
                          </a:solidFill>
                          <a:latin typeface="+mn-lt"/>
                          <a:ea typeface="+mn-ea"/>
                          <a:cs typeface="+mn-cs"/>
                        </a:rPr>
                        <a:t>‐It makes the Government accountable, as all the data and information of Government is available online for consideration of every citizen, the NGOs and the media. </a:t>
                      </a:r>
                    </a:p>
                    <a:p>
                      <a:pPr algn="just"/>
                      <a:r>
                        <a:rPr lang="en-US" sz="1800" b="1" kern="1200" dirty="0">
                          <a:solidFill>
                            <a:schemeClr val="tx1"/>
                          </a:solidFill>
                          <a:latin typeface="+mn-lt"/>
                          <a:ea typeface="+mn-ea"/>
                          <a:cs typeface="+mn-cs"/>
                        </a:rPr>
                        <a:t>R </a:t>
                      </a:r>
                      <a:r>
                        <a:rPr lang="en-US" sz="1800" kern="1200" dirty="0">
                          <a:solidFill>
                            <a:schemeClr val="tx1"/>
                          </a:solidFill>
                          <a:latin typeface="+mn-lt"/>
                          <a:ea typeface="+mn-ea"/>
                          <a:cs typeface="+mn-cs"/>
                        </a:rPr>
                        <a:t>‐Due to reduced paperwork and increased communication speeds and decreased communication time, the Government agencies become responsive.</a:t>
                      </a:r>
                    </a:p>
                    <a:p>
                      <a:pPr algn="just"/>
                      <a:r>
                        <a:rPr lang="en-US" sz="1800" b="1" kern="1200" dirty="0">
                          <a:solidFill>
                            <a:schemeClr val="tx1"/>
                          </a:solidFill>
                          <a:latin typeface="+mn-lt"/>
                          <a:ea typeface="+mn-ea"/>
                          <a:cs typeface="+mn-cs"/>
                        </a:rPr>
                        <a:t>R</a:t>
                      </a:r>
                      <a:r>
                        <a:rPr lang="en-US" sz="1800" kern="1200" dirty="0">
                          <a:solidFill>
                            <a:schemeClr val="tx1"/>
                          </a:solidFill>
                          <a:latin typeface="+mn-lt"/>
                          <a:ea typeface="+mn-ea"/>
                          <a:cs typeface="+mn-cs"/>
                        </a:rPr>
                        <a:t>‐Technology can help convert an irresponsible Government Responsible. Increased access to information makes more informed citizens. The powered citizens make a responsible Government.</a:t>
                      </a:r>
                    </a:p>
                    <a:p>
                      <a:pPr algn="just"/>
                      <a:r>
                        <a:rPr lang="en-US" sz="1800" b="1" kern="1200" dirty="0">
                          <a:solidFill>
                            <a:schemeClr val="tx1"/>
                          </a:solidFill>
                          <a:latin typeface="+mn-lt"/>
                          <a:ea typeface="+mn-ea"/>
                          <a:cs typeface="+mn-cs"/>
                        </a:rPr>
                        <a:t>T</a:t>
                      </a:r>
                      <a:r>
                        <a:rPr lang="en-US" sz="1800" kern="1200" dirty="0">
                          <a:solidFill>
                            <a:schemeClr val="tx1"/>
                          </a:solidFill>
                          <a:latin typeface="+mn-lt"/>
                          <a:ea typeface="+mn-ea"/>
                          <a:cs typeface="+mn-cs"/>
                        </a:rPr>
                        <a:t>‐With increased morality, online availability of information and reduced red-</a:t>
                      </a:r>
                      <a:r>
                        <a:rPr lang="en-US" sz="1800" kern="1200" dirty="0" err="1">
                          <a:solidFill>
                            <a:schemeClr val="tx1"/>
                          </a:solidFill>
                          <a:latin typeface="+mn-lt"/>
                          <a:ea typeface="+mn-ea"/>
                          <a:cs typeface="+mn-cs"/>
                        </a:rPr>
                        <a:t>tapism</a:t>
                      </a:r>
                      <a:r>
                        <a:rPr lang="en-US" sz="1800" kern="1200" dirty="0">
                          <a:solidFill>
                            <a:schemeClr val="tx1"/>
                          </a:solidFill>
                          <a:latin typeface="+mn-lt"/>
                          <a:ea typeface="+mn-ea"/>
                          <a:cs typeface="+mn-cs"/>
                        </a:rPr>
                        <a:t> the process of governance becomes transparent leaving no room for the Government to conceal any information from the citizens.</a:t>
                      </a:r>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solidFill>
                  <a:srgbClr val="0070C0"/>
                </a:solidFill>
              </a:rPr>
              <a:t>Need for E-Governance </a:t>
            </a:r>
          </a:p>
        </p:txBody>
      </p:sp>
      <p:sp>
        <p:nvSpPr>
          <p:cNvPr id="3" name="Content Placeholder 2"/>
          <p:cNvSpPr>
            <a:spLocks noGrp="1"/>
          </p:cNvSpPr>
          <p:nvPr>
            <p:ph idx="1"/>
          </p:nvPr>
        </p:nvSpPr>
        <p:spPr>
          <a:xfrm>
            <a:off x="381000" y="990600"/>
            <a:ext cx="8229600" cy="5181600"/>
          </a:xfrm>
        </p:spPr>
        <p:txBody>
          <a:bodyPr>
            <a:normAutofit fontScale="70000" lnSpcReduction="20000"/>
          </a:bodyPr>
          <a:lstStyle/>
          <a:p>
            <a:pPr algn="just"/>
            <a:r>
              <a:rPr lang="en-US" dirty="0"/>
              <a:t>The fundamental motivation for the campaign of e-governance is a slogan to</a:t>
            </a:r>
            <a:r>
              <a:rPr lang="en-US" b="1" dirty="0"/>
              <a:t> </a:t>
            </a:r>
            <a:r>
              <a:rPr lang="en-US" dirty="0"/>
              <a:t>provide</a:t>
            </a:r>
            <a:r>
              <a:rPr lang="en-US" b="1" dirty="0"/>
              <a:t> SMART </a:t>
            </a:r>
            <a:r>
              <a:rPr lang="en-US" dirty="0"/>
              <a:t>government</a:t>
            </a:r>
            <a:r>
              <a:rPr lang="en-US" b="1" dirty="0"/>
              <a:t> "SMART" </a:t>
            </a:r>
            <a:r>
              <a:rPr lang="en-US" dirty="0"/>
              <a:t>being an acronym for </a:t>
            </a:r>
            <a:r>
              <a:rPr lang="en-US" b="1" dirty="0"/>
              <a:t>S</a:t>
            </a:r>
            <a:r>
              <a:rPr lang="en-US" dirty="0"/>
              <a:t>imple, </a:t>
            </a:r>
            <a:r>
              <a:rPr lang="en-US" b="1" dirty="0"/>
              <a:t>M</a:t>
            </a:r>
            <a:r>
              <a:rPr lang="en-US" dirty="0"/>
              <a:t>oral, </a:t>
            </a:r>
            <a:r>
              <a:rPr lang="en-US" b="1" dirty="0"/>
              <a:t>A</a:t>
            </a:r>
            <a:r>
              <a:rPr lang="en-US" dirty="0"/>
              <a:t>ccountable, </a:t>
            </a:r>
            <a:r>
              <a:rPr lang="en-US" b="1" dirty="0"/>
              <a:t>R</a:t>
            </a:r>
            <a:r>
              <a:rPr lang="en-US" dirty="0"/>
              <a:t>esponsive and </a:t>
            </a:r>
            <a:r>
              <a:rPr lang="en-US" b="1" dirty="0"/>
              <a:t>T</a:t>
            </a:r>
            <a:r>
              <a:rPr lang="en-US" dirty="0"/>
              <a:t>ransparent Government, a laudable ideal, though difficult it may be to achieve in reality</a:t>
            </a:r>
            <a:r>
              <a:rPr lang="en-US" b="1" dirty="0"/>
              <a:t>.</a:t>
            </a:r>
          </a:p>
          <a:p>
            <a:pPr algn="just"/>
            <a:r>
              <a:rPr lang="en-US" dirty="0"/>
              <a:t>Thus, we may conceive a Smart Village or Smart Municipality or Smart State, all very difficult but ideal models. </a:t>
            </a:r>
          </a:p>
          <a:p>
            <a:pPr algn="just"/>
            <a:r>
              <a:rPr lang="en-US" dirty="0"/>
              <a:t>Notwithstanding the difficulties involved in achieving this, a clear objective of e-governance can be </a:t>
            </a:r>
            <a:r>
              <a:rPr lang="en-US" dirty="0">
                <a:solidFill>
                  <a:srgbClr val="FF0000"/>
                </a:solidFill>
              </a:rPr>
              <a:t>cutting the cost of e-governance and also minimizing the complexities of the procedures by possible business process reengineering.</a:t>
            </a:r>
          </a:p>
          <a:p>
            <a:pPr algn="just"/>
            <a:r>
              <a:rPr lang="en-US" dirty="0"/>
              <a:t>The </a:t>
            </a:r>
            <a:r>
              <a:rPr lang="en-US" dirty="0" smtClean="0"/>
              <a:t>related </a:t>
            </a:r>
            <a:r>
              <a:rPr lang="en-US" dirty="0"/>
              <a:t>benefit is empowerment of people through what is called '</a:t>
            </a:r>
            <a:r>
              <a:rPr lang="en-US" dirty="0">
                <a:solidFill>
                  <a:srgbClr val="FF0000"/>
                </a:solidFill>
              </a:rPr>
              <a:t>disintermediation</a:t>
            </a:r>
            <a:r>
              <a:rPr lang="en-US" dirty="0"/>
              <a:t>'; in other words, eliminating the middleman or tout between the government and the people. </a:t>
            </a:r>
          </a:p>
          <a:p>
            <a:pPr lvl="1" algn="just"/>
            <a:r>
              <a:rPr lang="en-US" dirty="0"/>
              <a:t>For example, by doing so, property tax assessment and collection system can reduce the element of corruption in the system apart from increasing consumer convenience.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solidFill>
                  <a:srgbClr val="0070C0"/>
                </a:solidFill>
              </a:rPr>
              <a:t>Need for E-Governance </a:t>
            </a:r>
            <a:endParaRPr lang="en-US" dirty="0"/>
          </a:p>
        </p:txBody>
      </p:sp>
      <p:sp>
        <p:nvSpPr>
          <p:cNvPr id="3" name="Content Placeholder 2"/>
          <p:cNvSpPr>
            <a:spLocks noGrp="1"/>
          </p:cNvSpPr>
          <p:nvPr>
            <p:ph idx="1"/>
          </p:nvPr>
        </p:nvSpPr>
        <p:spPr>
          <a:xfrm>
            <a:off x="457200" y="990600"/>
            <a:ext cx="8229600" cy="5181600"/>
          </a:xfrm>
        </p:spPr>
        <p:txBody>
          <a:bodyPr>
            <a:noAutofit/>
          </a:bodyPr>
          <a:lstStyle/>
          <a:p>
            <a:pPr algn="just"/>
            <a:r>
              <a:rPr lang="en-US" sz="2400" dirty="0"/>
              <a:t>The online system based on the Internet will reduce contacting with the mediating officials, thereby </a:t>
            </a:r>
            <a:r>
              <a:rPr lang="en-US" sz="2400" dirty="0">
                <a:solidFill>
                  <a:srgbClr val="FF0000"/>
                </a:solidFill>
              </a:rPr>
              <a:t>reducing the possibility of malpractice</a:t>
            </a:r>
            <a:r>
              <a:rPr lang="en-US" sz="2400" dirty="0"/>
              <a:t>. </a:t>
            </a:r>
          </a:p>
          <a:p>
            <a:pPr lvl="1" algn="just"/>
            <a:r>
              <a:rPr lang="en-US" sz="2400" dirty="0"/>
              <a:t>This does not however mean that the primary objective of e-governance is tackling with corruption</a:t>
            </a:r>
          </a:p>
          <a:p>
            <a:pPr algn="just"/>
            <a:r>
              <a:rPr lang="en-US" sz="2400" dirty="0"/>
              <a:t>Evidently, the objectives of achieving such e-governance go far beyond mere simple computerization of stand-alone back office operations in government offices. </a:t>
            </a:r>
          </a:p>
          <a:p>
            <a:pPr algn="just"/>
            <a:r>
              <a:rPr lang="en-US" sz="2400" dirty="0"/>
              <a:t>It should mean a drastic change in the way the government operates, and this means a new and redefined set of responsibilities for the executive, legislative and the judiciary. </a:t>
            </a:r>
          </a:p>
          <a:p>
            <a:pPr algn="just"/>
            <a:r>
              <a:rPr lang="en-US" sz="2400" dirty="0"/>
              <a:t>This requires bringing about a </a:t>
            </a:r>
            <a:r>
              <a:rPr lang="en-US" sz="2400" dirty="0">
                <a:solidFill>
                  <a:srgbClr val="FF0000"/>
                </a:solidFill>
              </a:rPr>
              <a:t>social catharsis</a:t>
            </a:r>
            <a:r>
              <a:rPr lang="en-US" sz="2400" dirty="0"/>
              <a:t>, which needs to be done in a comprehensive, concerted and planned manner.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sz="3600" b="1" dirty="0">
                <a:solidFill>
                  <a:srgbClr val="0070C0"/>
                </a:solidFill>
              </a:rPr>
              <a:t>Needs of E-governance </a:t>
            </a:r>
            <a:endParaRPr lang="en-US" sz="3600" dirty="0">
              <a:solidFill>
                <a:srgbClr val="0070C0"/>
              </a:solidFill>
            </a:endParaRPr>
          </a:p>
        </p:txBody>
      </p:sp>
      <p:sp>
        <p:nvSpPr>
          <p:cNvPr id="3" name="Content Placeholder 2"/>
          <p:cNvSpPr>
            <a:spLocks noGrp="1"/>
          </p:cNvSpPr>
          <p:nvPr>
            <p:ph idx="1"/>
          </p:nvPr>
        </p:nvSpPr>
        <p:spPr>
          <a:xfrm>
            <a:off x="304800" y="838199"/>
            <a:ext cx="8229600" cy="5883275"/>
          </a:xfrm>
        </p:spPr>
        <p:txBody>
          <a:bodyPr>
            <a:noAutofit/>
          </a:bodyPr>
          <a:lstStyle/>
          <a:p>
            <a:pPr algn="just"/>
            <a:r>
              <a:rPr lang="en-US" sz="1800" dirty="0"/>
              <a:t>The strategic objective of e-governance is to support and simplify governance for all parties   government, citizens, businesses and its employees. The use of ICTs can connect all three parties and support processes and activities. </a:t>
            </a:r>
          </a:p>
          <a:p>
            <a:pPr algn="just"/>
            <a:r>
              <a:rPr lang="en-US" sz="2000" dirty="0"/>
              <a:t>There may </a:t>
            </a:r>
            <a:r>
              <a:rPr lang="en-US" sz="2000" dirty="0">
                <a:solidFill>
                  <a:srgbClr val="FF0000"/>
                </a:solidFill>
              </a:rPr>
              <a:t>be three major objectives of e-governance</a:t>
            </a:r>
            <a:r>
              <a:rPr lang="en-US" sz="2000" dirty="0"/>
              <a:t>:</a:t>
            </a:r>
          </a:p>
          <a:p>
            <a:pPr algn="just">
              <a:buFont typeface="Wingdings" pitchFamily="2" charset="2"/>
              <a:buChar char="ü"/>
            </a:pPr>
            <a:r>
              <a:rPr lang="en-US" sz="2000" dirty="0"/>
              <a:t> </a:t>
            </a:r>
            <a:r>
              <a:rPr lang="en-US" sz="2000" dirty="0">
                <a:solidFill>
                  <a:srgbClr val="00B050"/>
                </a:solidFill>
              </a:rPr>
              <a:t>Service to the Public:</a:t>
            </a:r>
          </a:p>
          <a:p>
            <a:pPr lvl="1" algn="just">
              <a:buFont typeface="Wingdings" pitchFamily="2" charset="2"/>
              <a:buChar char="v"/>
            </a:pPr>
            <a:r>
              <a:rPr lang="en-US" sz="2000" dirty="0"/>
              <a:t> </a:t>
            </a:r>
            <a:r>
              <a:rPr lang="en-US" sz="1800" dirty="0"/>
              <a:t>This objective of e-government is to satisfactorily fulfill the public’s needs and expectations on the front-office side, by simplifying their interaction with various online services. </a:t>
            </a:r>
          </a:p>
          <a:p>
            <a:pPr lvl="1" algn="just">
              <a:buFont typeface="Wingdings" pitchFamily="2" charset="2"/>
              <a:buChar char="v"/>
            </a:pPr>
            <a:r>
              <a:rPr lang="en-US" sz="1800" dirty="0"/>
              <a:t>The use of ICTs in government operations facilitates speedy, transparent, accountable, efficient and effective interaction with the public, citizens, business and other agencies. </a:t>
            </a:r>
          </a:p>
          <a:p>
            <a:pPr algn="just">
              <a:buFont typeface="Wingdings" pitchFamily="2" charset="2"/>
              <a:buChar char="ü"/>
            </a:pPr>
            <a:r>
              <a:rPr lang="en-US" sz="2000" dirty="0"/>
              <a:t> </a:t>
            </a:r>
            <a:r>
              <a:rPr lang="en-US" sz="2000" dirty="0">
                <a:solidFill>
                  <a:srgbClr val="00B050"/>
                </a:solidFill>
              </a:rPr>
              <a:t>Efficient Government: </a:t>
            </a:r>
          </a:p>
          <a:p>
            <a:pPr lvl="1" algn="just">
              <a:buFont typeface="Wingdings" pitchFamily="2" charset="2"/>
              <a:buChar char="v"/>
            </a:pPr>
            <a:r>
              <a:rPr lang="en-US" sz="1800" dirty="0"/>
              <a:t>In the back-office, the objective of e-government in government operations is to facilitate a speedy, transparent, accountable, efficient and effective process for performing government administration activities.</a:t>
            </a:r>
          </a:p>
          <a:p>
            <a:pPr lvl="1" algn="just">
              <a:buFont typeface="Wingdings" pitchFamily="2" charset="2"/>
              <a:buChar char="v"/>
            </a:pPr>
            <a:r>
              <a:rPr lang="en-US" sz="1800" dirty="0"/>
              <a:t> Significant cost savings (per transaction) in government operations can be the result. </a:t>
            </a:r>
          </a:p>
          <a:p>
            <a:pPr algn="just">
              <a:buNone/>
            </a:pP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solidFill>
                  <a:srgbClr val="0070C0"/>
                </a:solidFill>
              </a:rPr>
              <a:t>Needs of E-governance </a:t>
            </a:r>
            <a:endParaRPr lang="en-US" dirty="0"/>
          </a:p>
        </p:txBody>
      </p:sp>
      <p:sp>
        <p:nvSpPr>
          <p:cNvPr id="3" name="Content Placeholder 2"/>
          <p:cNvSpPr>
            <a:spLocks noGrp="1"/>
          </p:cNvSpPr>
          <p:nvPr>
            <p:ph idx="1"/>
          </p:nvPr>
        </p:nvSpPr>
        <p:spPr>
          <a:xfrm>
            <a:off x="381000" y="1143000"/>
            <a:ext cx="8229600" cy="4953000"/>
          </a:xfrm>
        </p:spPr>
        <p:txBody>
          <a:bodyPr>
            <a:normAutofit/>
          </a:bodyPr>
          <a:lstStyle/>
          <a:p>
            <a:pPr algn="just">
              <a:buFont typeface="Wingdings" pitchFamily="2" charset="2"/>
              <a:buChar char="ü"/>
            </a:pPr>
            <a:r>
              <a:rPr lang="en-US" sz="2400" dirty="0">
                <a:solidFill>
                  <a:srgbClr val="00B050"/>
                </a:solidFill>
              </a:rPr>
              <a:t>Good Governance: </a:t>
            </a:r>
          </a:p>
          <a:p>
            <a:pPr lvl="1" algn="just">
              <a:buFont typeface="Wingdings" pitchFamily="2" charset="2"/>
              <a:buChar char="v"/>
            </a:pPr>
            <a:r>
              <a:rPr lang="en-US" sz="2400" dirty="0"/>
              <a:t>As e-governance is transparent, there is less chance of corruption at all level.</a:t>
            </a:r>
          </a:p>
          <a:p>
            <a:pPr lvl="1" algn="just">
              <a:buFont typeface="Wingdings" pitchFamily="2" charset="2"/>
              <a:buChar char="v"/>
            </a:pPr>
            <a:r>
              <a:rPr lang="en-US" sz="2400" dirty="0"/>
              <a:t>It provides the service to the people in very easy manner and with less cost which makes the governance good governance. </a:t>
            </a:r>
            <a:endParaRPr lang="en-US" sz="24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solidFill>
                  <a:srgbClr val="0070C0"/>
                </a:solidFill>
              </a:rPr>
              <a:t>Needs of E-governance </a:t>
            </a:r>
            <a:endParaRPr lang="en-US" dirty="0"/>
          </a:p>
        </p:txBody>
      </p:sp>
      <p:sp>
        <p:nvSpPr>
          <p:cNvPr id="3" name="Content Placeholder 2"/>
          <p:cNvSpPr>
            <a:spLocks noGrp="1"/>
          </p:cNvSpPr>
          <p:nvPr>
            <p:ph idx="1"/>
          </p:nvPr>
        </p:nvSpPr>
        <p:spPr>
          <a:xfrm>
            <a:off x="304800" y="1000330"/>
            <a:ext cx="8534400" cy="5334000"/>
          </a:xfrm>
        </p:spPr>
        <p:txBody>
          <a:bodyPr>
            <a:normAutofit fontScale="25000" lnSpcReduction="20000"/>
          </a:bodyPr>
          <a:lstStyle/>
          <a:p>
            <a:pPr algn="just"/>
            <a:r>
              <a:rPr lang="en-US" sz="8000" b="1" dirty="0">
                <a:solidFill>
                  <a:srgbClr val="FF0000"/>
                </a:solidFill>
              </a:rPr>
              <a:t>E‐Governance seek to achieve </a:t>
            </a:r>
            <a:endParaRPr lang="en-US" sz="8000" dirty="0">
              <a:solidFill>
                <a:srgbClr val="FF0000"/>
              </a:solidFill>
            </a:endParaRPr>
          </a:p>
          <a:p>
            <a:pPr lvl="1" algn="just">
              <a:buFont typeface="Wingdings" pitchFamily="2" charset="2"/>
              <a:buChar char="v"/>
            </a:pPr>
            <a:r>
              <a:rPr lang="en-US" sz="8000" dirty="0"/>
              <a:t>Efficiency</a:t>
            </a:r>
          </a:p>
          <a:p>
            <a:pPr lvl="1" algn="just">
              <a:buFont typeface="Wingdings" pitchFamily="2" charset="2"/>
              <a:buChar char="v"/>
            </a:pPr>
            <a:r>
              <a:rPr lang="en-US" sz="8000" dirty="0"/>
              <a:t>Transparency</a:t>
            </a:r>
          </a:p>
          <a:p>
            <a:pPr lvl="1" algn="just">
              <a:buFont typeface="Wingdings" pitchFamily="2" charset="2"/>
              <a:buChar char="v"/>
            </a:pPr>
            <a:r>
              <a:rPr lang="en-US" sz="8000" dirty="0"/>
              <a:t>Citizen's participation</a:t>
            </a:r>
          </a:p>
          <a:p>
            <a:pPr algn="just">
              <a:buNone/>
            </a:pPr>
            <a:r>
              <a:rPr lang="en-US" sz="8000" dirty="0"/>
              <a:t> </a:t>
            </a:r>
          </a:p>
          <a:p>
            <a:pPr algn="just"/>
            <a:r>
              <a:rPr lang="en-US" sz="8000" b="1" dirty="0">
                <a:solidFill>
                  <a:srgbClr val="FF0000"/>
                </a:solidFill>
              </a:rPr>
              <a:t>Enabling e‐governance through ICT contributes to</a:t>
            </a:r>
            <a:endParaRPr lang="en-US" sz="8000" dirty="0">
              <a:solidFill>
                <a:srgbClr val="FF0000"/>
              </a:solidFill>
            </a:endParaRPr>
          </a:p>
          <a:p>
            <a:pPr lvl="1" algn="just">
              <a:buFont typeface="Wingdings" pitchFamily="2" charset="2"/>
              <a:buChar char="v"/>
            </a:pPr>
            <a:r>
              <a:rPr lang="en-US" sz="8000" dirty="0"/>
              <a:t>Good governance, Trust and Accountability</a:t>
            </a:r>
          </a:p>
          <a:p>
            <a:pPr lvl="1" algn="just">
              <a:buFont typeface="Wingdings" pitchFamily="2" charset="2"/>
              <a:buChar char="v"/>
            </a:pPr>
            <a:r>
              <a:rPr lang="en-US" sz="8000" dirty="0"/>
              <a:t>Citizen's awareness, empowerment and Citizen's welfare</a:t>
            </a:r>
          </a:p>
          <a:p>
            <a:pPr lvl="1" algn="just">
              <a:buFont typeface="Wingdings" pitchFamily="2" charset="2"/>
              <a:buChar char="v"/>
            </a:pPr>
            <a:r>
              <a:rPr lang="en-US" sz="8000" dirty="0"/>
              <a:t>Nation's economic growth</a:t>
            </a:r>
          </a:p>
          <a:p>
            <a:pPr lvl="1" algn="just">
              <a:buFont typeface="Wingdings" pitchFamily="2" charset="2"/>
              <a:buChar char="v"/>
            </a:pPr>
            <a:r>
              <a:rPr lang="en-US" sz="8000" dirty="0"/>
              <a:t>Ensure transparent, timely and hassle free delivery of services.</a:t>
            </a:r>
          </a:p>
          <a:p>
            <a:pPr lvl="1" algn="just">
              <a:buFont typeface="Wingdings" pitchFamily="2" charset="2"/>
              <a:buChar char="v"/>
            </a:pPr>
            <a:r>
              <a:rPr lang="en-US" sz="8000" dirty="0"/>
              <a:t>Provide greater public access to information and has proved to be a more efficient and cost‐effective way of governance.</a:t>
            </a:r>
          </a:p>
          <a:p>
            <a:pPr lvl="1" algn="just">
              <a:buFont typeface="Wingdings" pitchFamily="2" charset="2"/>
              <a:buChar char="v"/>
            </a:pPr>
            <a:r>
              <a:rPr lang="en-US" sz="8000" dirty="0"/>
              <a:t>E‐Government can transform citizen service, provide access to information to empower citizens, enable their participation in government and enhance citizen economic and social opportunities, so that they can make better lives, for themselves and for the next generation. </a:t>
            </a:r>
          </a:p>
          <a:p>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3200" dirty="0"/>
              <a:t> </a:t>
            </a:r>
            <a:r>
              <a:rPr lang="en-US" sz="3200" b="1" dirty="0">
                <a:solidFill>
                  <a:srgbClr val="0070C0"/>
                </a:solidFill>
              </a:rPr>
              <a:t>Advantages/Benefits of E‐Governance</a:t>
            </a:r>
          </a:p>
        </p:txBody>
      </p:sp>
      <p:sp>
        <p:nvSpPr>
          <p:cNvPr id="3" name="Content Placeholder 2"/>
          <p:cNvSpPr>
            <a:spLocks noGrp="1"/>
          </p:cNvSpPr>
          <p:nvPr>
            <p:ph idx="1"/>
          </p:nvPr>
        </p:nvSpPr>
        <p:spPr>
          <a:xfrm>
            <a:off x="457200" y="990600"/>
            <a:ext cx="8229600" cy="5486400"/>
          </a:xfrm>
        </p:spPr>
        <p:txBody>
          <a:bodyPr>
            <a:normAutofit/>
          </a:bodyPr>
          <a:lstStyle/>
          <a:p>
            <a:pPr algn="just"/>
            <a:r>
              <a:rPr lang="en-US" sz="2400" i="1" dirty="0"/>
              <a:t>Following are the advantages of E‐Governance:</a:t>
            </a:r>
            <a:endParaRPr lang="en-US" sz="2400" dirty="0"/>
          </a:p>
          <a:p>
            <a:pPr lvl="1" algn="just">
              <a:buFont typeface="Wingdings" pitchFamily="2" charset="2"/>
              <a:buChar char="§"/>
            </a:pPr>
            <a:r>
              <a:rPr lang="en-US" sz="2400" b="1" dirty="0">
                <a:solidFill>
                  <a:srgbClr val="FF0000"/>
                </a:solidFill>
              </a:rPr>
              <a:t>Speed</a:t>
            </a:r>
          </a:p>
          <a:p>
            <a:pPr lvl="1" algn="just"/>
            <a:r>
              <a:rPr lang="en-US" sz="2400" dirty="0"/>
              <a:t>Technology makes communication swifter. </a:t>
            </a:r>
          </a:p>
          <a:p>
            <a:pPr lvl="1" algn="just"/>
            <a:r>
              <a:rPr lang="en-US" sz="2400" dirty="0"/>
              <a:t>Internet, Phones, Cell Phones have reduced the time taken in normal communication.</a:t>
            </a:r>
            <a:endParaRPr lang="en-US" sz="2400" dirty="0">
              <a:solidFill>
                <a:srgbClr val="FF0000"/>
              </a:solidFill>
            </a:endParaRPr>
          </a:p>
          <a:p>
            <a:pPr lvl="1" algn="just">
              <a:buFont typeface="Wingdings" pitchFamily="2" charset="2"/>
              <a:buChar char="§"/>
            </a:pPr>
            <a:r>
              <a:rPr lang="en-US" sz="2400" b="1" dirty="0">
                <a:solidFill>
                  <a:srgbClr val="FF0000"/>
                </a:solidFill>
              </a:rPr>
              <a:t>Cost Reduction</a:t>
            </a:r>
          </a:p>
          <a:p>
            <a:pPr lvl="1" algn="just"/>
            <a:r>
              <a:rPr lang="en-US" sz="2400" dirty="0"/>
              <a:t>Most of the Government expenditure is appropriated towards the cost of stationary. </a:t>
            </a:r>
          </a:p>
          <a:p>
            <a:pPr lvl="1" algn="just"/>
            <a:r>
              <a:rPr lang="en-US" sz="2400" dirty="0"/>
              <a:t>Paper‐based communication needs lots of stationary, printers, computers, etc. which calls for continuous heavy expenditure.</a:t>
            </a:r>
          </a:p>
          <a:p>
            <a:pPr lvl="1" algn="just"/>
            <a:r>
              <a:rPr lang="en-US" sz="2400" dirty="0"/>
              <a:t>Internet and Phones makes communication cheaper saving valuable money for the Government.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600" b="1" dirty="0">
                <a:solidFill>
                  <a:srgbClr val="0070C0"/>
                </a:solidFill>
              </a:rPr>
              <a:t>Advantages/Benefits  of E‐Governance</a:t>
            </a:r>
            <a:endParaRPr lang="en-US" sz="3600" dirty="0"/>
          </a:p>
        </p:txBody>
      </p:sp>
      <p:sp>
        <p:nvSpPr>
          <p:cNvPr id="3" name="Content Placeholder 2"/>
          <p:cNvSpPr>
            <a:spLocks noGrp="1"/>
          </p:cNvSpPr>
          <p:nvPr>
            <p:ph idx="1"/>
          </p:nvPr>
        </p:nvSpPr>
        <p:spPr>
          <a:xfrm>
            <a:off x="457200" y="914400"/>
            <a:ext cx="8229600" cy="5181600"/>
          </a:xfrm>
        </p:spPr>
        <p:txBody>
          <a:bodyPr>
            <a:normAutofit fontScale="70000" lnSpcReduction="20000"/>
          </a:bodyPr>
          <a:lstStyle/>
          <a:p>
            <a:pPr lvl="1" algn="just">
              <a:buFont typeface="Wingdings" pitchFamily="2" charset="2"/>
              <a:buChar char="§"/>
            </a:pPr>
            <a:r>
              <a:rPr lang="en-US" sz="3100" b="1" dirty="0">
                <a:solidFill>
                  <a:srgbClr val="FF0000"/>
                </a:solidFill>
              </a:rPr>
              <a:t> Transparency</a:t>
            </a:r>
          </a:p>
          <a:p>
            <a:pPr lvl="1" algn="just"/>
            <a:r>
              <a:rPr lang="en-US" sz="3100" dirty="0"/>
              <a:t>Use of ICT makes governing process transparent. </a:t>
            </a:r>
          </a:p>
          <a:p>
            <a:pPr lvl="1" algn="just"/>
            <a:r>
              <a:rPr lang="en-US" sz="3100" dirty="0"/>
              <a:t>All the information of the Government would be made available on the Internet. </a:t>
            </a:r>
          </a:p>
          <a:p>
            <a:pPr lvl="1" algn="just"/>
            <a:r>
              <a:rPr lang="en-US" sz="3100" dirty="0"/>
              <a:t>The citizens can see the information whenever they want.</a:t>
            </a:r>
          </a:p>
          <a:p>
            <a:pPr lvl="1" algn="just"/>
            <a:r>
              <a:rPr lang="en-US" sz="3100" dirty="0"/>
              <a:t>Current governing process leaves many ways to censor the information from all the people. </a:t>
            </a:r>
          </a:p>
          <a:p>
            <a:pPr lvl="1" algn="just"/>
            <a:r>
              <a:rPr lang="en-US" sz="3100" dirty="0"/>
              <a:t>ICT helps make the information available online eliminating all the possibilities of censoring of information.</a:t>
            </a:r>
          </a:p>
          <a:p>
            <a:pPr algn="just">
              <a:buNone/>
            </a:pPr>
            <a:endParaRPr lang="en-US" sz="3100" dirty="0"/>
          </a:p>
          <a:p>
            <a:pPr lvl="1" algn="just">
              <a:buFont typeface="Wingdings" pitchFamily="2" charset="2"/>
              <a:buChar char="§"/>
            </a:pPr>
            <a:r>
              <a:rPr lang="en-US" sz="3100" b="1" dirty="0">
                <a:solidFill>
                  <a:srgbClr val="FF0000"/>
                </a:solidFill>
              </a:rPr>
              <a:t>Accountability</a:t>
            </a:r>
          </a:p>
          <a:p>
            <a:pPr lvl="1" algn="just"/>
            <a:r>
              <a:rPr lang="en-US" sz="3100" dirty="0"/>
              <a:t>Once the governing process is made transparent the Government is automatically made accountable.</a:t>
            </a:r>
          </a:p>
          <a:p>
            <a:pPr lvl="1" algn="just"/>
            <a:r>
              <a:rPr lang="en-US" sz="3100" dirty="0"/>
              <a:t> Accountability is answerability of the Government to the people. It is the answerability for the deeds of the Government. </a:t>
            </a:r>
          </a:p>
          <a:p>
            <a:pPr lvl="1" algn="just"/>
            <a:r>
              <a:rPr lang="en-US" sz="3100" dirty="0"/>
              <a:t>An accountable Government is a responsible Government</a:t>
            </a:r>
            <a:r>
              <a:rPr lang="en-US" dirty="0"/>
              <a:t>.</a:t>
            </a:r>
          </a:p>
          <a:p>
            <a:pPr lvl="1"/>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458200" cy="715962"/>
          </a:xfrm>
        </p:spPr>
        <p:txBody>
          <a:bodyPr>
            <a:normAutofit fontScale="90000"/>
          </a:bodyPr>
          <a:lstStyle/>
          <a:p>
            <a:r>
              <a:rPr lang="en-US" b="1" dirty="0">
                <a:solidFill>
                  <a:srgbClr val="0070C0"/>
                </a:solidFill>
              </a:rPr>
              <a:t>Advantages/Benefits  of E‐Governance</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066800" y="1066800"/>
            <a:ext cx="6640440" cy="503788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b="1" dirty="0">
                <a:solidFill>
                  <a:srgbClr val="0070C0"/>
                </a:solidFill>
              </a:rPr>
              <a:t> </a:t>
            </a:r>
            <a:r>
              <a:rPr lang="en-US" sz="4000" b="1" dirty="0">
                <a:solidFill>
                  <a:srgbClr val="0070C0"/>
                </a:solidFill>
              </a:rPr>
              <a:t>E-Government as Information System </a:t>
            </a:r>
          </a:p>
        </p:txBody>
      </p:sp>
      <p:sp>
        <p:nvSpPr>
          <p:cNvPr id="3" name="Content Placeholder 2"/>
          <p:cNvSpPr>
            <a:spLocks noGrp="1"/>
          </p:cNvSpPr>
          <p:nvPr>
            <p:ph idx="1"/>
          </p:nvPr>
        </p:nvSpPr>
        <p:spPr>
          <a:xfrm>
            <a:off x="457200" y="1066800"/>
            <a:ext cx="8229600" cy="5257800"/>
          </a:xfrm>
        </p:spPr>
        <p:txBody>
          <a:bodyPr>
            <a:normAutofit fontScale="70000" lnSpcReduction="20000"/>
          </a:bodyPr>
          <a:lstStyle/>
          <a:p>
            <a:pPr algn="just"/>
            <a:r>
              <a:rPr lang="en-US" dirty="0"/>
              <a:t>To understand e-government, we must understand IT.</a:t>
            </a:r>
          </a:p>
          <a:p>
            <a:pPr algn="just"/>
            <a:r>
              <a:rPr lang="en-US" dirty="0"/>
              <a:t>IT  handles data to produce information. </a:t>
            </a:r>
          </a:p>
          <a:p>
            <a:pPr algn="just"/>
            <a:r>
              <a:rPr lang="en-US" dirty="0"/>
              <a:t>The next step to understanding e-government is to understand : </a:t>
            </a:r>
            <a:r>
              <a:rPr lang="en-US" i="1" dirty="0">
                <a:solidFill>
                  <a:srgbClr val="FF0000"/>
                </a:solidFill>
              </a:rPr>
              <a:t>e-government systems are information systems</a:t>
            </a:r>
            <a:r>
              <a:rPr lang="en-US" dirty="0">
                <a:solidFill>
                  <a:srgbClr val="FF0000"/>
                </a:solidFill>
              </a:rPr>
              <a:t>. </a:t>
            </a:r>
          </a:p>
          <a:p>
            <a:pPr lvl="1" algn="just">
              <a:buFont typeface="Wingdings" pitchFamily="2" charset="2"/>
              <a:buChar char="ü"/>
            </a:pPr>
            <a:r>
              <a:rPr lang="en-US" dirty="0"/>
              <a:t>At their heart lie data and information. </a:t>
            </a:r>
          </a:p>
          <a:p>
            <a:pPr lvl="1" algn="just">
              <a:buFont typeface="Wingdings" pitchFamily="2" charset="2"/>
              <a:buChar char="ü"/>
            </a:pPr>
            <a:r>
              <a:rPr lang="en-US" dirty="0"/>
              <a:t>These are handled by digital (and sometimes non-digital) information technologies.</a:t>
            </a:r>
          </a:p>
          <a:p>
            <a:pPr algn="just"/>
            <a:r>
              <a:rPr lang="en-US" dirty="0"/>
              <a:t>To understand e-government as an information system, we must add in </a:t>
            </a:r>
            <a:r>
              <a:rPr lang="en-US" dirty="0">
                <a:solidFill>
                  <a:srgbClr val="FF0000"/>
                </a:solidFill>
              </a:rPr>
              <a:t>some notion of activity and purpose</a:t>
            </a:r>
            <a:r>
              <a:rPr lang="en-US" dirty="0"/>
              <a:t>, that can only come if we </a:t>
            </a:r>
            <a:r>
              <a:rPr lang="en-US" dirty="0">
                <a:solidFill>
                  <a:srgbClr val="00B050"/>
                </a:solidFill>
              </a:rPr>
              <a:t>bring people into the equation</a:t>
            </a:r>
            <a:r>
              <a:rPr lang="en-US" dirty="0"/>
              <a:t>. </a:t>
            </a:r>
          </a:p>
          <a:p>
            <a:pPr algn="just"/>
            <a:r>
              <a:rPr lang="en-US" dirty="0"/>
              <a:t>For e-government to be a working information system, it must be seen to consist of </a:t>
            </a:r>
            <a:r>
              <a:rPr lang="en-US" dirty="0">
                <a:solidFill>
                  <a:srgbClr val="FF0000"/>
                </a:solidFill>
              </a:rPr>
              <a:t>technology </a:t>
            </a:r>
            <a:r>
              <a:rPr lang="en-US" i="1" dirty="0">
                <a:solidFill>
                  <a:srgbClr val="FF0000"/>
                </a:solidFill>
              </a:rPr>
              <a:t>plus </a:t>
            </a:r>
            <a:r>
              <a:rPr lang="en-US" dirty="0">
                <a:solidFill>
                  <a:srgbClr val="FF0000"/>
                </a:solidFill>
              </a:rPr>
              <a:t>information </a:t>
            </a:r>
            <a:r>
              <a:rPr lang="en-US" i="1" dirty="0">
                <a:solidFill>
                  <a:srgbClr val="FF0000"/>
                </a:solidFill>
              </a:rPr>
              <a:t>plus </a:t>
            </a:r>
            <a:r>
              <a:rPr lang="en-US" dirty="0">
                <a:solidFill>
                  <a:srgbClr val="FF0000"/>
                </a:solidFill>
              </a:rPr>
              <a:t>people </a:t>
            </a:r>
            <a:r>
              <a:rPr lang="en-US" dirty="0"/>
              <a:t>who give the system purpose and meaning </a:t>
            </a:r>
            <a:r>
              <a:rPr lang="en-US" i="1" dirty="0">
                <a:solidFill>
                  <a:srgbClr val="FF0000"/>
                </a:solidFill>
              </a:rPr>
              <a:t>plus </a:t>
            </a:r>
            <a:r>
              <a:rPr lang="en-US" dirty="0">
                <a:solidFill>
                  <a:srgbClr val="FF0000"/>
                </a:solidFill>
              </a:rPr>
              <a:t>work processes </a:t>
            </a:r>
            <a:r>
              <a:rPr lang="en-US" dirty="0"/>
              <a:t>that are undertaken. </a:t>
            </a:r>
          </a:p>
          <a:p>
            <a:pPr algn="just"/>
            <a:r>
              <a:rPr lang="en-US" dirty="0"/>
              <a:t>Therefore an initial model of an e-government system can be produced, as illustrated in Figure below</a:t>
            </a:r>
          </a:p>
        </p:txBody>
      </p:sp>
    </p:spTree>
    <p:extLst>
      <p:ext uri="{BB962C8B-B14F-4D97-AF65-F5344CB8AC3E}">
        <p14:creationId xmlns:p14="http://schemas.microsoft.com/office/powerpoint/2010/main" val="1287643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dirty="0">
                <a:solidFill>
                  <a:srgbClr val="0070C0"/>
                </a:solidFill>
              </a:rPr>
              <a:t>E-Government as Information System</a:t>
            </a:r>
            <a:endParaRPr lang="en-US" dirty="0"/>
          </a:p>
        </p:txBody>
      </p:sp>
      <p:pic>
        <p:nvPicPr>
          <p:cNvPr id="6" name="Content Placeholder 5"/>
          <p:cNvPicPr>
            <a:picLocks noGrp="1" noChangeAspect="1"/>
          </p:cNvPicPr>
          <p:nvPr>
            <p:ph idx="1"/>
          </p:nvPr>
        </p:nvPicPr>
        <p:blipFill>
          <a:blip r:embed="rId3"/>
          <a:stretch>
            <a:fillRect/>
          </a:stretch>
        </p:blipFill>
        <p:spPr>
          <a:xfrm>
            <a:off x="328016" y="1143000"/>
            <a:ext cx="8331745" cy="5105400"/>
          </a:xfrm>
          <a:prstGeom prst="rect">
            <a:avLst/>
          </a:prstGeom>
        </p:spPr>
      </p:pic>
    </p:spTree>
    <p:extLst>
      <p:ext uri="{BB962C8B-B14F-4D97-AF65-F5344CB8AC3E}">
        <p14:creationId xmlns:p14="http://schemas.microsoft.com/office/powerpoint/2010/main" val="3265060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219" y="145256"/>
            <a:ext cx="6553200" cy="792163"/>
          </a:xfrm>
        </p:spPr>
        <p:txBody>
          <a:bodyPr/>
          <a:lstStyle/>
          <a:p>
            <a:r>
              <a:rPr lang="en-US" dirty="0">
                <a:solidFill>
                  <a:srgbClr val="0070C0"/>
                </a:solidFill>
              </a:rPr>
              <a:t>IT Vs Information System</a:t>
            </a:r>
          </a:p>
        </p:txBody>
      </p:sp>
      <p:sp>
        <p:nvSpPr>
          <p:cNvPr id="6" name="Rectangle 4"/>
          <p:cNvSpPr>
            <a:spLocks noChangeArrowheads="1"/>
          </p:cNvSpPr>
          <p:nvPr/>
        </p:nvSpPr>
        <p:spPr bwMode="auto">
          <a:xfrm>
            <a:off x="381000" y="1600200"/>
            <a:ext cx="2133600" cy="3505200"/>
          </a:xfrm>
          <a:prstGeom prst="rect">
            <a:avLst/>
          </a:prstGeom>
          <a:noFill/>
          <a:ln w="9525">
            <a:solidFill>
              <a:schemeClr val="tx1"/>
            </a:solidFill>
            <a:miter lim="800000"/>
            <a:headEnd/>
            <a:tailEnd/>
          </a:ln>
          <a:effectLst/>
        </p:spPr>
        <p:txBody>
          <a:bodyPr wrap="none" anchor="ctr"/>
          <a:lstStyle/>
          <a:p>
            <a:endParaRPr lang="en-US" dirty="0"/>
          </a:p>
        </p:txBody>
      </p:sp>
      <p:sp>
        <p:nvSpPr>
          <p:cNvPr id="7" name="Rectangle 5"/>
          <p:cNvSpPr>
            <a:spLocks noChangeArrowheads="1"/>
          </p:cNvSpPr>
          <p:nvPr/>
        </p:nvSpPr>
        <p:spPr bwMode="auto">
          <a:xfrm>
            <a:off x="4648200" y="2514600"/>
            <a:ext cx="1524000" cy="1447800"/>
          </a:xfrm>
          <a:prstGeom prst="rect">
            <a:avLst/>
          </a:prstGeom>
          <a:noFill/>
          <a:ln w="9525">
            <a:solidFill>
              <a:schemeClr val="tx1"/>
            </a:solidFill>
            <a:miter lim="800000"/>
            <a:headEnd/>
            <a:tailEnd/>
          </a:ln>
          <a:effectLst/>
        </p:spPr>
        <p:txBody>
          <a:bodyPr wrap="none" anchor="ctr"/>
          <a:lstStyle/>
          <a:p>
            <a:endParaRPr lang="en-US" dirty="0"/>
          </a:p>
        </p:txBody>
      </p:sp>
      <p:sp>
        <p:nvSpPr>
          <p:cNvPr id="8" name="Rectangle 6"/>
          <p:cNvSpPr>
            <a:spLocks noChangeArrowheads="1"/>
          </p:cNvSpPr>
          <p:nvPr/>
        </p:nvSpPr>
        <p:spPr bwMode="auto">
          <a:xfrm>
            <a:off x="7162800" y="304800"/>
            <a:ext cx="1219200" cy="1219200"/>
          </a:xfrm>
          <a:prstGeom prst="rect">
            <a:avLst/>
          </a:prstGeom>
          <a:noFill/>
          <a:ln w="9525">
            <a:solidFill>
              <a:schemeClr val="tx1"/>
            </a:solidFill>
            <a:miter lim="800000"/>
            <a:headEnd/>
            <a:tailEnd/>
          </a:ln>
          <a:effectLst/>
        </p:spPr>
        <p:txBody>
          <a:bodyPr wrap="none" anchor="ctr"/>
          <a:lstStyle/>
          <a:p>
            <a:endParaRPr lang="en-US" dirty="0"/>
          </a:p>
        </p:txBody>
      </p:sp>
      <p:sp>
        <p:nvSpPr>
          <p:cNvPr id="9" name="Rectangle 7"/>
          <p:cNvSpPr>
            <a:spLocks noChangeArrowheads="1"/>
          </p:cNvSpPr>
          <p:nvPr/>
        </p:nvSpPr>
        <p:spPr bwMode="auto">
          <a:xfrm>
            <a:off x="7162800" y="1828800"/>
            <a:ext cx="1219200" cy="1219200"/>
          </a:xfrm>
          <a:prstGeom prst="rect">
            <a:avLst/>
          </a:prstGeom>
          <a:noFill/>
          <a:ln w="9525">
            <a:solidFill>
              <a:schemeClr val="tx1"/>
            </a:solidFill>
            <a:miter lim="800000"/>
            <a:headEnd/>
            <a:tailEnd/>
          </a:ln>
          <a:effectLst/>
        </p:spPr>
        <p:txBody>
          <a:bodyPr wrap="none" anchor="ctr"/>
          <a:lstStyle/>
          <a:p>
            <a:endParaRPr lang="en-US" dirty="0"/>
          </a:p>
        </p:txBody>
      </p:sp>
      <p:sp>
        <p:nvSpPr>
          <p:cNvPr id="10" name="Rectangle 8"/>
          <p:cNvSpPr>
            <a:spLocks noChangeArrowheads="1"/>
          </p:cNvSpPr>
          <p:nvPr/>
        </p:nvSpPr>
        <p:spPr bwMode="auto">
          <a:xfrm>
            <a:off x="7162800" y="3429000"/>
            <a:ext cx="1219200" cy="1219200"/>
          </a:xfrm>
          <a:prstGeom prst="rect">
            <a:avLst/>
          </a:prstGeom>
          <a:noFill/>
          <a:ln w="9525">
            <a:solidFill>
              <a:schemeClr val="tx1"/>
            </a:solidFill>
            <a:miter lim="800000"/>
            <a:headEnd/>
            <a:tailEnd/>
          </a:ln>
          <a:effectLst/>
        </p:spPr>
        <p:txBody>
          <a:bodyPr wrap="none" anchor="ctr"/>
          <a:lstStyle/>
          <a:p>
            <a:endParaRPr lang="en-US" dirty="0"/>
          </a:p>
        </p:txBody>
      </p:sp>
      <p:sp>
        <p:nvSpPr>
          <p:cNvPr id="11" name="Rectangle 9"/>
          <p:cNvSpPr>
            <a:spLocks noChangeArrowheads="1"/>
          </p:cNvSpPr>
          <p:nvPr/>
        </p:nvSpPr>
        <p:spPr bwMode="auto">
          <a:xfrm>
            <a:off x="7162800" y="5029200"/>
            <a:ext cx="1219200" cy="1219200"/>
          </a:xfrm>
          <a:prstGeom prst="rect">
            <a:avLst/>
          </a:prstGeom>
          <a:noFill/>
          <a:ln w="9525">
            <a:solidFill>
              <a:schemeClr val="tx1"/>
            </a:solidFill>
            <a:miter lim="800000"/>
            <a:headEnd/>
            <a:tailEnd/>
          </a:ln>
          <a:effectLst/>
        </p:spPr>
        <p:txBody>
          <a:bodyPr wrap="none" anchor="ctr"/>
          <a:lstStyle/>
          <a:p>
            <a:endParaRPr lang="en-US" dirty="0"/>
          </a:p>
        </p:txBody>
      </p:sp>
      <p:sp>
        <p:nvSpPr>
          <p:cNvPr id="12" name="Line 11"/>
          <p:cNvSpPr>
            <a:spLocks noChangeShapeType="1"/>
          </p:cNvSpPr>
          <p:nvPr/>
        </p:nvSpPr>
        <p:spPr bwMode="auto">
          <a:xfrm>
            <a:off x="2514600" y="3200400"/>
            <a:ext cx="2133600" cy="0"/>
          </a:xfrm>
          <a:prstGeom prst="line">
            <a:avLst/>
          </a:prstGeom>
          <a:noFill/>
          <a:ln w="9525">
            <a:solidFill>
              <a:schemeClr val="tx1"/>
            </a:solidFill>
            <a:round/>
            <a:headEnd/>
            <a:tailEnd type="triangle" w="med" len="med"/>
          </a:ln>
          <a:effectLst/>
        </p:spPr>
        <p:txBody>
          <a:bodyPr/>
          <a:lstStyle/>
          <a:p>
            <a:endParaRPr lang="en-US" dirty="0"/>
          </a:p>
        </p:txBody>
      </p:sp>
      <p:sp>
        <p:nvSpPr>
          <p:cNvPr id="13" name="Line 12"/>
          <p:cNvSpPr>
            <a:spLocks noChangeShapeType="1"/>
          </p:cNvSpPr>
          <p:nvPr/>
        </p:nvSpPr>
        <p:spPr bwMode="auto">
          <a:xfrm flipH="1">
            <a:off x="6553200" y="838200"/>
            <a:ext cx="609600" cy="0"/>
          </a:xfrm>
          <a:prstGeom prst="line">
            <a:avLst/>
          </a:prstGeom>
          <a:noFill/>
          <a:ln w="9525">
            <a:solidFill>
              <a:schemeClr val="tx1"/>
            </a:solidFill>
            <a:round/>
            <a:headEnd/>
            <a:tailEnd/>
          </a:ln>
          <a:effectLst/>
        </p:spPr>
        <p:txBody>
          <a:bodyPr/>
          <a:lstStyle/>
          <a:p>
            <a:endParaRPr lang="en-US" dirty="0"/>
          </a:p>
        </p:txBody>
      </p:sp>
      <p:sp>
        <p:nvSpPr>
          <p:cNvPr id="14" name="Line 13"/>
          <p:cNvSpPr>
            <a:spLocks noChangeShapeType="1"/>
          </p:cNvSpPr>
          <p:nvPr/>
        </p:nvSpPr>
        <p:spPr bwMode="auto">
          <a:xfrm>
            <a:off x="6553200" y="838200"/>
            <a:ext cx="0" cy="4648200"/>
          </a:xfrm>
          <a:prstGeom prst="line">
            <a:avLst/>
          </a:prstGeom>
          <a:noFill/>
          <a:ln w="9525">
            <a:solidFill>
              <a:schemeClr val="tx1"/>
            </a:solidFill>
            <a:round/>
            <a:headEnd/>
            <a:tailEnd/>
          </a:ln>
          <a:effectLst/>
        </p:spPr>
        <p:txBody>
          <a:bodyPr/>
          <a:lstStyle/>
          <a:p>
            <a:endParaRPr lang="en-US" dirty="0"/>
          </a:p>
        </p:txBody>
      </p:sp>
      <p:sp>
        <p:nvSpPr>
          <p:cNvPr id="15" name="Line 14"/>
          <p:cNvSpPr>
            <a:spLocks noChangeShapeType="1"/>
          </p:cNvSpPr>
          <p:nvPr/>
        </p:nvSpPr>
        <p:spPr bwMode="auto">
          <a:xfrm>
            <a:off x="6553200" y="5486400"/>
            <a:ext cx="609600" cy="0"/>
          </a:xfrm>
          <a:prstGeom prst="line">
            <a:avLst/>
          </a:prstGeom>
          <a:noFill/>
          <a:ln w="9525">
            <a:solidFill>
              <a:schemeClr val="tx1"/>
            </a:solidFill>
            <a:round/>
            <a:headEnd/>
            <a:tailEnd/>
          </a:ln>
          <a:effectLst/>
        </p:spPr>
        <p:txBody>
          <a:bodyPr/>
          <a:lstStyle/>
          <a:p>
            <a:endParaRPr lang="en-US" dirty="0"/>
          </a:p>
        </p:txBody>
      </p:sp>
      <p:sp>
        <p:nvSpPr>
          <p:cNvPr id="16" name="Line 17"/>
          <p:cNvSpPr>
            <a:spLocks noChangeShapeType="1"/>
          </p:cNvSpPr>
          <p:nvPr/>
        </p:nvSpPr>
        <p:spPr bwMode="auto">
          <a:xfrm>
            <a:off x="6553200" y="2438400"/>
            <a:ext cx="609600" cy="0"/>
          </a:xfrm>
          <a:prstGeom prst="line">
            <a:avLst/>
          </a:prstGeom>
          <a:noFill/>
          <a:ln w="9525">
            <a:solidFill>
              <a:schemeClr val="tx1"/>
            </a:solidFill>
            <a:round/>
            <a:headEnd/>
            <a:tailEnd/>
          </a:ln>
          <a:effectLst/>
        </p:spPr>
        <p:txBody>
          <a:bodyPr/>
          <a:lstStyle/>
          <a:p>
            <a:endParaRPr lang="en-US" dirty="0"/>
          </a:p>
        </p:txBody>
      </p:sp>
      <p:sp>
        <p:nvSpPr>
          <p:cNvPr id="17" name="Line 18"/>
          <p:cNvSpPr>
            <a:spLocks noChangeShapeType="1"/>
          </p:cNvSpPr>
          <p:nvPr/>
        </p:nvSpPr>
        <p:spPr bwMode="auto">
          <a:xfrm>
            <a:off x="6553200" y="3962400"/>
            <a:ext cx="609600" cy="0"/>
          </a:xfrm>
          <a:prstGeom prst="line">
            <a:avLst/>
          </a:prstGeom>
          <a:noFill/>
          <a:ln w="9525">
            <a:solidFill>
              <a:schemeClr val="tx1"/>
            </a:solidFill>
            <a:round/>
            <a:headEnd/>
            <a:tailEnd/>
          </a:ln>
          <a:effectLst/>
        </p:spPr>
        <p:txBody>
          <a:bodyPr/>
          <a:lstStyle/>
          <a:p>
            <a:endParaRPr lang="en-US" dirty="0"/>
          </a:p>
        </p:txBody>
      </p:sp>
      <p:sp>
        <p:nvSpPr>
          <p:cNvPr id="18" name="Text Box 20"/>
          <p:cNvSpPr txBox="1">
            <a:spLocks noChangeArrowheads="1"/>
          </p:cNvSpPr>
          <p:nvPr/>
        </p:nvSpPr>
        <p:spPr bwMode="auto">
          <a:xfrm>
            <a:off x="685800" y="1828800"/>
            <a:ext cx="1981200" cy="2659063"/>
          </a:xfrm>
          <a:prstGeom prst="rect">
            <a:avLst/>
          </a:prstGeom>
          <a:noFill/>
          <a:ln w="9525">
            <a:noFill/>
            <a:miter lim="800000"/>
            <a:headEnd/>
            <a:tailEnd/>
          </a:ln>
          <a:effectLst/>
        </p:spPr>
        <p:txBody>
          <a:bodyPr>
            <a:spAutoFit/>
          </a:bodyPr>
          <a:lstStyle/>
          <a:p>
            <a:pPr>
              <a:spcBef>
                <a:spcPct val="50000"/>
              </a:spcBef>
            </a:pPr>
            <a:r>
              <a:rPr lang="en-US" sz="1600" b="1" dirty="0"/>
              <a:t>INFORMATION TECHNOLOGY</a:t>
            </a:r>
          </a:p>
          <a:p>
            <a:pPr>
              <a:spcBef>
                <a:spcPct val="50000"/>
              </a:spcBef>
            </a:pPr>
            <a:r>
              <a:rPr lang="en-US" sz="1600" dirty="0"/>
              <a:t>Hardware</a:t>
            </a:r>
          </a:p>
          <a:p>
            <a:pPr>
              <a:spcBef>
                <a:spcPct val="50000"/>
              </a:spcBef>
            </a:pPr>
            <a:r>
              <a:rPr lang="en-US" sz="1600" dirty="0"/>
              <a:t>Software</a:t>
            </a:r>
          </a:p>
          <a:p>
            <a:pPr>
              <a:spcBef>
                <a:spcPct val="50000"/>
              </a:spcBef>
            </a:pPr>
            <a:r>
              <a:rPr lang="en-US" sz="1600" dirty="0"/>
              <a:t>Databases</a:t>
            </a:r>
          </a:p>
          <a:p>
            <a:pPr>
              <a:spcBef>
                <a:spcPct val="50000"/>
              </a:spcBef>
            </a:pPr>
            <a:r>
              <a:rPr lang="en-US" sz="1600" dirty="0"/>
              <a:t>Networks</a:t>
            </a:r>
          </a:p>
          <a:p>
            <a:pPr>
              <a:spcBef>
                <a:spcPct val="50000"/>
              </a:spcBef>
            </a:pPr>
            <a:r>
              <a:rPr lang="en-US" sz="1600" dirty="0"/>
              <a:t>Other related components</a:t>
            </a:r>
          </a:p>
        </p:txBody>
      </p:sp>
      <p:sp>
        <p:nvSpPr>
          <p:cNvPr id="19" name="Text Box 21"/>
          <p:cNvSpPr txBox="1">
            <a:spLocks noChangeArrowheads="1"/>
          </p:cNvSpPr>
          <p:nvPr/>
        </p:nvSpPr>
        <p:spPr bwMode="auto">
          <a:xfrm>
            <a:off x="2667000" y="2743200"/>
            <a:ext cx="1905000" cy="336550"/>
          </a:xfrm>
          <a:prstGeom prst="rect">
            <a:avLst/>
          </a:prstGeom>
          <a:noFill/>
          <a:ln w="9525">
            <a:noFill/>
            <a:miter lim="800000"/>
            <a:headEnd/>
            <a:tailEnd/>
          </a:ln>
          <a:effectLst/>
        </p:spPr>
        <p:txBody>
          <a:bodyPr>
            <a:spAutoFit/>
          </a:bodyPr>
          <a:lstStyle/>
          <a:p>
            <a:pPr>
              <a:spcBef>
                <a:spcPct val="50000"/>
              </a:spcBef>
            </a:pPr>
            <a:r>
              <a:rPr lang="en-US" sz="1600" dirty="0"/>
              <a:t>are used to build</a:t>
            </a:r>
          </a:p>
        </p:txBody>
      </p:sp>
      <p:sp>
        <p:nvSpPr>
          <p:cNvPr id="20" name="Text Box 22"/>
          <p:cNvSpPr txBox="1">
            <a:spLocks noChangeArrowheads="1"/>
          </p:cNvSpPr>
          <p:nvPr/>
        </p:nvSpPr>
        <p:spPr bwMode="auto">
          <a:xfrm>
            <a:off x="2667000" y="3200400"/>
            <a:ext cx="1066800" cy="336550"/>
          </a:xfrm>
          <a:prstGeom prst="rect">
            <a:avLst/>
          </a:prstGeom>
          <a:noFill/>
          <a:ln w="9525">
            <a:noFill/>
            <a:miter lim="800000"/>
            <a:headEnd/>
            <a:tailEnd/>
          </a:ln>
          <a:effectLst/>
        </p:spPr>
        <p:txBody>
          <a:bodyPr>
            <a:spAutoFit/>
          </a:bodyPr>
          <a:lstStyle/>
          <a:p>
            <a:pPr>
              <a:spcBef>
                <a:spcPct val="50000"/>
              </a:spcBef>
            </a:pPr>
            <a:endParaRPr lang="en-US" sz="1600" dirty="0"/>
          </a:p>
        </p:txBody>
      </p:sp>
      <p:sp>
        <p:nvSpPr>
          <p:cNvPr id="21" name="Text Box 23"/>
          <p:cNvSpPr txBox="1">
            <a:spLocks noChangeArrowheads="1"/>
          </p:cNvSpPr>
          <p:nvPr/>
        </p:nvSpPr>
        <p:spPr bwMode="auto">
          <a:xfrm>
            <a:off x="4648200" y="2971800"/>
            <a:ext cx="1676400" cy="581025"/>
          </a:xfrm>
          <a:prstGeom prst="rect">
            <a:avLst/>
          </a:prstGeom>
          <a:noFill/>
          <a:ln w="9525">
            <a:noFill/>
            <a:miter lim="800000"/>
            <a:headEnd/>
            <a:tailEnd/>
          </a:ln>
          <a:effectLst/>
        </p:spPr>
        <p:txBody>
          <a:bodyPr>
            <a:spAutoFit/>
          </a:bodyPr>
          <a:lstStyle/>
          <a:p>
            <a:pPr>
              <a:spcBef>
                <a:spcPct val="50000"/>
              </a:spcBef>
            </a:pPr>
            <a:r>
              <a:rPr lang="en-US" sz="1600" dirty="0"/>
              <a:t>INFORMATION SYSTEMS</a:t>
            </a:r>
          </a:p>
        </p:txBody>
      </p:sp>
      <p:sp>
        <p:nvSpPr>
          <p:cNvPr id="22" name="Line 24"/>
          <p:cNvSpPr>
            <a:spLocks noChangeShapeType="1"/>
          </p:cNvSpPr>
          <p:nvPr/>
        </p:nvSpPr>
        <p:spPr bwMode="auto">
          <a:xfrm>
            <a:off x="6172200" y="3200400"/>
            <a:ext cx="381000" cy="0"/>
          </a:xfrm>
          <a:prstGeom prst="line">
            <a:avLst/>
          </a:prstGeom>
          <a:noFill/>
          <a:ln w="9525">
            <a:solidFill>
              <a:schemeClr val="tx1"/>
            </a:solidFill>
            <a:round/>
            <a:headEnd/>
            <a:tailEnd/>
          </a:ln>
          <a:effectLst/>
        </p:spPr>
        <p:txBody>
          <a:bodyPr/>
          <a:lstStyle/>
          <a:p>
            <a:endParaRPr lang="en-US" dirty="0"/>
          </a:p>
        </p:txBody>
      </p:sp>
      <p:sp>
        <p:nvSpPr>
          <p:cNvPr id="23" name="Text Box 25"/>
          <p:cNvSpPr txBox="1">
            <a:spLocks noChangeArrowheads="1"/>
          </p:cNvSpPr>
          <p:nvPr/>
        </p:nvSpPr>
        <p:spPr bwMode="auto">
          <a:xfrm>
            <a:off x="7239000" y="533400"/>
            <a:ext cx="1066800" cy="581025"/>
          </a:xfrm>
          <a:prstGeom prst="rect">
            <a:avLst/>
          </a:prstGeom>
          <a:noFill/>
          <a:ln w="9525">
            <a:noFill/>
            <a:miter lim="800000"/>
            <a:headEnd/>
            <a:tailEnd/>
          </a:ln>
          <a:effectLst/>
        </p:spPr>
        <p:txBody>
          <a:bodyPr>
            <a:spAutoFit/>
          </a:bodyPr>
          <a:lstStyle/>
          <a:p>
            <a:pPr>
              <a:spcBef>
                <a:spcPct val="50000"/>
              </a:spcBef>
            </a:pPr>
            <a:r>
              <a:rPr lang="en-US" sz="1600" dirty="0"/>
              <a:t>Payroll System</a:t>
            </a:r>
          </a:p>
        </p:txBody>
      </p:sp>
      <p:sp>
        <p:nvSpPr>
          <p:cNvPr id="24" name="Text Box 26"/>
          <p:cNvSpPr txBox="1">
            <a:spLocks noChangeArrowheads="1"/>
          </p:cNvSpPr>
          <p:nvPr/>
        </p:nvSpPr>
        <p:spPr bwMode="auto">
          <a:xfrm>
            <a:off x="7315200" y="2057400"/>
            <a:ext cx="990600" cy="581025"/>
          </a:xfrm>
          <a:prstGeom prst="rect">
            <a:avLst/>
          </a:prstGeom>
          <a:noFill/>
          <a:ln w="9525">
            <a:noFill/>
            <a:miter lim="800000"/>
            <a:headEnd/>
            <a:tailEnd/>
          </a:ln>
          <a:effectLst/>
        </p:spPr>
        <p:txBody>
          <a:bodyPr>
            <a:spAutoFit/>
          </a:bodyPr>
          <a:lstStyle/>
          <a:p>
            <a:pPr>
              <a:spcBef>
                <a:spcPct val="50000"/>
              </a:spcBef>
            </a:pPr>
            <a:r>
              <a:rPr lang="en-US" sz="1600" dirty="0"/>
              <a:t>Inventory System</a:t>
            </a:r>
          </a:p>
        </p:txBody>
      </p:sp>
      <p:sp>
        <p:nvSpPr>
          <p:cNvPr id="25" name="Text Box 27"/>
          <p:cNvSpPr txBox="1">
            <a:spLocks noChangeArrowheads="1"/>
          </p:cNvSpPr>
          <p:nvPr/>
        </p:nvSpPr>
        <p:spPr bwMode="auto">
          <a:xfrm>
            <a:off x="7239000" y="3657600"/>
            <a:ext cx="1066800" cy="581025"/>
          </a:xfrm>
          <a:prstGeom prst="rect">
            <a:avLst/>
          </a:prstGeom>
          <a:noFill/>
          <a:ln w="9525">
            <a:noFill/>
            <a:miter lim="800000"/>
            <a:headEnd/>
            <a:tailEnd/>
          </a:ln>
          <a:effectLst/>
        </p:spPr>
        <p:txBody>
          <a:bodyPr>
            <a:spAutoFit/>
          </a:bodyPr>
          <a:lstStyle/>
          <a:p>
            <a:pPr>
              <a:spcBef>
                <a:spcPct val="50000"/>
              </a:spcBef>
            </a:pPr>
            <a:r>
              <a:rPr lang="en-US" sz="1600" dirty="0"/>
              <a:t>Marketing System</a:t>
            </a:r>
          </a:p>
        </p:txBody>
      </p:sp>
      <p:sp>
        <p:nvSpPr>
          <p:cNvPr id="26" name="Text Box 28"/>
          <p:cNvSpPr txBox="1">
            <a:spLocks noChangeArrowheads="1"/>
          </p:cNvSpPr>
          <p:nvPr/>
        </p:nvSpPr>
        <p:spPr bwMode="auto">
          <a:xfrm>
            <a:off x="7239000" y="5257800"/>
            <a:ext cx="1066800" cy="825500"/>
          </a:xfrm>
          <a:prstGeom prst="rect">
            <a:avLst/>
          </a:prstGeom>
          <a:noFill/>
          <a:ln w="9525">
            <a:noFill/>
            <a:miter lim="800000"/>
            <a:headEnd/>
            <a:tailEnd/>
          </a:ln>
          <a:effectLst/>
        </p:spPr>
        <p:txBody>
          <a:bodyPr>
            <a:spAutoFit/>
          </a:bodyPr>
          <a:lstStyle/>
          <a:p>
            <a:pPr>
              <a:spcBef>
                <a:spcPct val="50000"/>
              </a:spcBef>
            </a:pPr>
            <a:r>
              <a:rPr lang="en-US" sz="1600" dirty="0"/>
              <a:t>Customer Service System</a:t>
            </a:r>
          </a:p>
        </p:txBody>
      </p:sp>
    </p:spTree>
    <p:extLst>
      <p:ext uri="{BB962C8B-B14F-4D97-AF65-F5344CB8AC3E}">
        <p14:creationId xmlns:p14="http://schemas.microsoft.com/office/powerpoint/2010/main" val="15910208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solidFill>
                  <a:srgbClr val="0070C0"/>
                </a:solidFill>
              </a:rPr>
              <a:t>E-Government as Information System</a:t>
            </a:r>
            <a:endParaRPr lang="en-US" dirty="0"/>
          </a:p>
        </p:txBody>
      </p:sp>
      <p:sp>
        <p:nvSpPr>
          <p:cNvPr id="3" name="Content Placeholder 2"/>
          <p:cNvSpPr>
            <a:spLocks noGrp="1"/>
          </p:cNvSpPr>
          <p:nvPr>
            <p:ph idx="1"/>
          </p:nvPr>
        </p:nvSpPr>
        <p:spPr>
          <a:xfrm>
            <a:off x="457200" y="990600"/>
            <a:ext cx="8382000" cy="5486400"/>
          </a:xfrm>
        </p:spPr>
        <p:txBody>
          <a:bodyPr>
            <a:noAutofit/>
          </a:bodyPr>
          <a:lstStyle/>
          <a:p>
            <a:pPr algn="just"/>
            <a:r>
              <a:rPr lang="en-US" sz="2000" dirty="0"/>
              <a:t>E-government systems can be described as ‘</a:t>
            </a:r>
            <a:r>
              <a:rPr lang="en-US" sz="2000" dirty="0">
                <a:solidFill>
                  <a:srgbClr val="FF0000"/>
                </a:solidFill>
              </a:rPr>
              <a:t>socio-technical systems</a:t>
            </a:r>
            <a:r>
              <a:rPr lang="en-US" sz="2000" dirty="0"/>
              <a:t>’ because they combine both the social i.e. people  and technical. </a:t>
            </a:r>
          </a:p>
          <a:p>
            <a:pPr algn="just"/>
            <a:r>
              <a:rPr lang="en-US" sz="2000" dirty="0"/>
              <a:t>This is a first indication that, when </a:t>
            </a:r>
            <a:r>
              <a:rPr lang="en-US" sz="2000" dirty="0">
                <a:solidFill>
                  <a:srgbClr val="FF0000"/>
                </a:solidFill>
              </a:rPr>
              <a:t>managing e-government, both social and technical issues </a:t>
            </a:r>
            <a:r>
              <a:rPr lang="en-US" sz="2000" dirty="0"/>
              <a:t>will have to be dealt with. </a:t>
            </a:r>
          </a:p>
          <a:p>
            <a:pPr algn="just"/>
            <a:r>
              <a:rPr lang="en-US" sz="2000" dirty="0"/>
              <a:t>The model in Figure shown in previous slide   is a good start, but it is incomplete.</a:t>
            </a:r>
          </a:p>
          <a:p>
            <a:pPr algn="just"/>
            <a:r>
              <a:rPr lang="en-US" sz="2000" dirty="0"/>
              <a:t>Most of e-Government systems are embedded within public sector organizations that provide, for example, the </a:t>
            </a:r>
            <a:r>
              <a:rPr lang="en-US" sz="2000" dirty="0">
                <a:solidFill>
                  <a:srgbClr val="FF0000"/>
                </a:solidFill>
              </a:rPr>
              <a:t>management systems and the organizational resources</a:t>
            </a:r>
            <a:r>
              <a:rPr lang="en-US" sz="2000" dirty="0"/>
              <a:t> that support e-government </a:t>
            </a:r>
          </a:p>
          <a:p>
            <a:pPr algn="just"/>
            <a:r>
              <a:rPr lang="en-US" sz="2000" dirty="0"/>
              <a:t>These organizations also provide things like the political and cultural milieu within which e-government operates. </a:t>
            </a:r>
          </a:p>
          <a:p>
            <a:pPr algn="just"/>
            <a:r>
              <a:rPr lang="en-US" sz="2000" dirty="0"/>
              <a:t>Many e-government systems also reach out to other groups (citizens, businesses) ; a few involve other public agencies.</a:t>
            </a:r>
          </a:p>
        </p:txBody>
      </p:sp>
    </p:spTree>
    <p:extLst>
      <p:ext uri="{BB962C8B-B14F-4D97-AF65-F5344CB8AC3E}">
        <p14:creationId xmlns:p14="http://schemas.microsoft.com/office/powerpoint/2010/main" val="26791867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92162"/>
          </a:xfrm>
        </p:spPr>
        <p:txBody>
          <a:bodyPr>
            <a:normAutofit fontScale="90000"/>
          </a:bodyPr>
          <a:lstStyle/>
          <a:p>
            <a:r>
              <a:rPr lang="en-US" dirty="0">
                <a:solidFill>
                  <a:srgbClr val="0070C0"/>
                </a:solidFill>
              </a:rPr>
              <a:t>E-Government as Information System</a:t>
            </a:r>
            <a:endParaRPr lang="en-US" dirty="0"/>
          </a:p>
        </p:txBody>
      </p:sp>
      <p:sp>
        <p:nvSpPr>
          <p:cNvPr id="3" name="Content Placeholder 2"/>
          <p:cNvSpPr>
            <a:spLocks noGrp="1"/>
          </p:cNvSpPr>
          <p:nvPr>
            <p:ph idx="1"/>
          </p:nvPr>
        </p:nvSpPr>
        <p:spPr>
          <a:xfrm>
            <a:off x="457200" y="962101"/>
            <a:ext cx="8229600" cy="5213350"/>
          </a:xfrm>
        </p:spPr>
        <p:txBody>
          <a:bodyPr>
            <a:noAutofit/>
          </a:bodyPr>
          <a:lstStyle/>
          <a:p>
            <a:pPr algn="just"/>
            <a:r>
              <a:rPr lang="en-US" sz="2000" dirty="0"/>
              <a:t>All these groups and organizations are themselves embedded in institutional environments: </a:t>
            </a:r>
            <a:r>
              <a:rPr lang="en-US" sz="2000" dirty="0">
                <a:solidFill>
                  <a:srgbClr val="FF0000"/>
                </a:solidFill>
              </a:rPr>
              <a:t>a broader context of laws and values, economic systems and technological innovations </a:t>
            </a:r>
            <a:r>
              <a:rPr lang="en-US" sz="2000" dirty="0"/>
              <a:t>that affects both the agencies/groups and the systems including e-government systems that serve them.</a:t>
            </a:r>
          </a:p>
        </p:txBody>
      </p:sp>
    </p:spTree>
    <p:extLst>
      <p:ext uri="{BB962C8B-B14F-4D97-AF65-F5344CB8AC3E}">
        <p14:creationId xmlns:p14="http://schemas.microsoft.com/office/powerpoint/2010/main" val="2424159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16077"/>
          </a:xfrm>
        </p:spPr>
        <p:txBody>
          <a:bodyPr>
            <a:normAutofit fontScale="90000"/>
          </a:bodyPr>
          <a:lstStyle/>
          <a:p>
            <a:r>
              <a:rPr lang="en-US" dirty="0">
                <a:solidFill>
                  <a:srgbClr val="0070C0"/>
                </a:solidFill>
              </a:rPr>
              <a:t>E-Government as Information System</a:t>
            </a:r>
            <a:endParaRPr lang="en-US" dirty="0"/>
          </a:p>
        </p:txBody>
      </p:sp>
      <p:pic>
        <p:nvPicPr>
          <p:cNvPr id="6" name="Content Placeholder 5"/>
          <p:cNvPicPr>
            <a:picLocks noGrp="1" noChangeAspect="1"/>
          </p:cNvPicPr>
          <p:nvPr>
            <p:ph idx="1"/>
          </p:nvPr>
        </p:nvPicPr>
        <p:blipFill>
          <a:blip r:embed="rId3"/>
          <a:stretch>
            <a:fillRect/>
          </a:stretch>
        </p:blipFill>
        <p:spPr>
          <a:xfrm>
            <a:off x="571500" y="768477"/>
            <a:ext cx="8001000" cy="5680099"/>
          </a:xfrm>
          <a:prstGeom prst="rect">
            <a:avLst/>
          </a:prstGeom>
        </p:spPr>
      </p:pic>
    </p:spTree>
    <p:extLst>
      <p:ext uri="{BB962C8B-B14F-4D97-AF65-F5344CB8AC3E}">
        <p14:creationId xmlns:p14="http://schemas.microsoft.com/office/powerpoint/2010/main" val="1365430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3887"/>
          </a:xfrm>
        </p:spPr>
        <p:txBody>
          <a:bodyPr>
            <a:normAutofit fontScale="90000"/>
          </a:bodyPr>
          <a:lstStyle/>
          <a:p>
            <a:r>
              <a:rPr lang="en-US" dirty="0">
                <a:solidFill>
                  <a:srgbClr val="0070C0"/>
                </a:solidFill>
              </a:rPr>
              <a:t>E-Government as Information System</a:t>
            </a:r>
            <a:endParaRPr lang="en-US" dirty="0"/>
          </a:p>
        </p:txBody>
      </p:sp>
      <p:sp>
        <p:nvSpPr>
          <p:cNvPr id="3" name="Content Placeholder 2"/>
          <p:cNvSpPr>
            <a:spLocks noGrp="1"/>
          </p:cNvSpPr>
          <p:nvPr>
            <p:ph idx="1"/>
          </p:nvPr>
        </p:nvSpPr>
        <p:spPr>
          <a:xfrm>
            <a:off x="457200" y="972727"/>
            <a:ext cx="8458200" cy="5334000"/>
          </a:xfrm>
        </p:spPr>
        <p:txBody>
          <a:bodyPr>
            <a:normAutofit fontScale="62500" lnSpcReduction="20000"/>
          </a:bodyPr>
          <a:lstStyle/>
          <a:p>
            <a:pPr algn="just"/>
            <a:r>
              <a:rPr lang="en-US" dirty="0"/>
              <a:t>Given that e-government systems are information systems, we can draw on </a:t>
            </a:r>
            <a:r>
              <a:rPr lang="en-US" dirty="0">
                <a:solidFill>
                  <a:srgbClr val="FF0000"/>
                </a:solidFill>
              </a:rPr>
              <a:t>one further model/checklist </a:t>
            </a:r>
            <a:r>
              <a:rPr lang="en-US" dirty="0"/>
              <a:t>to help us understand e-government. </a:t>
            </a:r>
          </a:p>
          <a:p>
            <a:pPr algn="just"/>
            <a:r>
              <a:rPr lang="en-US" dirty="0"/>
              <a:t>This understands an e-government application in terms of its information related tasks: </a:t>
            </a:r>
            <a:r>
              <a:rPr lang="en-US" dirty="0">
                <a:solidFill>
                  <a:srgbClr val="FF0000"/>
                </a:solidFill>
              </a:rPr>
              <a:t>a process view to go alongside the structural view offered above. </a:t>
            </a:r>
          </a:p>
          <a:p>
            <a:pPr algn="just"/>
            <a:r>
              <a:rPr lang="en-US" dirty="0"/>
              <a:t>These tasks are summarized by </a:t>
            </a:r>
            <a:r>
              <a:rPr lang="en-US" dirty="0">
                <a:solidFill>
                  <a:srgbClr val="FF0000"/>
                </a:solidFill>
              </a:rPr>
              <a:t>the CIPSODA checklist</a:t>
            </a:r>
            <a:r>
              <a:rPr lang="en-US" dirty="0"/>
              <a:t>, illustrated in Figure below.</a:t>
            </a:r>
          </a:p>
          <a:p>
            <a:pPr algn="just"/>
            <a:r>
              <a:rPr lang="en-US" dirty="0"/>
              <a:t>The checklist of tasks can be explained in some further detail, using the example of part of an e-tax system:</a:t>
            </a:r>
          </a:p>
          <a:p>
            <a:pPr algn="just"/>
            <a:r>
              <a:rPr lang="en-US" b="1" dirty="0">
                <a:solidFill>
                  <a:srgbClr val="FF0000"/>
                </a:solidFill>
              </a:rPr>
              <a:t>C</a:t>
            </a:r>
            <a:r>
              <a:rPr lang="en-US" dirty="0">
                <a:solidFill>
                  <a:srgbClr val="FF0000"/>
                </a:solidFill>
              </a:rPr>
              <a:t>apture</a:t>
            </a:r>
            <a:r>
              <a:rPr lang="en-US" dirty="0"/>
              <a:t>: </a:t>
            </a:r>
          </a:p>
          <a:p>
            <a:pPr lvl="1" algn="just">
              <a:buFont typeface="Wingdings" pitchFamily="2" charset="2"/>
              <a:buChar char="ü"/>
            </a:pPr>
            <a:r>
              <a:rPr lang="en-US" dirty="0"/>
              <a:t>Gathering the raw data necessary for the e-government system. </a:t>
            </a:r>
          </a:p>
          <a:p>
            <a:pPr lvl="1" algn="just">
              <a:buFont typeface="Wingdings" pitchFamily="2" charset="2"/>
              <a:buChar char="ü"/>
            </a:pPr>
            <a:r>
              <a:rPr lang="en-US" dirty="0"/>
              <a:t>The taxpayer obtains the basic data on their various sources of income.</a:t>
            </a:r>
          </a:p>
          <a:p>
            <a:pPr algn="just"/>
            <a:r>
              <a:rPr lang="en-US" b="1" dirty="0">
                <a:solidFill>
                  <a:srgbClr val="FF0000"/>
                </a:solidFill>
              </a:rPr>
              <a:t>I</a:t>
            </a:r>
            <a:r>
              <a:rPr lang="en-US" dirty="0">
                <a:solidFill>
                  <a:srgbClr val="FF0000"/>
                </a:solidFill>
              </a:rPr>
              <a:t>nput</a:t>
            </a:r>
            <a:r>
              <a:rPr lang="en-US" dirty="0"/>
              <a:t>: </a:t>
            </a:r>
          </a:p>
          <a:p>
            <a:pPr lvl="1" algn="just">
              <a:buFont typeface="Wingdings" pitchFamily="2" charset="2"/>
              <a:buChar char="ü"/>
            </a:pPr>
            <a:r>
              <a:rPr lang="en-US" dirty="0"/>
              <a:t>Entering the data onto the system. </a:t>
            </a:r>
          </a:p>
          <a:p>
            <a:pPr lvl="1" algn="just">
              <a:buFont typeface="Wingdings" pitchFamily="2" charset="2"/>
              <a:buChar char="ü"/>
            </a:pPr>
            <a:r>
              <a:rPr lang="en-US" dirty="0"/>
              <a:t>The taxpayer types the data into an e-form on the revenue agency’s web site.</a:t>
            </a:r>
          </a:p>
          <a:p>
            <a:pPr algn="just"/>
            <a:r>
              <a:rPr lang="en-US" b="1" dirty="0">
                <a:solidFill>
                  <a:srgbClr val="FF0000"/>
                </a:solidFill>
              </a:rPr>
              <a:t>P</a:t>
            </a:r>
            <a:r>
              <a:rPr lang="en-US" dirty="0">
                <a:solidFill>
                  <a:srgbClr val="FF0000"/>
                </a:solidFill>
              </a:rPr>
              <a:t>rocess</a:t>
            </a:r>
            <a:r>
              <a:rPr lang="en-US" dirty="0"/>
              <a:t>: </a:t>
            </a:r>
          </a:p>
          <a:p>
            <a:pPr lvl="1" algn="just">
              <a:buFont typeface="Wingdings" pitchFamily="2" charset="2"/>
              <a:buChar char="ü"/>
            </a:pPr>
            <a:r>
              <a:rPr lang="en-US" dirty="0"/>
              <a:t>Altering the data via calculation, classification, selection, and so on. </a:t>
            </a:r>
          </a:p>
          <a:p>
            <a:pPr lvl="1" algn="just">
              <a:buFont typeface="Wingdings" pitchFamily="2" charset="2"/>
              <a:buChar char="ü"/>
            </a:pPr>
            <a:r>
              <a:rPr lang="en-US" dirty="0"/>
              <a:t>The e-tax system uses the different tax rates for different income types to calculate the total tax owed.</a:t>
            </a:r>
          </a:p>
        </p:txBody>
      </p:sp>
    </p:spTree>
    <p:extLst>
      <p:ext uri="{BB962C8B-B14F-4D97-AF65-F5344CB8AC3E}">
        <p14:creationId xmlns:p14="http://schemas.microsoft.com/office/powerpoint/2010/main" val="38035015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solidFill>
                  <a:srgbClr val="0070C0"/>
                </a:solidFill>
              </a:rPr>
              <a:t>E-Government as Information System</a:t>
            </a:r>
            <a:endParaRPr lang="en-US" dirty="0"/>
          </a:p>
        </p:txBody>
      </p:sp>
      <p:sp>
        <p:nvSpPr>
          <p:cNvPr id="3" name="Content Placeholder 2"/>
          <p:cNvSpPr>
            <a:spLocks noGrp="1"/>
          </p:cNvSpPr>
          <p:nvPr>
            <p:ph idx="1"/>
          </p:nvPr>
        </p:nvSpPr>
        <p:spPr>
          <a:xfrm>
            <a:off x="381000" y="1066800"/>
            <a:ext cx="8229600" cy="4953000"/>
          </a:xfrm>
        </p:spPr>
        <p:txBody>
          <a:bodyPr>
            <a:normAutofit fontScale="70000" lnSpcReduction="20000"/>
          </a:bodyPr>
          <a:lstStyle/>
          <a:p>
            <a:pPr algn="just"/>
            <a:r>
              <a:rPr lang="en-US" b="1" dirty="0">
                <a:solidFill>
                  <a:srgbClr val="FF0000"/>
                </a:solidFill>
              </a:rPr>
              <a:t>S</a:t>
            </a:r>
            <a:r>
              <a:rPr lang="en-US" dirty="0">
                <a:solidFill>
                  <a:srgbClr val="FF0000"/>
                </a:solidFill>
              </a:rPr>
              <a:t>tore: </a:t>
            </a:r>
          </a:p>
          <a:p>
            <a:pPr lvl="1" algn="just">
              <a:buFont typeface="Wingdings" pitchFamily="2" charset="2"/>
              <a:buChar char="ü"/>
            </a:pPr>
            <a:r>
              <a:rPr lang="en-US" dirty="0"/>
              <a:t>Holding raw and processed data on the system. </a:t>
            </a:r>
          </a:p>
          <a:p>
            <a:pPr lvl="1" algn="just">
              <a:buFont typeface="Wingdings" pitchFamily="2" charset="2"/>
              <a:buChar char="ü"/>
            </a:pPr>
            <a:r>
              <a:rPr lang="en-US" dirty="0"/>
              <a:t>The e-tax system stores all details entered and calculated about this taxpayer.</a:t>
            </a:r>
          </a:p>
          <a:p>
            <a:pPr algn="just"/>
            <a:r>
              <a:rPr lang="en-US" b="1" dirty="0">
                <a:solidFill>
                  <a:srgbClr val="FF0000"/>
                </a:solidFill>
              </a:rPr>
              <a:t>O</a:t>
            </a:r>
            <a:r>
              <a:rPr lang="en-US" dirty="0">
                <a:solidFill>
                  <a:srgbClr val="FF0000"/>
                </a:solidFill>
              </a:rPr>
              <a:t>utput: </a:t>
            </a:r>
          </a:p>
          <a:p>
            <a:pPr lvl="1" algn="just">
              <a:buFont typeface="Wingdings" pitchFamily="2" charset="2"/>
              <a:buChar char="ü"/>
            </a:pPr>
            <a:r>
              <a:rPr lang="en-US" dirty="0"/>
              <a:t>Issuing the processed data. </a:t>
            </a:r>
          </a:p>
          <a:p>
            <a:pPr lvl="1" algn="just">
              <a:buFont typeface="Wingdings" pitchFamily="2" charset="2"/>
              <a:buChar char="ü"/>
            </a:pPr>
            <a:r>
              <a:rPr lang="en-US" dirty="0"/>
              <a:t>The total tax calculated is displayed to the taxpayer</a:t>
            </a:r>
          </a:p>
          <a:p>
            <a:pPr algn="just"/>
            <a:endParaRPr lang="en-US" b="1" dirty="0">
              <a:solidFill>
                <a:srgbClr val="FF0000"/>
              </a:solidFill>
            </a:endParaRPr>
          </a:p>
          <a:p>
            <a:pPr algn="just"/>
            <a:r>
              <a:rPr lang="en-US" b="1" dirty="0">
                <a:solidFill>
                  <a:srgbClr val="FF0000"/>
                </a:solidFill>
              </a:rPr>
              <a:t>D</a:t>
            </a:r>
            <a:r>
              <a:rPr lang="en-US" dirty="0">
                <a:solidFill>
                  <a:srgbClr val="FF0000"/>
                </a:solidFill>
              </a:rPr>
              <a:t>ecision</a:t>
            </a:r>
            <a:r>
              <a:rPr lang="en-US" dirty="0"/>
              <a:t>:</a:t>
            </a:r>
          </a:p>
          <a:p>
            <a:pPr lvl="1" algn="just">
              <a:buFont typeface="Wingdings" pitchFamily="2" charset="2"/>
              <a:buChar char="ü"/>
            </a:pPr>
            <a:r>
              <a:rPr lang="en-US" dirty="0"/>
              <a:t> If the processed data is useful enough to be seen as information, it is used for decision making. </a:t>
            </a:r>
          </a:p>
          <a:p>
            <a:pPr lvl="1" algn="just">
              <a:buFont typeface="Wingdings" pitchFamily="2" charset="2"/>
              <a:buChar char="ü"/>
            </a:pPr>
            <a:r>
              <a:rPr lang="en-US" dirty="0"/>
              <a:t>The taxpayer determines whether to challenge or accept the calculated tax sum.</a:t>
            </a:r>
          </a:p>
          <a:p>
            <a:pPr algn="just"/>
            <a:r>
              <a:rPr lang="en-US" b="1" dirty="0">
                <a:solidFill>
                  <a:srgbClr val="FF0000"/>
                </a:solidFill>
              </a:rPr>
              <a:t>A</a:t>
            </a:r>
            <a:r>
              <a:rPr lang="en-US" dirty="0">
                <a:solidFill>
                  <a:srgbClr val="FF0000"/>
                </a:solidFill>
              </a:rPr>
              <a:t>ction</a:t>
            </a:r>
            <a:r>
              <a:rPr lang="en-US" dirty="0"/>
              <a:t>: </a:t>
            </a:r>
          </a:p>
          <a:p>
            <a:pPr lvl="1" algn="just">
              <a:buFont typeface="Wingdings" pitchFamily="2" charset="2"/>
              <a:buChar char="ü"/>
            </a:pPr>
            <a:r>
              <a:rPr lang="en-US" dirty="0"/>
              <a:t>Implementation of the decision.</a:t>
            </a:r>
          </a:p>
          <a:p>
            <a:pPr lvl="1" algn="just">
              <a:buFont typeface="Wingdings" pitchFamily="2" charset="2"/>
              <a:buChar char="ü"/>
            </a:pPr>
            <a:r>
              <a:rPr lang="en-US" dirty="0"/>
              <a:t> If all is well, the taxpayer authorizes payment of the tax owed.</a:t>
            </a:r>
          </a:p>
        </p:txBody>
      </p:sp>
    </p:spTree>
    <p:extLst>
      <p:ext uri="{BB962C8B-B14F-4D97-AF65-F5344CB8AC3E}">
        <p14:creationId xmlns:p14="http://schemas.microsoft.com/office/powerpoint/2010/main" val="4217153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032" y="178162"/>
            <a:ext cx="8229600" cy="487362"/>
          </a:xfrm>
        </p:spPr>
        <p:txBody>
          <a:bodyPr>
            <a:normAutofit fontScale="90000"/>
          </a:bodyPr>
          <a:lstStyle/>
          <a:p>
            <a:r>
              <a:rPr lang="en-US" dirty="0">
                <a:solidFill>
                  <a:srgbClr val="0070C0"/>
                </a:solidFill>
              </a:rPr>
              <a:t>E-Government as Information System</a:t>
            </a:r>
            <a:endParaRPr lang="en-US" dirty="0"/>
          </a:p>
        </p:txBody>
      </p:sp>
      <p:pic>
        <p:nvPicPr>
          <p:cNvPr id="10" name="Content Placeholder 9"/>
          <p:cNvPicPr>
            <a:picLocks noGrp="1" noChangeAspect="1"/>
          </p:cNvPicPr>
          <p:nvPr>
            <p:ph idx="1"/>
          </p:nvPr>
        </p:nvPicPr>
        <p:blipFill>
          <a:blip r:embed="rId2"/>
          <a:stretch>
            <a:fillRect/>
          </a:stretch>
        </p:blipFill>
        <p:spPr>
          <a:xfrm>
            <a:off x="848032" y="762000"/>
            <a:ext cx="7467600" cy="5879015"/>
          </a:xfrm>
          <a:prstGeom prst="rect">
            <a:avLst/>
          </a:prstGeom>
        </p:spPr>
      </p:pic>
      <p:sp>
        <p:nvSpPr>
          <p:cNvPr id="3" name="TextBox 2"/>
          <p:cNvSpPr txBox="1"/>
          <p:nvPr/>
        </p:nvSpPr>
        <p:spPr>
          <a:xfrm>
            <a:off x="1295400" y="6496579"/>
            <a:ext cx="6477000" cy="369332"/>
          </a:xfrm>
          <a:prstGeom prst="rect">
            <a:avLst/>
          </a:prstGeom>
          <a:noFill/>
        </p:spPr>
        <p:txBody>
          <a:bodyPr wrap="square" rtlCol="0">
            <a:spAutoFit/>
          </a:bodyPr>
          <a:lstStyle/>
          <a:p>
            <a:r>
              <a:rPr lang="en-US" dirty="0"/>
              <a:t>Fig: E-Government system as Information system: Process view</a:t>
            </a:r>
          </a:p>
        </p:txBody>
      </p:sp>
    </p:spTree>
    <p:extLst>
      <p:ext uri="{BB962C8B-B14F-4D97-AF65-F5344CB8AC3E}">
        <p14:creationId xmlns:p14="http://schemas.microsoft.com/office/powerpoint/2010/main" val="12755248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solidFill>
                  <a:srgbClr val="0070C0"/>
                </a:solidFill>
              </a:rPr>
              <a:t>E-Government Life Cycle</a:t>
            </a:r>
            <a:endParaRPr lang="en-US" dirty="0"/>
          </a:p>
        </p:txBody>
      </p:sp>
      <p:sp>
        <p:nvSpPr>
          <p:cNvPr id="3" name="Content Placeholder 2"/>
          <p:cNvSpPr>
            <a:spLocks noGrp="1"/>
          </p:cNvSpPr>
          <p:nvPr>
            <p:ph idx="1"/>
          </p:nvPr>
        </p:nvSpPr>
        <p:spPr>
          <a:xfrm>
            <a:off x="457200" y="990600"/>
            <a:ext cx="8229600" cy="5105400"/>
          </a:xfrm>
        </p:spPr>
        <p:txBody>
          <a:bodyPr>
            <a:normAutofit fontScale="77500" lnSpcReduction="20000"/>
          </a:bodyPr>
          <a:lstStyle/>
          <a:p>
            <a:pPr algn="just"/>
            <a:r>
              <a:rPr lang="en-US" dirty="0"/>
              <a:t>Innumerable methods for systems development have been created, with a variance here or there, but all of them correspond </a:t>
            </a:r>
            <a:r>
              <a:rPr lang="en-US" dirty="0">
                <a:solidFill>
                  <a:srgbClr val="FF0000"/>
                </a:solidFill>
              </a:rPr>
              <a:t>more or less to four core stages:</a:t>
            </a:r>
          </a:p>
          <a:p>
            <a:pPr lvl="1" algn="just">
              <a:buFont typeface="Wingdings" pitchFamily="2" charset="2"/>
              <a:buChar char="ü"/>
            </a:pPr>
            <a:r>
              <a:rPr lang="en-US" dirty="0">
                <a:solidFill>
                  <a:srgbClr val="FF0000"/>
                </a:solidFill>
              </a:rPr>
              <a:t>Analysis</a:t>
            </a:r>
            <a:r>
              <a:rPr lang="en-US" dirty="0"/>
              <a:t> of what is currently happening, and of whether and why a new e-government system is needed</a:t>
            </a:r>
          </a:p>
          <a:p>
            <a:pPr lvl="1" algn="just">
              <a:buFont typeface="Wingdings" pitchFamily="2" charset="2"/>
              <a:buChar char="ü"/>
            </a:pPr>
            <a:r>
              <a:rPr lang="en-US" dirty="0">
                <a:solidFill>
                  <a:srgbClr val="FF0000"/>
                </a:solidFill>
              </a:rPr>
              <a:t>Design</a:t>
            </a:r>
            <a:r>
              <a:rPr lang="en-US" dirty="0"/>
              <a:t> of the new e-government system’s components</a:t>
            </a:r>
          </a:p>
          <a:p>
            <a:pPr lvl="1" algn="just">
              <a:buFont typeface="Wingdings" pitchFamily="2" charset="2"/>
              <a:buChar char="ü"/>
            </a:pPr>
            <a:r>
              <a:rPr lang="en-US" dirty="0">
                <a:solidFill>
                  <a:srgbClr val="FF0000"/>
                </a:solidFill>
              </a:rPr>
              <a:t>Construction</a:t>
            </a:r>
            <a:r>
              <a:rPr lang="en-US" dirty="0"/>
              <a:t> of the new e-government system</a:t>
            </a:r>
          </a:p>
          <a:p>
            <a:pPr lvl="1" algn="just">
              <a:buFont typeface="Wingdings" pitchFamily="2" charset="2"/>
              <a:buChar char="ü"/>
            </a:pPr>
            <a:r>
              <a:rPr lang="en-US" dirty="0">
                <a:solidFill>
                  <a:srgbClr val="FF0000"/>
                </a:solidFill>
              </a:rPr>
              <a:t>Implementation</a:t>
            </a:r>
            <a:r>
              <a:rPr lang="en-US" dirty="0"/>
              <a:t> of the new e-government system.</a:t>
            </a:r>
          </a:p>
          <a:p>
            <a:pPr algn="just"/>
            <a:r>
              <a:rPr lang="en-US" dirty="0"/>
              <a:t>Any e-government systems project seeks to create a new situation that is different from the current one. </a:t>
            </a:r>
          </a:p>
          <a:p>
            <a:pPr algn="just"/>
            <a:r>
              <a:rPr lang="en-US" dirty="0"/>
              <a:t>The greater the difference between the new and current situations, the </a:t>
            </a:r>
            <a:r>
              <a:rPr lang="en-US" dirty="0">
                <a:solidFill>
                  <a:srgbClr val="FF0000"/>
                </a:solidFill>
              </a:rPr>
              <a:t>greater the degree of change that is required, and the greater the likelihood of system failure</a:t>
            </a:r>
            <a:r>
              <a:rPr lang="en-US" dirty="0"/>
              <a:t>. </a:t>
            </a:r>
          </a:p>
          <a:p>
            <a:pPr algn="just"/>
            <a:r>
              <a:rPr lang="en-US" dirty="0"/>
              <a:t>Successfully planned e-government systems will therefore be those that require a </a:t>
            </a:r>
            <a:r>
              <a:rPr lang="en-US" dirty="0">
                <a:solidFill>
                  <a:srgbClr val="FF0000"/>
                </a:solidFill>
              </a:rPr>
              <a:t>manageable degree of change</a:t>
            </a:r>
            <a:r>
              <a:rPr lang="en-US"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solidFill>
                  <a:srgbClr val="0070C0"/>
                </a:solidFill>
              </a:rPr>
              <a:t>E-Government Life Cycle</a:t>
            </a:r>
            <a:endParaRPr lang="en-US" dirty="0"/>
          </a:p>
        </p:txBody>
      </p:sp>
      <p:sp>
        <p:nvSpPr>
          <p:cNvPr id="3" name="Content Placeholder 2"/>
          <p:cNvSpPr>
            <a:spLocks noGrp="1"/>
          </p:cNvSpPr>
          <p:nvPr>
            <p:ph idx="1"/>
          </p:nvPr>
        </p:nvSpPr>
        <p:spPr>
          <a:xfrm>
            <a:off x="533400" y="1066800"/>
            <a:ext cx="8229600" cy="5029200"/>
          </a:xfrm>
        </p:spPr>
        <p:txBody>
          <a:bodyPr>
            <a:normAutofit fontScale="77500" lnSpcReduction="20000"/>
          </a:bodyPr>
          <a:lstStyle/>
          <a:p>
            <a:pPr algn="just"/>
            <a:r>
              <a:rPr lang="en-US" dirty="0">
                <a:solidFill>
                  <a:srgbClr val="FF0000"/>
                </a:solidFill>
              </a:rPr>
              <a:t>Integrating the ideas into the four core stages </a:t>
            </a:r>
            <a:r>
              <a:rPr lang="en-US" dirty="0"/>
              <a:t>listed above, and then topping and tailing them with assessment and post-implementation activities, the outline of the method  can be </a:t>
            </a:r>
            <a:r>
              <a:rPr lang="en-US" dirty="0">
                <a:solidFill>
                  <a:srgbClr val="FF0000"/>
                </a:solidFill>
              </a:rPr>
              <a:t>described as a set of five stages</a:t>
            </a:r>
          </a:p>
          <a:p>
            <a:pPr marL="914400" lvl="1" indent="-514350" algn="just">
              <a:buFont typeface="+mj-lt"/>
              <a:buAutoNum type="arabicPeriod"/>
            </a:pPr>
            <a:r>
              <a:rPr lang="en-US" dirty="0"/>
              <a:t>Project assessment</a:t>
            </a:r>
          </a:p>
          <a:p>
            <a:pPr marL="914400" lvl="1" indent="-514350" algn="just">
              <a:buFont typeface="+mj-lt"/>
              <a:buAutoNum type="arabicPeriod"/>
            </a:pPr>
            <a:r>
              <a:rPr lang="en-US" dirty="0"/>
              <a:t>Analysis of current reality</a:t>
            </a:r>
          </a:p>
          <a:p>
            <a:pPr marL="914400" lvl="1" indent="-514350" algn="just">
              <a:buFont typeface="+mj-lt"/>
              <a:buAutoNum type="arabicPeriod"/>
            </a:pPr>
            <a:r>
              <a:rPr lang="en-US" dirty="0"/>
              <a:t>Design of the proposed new situation</a:t>
            </a:r>
          </a:p>
          <a:p>
            <a:pPr marL="914400" lvl="1" indent="-514350" algn="just">
              <a:buFont typeface="+mj-lt"/>
              <a:buAutoNum type="arabicPeriod"/>
            </a:pPr>
            <a:r>
              <a:rPr lang="en-US" dirty="0"/>
              <a:t>System construction</a:t>
            </a:r>
          </a:p>
          <a:p>
            <a:pPr marL="914400" lvl="1" indent="-514350" algn="just">
              <a:buFont typeface="+mj-lt"/>
              <a:buAutoNum type="arabicPeriod"/>
            </a:pPr>
            <a:r>
              <a:rPr lang="en-US" dirty="0"/>
              <a:t>Implementation and beyond</a:t>
            </a:r>
          </a:p>
          <a:p>
            <a:pPr algn="just"/>
            <a:r>
              <a:rPr lang="en-US" dirty="0"/>
              <a:t>Overall the stages can be called a ‘</a:t>
            </a:r>
            <a:r>
              <a:rPr lang="en-US" dirty="0">
                <a:solidFill>
                  <a:srgbClr val="FF0000"/>
                </a:solidFill>
              </a:rPr>
              <a:t>systems development life cycle</a:t>
            </a:r>
            <a:r>
              <a:rPr lang="en-US" dirty="0"/>
              <a:t>’ because the post-implementation stages may lead to the identification of a new e-government project, thus restarting the whole process again. </a:t>
            </a:r>
          </a:p>
          <a:p>
            <a:pPr algn="just"/>
            <a:r>
              <a:rPr lang="en-US" dirty="0"/>
              <a:t>The lifecycle is shown in Figure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solidFill>
                  <a:srgbClr val="0070C0"/>
                </a:solidFill>
              </a:rPr>
              <a:t>E-Government Life Cycle</a:t>
            </a:r>
          </a:p>
        </p:txBody>
      </p:sp>
      <p:pic>
        <p:nvPicPr>
          <p:cNvPr id="1026" name="Picture 2"/>
          <p:cNvPicPr>
            <a:picLocks noGrp="1" noChangeAspect="1" noChangeArrowheads="1"/>
          </p:cNvPicPr>
          <p:nvPr>
            <p:ph idx="1"/>
          </p:nvPr>
        </p:nvPicPr>
        <p:blipFill>
          <a:blip r:embed="rId2"/>
          <a:srcRect/>
          <a:stretch>
            <a:fillRect/>
          </a:stretch>
        </p:blipFill>
        <p:spPr bwMode="auto">
          <a:xfrm>
            <a:off x="685800" y="1066800"/>
            <a:ext cx="7467600" cy="5051936"/>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01675"/>
          </a:xfrm>
        </p:spPr>
        <p:txBody>
          <a:bodyPr>
            <a:normAutofit fontScale="90000"/>
          </a:bodyPr>
          <a:lstStyle/>
          <a:p>
            <a:r>
              <a:rPr lang="en-US" dirty="0">
                <a:solidFill>
                  <a:srgbClr val="0070C0"/>
                </a:solidFill>
              </a:rPr>
              <a:t>E-Government Life Cycle</a:t>
            </a:r>
            <a:endParaRPr lang="en-US" dirty="0"/>
          </a:p>
        </p:txBody>
      </p:sp>
      <p:sp>
        <p:nvSpPr>
          <p:cNvPr id="3" name="Content Placeholder 2"/>
          <p:cNvSpPr>
            <a:spLocks noGrp="1"/>
          </p:cNvSpPr>
          <p:nvPr>
            <p:ph idx="1"/>
          </p:nvPr>
        </p:nvSpPr>
        <p:spPr>
          <a:xfrm>
            <a:off x="469490" y="1036636"/>
            <a:ext cx="8229600" cy="5821364"/>
          </a:xfrm>
        </p:spPr>
        <p:txBody>
          <a:bodyPr>
            <a:noAutofit/>
          </a:bodyPr>
          <a:lstStyle/>
          <a:p>
            <a:pPr algn="just"/>
            <a:r>
              <a:rPr lang="en-US" sz="2000" dirty="0">
                <a:solidFill>
                  <a:srgbClr val="FF0000"/>
                </a:solidFill>
              </a:rPr>
              <a:t>Project Assessment: </a:t>
            </a:r>
          </a:p>
          <a:p>
            <a:pPr lvl="1" algn="just">
              <a:buFont typeface="Wingdings" pitchFamily="2" charset="2"/>
              <a:buChar char="ü"/>
            </a:pPr>
            <a:r>
              <a:rPr lang="en-US" sz="2000" dirty="0"/>
              <a:t>Identifying possible e-government projects</a:t>
            </a:r>
          </a:p>
          <a:p>
            <a:pPr lvl="1" algn="just">
              <a:buFont typeface="Wingdings" pitchFamily="2" charset="2"/>
              <a:buChar char="ü"/>
            </a:pPr>
            <a:r>
              <a:rPr lang="en-US" sz="2000" dirty="0"/>
              <a:t>Outlining basic project parameters </a:t>
            </a:r>
          </a:p>
          <a:p>
            <a:pPr lvl="1" algn="just">
              <a:buFont typeface="Wingdings" pitchFamily="2" charset="2"/>
              <a:buChar char="ü"/>
            </a:pPr>
            <a:r>
              <a:rPr lang="en-US" sz="2000" dirty="0"/>
              <a:t>Assessing whether or not to proceed with the project.</a:t>
            </a:r>
          </a:p>
          <a:p>
            <a:pPr lvl="1" algn="just">
              <a:buFont typeface="Wingdings" pitchFamily="2" charset="2"/>
              <a:buChar char="ü"/>
            </a:pPr>
            <a:r>
              <a:rPr lang="en-US" sz="2000" dirty="0"/>
              <a:t>New e-government projects are typically initiated based on: “a problem that needs to be solved” or “identification of an opportunity which could be seized”</a:t>
            </a:r>
          </a:p>
          <a:p>
            <a:pPr algn="just"/>
            <a:r>
              <a:rPr lang="en-US" sz="2000" dirty="0">
                <a:solidFill>
                  <a:srgbClr val="FF0000"/>
                </a:solidFill>
              </a:rPr>
              <a:t>Analysis of current reality:</a:t>
            </a:r>
            <a:r>
              <a:rPr lang="en-US" sz="2000" dirty="0"/>
              <a:t> </a:t>
            </a:r>
          </a:p>
          <a:p>
            <a:pPr lvl="1" algn="just">
              <a:buFont typeface="Wingdings" pitchFamily="2" charset="2"/>
              <a:buChar char="ü"/>
            </a:pPr>
            <a:r>
              <a:rPr lang="en-US" sz="2000" dirty="0"/>
              <a:t>Description and analysis of the seven ITPOSMO dimensions as they exist within the current situation of the organization.</a:t>
            </a:r>
          </a:p>
          <a:p>
            <a:pPr lvl="1" algn="just">
              <a:buFont typeface="Wingdings" pitchFamily="2" charset="2"/>
              <a:buChar char="ü"/>
            </a:pPr>
            <a:r>
              <a:rPr lang="en-US" sz="2000" dirty="0"/>
              <a:t>A SWOT-analysis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0813"/>
            <a:ext cx="8229600" cy="639762"/>
          </a:xfrm>
        </p:spPr>
        <p:txBody>
          <a:bodyPr>
            <a:normAutofit fontScale="90000"/>
          </a:bodyPr>
          <a:lstStyle/>
          <a:p>
            <a:r>
              <a:rPr lang="en-US" dirty="0">
                <a:solidFill>
                  <a:srgbClr val="0070C0"/>
                </a:solidFill>
              </a:rPr>
              <a:t>E-Government Life Cycle</a:t>
            </a:r>
            <a:endParaRPr lang="en-US" dirty="0"/>
          </a:p>
        </p:txBody>
      </p:sp>
      <p:sp>
        <p:nvSpPr>
          <p:cNvPr id="3" name="Content Placeholder 2"/>
          <p:cNvSpPr>
            <a:spLocks noGrp="1"/>
          </p:cNvSpPr>
          <p:nvPr>
            <p:ph idx="1"/>
          </p:nvPr>
        </p:nvSpPr>
        <p:spPr>
          <a:xfrm>
            <a:off x="462116" y="790575"/>
            <a:ext cx="8229600" cy="5762625"/>
          </a:xfrm>
        </p:spPr>
        <p:txBody>
          <a:bodyPr>
            <a:normAutofit/>
          </a:bodyPr>
          <a:lstStyle/>
          <a:p>
            <a:pPr algn="just"/>
            <a:r>
              <a:rPr lang="en-US" sz="2000" dirty="0">
                <a:solidFill>
                  <a:srgbClr val="FF0000"/>
                </a:solidFill>
              </a:rPr>
              <a:t>Design of the Proposed New Situation:</a:t>
            </a:r>
            <a:r>
              <a:rPr lang="en-US" sz="2000" dirty="0"/>
              <a:t> </a:t>
            </a:r>
          </a:p>
          <a:p>
            <a:pPr lvl="1" algn="just">
              <a:buFont typeface="Wingdings" pitchFamily="2" charset="2"/>
              <a:buChar char="ü"/>
            </a:pPr>
            <a:r>
              <a:rPr lang="en-US" sz="2000" dirty="0">
                <a:solidFill>
                  <a:srgbClr val="00B050"/>
                </a:solidFill>
              </a:rPr>
              <a:t>Setting objectives </a:t>
            </a:r>
            <a:r>
              <a:rPr lang="en-US" sz="2000" dirty="0"/>
              <a:t>for the proposed new e-government system, and then describing in general terms how the </a:t>
            </a:r>
            <a:r>
              <a:rPr lang="en-US" sz="2000" dirty="0">
                <a:solidFill>
                  <a:srgbClr val="00B050"/>
                </a:solidFill>
              </a:rPr>
              <a:t>seven ITPOSMO dimensions should be different for the new system </a:t>
            </a:r>
            <a:r>
              <a:rPr lang="en-US" sz="2000" dirty="0"/>
              <a:t>to meet these objectives. </a:t>
            </a:r>
          </a:p>
          <a:p>
            <a:pPr lvl="1" algn="just">
              <a:buFont typeface="Wingdings" pitchFamily="2" charset="2"/>
              <a:buChar char="ü"/>
            </a:pPr>
            <a:r>
              <a:rPr lang="en-US" sz="2000" dirty="0"/>
              <a:t>In this stage issues of software and hardware need to be dealt with. </a:t>
            </a:r>
          </a:p>
          <a:p>
            <a:pPr lvl="1" algn="just">
              <a:buFont typeface="Wingdings" pitchFamily="2" charset="2"/>
              <a:buChar char="ü"/>
            </a:pPr>
            <a:r>
              <a:rPr lang="en-US" sz="2000" dirty="0"/>
              <a:t>Work processes are also necessary to take into account from a design perspective, and not just the front-end processes, but also the underlying processes </a:t>
            </a:r>
          </a:p>
          <a:p>
            <a:pPr lvl="1" algn="just">
              <a:buFont typeface="Wingdings" pitchFamily="2" charset="2"/>
              <a:buChar char="ü"/>
            </a:pPr>
            <a:r>
              <a:rPr lang="en-US" sz="2000" dirty="0"/>
              <a:t>Different options for the new system may be evaluated at this point.</a:t>
            </a:r>
            <a:endParaRPr lang="en-US" sz="2000" dirty="0">
              <a:solidFill>
                <a:srgbClr val="FF0000"/>
              </a:solidFill>
            </a:endParaRPr>
          </a:p>
          <a:p>
            <a:pPr algn="just"/>
            <a:r>
              <a:rPr lang="en-US" sz="2000" dirty="0">
                <a:solidFill>
                  <a:srgbClr val="FF0000"/>
                </a:solidFill>
              </a:rPr>
              <a:t>System Construction: </a:t>
            </a:r>
          </a:p>
          <a:p>
            <a:pPr lvl="1" algn="just">
              <a:buFont typeface="Wingdings" pitchFamily="2" charset="2"/>
              <a:buChar char="ü"/>
            </a:pPr>
            <a:r>
              <a:rPr lang="en-US" sz="2000" dirty="0"/>
              <a:t>Consists of Process and activities in acquiring any new IT</a:t>
            </a:r>
          </a:p>
          <a:p>
            <a:pPr lvl="1" algn="just">
              <a:buFont typeface="Wingdings" pitchFamily="2" charset="2"/>
              <a:buChar char="ü"/>
            </a:pPr>
            <a:r>
              <a:rPr lang="en-US" sz="2000" dirty="0"/>
              <a:t>Undertaking detailed design of the new e-Government system(For example system installation)</a:t>
            </a:r>
          </a:p>
          <a:p>
            <a:pPr lvl="1" algn="just">
              <a:buFont typeface="Wingdings" pitchFamily="2" charset="2"/>
              <a:buChar char="ü"/>
            </a:pPr>
            <a:r>
              <a:rPr lang="en-US" sz="2000" dirty="0"/>
              <a:t>Then building it</a:t>
            </a:r>
          </a:p>
          <a:p>
            <a:pPr lvl="1" algn="just">
              <a:buFont typeface="Wingdings" pitchFamily="2" charset="2"/>
              <a:buChar char="ü"/>
            </a:pPr>
            <a:r>
              <a:rPr lang="en-US" sz="2000" dirty="0"/>
              <a:t>Testing it </a:t>
            </a:r>
          </a:p>
          <a:p>
            <a:pPr lvl="1" algn="just">
              <a:buFont typeface="Wingdings" pitchFamily="2" charset="2"/>
              <a:buChar char="ü"/>
            </a:pPr>
            <a:r>
              <a:rPr lang="en-US" sz="2000" dirty="0"/>
              <a:t>Documenting it.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solidFill>
                  <a:srgbClr val="0070C0"/>
                </a:solidFill>
              </a:rPr>
              <a:t>E-Government Life Cycle</a:t>
            </a:r>
            <a:endParaRPr lang="en-US" dirty="0"/>
          </a:p>
        </p:txBody>
      </p:sp>
      <p:sp>
        <p:nvSpPr>
          <p:cNvPr id="3" name="Content Placeholder 2"/>
          <p:cNvSpPr>
            <a:spLocks noGrp="1"/>
          </p:cNvSpPr>
          <p:nvPr>
            <p:ph idx="1"/>
          </p:nvPr>
        </p:nvSpPr>
        <p:spPr>
          <a:xfrm>
            <a:off x="489155" y="1295400"/>
            <a:ext cx="8229600" cy="4525963"/>
          </a:xfrm>
        </p:spPr>
        <p:txBody>
          <a:bodyPr>
            <a:normAutofit/>
          </a:bodyPr>
          <a:lstStyle/>
          <a:p>
            <a:pPr algn="just"/>
            <a:r>
              <a:rPr lang="en-US" sz="2000" dirty="0"/>
              <a:t> </a:t>
            </a:r>
            <a:r>
              <a:rPr lang="en-US" sz="2000" dirty="0">
                <a:solidFill>
                  <a:srgbClr val="FF0000"/>
                </a:solidFill>
              </a:rPr>
              <a:t>Implementation and beyond: </a:t>
            </a:r>
          </a:p>
          <a:p>
            <a:pPr lvl="1" algn="just">
              <a:buFont typeface="Wingdings" pitchFamily="2" charset="2"/>
              <a:buChar char="ü"/>
            </a:pPr>
            <a:r>
              <a:rPr lang="en-US" sz="2000" dirty="0"/>
              <a:t>Represented by the planning of implementation processes</a:t>
            </a:r>
          </a:p>
          <a:p>
            <a:pPr lvl="1" algn="just">
              <a:buFont typeface="Wingdings" pitchFamily="2" charset="2"/>
              <a:buChar char="ü"/>
            </a:pPr>
            <a:r>
              <a:rPr lang="en-US" sz="2000" dirty="0"/>
              <a:t>For example Training users to use the new system</a:t>
            </a:r>
          </a:p>
          <a:p>
            <a:pPr lvl="1" algn="just">
              <a:buFont typeface="Wingdings" pitchFamily="2" charset="2"/>
              <a:buChar char="ü"/>
            </a:pPr>
            <a:r>
              <a:rPr lang="en-US" sz="2000" dirty="0"/>
              <a:t>Converting data from old to new formats</a:t>
            </a:r>
          </a:p>
          <a:p>
            <a:pPr lvl="1" algn="just">
              <a:buFont typeface="Wingdings" pitchFamily="2" charset="2"/>
              <a:buChar char="ü"/>
            </a:pPr>
            <a:r>
              <a:rPr lang="en-US" sz="2000" dirty="0"/>
              <a:t>Introducing the new system</a:t>
            </a:r>
          </a:p>
          <a:p>
            <a:pPr lvl="1" algn="just">
              <a:buFont typeface="Wingdings" pitchFamily="2" charset="2"/>
              <a:buChar char="ü"/>
            </a:pPr>
            <a:r>
              <a:rPr lang="en-US" sz="2000" dirty="0"/>
              <a:t>Monitoring and evaluating its performance and context</a:t>
            </a:r>
          </a:p>
          <a:p>
            <a:pPr lvl="1" algn="just">
              <a:buFont typeface="Wingdings" pitchFamily="2" charset="2"/>
              <a:buChar char="ü"/>
            </a:pPr>
            <a:r>
              <a:rPr lang="en-US" sz="2000" dirty="0"/>
              <a:t>Then undertaking any necessary system maintenance.</a:t>
            </a:r>
          </a:p>
        </p:txBody>
      </p:sp>
    </p:spTree>
    <p:extLst>
      <p:ext uri="{BB962C8B-B14F-4D97-AF65-F5344CB8AC3E}">
        <p14:creationId xmlns:p14="http://schemas.microsoft.com/office/powerpoint/2010/main" val="17713731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solidFill>
                  <a:srgbClr val="0070C0"/>
                </a:solidFill>
              </a:rPr>
              <a:t/>
            </a:r>
            <a:br>
              <a:rPr lang="en-US" dirty="0">
                <a:solidFill>
                  <a:srgbClr val="0070C0"/>
                </a:solidFill>
              </a:rPr>
            </a:br>
            <a:r>
              <a:rPr lang="en-US" dirty="0">
                <a:solidFill>
                  <a:srgbClr val="0070C0"/>
                </a:solidFill>
              </a:rPr>
              <a:t>e‐Governance  Challenges</a:t>
            </a:r>
            <a:r>
              <a:rPr lang="en-US" b="1" dirty="0"/>
              <a:t/>
            </a:r>
            <a:br>
              <a:rPr lang="en-US" b="1" dirty="0"/>
            </a:br>
            <a:endParaRPr lang="en-US" dirty="0"/>
          </a:p>
        </p:txBody>
      </p:sp>
      <p:sp>
        <p:nvSpPr>
          <p:cNvPr id="3" name="Content Placeholder 2"/>
          <p:cNvSpPr>
            <a:spLocks noGrp="1"/>
          </p:cNvSpPr>
          <p:nvPr>
            <p:ph idx="1"/>
          </p:nvPr>
        </p:nvSpPr>
        <p:spPr>
          <a:xfrm>
            <a:off x="457200" y="914399"/>
            <a:ext cx="8229600" cy="5807075"/>
          </a:xfrm>
        </p:spPr>
        <p:txBody>
          <a:bodyPr>
            <a:normAutofit fontScale="70000" lnSpcReduction="20000"/>
          </a:bodyPr>
          <a:lstStyle/>
          <a:p>
            <a:pPr algn="just"/>
            <a:r>
              <a:rPr lang="en-US" i="1" dirty="0"/>
              <a:t>E-governance, however, is not really the use of IT in governance but as a </a:t>
            </a:r>
            <a:r>
              <a:rPr lang="en-US" i="1" dirty="0">
                <a:solidFill>
                  <a:srgbClr val="00B050"/>
                </a:solidFill>
              </a:rPr>
              <a:t>tool to ensure good governance</a:t>
            </a:r>
            <a:r>
              <a:rPr lang="en-US" i="1" dirty="0"/>
              <a:t>. </a:t>
            </a:r>
          </a:p>
          <a:p>
            <a:pPr algn="just"/>
            <a:r>
              <a:rPr lang="en-US" i="1" dirty="0"/>
              <a:t>E-­governance does not mean proliferation of computers and accessories</a:t>
            </a:r>
          </a:p>
          <a:p>
            <a:pPr lvl="1" algn="just"/>
            <a:r>
              <a:rPr lang="en-US" i="1" dirty="0"/>
              <a:t> it is basically a political decision which calls for discipline, attitudinal change in officers and employees, and massive government process re-engineering</a:t>
            </a:r>
            <a:r>
              <a:rPr lang="en-US" dirty="0"/>
              <a:t>.</a:t>
            </a:r>
          </a:p>
          <a:p>
            <a:pPr algn="just"/>
            <a:r>
              <a:rPr lang="en-US" dirty="0"/>
              <a:t>All implementers and drivers of e-governance initiatives agree that the </a:t>
            </a:r>
            <a:r>
              <a:rPr lang="en-US" dirty="0">
                <a:solidFill>
                  <a:srgbClr val="00B050"/>
                </a:solidFill>
              </a:rPr>
              <a:t>biggest challenge of deploying e-governance is not technology but change management. </a:t>
            </a:r>
          </a:p>
          <a:p>
            <a:pPr lvl="1" algn="just"/>
            <a:r>
              <a:rPr lang="en-US" dirty="0"/>
              <a:t>Change management is important not only in terms of cultural change but also in terms of changing operations and processes workflow that the automated environment will introduce.</a:t>
            </a:r>
          </a:p>
          <a:p>
            <a:pPr algn="just"/>
            <a:r>
              <a:rPr lang="en-US" i="1" dirty="0"/>
              <a:t>"It's important to  educate people at all levels about the benefits of  technology. The  various benefits and advantages of e-enabling the system should be communicated clearly right at the beginning to ensure popular support which will lead to greater chances of success."</a:t>
            </a:r>
            <a:endParaRPr lang="en-US" dirty="0"/>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solidFill>
                  <a:srgbClr val="0070C0"/>
                </a:solidFill>
              </a:rPr>
              <a:t>e‐Governance  Challenges</a:t>
            </a:r>
            <a:endParaRPr lang="en-US" dirty="0"/>
          </a:p>
        </p:txBody>
      </p:sp>
      <p:sp>
        <p:nvSpPr>
          <p:cNvPr id="3" name="Content Placeholder 2"/>
          <p:cNvSpPr>
            <a:spLocks noGrp="1"/>
          </p:cNvSpPr>
          <p:nvPr>
            <p:ph idx="1"/>
          </p:nvPr>
        </p:nvSpPr>
        <p:spPr>
          <a:xfrm>
            <a:off x="457200" y="990600"/>
            <a:ext cx="8229600" cy="5257800"/>
          </a:xfrm>
        </p:spPr>
        <p:txBody>
          <a:bodyPr>
            <a:normAutofit fontScale="25000" lnSpcReduction="20000"/>
          </a:bodyPr>
          <a:lstStyle/>
          <a:p>
            <a:pPr algn="just"/>
            <a:r>
              <a:rPr lang="en-US" sz="8000" dirty="0"/>
              <a:t>The key challenges with electronic governance are not technology or Internet issues but organizational issues like:</a:t>
            </a:r>
          </a:p>
          <a:p>
            <a:pPr lvl="1" algn="just">
              <a:buFont typeface="Courier New" pitchFamily="49" charset="0"/>
              <a:buChar char="o"/>
            </a:pPr>
            <a:r>
              <a:rPr lang="en-US" sz="7600" dirty="0"/>
              <a:t>Redefining rules and procedures</a:t>
            </a:r>
          </a:p>
          <a:p>
            <a:pPr lvl="1" algn="just">
              <a:buFont typeface="Courier New" pitchFamily="49" charset="0"/>
              <a:buChar char="o"/>
            </a:pPr>
            <a:r>
              <a:rPr lang="en-US" sz="8000" dirty="0"/>
              <a:t>Information transparency</a:t>
            </a:r>
          </a:p>
          <a:p>
            <a:pPr lvl="1" algn="just">
              <a:buFont typeface="Courier New" pitchFamily="49" charset="0"/>
              <a:buChar char="o"/>
            </a:pPr>
            <a:r>
              <a:rPr lang="en-US" sz="8000" dirty="0"/>
              <a:t>Legal issues</a:t>
            </a:r>
          </a:p>
          <a:p>
            <a:pPr lvl="1" algn="just">
              <a:buFont typeface="Courier New" pitchFamily="49" charset="0"/>
              <a:buChar char="o"/>
            </a:pPr>
            <a:r>
              <a:rPr lang="en-US" sz="8000" dirty="0"/>
              <a:t>Infrastructure, Skill and awareness</a:t>
            </a:r>
          </a:p>
          <a:p>
            <a:pPr lvl="1" algn="just">
              <a:buFont typeface="Courier New" pitchFamily="49" charset="0"/>
              <a:buChar char="o"/>
            </a:pPr>
            <a:r>
              <a:rPr lang="en-US" sz="8000" dirty="0"/>
              <a:t>Access to right information</a:t>
            </a:r>
          </a:p>
          <a:p>
            <a:pPr lvl="1" algn="just">
              <a:buFont typeface="Courier New" pitchFamily="49" charset="0"/>
              <a:buChar char="o"/>
            </a:pPr>
            <a:r>
              <a:rPr lang="en-US" sz="8000" dirty="0"/>
              <a:t>Interdepartmental collaboration</a:t>
            </a:r>
          </a:p>
          <a:p>
            <a:pPr lvl="1" algn="just">
              <a:buFont typeface="Courier New" pitchFamily="49" charset="0"/>
              <a:buChar char="o"/>
            </a:pPr>
            <a:r>
              <a:rPr lang="en-US" sz="8000" dirty="0"/>
              <a:t>Tendency to resist the change in work culture</a:t>
            </a:r>
          </a:p>
          <a:p>
            <a:pPr algn="just"/>
            <a:r>
              <a:rPr lang="en-US" sz="8000" dirty="0"/>
              <a:t>Other obstacles are </a:t>
            </a:r>
            <a:r>
              <a:rPr lang="en-US" sz="8000" dirty="0">
                <a:solidFill>
                  <a:srgbClr val="00B050"/>
                </a:solidFill>
              </a:rPr>
              <a:t>geographical distances, lack of trained human resources</a:t>
            </a:r>
            <a:r>
              <a:rPr lang="en-US" sz="8000" dirty="0"/>
              <a:t> and lack of ICT penetration in remote areas. </a:t>
            </a:r>
          </a:p>
          <a:p>
            <a:pPr algn="just"/>
            <a:r>
              <a:rPr lang="en-US" sz="8000" dirty="0"/>
              <a:t>For instance, a good e-governance application will not benefit any body in remote areas if there is no supporting infrastructure such as </a:t>
            </a:r>
            <a:r>
              <a:rPr lang="en-US" sz="8000" dirty="0">
                <a:solidFill>
                  <a:srgbClr val="00B050"/>
                </a:solidFill>
              </a:rPr>
              <a:t>electricity, computers and connectivity</a:t>
            </a:r>
            <a:r>
              <a:rPr lang="en-US" sz="8000" dirty="0"/>
              <a:t>. </a:t>
            </a:r>
          </a:p>
          <a:p>
            <a:pPr algn="just"/>
            <a:r>
              <a:rPr lang="en-US" sz="8000" dirty="0"/>
              <a:t>The challenges of connectivity have also reduced over the years with the </a:t>
            </a:r>
            <a:r>
              <a:rPr lang="en-US" sz="8000" dirty="0">
                <a:solidFill>
                  <a:srgbClr val="00B050"/>
                </a:solidFill>
              </a:rPr>
              <a:t>falling prices of bandwidth and increased reach of connectivity service providers.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solidFill>
                  <a:srgbClr val="0070C0"/>
                </a:solidFill>
              </a:rPr>
              <a:t>e‐Governance  Challenges</a:t>
            </a:r>
            <a:endParaRPr lang="en-US" dirty="0"/>
          </a:p>
        </p:txBody>
      </p:sp>
      <p:sp>
        <p:nvSpPr>
          <p:cNvPr id="3" name="Content Placeholder 2"/>
          <p:cNvSpPr>
            <a:spLocks noGrp="1"/>
          </p:cNvSpPr>
          <p:nvPr>
            <p:ph idx="1"/>
          </p:nvPr>
        </p:nvSpPr>
        <p:spPr>
          <a:xfrm>
            <a:off x="457200" y="914400"/>
            <a:ext cx="8229600" cy="5334000"/>
          </a:xfrm>
        </p:spPr>
        <p:txBody>
          <a:bodyPr>
            <a:normAutofit fontScale="77500" lnSpcReduction="20000"/>
          </a:bodyPr>
          <a:lstStyle/>
          <a:p>
            <a:pPr algn="just"/>
            <a:r>
              <a:rPr lang="en-US" dirty="0"/>
              <a:t>Many governments have developed nation wide networks, customized applications, and data banks but the interconnectivity of the servers is an issue, which calls for the establishment of state datacenters.</a:t>
            </a:r>
          </a:p>
          <a:p>
            <a:pPr algn="just"/>
            <a:r>
              <a:rPr lang="en-US" dirty="0"/>
              <a:t>The other set of challenges lie in extending the reach of e-Governance services to Nepalese population that lives in villages. These include:</a:t>
            </a:r>
          </a:p>
          <a:p>
            <a:pPr lvl="1" algn="just">
              <a:buFont typeface="Courier New" pitchFamily="49" charset="0"/>
              <a:buChar char="o"/>
            </a:pPr>
            <a:r>
              <a:rPr lang="en-US" dirty="0"/>
              <a:t>Assessment of local needs and customizing e-Governance solutions to meet those needs </a:t>
            </a:r>
          </a:p>
          <a:p>
            <a:pPr lvl="1" algn="just">
              <a:buFont typeface="Courier New" pitchFamily="49" charset="0"/>
              <a:buChar char="o"/>
            </a:pPr>
            <a:r>
              <a:rPr lang="en-US" dirty="0"/>
              <a:t>Connectivity</a:t>
            </a:r>
          </a:p>
          <a:p>
            <a:pPr lvl="1" algn="just">
              <a:buFont typeface="Courier New" pitchFamily="49" charset="0"/>
              <a:buChar char="o"/>
            </a:pPr>
            <a:r>
              <a:rPr lang="en-US" dirty="0"/>
              <a:t>Content (Local content on Local language)</a:t>
            </a:r>
          </a:p>
          <a:p>
            <a:pPr lvl="1" algn="just">
              <a:buFont typeface="Courier New" pitchFamily="49" charset="0"/>
              <a:buChar char="o"/>
            </a:pPr>
            <a:r>
              <a:rPr lang="en-US" dirty="0"/>
              <a:t>Building Human Capacities</a:t>
            </a:r>
          </a:p>
          <a:p>
            <a:pPr lvl="1" algn="just">
              <a:buFont typeface="Courier New" pitchFamily="49" charset="0"/>
              <a:buChar char="o"/>
            </a:pPr>
            <a:r>
              <a:rPr lang="en-US" dirty="0"/>
              <a:t>e-Commerce</a:t>
            </a:r>
          </a:p>
          <a:p>
            <a:pPr lvl="1" algn="just">
              <a:buFont typeface="Courier New" pitchFamily="49" charset="0"/>
              <a:buChar char="o"/>
            </a:pPr>
            <a:r>
              <a:rPr lang="en-US" dirty="0"/>
              <a:t>Sustainability</a:t>
            </a:r>
          </a:p>
          <a:p>
            <a:pPr>
              <a:buNone/>
            </a:pPr>
            <a:r>
              <a:rPr lang="en-US" dirty="0"/>
              <a:t> </a:t>
            </a:r>
          </a:p>
          <a:p>
            <a:endParaRPr lang="en-US" dirty="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b="1" dirty="0">
                <a:solidFill>
                  <a:srgbClr val="0070C0"/>
                </a:solidFill>
              </a:rPr>
              <a:t>Evolution, Scope and Content of E‐governance</a:t>
            </a:r>
            <a:endParaRPr lang="en-US" sz="3200" dirty="0">
              <a:solidFill>
                <a:srgbClr val="0070C0"/>
              </a:solidFill>
            </a:endParaRPr>
          </a:p>
        </p:txBody>
      </p:sp>
      <p:sp>
        <p:nvSpPr>
          <p:cNvPr id="3" name="Content Placeholder 2"/>
          <p:cNvSpPr>
            <a:spLocks noGrp="1"/>
          </p:cNvSpPr>
          <p:nvPr>
            <p:ph idx="1"/>
          </p:nvPr>
        </p:nvSpPr>
        <p:spPr>
          <a:xfrm>
            <a:off x="457200" y="914400"/>
            <a:ext cx="8229600" cy="5486400"/>
          </a:xfrm>
        </p:spPr>
        <p:txBody>
          <a:bodyPr>
            <a:noAutofit/>
          </a:bodyPr>
          <a:lstStyle/>
          <a:p>
            <a:pPr algn="just"/>
            <a:r>
              <a:rPr lang="en-US" sz="2200" dirty="0"/>
              <a:t>Initiatives were take up as </a:t>
            </a:r>
            <a:r>
              <a:rPr lang="en-US" sz="2200" dirty="0">
                <a:solidFill>
                  <a:srgbClr val="FF0000"/>
                </a:solidFill>
              </a:rPr>
              <a:t>early as 1972 by Chile</a:t>
            </a:r>
          </a:p>
          <a:p>
            <a:pPr algn="just"/>
            <a:r>
              <a:rPr lang="en-US" sz="2200" dirty="0"/>
              <a:t>Prof. Stafford Beer implemented for President </a:t>
            </a:r>
            <a:r>
              <a:rPr lang="en-US" sz="2200" dirty="0" err="1"/>
              <a:t>Allende</a:t>
            </a:r>
            <a:r>
              <a:rPr lang="en-US" sz="2200" dirty="0"/>
              <a:t> of Chile, </a:t>
            </a:r>
            <a:r>
              <a:rPr lang="en-US" sz="2200" dirty="0">
                <a:solidFill>
                  <a:srgbClr val="FF0000"/>
                </a:solidFill>
              </a:rPr>
              <a:t>the first governance software </a:t>
            </a:r>
            <a:r>
              <a:rPr lang="en-US" sz="2200" dirty="0"/>
              <a:t>that would help the government survive a severe crisis.</a:t>
            </a:r>
          </a:p>
          <a:p>
            <a:pPr algn="just"/>
            <a:r>
              <a:rPr lang="en-US" sz="2200" dirty="0"/>
              <a:t>Major contribution by US Vice President Al Gore in early 1990s which rooted worldwide in the </a:t>
            </a:r>
            <a:r>
              <a:rPr lang="en-US" sz="2200" dirty="0">
                <a:solidFill>
                  <a:srgbClr val="FF0000"/>
                </a:solidFill>
              </a:rPr>
              <a:t>information superhighway(high speed network)</a:t>
            </a:r>
          </a:p>
          <a:p>
            <a:pPr algn="just"/>
            <a:r>
              <a:rPr lang="en-US" sz="2200" dirty="0"/>
              <a:t>The Information Super Highway was defined largely in terms of the information infrastructure at the national level by many countries including US, UK, Canada, Australia and India</a:t>
            </a:r>
          </a:p>
          <a:p>
            <a:pPr algn="just"/>
            <a:r>
              <a:rPr lang="en-US" sz="2200" dirty="0"/>
              <a:t>The focus was then largely on </a:t>
            </a:r>
            <a:r>
              <a:rPr lang="en-US" sz="2200" dirty="0">
                <a:solidFill>
                  <a:srgbClr val="FF0000"/>
                </a:solidFill>
              </a:rPr>
              <a:t>development of components of infrastructure </a:t>
            </a:r>
            <a:r>
              <a:rPr lang="en-US" sz="2200" dirty="0"/>
              <a:t>such as fiber optic networks across the states or nations.</a:t>
            </a:r>
          </a:p>
          <a:p>
            <a:pPr algn="just"/>
            <a:r>
              <a:rPr lang="en-US" sz="2200" dirty="0"/>
              <a:t>The interest was widened to include socio-economic considerations encapsulated in the concept of </a:t>
            </a:r>
            <a:r>
              <a:rPr lang="en-US" sz="2200" b="1" dirty="0">
                <a:solidFill>
                  <a:srgbClr val="92D050"/>
                </a:solidFill>
              </a:rPr>
              <a:t>Information Society or Knowledge Society evolved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60412"/>
          </a:xfrm>
        </p:spPr>
        <p:txBody>
          <a:bodyPr>
            <a:noAutofit/>
          </a:bodyPr>
          <a:lstStyle/>
          <a:p>
            <a:r>
              <a:rPr lang="en-US" sz="3200" b="1" dirty="0">
                <a:solidFill>
                  <a:srgbClr val="0070C0"/>
                </a:solidFill>
              </a:rPr>
              <a:t>Evolution, Scope and Content of E‐governance</a:t>
            </a:r>
            <a:endParaRPr lang="en-US" sz="3200" dirty="0"/>
          </a:p>
        </p:txBody>
      </p:sp>
      <p:sp>
        <p:nvSpPr>
          <p:cNvPr id="3" name="Content Placeholder 2"/>
          <p:cNvSpPr>
            <a:spLocks noGrp="1"/>
          </p:cNvSpPr>
          <p:nvPr>
            <p:ph idx="1"/>
          </p:nvPr>
        </p:nvSpPr>
        <p:spPr>
          <a:xfrm>
            <a:off x="457200" y="914400"/>
            <a:ext cx="8229600" cy="5257800"/>
          </a:xfrm>
        </p:spPr>
        <p:txBody>
          <a:bodyPr>
            <a:noAutofit/>
          </a:bodyPr>
          <a:lstStyle/>
          <a:p>
            <a:pPr algn="just"/>
            <a:r>
              <a:rPr lang="en-US" sz="1600" dirty="0"/>
              <a:t>E‐governance came into a formalized and focused manner with </a:t>
            </a:r>
            <a:r>
              <a:rPr lang="en-US" sz="1600" dirty="0">
                <a:solidFill>
                  <a:srgbClr val="92D050"/>
                </a:solidFill>
              </a:rPr>
              <a:t>partial success to implement Information System </a:t>
            </a:r>
            <a:r>
              <a:rPr lang="en-US" sz="1600" dirty="0"/>
              <a:t>in the government departments and public organizations in various countries including India.</a:t>
            </a:r>
          </a:p>
          <a:p>
            <a:pPr algn="just"/>
            <a:r>
              <a:rPr lang="en-US" sz="1600" dirty="0"/>
              <a:t>During 1980s and 90s, governments all over the world </a:t>
            </a:r>
            <a:r>
              <a:rPr lang="en-US" sz="1600" dirty="0">
                <a:solidFill>
                  <a:srgbClr val="92D050"/>
                </a:solidFill>
              </a:rPr>
              <a:t>lagged behind the commercial world </a:t>
            </a:r>
            <a:r>
              <a:rPr lang="en-US" sz="1600" dirty="0"/>
              <a:t>in accepting and implementing ICT.</a:t>
            </a:r>
          </a:p>
          <a:p>
            <a:pPr algn="just"/>
            <a:r>
              <a:rPr lang="en-US" sz="1600" dirty="0">
                <a:solidFill>
                  <a:srgbClr val="FF0000"/>
                </a:solidFill>
              </a:rPr>
              <a:t>Commercial and industrial world went far ahead </a:t>
            </a:r>
            <a:r>
              <a:rPr lang="en-US" sz="1600" dirty="0"/>
              <a:t>all over the world in harnessing(make use of) the potential of ICT in their core and peripheral activities.</a:t>
            </a:r>
          </a:p>
          <a:p>
            <a:pPr algn="just"/>
            <a:r>
              <a:rPr lang="en-US" sz="1600" dirty="0"/>
              <a:t>Commercial enterprises utilized ICT increasingly to reach out to their customers and business partners, thereby impressively enhancing their quality, speed and convenience.</a:t>
            </a:r>
          </a:p>
          <a:p>
            <a:pPr algn="just"/>
            <a:r>
              <a:rPr lang="en-US" sz="1600" dirty="0"/>
              <a:t>E-commerce thus became a big boom (even though the boom never reached the expected levels)</a:t>
            </a:r>
          </a:p>
          <a:p>
            <a:pPr algn="just"/>
            <a:r>
              <a:rPr lang="en-US" sz="1600" dirty="0"/>
              <a:t> </a:t>
            </a:r>
            <a:r>
              <a:rPr lang="en-US" sz="1600" dirty="0">
                <a:solidFill>
                  <a:srgbClr val="FF0000"/>
                </a:solidFill>
              </a:rPr>
              <a:t>Visible success </a:t>
            </a:r>
            <a:r>
              <a:rPr lang="en-US" sz="1600" dirty="0"/>
              <a:t>cases of use of ICT include </a:t>
            </a:r>
          </a:p>
          <a:p>
            <a:pPr lvl="1" algn="just">
              <a:buFont typeface="Wingdings" panose="05000000000000000000" pitchFamily="2" charset="2"/>
              <a:buChar char="ü"/>
            </a:pPr>
            <a:r>
              <a:rPr lang="en-US" sz="1600" dirty="0"/>
              <a:t>24 hours ATM services</a:t>
            </a:r>
          </a:p>
          <a:p>
            <a:pPr lvl="1" algn="just">
              <a:buFont typeface="Wingdings" panose="05000000000000000000" pitchFamily="2" charset="2"/>
              <a:buChar char="ü"/>
            </a:pPr>
            <a:r>
              <a:rPr lang="en-US" sz="1600" dirty="0"/>
              <a:t> 24 hour call center</a:t>
            </a:r>
          </a:p>
          <a:p>
            <a:pPr lvl="1" algn="just">
              <a:buFont typeface="Wingdings" panose="05000000000000000000" pitchFamily="2" charset="2"/>
              <a:buChar char="ü"/>
            </a:pPr>
            <a:r>
              <a:rPr lang="en-US" sz="1600" dirty="0"/>
              <a:t>E‐Shopping on web.</a:t>
            </a:r>
          </a:p>
          <a:p>
            <a:pPr lvl="1" algn="just">
              <a:buFont typeface="Wingdings" panose="05000000000000000000" pitchFamily="2" charset="2"/>
              <a:buChar char="ü"/>
            </a:pPr>
            <a:r>
              <a:rPr lang="en-US" sz="1600" dirty="0"/>
              <a:t>Integrating Cable TV with internet.</a:t>
            </a:r>
          </a:p>
          <a:p>
            <a:pPr algn="just"/>
            <a:r>
              <a:rPr lang="en-US" sz="1600" dirty="0"/>
              <a:t>Examples cited for typical information system that run the back offices in the financial and other sectors of business and industry.</a:t>
            </a:r>
          </a:p>
          <a:p>
            <a:pPr algn="just"/>
            <a:r>
              <a:rPr lang="en-US" sz="1600" dirty="0"/>
              <a:t>Back office computerization handled offshore in developing countries like India where skilled software manpower and also unskilled manpower became available at low cost.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944562"/>
          </a:xfrm>
        </p:spPr>
        <p:txBody>
          <a:bodyPr>
            <a:normAutofit fontScale="90000"/>
          </a:bodyPr>
          <a:lstStyle/>
          <a:p>
            <a:r>
              <a:rPr lang="en-US" b="1" dirty="0">
                <a:solidFill>
                  <a:srgbClr val="0070C0"/>
                </a:solidFill>
              </a:rPr>
              <a:t>Evolution, Scope and Content of E‐governance</a:t>
            </a:r>
            <a:endParaRPr lang="en-US" dirty="0"/>
          </a:p>
        </p:txBody>
      </p:sp>
      <p:sp>
        <p:nvSpPr>
          <p:cNvPr id="3" name="Content Placeholder 2"/>
          <p:cNvSpPr>
            <a:spLocks noGrp="1"/>
          </p:cNvSpPr>
          <p:nvPr>
            <p:ph idx="1"/>
          </p:nvPr>
        </p:nvSpPr>
        <p:spPr>
          <a:xfrm>
            <a:off x="457200" y="1371600"/>
            <a:ext cx="8382000" cy="4525963"/>
          </a:xfrm>
        </p:spPr>
        <p:txBody>
          <a:bodyPr>
            <a:normAutofit fontScale="55000" lnSpcReduction="20000"/>
          </a:bodyPr>
          <a:lstStyle/>
          <a:p>
            <a:pPr algn="just"/>
            <a:r>
              <a:rPr lang="en-US" dirty="0"/>
              <a:t>The cost effective satellite communication infrastructure facilitated remote development and maintenance of software in banking, financial, aviation, industrial sector.</a:t>
            </a:r>
            <a:endParaRPr lang="en-US" dirty="0">
              <a:solidFill>
                <a:srgbClr val="FF0000"/>
              </a:solidFill>
            </a:endParaRPr>
          </a:p>
          <a:p>
            <a:pPr algn="just"/>
            <a:r>
              <a:rPr lang="en-US" dirty="0">
                <a:solidFill>
                  <a:srgbClr val="FF0000"/>
                </a:solidFill>
              </a:rPr>
              <a:t>Software export increase </a:t>
            </a:r>
            <a:r>
              <a:rPr lang="en-US" dirty="0"/>
              <a:t>(banking, financial, aviation, industrial sector from India, Ireland, Israel, China)</a:t>
            </a:r>
          </a:p>
          <a:p>
            <a:pPr algn="just"/>
            <a:r>
              <a:rPr lang="en-US" dirty="0"/>
              <a:t>1990s and 2000 ‐ </a:t>
            </a:r>
            <a:r>
              <a:rPr lang="en-US" dirty="0">
                <a:solidFill>
                  <a:srgbClr val="FF0000"/>
                </a:solidFill>
              </a:rPr>
              <a:t>Development of ITES </a:t>
            </a:r>
            <a:r>
              <a:rPr lang="en-US" dirty="0"/>
              <a:t>(IT enabled Society) </a:t>
            </a:r>
          </a:p>
          <a:p>
            <a:pPr lvl="1" algn="just"/>
            <a:r>
              <a:rPr lang="en-US" dirty="0"/>
              <a:t>resulted in remote services like </a:t>
            </a:r>
            <a:r>
              <a:rPr lang="en-US" dirty="0">
                <a:solidFill>
                  <a:srgbClr val="FF0000"/>
                </a:solidFill>
              </a:rPr>
              <a:t>call centers, data entry</a:t>
            </a:r>
            <a:endParaRPr lang="en-US" b="1" dirty="0">
              <a:solidFill>
                <a:srgbClr val="FF0000"/>
              </a:solidFill>
            </a:endParaRPr>
          </a:p>
          <a:p>
            <a:r>
              <a:rPr lang="en-US" dirty="0"/>
              <a:t>Government </a:t>
            </a:r>
            <a:r>
              <a:rPr lang="en-US" dirty="0">
                <a:solidFill>
                  <a:srgbClr val="00B050"/>
                </a:solidFill>
              </a:rPr>
              <a:t>last in the queue of institutions providing IT services</a:t>
            </a:r>
          </a:p>
          <a:p>
            <a:r>
              <a:rPr lang="en-US" dirty="0"/>
              <a:t>Initial Efforts in E‐governance:</a:t>
            </a:r>
          </a:p>
          <a:p>
            <a:pPr>
              <a:buNone/>
            </a:pPr>
            <a:r>
              <a:rPr lang="en-US" dirty="0"/>
              <a:t>		‐ </a:t>
            </a:r>
            <a:r>
              <a:rPr lang="en-US" dirty="0">
                <a:solidFill>
                  <a:srgbClr val="FF0000"/>
                </a:solidFill>
              </a:rPr>
              <a:t>Partial automation of existing paper based manual process</a:t>
            </a:r>
          </a:p>
          <a:p>
            <a:pPr>
              <a:buNone/>
            </a:pPr>
            <a:r>
              <a:rPr lang="en-US" dirty="0"/>
              <a:t>		‐ Did not result in significant </a:t>
            </a:r>
            <a:r>
              <a:rPr lang="en-US" dirty="0">
                <a:solidFill>
                  <a:srgbClr val="00B050"/>
                </a:solidFill>
              </a:rPr>
              <a:t>Business Reengineering Process </a:t>
            </a:r>
            <a:r>
              <a:rPr lang="en-US" dirty="0"/>
              <a:t>	   	  compared to private sector</a:t>
            </a:r>
          </a:p>
          <a:p>
            <a:r>
              <a:rPr lang="en-US" dirty="0"/>
              <a:t> No big changes seen in government enterprises may be because of </a:t>
            </a:r>
          </a:p>
          <a:p>
            <a:pPr>
              <a:buNone/>
            </a:pPr>
            <a:r>
              <a:rPr lang="en-US" dirty="0"/>
              <a:t>		‐ </a:t>
            </a:r>
            <a:r>
              <a:rPr lang="en-US" b="1" dirty="0"/>
              <a:t>Conservatism</a:t>
            </a:r>
          </a:p>
          <a:p>
            <a:pPr>
              <a:buNone/>
            </a:pPr>
            <a:r>
              <a:rPr lang="en-US" dirty="0"/>
              <a:t>		‐ </a:t>
            </a:r>
            <a:r>
              <a:rPr lang="en-US" b="1" dirty="0"/>
              <a:t>Resistance to change</a:t>
            </a:r>
          </a:p>
          <a:p>
            <a:pPr>
              <a:buNone/>
            </a:pPr>
            <a:r>
              <a:rPr lang="en-US" dirty="0"/>
              <a:t>		‐ </a:t>
            </a:r>
            <a:r>
              <a:rPr lang="en-US" b="1" dirty="0"/>
              <a:t>Rigidity of legislative body which impedes the amendment of rules and 	  procedure</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b="1" dirty="0">
                <a:solidFill>
                  <a:srgbClr val="0070C0"/>
                </a:solidFill>
              </a:rPr>
              <a:t>Evolution, Scope and Content of E‐governance</a:t>
            </a:r>
            <a:endParaRPr lang="en-US" dirty="0"/>
          </a:p>
        </p:txBody>
      </p:sp>
      <p:sp>
        <p:nvSpPr>
          <p:cNvPr id="3" name="Content Placeholder 2"/>
          <p:cNvSpPr>
            <a:spLocks noGrp="1"/>
          </p:cNvSpPr>
          <p:nvPr>
            <p:ph idx="1"/>
          </p:nvPr>
        </p:nvSpPr>
        <p:spPr/>
        <p:txBody>
          <a:bodyPr>
            <a:normAutofit/>
          </a:bodyPr>
          <a:lstStyle/>
          <a:p>
            <a:r>
              <a:rPr lang="en-US" sz="2400" dirty="0">
                <a:solidFill>
                  <a:srgbClr val="00B050"/>
                </a:solidFill>
              </a:rPr>
              <a:t>Major issue</a:t>
            </a:r>
            <a:r>
              <a:rPr lang="en-US" sz="2400" dirty="0"/>
              <a:t>s that has become highly relevant for large scale </a:t>
            </a:r>
            <a:r>
              <a:rPr lang="en-US" sz="2400" dirty="0">
                <a:solidFill>
                  <a:srgbClr val="FF0000"/>
                </a:solidFill>
              </a:rPr>
              <a:t>implementation of ICT in governance</a:t>
            </a:r>
          </a:p>
          <a:p>
            <a:pPr>
              <a:buNone/>
            </a:pPr>
            <a:r>
              <a:rPr lang="en-US" sz="2400" dirty="0"/>
              <a:t>	‐ Issue of Security</a:t>
            </a:r>
          </a:p>
          <a:p>
            <a:pPr>
              <a:buNone/>
            </a:pPr>
            <a:r>
              <a:rPr lang="en-US" sz="2400" dirty="0"/>
              <a:t>	‐ Privacy</a:t>
            </a:r>
          </a:p>
          <a:p>
            <a:pPr>
              <a:buNone/>
            </a:pPr>
            <a:r>
              <a:rPr lang="en-US" sz="2400" dirty="0"/>
              <a:t>	‐ Vulnerability (exposure) of public ICT infrastructure to crime</a:t>
            </a:r>
          </a:p>
          <a:p>
            <a:pPr>
              <a:buNone/>
            </a:pPr>
            <a:r>
              <a:rPr lang="en-US" sz="2400" dirty="0"/>
              <a:t>	‐ Potential to abuse, terrorism and general crime</a:t>
            </a:r>
          </a:p>
          <a:p>
            <a:pPr>
              <a:buNone/>
            </a:pPr>
            <a:r>
              <a:rPr lang="en-US" sz="2400" dirty="0"/>
              <a:t>	‐ Problems in social cohesion (unity)</a:t>
            </a:r>
          </a:p>
          <a:p>
            <a:pPr>
              <a:buNone/>
            </a:pPr>
            <a:r>
              <a:rPr lang="en-US" sz="2400" dirty="0"/>
              <a:t>	‐ Social Exclusion ‐ </a:t>
            </a:r>
            <a:r>
              <a:rPr lang="en-US" sz="2400" dirty="0">
                <a:solidFill>
                  <a:srgbClr val="00B050"/>
                </a:solidFill>
              </a:rPr>
              <a:t>digital divide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3600" b="1" dirty="0">
                <a:solidFill>
                  <a:srgbClr val="0070C0"/>
                </a:solidFill>
              </a:rPr>
              <a:t>Evolution, Scope and Content of E‐governance</a:t>
            </a:r>
            <a:endParaRPr lang="en-US" sz="3600" dirty="0"/>
          </a:p>
        </p:txBody>
      </p:sp>
      <p:sp>
        <p:nvSpPr>
          <p:cNvPr id="3" name="Content Placeholder 2"/>
          <p:cNvSpPr>
            <a:spLocks noGrp="1"/>
          </p:cNvSpPr>
          <p:nvPr>
            <p:ph idx="1"/>
          </p:nvPr>
        </p:nvSpPr>
        <p:spPr>
          <a:xfrm>
            <a:off x="457200" y="1143000"/>
            <a:ext cx="8229600" cy="4525963"/>
          </a:xfrm>
        </p:spPr>
        <p:txBody>
          <a:bodyPr>
            <a:normAutofit fontScale="70000" lnSpcReduction="20000"/>
          </a:bodyPr>
          <a:lstStyle/>
          <a:p>
            <a:r>
              <a:rPr lang="en-US" dirty="0"/>
              <a:t> The </a:t>
            </a:r>
            <a:r>
              <a:rPr lang="en-US" dirty="0">
                <a:solidFill>
                  <a:srgbClr val="7030A0"/>
                </a:solidFill>
              </a:rPr>
              <a:t>scope of ICT implementation </a:t>
            </a:r>
            <a:r>
              <a:rPr lang="en-US" dirty="0"/>
              <a:t>in government machinery results </a:t>
            </a:r>
          </a:p>
          <a:p>
            <a:pPr>
              <a:buNone/>
            </a:pPr>
            <a:r>
              <a:rPr lang="en-US" dirty="0"/>
              <a:t>       in</a:t>
            </a:r>
          </a:p>
          <a:p>
            <a:pPr>
              <a:buNone/>
            </a:pPr>
            <a:r>
              <a:rPr lang="en-US" dirty="0"/>
              <a:t>	‐ </a:t>
            </a:r>
            <a:r>
              <a:rPr lang="en-US" dirty="0">
                <a:solidFill>
                  <a:srgbClr val="FF0000"/>
                </a:solidFill>
              </a:rPr>
              <a:t>Improvement of efficiency and effectiveness of the executive  </a:t>
            </a:r>
          </a:p>
          <a:p>
            <a:pPr>
              <a:buNone/>
            </a:pPr>
            <a:r>
              <a:rPr lang="en-US" dirty="0">
                <a:solidFill>
                  <a:srgbClr val="FF0000"/>
                </a:solidFill>
              </a:rPr>
              <a:t>        function of government, including delivery of public services</a:t>
            </a:r>
          </a:p>
          <a:p>
            <a:pPr>
              <a:buNone/>
            </a:pPr>
            <a:r>
              <a:rPr lang="en-US" dirty="0"/>
              <a:t>	‐ </a:t>
            </a:r>
            <a:r>
              <a:rPr lang="en-US" dirty="0">
                <a:solidFill>
                  <a:srgbClr val="00B050"/>
                </a:solidFill>
              </a:rPr>
              <a:t>Greater transparency </a:t>
            </a:r>
            <a:r>
              <a:rPr lang="en-US" dirty="0"/>
              <a:t>of government to citizens and business </a:t>
            </a:r>
          </a:p>
          <a:p>
            <a:pPr>
              <a:buNone/>
            </a:pPr>
            <a:r>
              <a:rPr lang="en-US" dirty="0"/>
              <a:t>        permitting greater access to the information generated or collated </a:t>
            </a:r>
          </a:p>
          <a:p>
            <a:pPr>
              <a:buNone/>
            </a:pPr>
            <a:r>
              <a:rPr lang="en-US" dirty="0"/>
              <a:t>        by the government</a:t>
            </a:r>
          </a:p>
          <a:p>
            <a:pPr>
              <a:buNone/>
            </a:pPr>
            <a:r>
              <a:rPr lang="en-US" dirty="0"/>
              <a:t>	‐ Fundamental changes and </a:t>
            </a:r>
            <a:r>
              <a:rPr lang="en-US" dirty="0">
                <a:solidFill>
                  <a:srgbClr val="00B050"/>
                </a:solidFill>
              </a:rPr>
              <a:t>improvement in relations between </a:t>
            </a:r>
          </a:p>
          <a:p>
            <a:pPr>
              <a:buNone/>
            </a:pPr>
            <a:r>
              <a:rPr lang="en-US" dirty="0">
                <a:solidFill>
                  <a:srgbClr val="00B050"/>
                </a:solidFill>
              </a:rPr>
              <a:t>        citizen and the state </a:t>
            </a:r>
            <a:r>
              <a:rPr lang="en-US" dirty="0"/>
              <a:t>thereby improving the democratic process</a:t>
            </a:r>
          </a:p>
          <a:p>
            <a:pPr>
              <a:buNone/>
            </a:pPr>
            <a:r>
              <a:rPr lang="en-US" dirty="0"/>
              <a:t>	‐ Better interactions and relationships amongst different</a:t>
            </a:r>
          </a:p>
          <a:p>
            <a:pPr lvl="1">
              <a:buFont typeface="Courier New" pitchFamily="49" charset="0"/>
              <a:buChar char="o"/>
            </a:pPr>
            <a:r>
              <a:rPr lang="en-US" dirty="0"/>
              <a:t> Wings of the same government</a:t>
            </a:r>
          </a:p>
          <a:p>
            <a:pPr lvl="1">
              <a:buFont typeface="Courier New" pitchFamily="49" charset="0"/>
              <a:buChar char="o"/>
            </a:pPr>
            <a:r>
              <a:rPr lang="en-US" dirty="0"/>
              <a:t>State or local government within a country</a:t>
            </a:r>
          </a:p>
          <a:p>
            <a:pPr lvl="1">
              <a:buFont typeface="Courier New" pitchFamily="49" charset="0"/>
              <a:buChar char="o"/>
            </a:pPr>
            <a:r>
              <a:rPr lang="en-US" dirty="0"/>
              <a:t>Countries whose governance are web‐enabled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3200" b="1" dirty="0">
                <a:solidFill>
                  <a:srgbClr val="0070C0"/>
                </a:solidFill>
              </a:rPr>
              <a:t>Evolution, Scope and Content of E‐governance</a:t>
            </a:r>
            <a:endParaRPr lang="en-US" sz="3200" dirty="0"/>
          </a:p>
        </p:txBody>
      </p:sp>
      <p:sp>
        <p:nvSpPr>
          <p:cNvPr id="3" name="Content Placeholder 2"/>
          <p:cNvSpPr>
            <a:spLocks noGrp="1"/>
          </p:cNvSpPr>
          <p:nvPr>
            <p:ph idx="1"/>
          </p:nvPr>
        </p:nvSpPr>
        <p:spPr>
          <a:xfrm>
            <a:off x="457200" y="1219200"/>
            <a:ext cx="8229600" cy="4525963"/>
          </a:xfrm>
        </p:spPr>
        <p:txBody>
          <a:bodyPr>
            <a:normAutofit/>
          </a:bodyPr>
          <a:lstStyle/>
          <a:p>
            <a:pPr algn="just"/>
            <a:r>
              <a:rPr lang="en-US" sz="2400" dirty="0"/>
              <a:t>Any </a:t>
            </a:r>
            <a:r>
              <a:rPr lang="en-US" sz="2400" dirty="0">
                <a:solidFill>
                  <a:srgbClr val="FF0000"/>
                </a:solidFill>
              </a:rPr>
              <a:t>e‐governance activity/project involves </a:t>
            </a:r>
            <a:r>
              <a:rPr lang="en-US" sz="2400" dirty="0"/>
              <a:t>appropriate</a:t>
            </a:r>
          </a:p>
          <a:p>
            <a:pPr algn="just">
              <a:buNone/>
            </a:pPr>
            <a:r>
              <a:rPr lang="en-US" sz="2400" dirty="0"/>
              <a:t>	‐ Hardware and corresponding system software</a:t>
            </a:r>
          </a:p>
          <a:p>
            <a:pPr algn="just">
              <a:buNone/>
            </a:pPr>
            <a:r>
              <a:rPr lang="en-US" sz="2400" dirty="0"/>
              <a:t>	‐ Networking of the hardware identified above‐ </a:t>
            </a:r>
            <a:r>
              <a:rPr lang="en-US" sz="2400" dirty="0">
                <a:solidFill>
                  <a:srgbClr val="00B050"/>
                </a:solidFill>
              </a:rPr>
              <a:t>both the </a:t>
            </a:r>
          </a:p>
          <a:p>
            <a:pPr algn="just">
              <a:buNone/>
            </a:pPr>
            <a:r>
              <a:rPr lang="en-US" sz="2400" dirty="0">
                <a:solidFill>
                  <a:srgbClr val="00B050"/>
                </a:solidFill>
              </a:rPr>
              <a:t>        Internet and Intranet environment</a:t>
            </a:r>
          </a:p>
          <a:p>
            <a:pPr algn="just">
              <a:buNone/>
            </a:pPr>
            <a:r>
              <a:rPr lang="en-US" sz="2400" dirty="0"/>
              <a:t>	‐ Application software along with appropriate </a:t>
            </a:r>
            <a:r>
              <a:rPr lang="en-US" sz="2400" dirty="0">
                <a:solidFill>
                  <a:srgbClr val="FF0000"/>
                </a:solidFill>
              </a:rPr>
              <a:t>database </a:t>
            </a:r>
          </a:p>
          <a:p>
            <a:pPr algn="just">
              <a:buNone/>
            </a:pPr>
            <a:r>
              <a:rPr lang="en-US" sz="2400" dirty="0">
                <a:solidFill>
                  <a:srgbClr val="FF0000"/>
                </a:solidFill>
              </a:rPr>
              <a:t>        management software.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r>
              <a:rPr lang="en-US" sz="3200" b="1" dirty="0">
                <a:solidFill>
                  <a:srgbClr val="0070C0"/>
                </a:solidFill>
              </a:rPr>
              <a:t>Present Global Trends of Growth In E‐Governance</a:t>
            </a:r>
            <a:endParaRPr lang="en-US" sz="3200" dirty="0">
              <a:solidFill>
                <a:srgbClr val="0070C0"/>
              </a:solidFill>
            </a:endParaRPr>
          </a:p>
        </p:txBody>
      </p:sp>
      <p:sp>
        <p:nvSpPr>
          <p:cNvPr id="3" name="Content Placeholder 2"/>
          <p:cNvSpPr>
            <a:spLocks noGrp="1"/>
          </p:cNvSpPr>
          <p:nvPr>
            <p:ph idx="1"/>
          </p:nvPr>
        </p:nvSpPr>
        <p:spPr>
          <a:xfrm>
            <a:off x="457200" y="1219200"/>
            <a:ext cx="8229600" cy="5334000"/>
          </a:xfrm>
        </p:spPr>
        <p:txBody>
          <a:bodyPr>
            <a:normAutofit fontScale="62500" lnSpcReduction="20000"/>
          </a:bodyPr>
          <a:lstStyle/>
          <a:p>
            <a:pPr algn="just"/>
            <a:r>
              <a:rPr lang="en-US" b="1" dirty="0"/>
              <a:t>According to press reports during the end of 2002</a:t>
            </a:r>
          </a:p>
          <a:p>
            <a:pPr algn="just">
              <a:buNone/>
            </a:pPr>
            <a:r>
              <a:rPr lang="en-US" dirty="0"/>
              <a:t>	‐ Indicate a trend of global growth in e‐governance utilization</a:t>
            </a:r>
          </a:p>
          <a:p>
            <a:pPr algn="just">
              <a:buNone/>
            </a:pPr>
            <a:r>
              <a:rPr lang="en-US" dirty="0"/>
              <a:t>	‐ </a:t>
            </a:r>
            <a:r>
              <a:rPr lang="en-US" dirty="0">
                <a:solidFill>
                  <a:srgbClr val="00B050"/>
                </a:solidFill>
              </a:rPr>
              <a:t>Adults using internet world wide to access government services increase</a:t>
            </a:r>
          </a:p>
          <a:p>
            <a:pPr algn="just">
              <a:buNone/>
            </a:pPr>
            <a:r>
              <a:rPr lang="en-US" dirty="0">
                <a:solidFill>
                  <a:srgbClr val="00B050"/>
                </a:solidFill>
              </a:rPr>
              <a:t>        by 15% </a:t>
            </a:r>
            <a:r>
              <a:rPr lang="en-US" dirty="0"/>
              <a:t>according to the findings of Second Government Online Study</a:t>
            </a:r>
          </a:p>
          <a:p>
            <a:pPr algn="just">
              <a:buNone/>
            </a:pPr>
            <a:r>
              <a:rPr lang="en-US" dirty="0"/>
              <a:t>        published by Taylor and Nelson.</a:t>
            </a:r>
          </a:p>
          <a:p>
            <a:pPr algn="just">
              <a:buNone/>
            </a:pPr>
            <a:r>
              <a:rPr lang="en-US" dirty="0"/>
              <a:t>	‐ </a:t>
            </a:r>
            <a:r>
              <a:rPr lang="en-US" dirty="0">
                <a:solidFill>
                  <a:srgbClr val="00B050"/>
                </a:solidFill>
              </a:rPr>
              <a:t>3 out of 10 citizens (30%)</a:t>
            </a:r>
            <a:r>
              <a:rPr lang="en-US" dirty="0"/>
              <a:t> access government services online </a:t>
            </a:r>
          </a:p>
          <a:p>
            <a:pPr algn="just">
              <a:buNone/>
            </a:pPr>
            <a:r>
              <a:rPr lang="en-US" dirty="0"/>
              <a:t>        compared with only a quarter (26%) in 2001</a:t>
            </a:r>
          </a:p>
          <a:p>
            <a:pPr algn="just"/>
            <a:r>
              <a:rPr lang="en-US" dirty="0"/>
              <a:t> </a:t>
            </a:r>
            <a:r>
              <a:rPr lang="en-US" b="1" dirty="0"/>
              <a:t>Government online services are mostly used for</a:t>
            </a:r>
          </a:p>
          <a:p>
            <a:pPr algn="just">
              <a:buNone/>
            </a:pPr>
            <a:r>
              <a:rPr lang="en-US" dirty="0"/>
              <a:t>	‐ Search Information (24% of user)</a:t>
            </a:r>
          </a:p>
          <a:p>
            <a:pPr algn="just">
              <a:buNone/>
            </a:pPr>
            <a:r>
              <a:rPr lang="en-US" dirty="0"/>
              <a:t>	‐ Download Information (11% of user)</a:t>
            </a:r>
          </a:p>
          <a:p>
            <a:pPr algn="just">
              <a:buNone/>
            </a:pPr>
            <a:r>
              <a:rPr lang="en-US" dirty="0"/>
              <a:t>	‐ Increase in %  for searching information – </a:t>
            </a:r>
            <a:r>
              <a:rPr lang="en-US" dirty="0">
                <a:solidFill>
                  <a:srgbClr val="00B050"/>
                </a:solidFill>
              </a:rPr>
              <a:t>20% to 24% from Sep 2001 to</a:t>
            </a:r>
          </a:p>
          <a:p>
            <a:pPr algn="just">
              <a:buNone/>
            </a:pPr>
            <a:r>
              <a:rPr lang="en-US" dirty="0">
                <a:solidFill>
                  <a:srgbClr val="00B050"/>
                </a:solidFill>
              </a:rPr>
              <a:t>        Sep 2002</a:t>
            </a:r>
          </a:p>
          <a:p>
            <a:pPr algn="just"/>
            <a:r>
              <a:rPr lang="en-US" b="1" dirty="0">
                <a:solidFill>
                  <a:srgbClr val="FF0000"/>
                </a:solidFill>
              </a:rPr>
              <a:t>Globally, online government transactions increased from just 6% to 7% during 2001 and 2002 and the percentage of those providing personal details to government increased from 7% to 8%</a:t>
            </a:r>
            <a:endParaRPr lang="en-US" dirty="0">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563562"/>
          </a:xfrm>
        </p:spPr>
        <p:txBody>
          <a:bodyPr>
            <a:noAutofit/>
          </a:bodyPr>
          <a:lstStyle/>
          <a:p>
            <a:r>
              <a:rPr lang="en-US" sz="3200" b="1" dirty="0">
                <a:solidFill>
                  <a:srgbClr val="0070C0"/>
                </a:solidFill>
              </a:rPr>
              <a:t>Present Global Trends of Growth In E‐Governance</a:t>
            </a:r>
            <a:endParaRPr lang="en-US" sz="3200" dirty="0"/>
          </a:p>
        </p:txBody>
      </p:sp>
      <p:sp>
        <p:nvSpPr>
          <p:cNvPr id="3" name="Content Placeholder 2"/>
          <p:cNvSpPr>
            <a:spLocks noGrp="1"/>
          </p:cNvSpPr>
          <p:nvPr>
            <p:ph idx="1"/>
          </p:nvPr>
        </p:nvSpPr>
        <p:spPr>
          <a:xfrm>
            <a:off x="457200" y="1066800"/>
            <a:ext cx="8229600" cy="5943600"/>
          </a:xfrm>
        </p:spPr>
        <p:txBody>
          <a:bodyPr>
            <a:normAutofit fontScale="70000" lnSpcReduction="20000"/>
          </a:bodyPr>
          <a:lstStyle/>
          <a:p>
            <a:pPr algn="just"/>
            <a:r>
              <a:rPr lang="en-US" dirty="0"/>
              <a:t> </a:t>
            </a:r>
            <a:r>
              <a:rPr lang="en-US" b="1" dirty="0"/>
              <a:t>E governance usage in different countries (between 2001‐2002)</a:t>
            </a:r>
          </a:p>
          <a:p>
            <a:pPr lvl="1" algn="just">
              <a:buFont typeface="Courier New" pitchFamily="49" charset="0"/>
              <a:buChar char="o"/>
            </a:pPr>
            <a:r>
              <a:rPr lang="en-US" dirty="0">
                <a:solidFill>
                  <a:srgbClr val="7030A0"/>
                </a:solidFill>
              </a:rPr>
              <a:t>Australia</a:t>
            </a:r>
            <a:r>
              <a:rPr lang="en-US" dirty="0"/>
              <a:t> – significant </a:t>
            </a:r>
            <a:r>
              <a:rPr lang="en-US" dirty="0">
                <a:solidFill>
                  <a:srgbClr val="FF0000"/>
                </a:solidFill>
              </a:rPr>
              <a:t>increase from 31% to 46%</a:t>
            </a:r>
          </a:p>
          <a:p>
            <a:pPr lvl="1" algn="just">
              <a:buFont typeface="Courier New" pitchFamily="49" charset="0"/>
              <a:buChar char="o"/>
            </a:pPr>
            <a:r>
              <a:rPr lang="en-US" dirty="0">
                <a:solidFill>
                  <a:srgbClr val="7030A0"/>
                </a:solidFill>
              </a:rPr>
              <a:t>Turkey</a:t>
            </a:r>
            <a:r>
              <a:rPr lang="en-US" dirty="0"/>
              <a:t> – 3% to 13%</a:t>
            </a:r>
          </a:p>
          <a:p>
            <a:pPr lvl="1" algn="just">
              <a:buFont typeface="Courier New" pitchFamily="49" charset="0"/>
              <a:buChar char="o"/>
            </a:pPr>
            <a:r>
              <a:rPr lang="en-US" dirty="0">
                <a:solidFill>
                  <a:srgbClr val="7030A0"/>
                </a:solidFill>
              </a:rPr>
              <a:t>Netherlands</a:t>
            </a:r>
            <a:r>
              <a:rPr lang="en-US" dirty="0"/>
              <a:t> – 32% 41%</a:t>
            </a:r>
          </a:p>
          <a:p>
            <a:pPr lvl="1" algn="just">
              <a:buFont typeface="Courier New" pitchFamily="49" charset="0"/>
              <a:buChar char="o"/>
            </a:pPr>
            <a:r>
              <a:rPr lang="en-US" dirty="0"/>
              <a:t> </a:t>
            </a:r>
            <a:r>
              <a:rPr lang="en-US" dirty="0">
                <a:solidFill>
                  <a:srgbClr val="7030A0"/>
                </a:solidFill>
              </a:rPr>
              <a:t>US</a:t>
            </a:r>
            <a:r>
              <a:rPr lang="en-US" dirty="0"/>
              <a:t> – 34% to 43%</a:t>
            </a:r>
          </a:p>
          <a:p>
            <a:pPr lvl="1" algn="just">
              <a:buFont typeface="Courier New" pitchFamily="49" charset="0"/>
              <a:buChar char="o"/>
            </a:pPr>
            <a:r>
              <a:rPr lang="en-US" dirty="0">
                <a:solidFill>
                  <a:srgbClr val="7030A0"/>
                </a:solidFill>
              </a:rPr>
              <a:t>Japan </a:t>
            </a:r>
            <a:r>
              <a:rPr lang="en-US" dirty="0"/>
              <a:t>– decrement by 4%  from 17% to 13%</a:t>
            </a:r>
          </a:p>
          <a:p>
            <a:pPr algn="just"/>
            <a:r>
              <a:rPr lang="en-US" dirty="0"/>
              <a:t>In 2001, </a:t>
            </a:r>
            <a:r>
              <a:rPr lang="en-US" dirty="0">
                <a:solidFill>
                  <a:srgbClr val="00B050"/>
                </a:solidFill>
              </a:rPr>
              <a:t>security issue </a:t>
            </a:r>
            <a:r>
              <a:rPr lang="en-US" dirty="0"/>
              <a:t>was the main concern which improved globally in 2002.</a:t>
            </a:r>
          </a:p>
          <a:p>
            <a:pPr algn="just"/>
            <a:r>
              <a:rPr lang="en-US" dirty="0"/>
              <a:t>2001 – </a:t>
            </a:r>
            <a:r>
              <a:rPr lang="en-US" dirty="0">
                <a:solidFill>
                  <a:srgbClr val="00B050"/>
                </a:solidFill>
              </a:rPr>
              <a:t>14% felt secured with credit card and bank account numbers</a:t>
            </a:r>
          </a:p>
          <a:p>
            <a:pPr algn="just"/>
            <a:r>
              <a:rPr lang="en-US" dirty="0"/>
              <a:t>2002 – this increased to 23%</a:t>
            </a:r>
          </a:p>
          <a:p>
            <a:pPr algn="just"/>
            <a:r>
              <a:rPr lang="en-US" dirty="0"/>
              <a:t>Highest levels of </a:t>
            </a:r>
            <a:r>
              <a:rPr lang="en-US" dirty="0">
                <a:solidFill>
                  <a:srgbClr val="FF0000"/>
                </a:solidFill>
              </a:rPr>
              <a:t>safety was seen in the Scandinavian Market </a:t>
            </a:r>
            <a:r>
              <a:rPr lang="en-US" dirty="0"/>
              <a:t>(Denmark, Finland, Norway and Sweden) together with some South East Asian markets (Singapore and Hong Kong)‐ around 1/3 of users felt safe.</a:t>
            </a:r>
          </a:p>
          <a:p>
            <a:pPr algn="just"/>
            <a:r>
              <a:rPr lang="en-US" dirty="0"/>
              <a:t>In contrast, greatest safety concerns were expressed by citizens in  japan‐ </a:t>
            </a:r>
            <a:r>
              <a:rPr lang="en-US" dirty="0">
                <a:solidFill>
                  <a:srgbClr val="00B050"/>
                </a:solidFill>
              </a:rPr>
              <a:t>90% of Japanese felt accessing online services unsafe.</a:t>
            </a:r>
          </a:p>
          <a:p>
            <a:pPr algn="just"/>
            <a:r>
              <a:rPr lang="en-US" dirty="0"/>
              <a:t> </a:t>
            </a:r>
            <a:r>
              <a:rPr lang="en-US" dirty="0">
                <a:solidFill>
                  <a:srgbClr val="FF0000"/>
                </a:solidFill>
              </a:rPr>
              <a:t>Germany 82% and France 76% ‐ unsafe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solidFill>
                  <a:srgbClr val="0070C0"/>
                </a:solidFill>
              </a:rPr>
              <a:t>Other Key Findings</a:t>
            </a:r>
            <a:endParaRPr lang="en-US" dirty="0">
              <a:solidFill>
                <a:srgbClr val="0070C0"/>
              </a:solidFill>
            </a:endParaRPr>
          </a:p>
        </p:txBody>
      </p:sp>
      <p:sp>
        <p:nvSpPr>
          <p:cNvPr id="3" name="Content Placeholder 2"/>
          <p:cNvSpPr>
            <a:spLocks noGrp="1"/>
          </p:cNvSpPr>
          <p:nvPr>
            <p:ph idx="1"/>
          </p:nvPr>
        </p:nvSpPr>
        <p:spPr>
          <a:xfrm>
            <a:off x="457200" y="1371600"/>
            <a:ext cx="8229600" cy="4525963"/>
          </a:xfrm>
        </p:spPr>
        <p:txBody>
          <a:bodyPr>
            <a:normAutofit fontScale="70000" lnSpcReduction="20000"/>
          </a:bodyPr>
          <a:lstStyle/>
          <a:p>
            <a:pPr algn="just"/>
            <a:r>
              <a:rPr lang="en-US" dirty="0"/>
              <a:t>Globally, Government online use is </a:t>
            </a:r>
            <a:r>
              <a:rPr lang="en-US" dirty="0">
                <a:solidFill>
                  <a:srgbClr val="FF0000"/>
                </a:solidFill>
              </a:rPr>
              <a:t>more prevalent among men (33%) than women (26%); and among those aged under 35 compared with other age groups.</a:t>
            </a:r>
          </a:p>
          <a:p>
            <a:pPr algn="just"/>
            <a:r>
              <a:rPr lang="en-US" dirty="0"/>
              <a:t> 2001 – 2002 ‐ Subsequent rise in government online usage among</a:t>
            </a:r>
          </a:p>
          <a:p>
            <a:pPr lvl="1" algn="just">
              <a:buFont typeface="Courier New" pitchFamily="49" charset="0"/>
              <a:buChar char="o"/>
            </a:pPr>
            <a:r>
              <a:rPr lang="en-US" dirty="0"/>
              <a:t>35‐44 years old (22% to 36%)</a:t>
            </a:r>
          </a:p>
          <a:p>
            <a:pPr lvl="1" algn="just">
              <a:buFont typeface="Courier New" pitchFamily="49" charset="0"/>
              <a:buChar char="o"/>
            </a:pPr>
            <a:r>
              <a:rPr lang="en-US" dirty="0"/>
              <a:t>55‐64 years old (2% to 18%)</a:t>
            </a:r>
          </a:p>
          <a:p>
            <a:pPr lvl="1" algn="just">
              <a:buFont typeface="Courier New" pitchFamily="49" charset="0"/>
              <a:buChar char="o"/>
            </a:pPr>
            <a:r>
              <a:rPr lang="en-US" dirty="0"/>
              <a:t>65 years and above decreased ( from 7% in 2001 and 5% in 2002)</a:t>
            </a:r>
          </a:p>
          <a:p>
            <a:pPr algn="just"/>
            <a:r>
              <a:rPr lang="en-US" dirty="0"/>
              <a:t>Globally, no. of internet users making government transaction online = </a:t>
            </a:r>
            <a:r>
              <a:rPr lang="en-US" dirty="0">
                <a:solidFill>
                  <a:srgbClr val="FF0000"/>
                </a:solidFill>
              </a:rPr>
              <a:t>users making online shopping transaction</a:t>
            </a:r>
          </a:p>
          <a:p>
            <a:pPr algn="just"/>
            <a:r>
              <a:rPr lang="en-US" dirty="0"/>
              <a:t>15% of internet users have made online government transactions and in addition 15% have made an online purchase at least during that year.</a:t>
            </a:r>
          </a:p>
          <a:p>
            <a:pPr algn="just"/>
            <a:r>
              <a:rPr lang="en-US" dirty="0"/>
              <a:t> Only 16% users in Hungary access government online services while its 81% in Norway</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solidFill>
                  <a:srgbClr val="0070C0"/>
                </a:solidFill>
              </a:rPr>
              <a:t>Other Key Findings</a:t>
            </a:r>
            <a:endParaRPr lang="en-US" dirty="0"/>
          </a:p>
        </p:txBody>
      </p:sp>
      <p:sp>
        <p:nvSpPr>
          <p:cNvPr id="3" name="Content Placeholder 2"/>
          <p:cNvSpPr>
            <a:spLocks noGrp="1"/>
          </p:cNvSpPr>
          <p:nvPr>
            <p:ph idx="1"/>
          </p:nvPr>
        </p:nvSpPr>
        <p:spPr>
          <a:xfrm>
            <a:off x="381000" y="1219200"/>
            <a:ext cx="8229600" cy="4525963"/>
          </a:xfrm>
        </p:spPr>
        <p:txBody>
          <a:bodyPr>
            <a:normAutofit fontScale="92500" lnSpcReduction="20000"/>
          </a:bodyPr>
          <a:lstStyle/>
          <a:p>
            <a:pPr algn="just"/>
            <a:r>
              <a:rPr lang="en-US" sz="2400" dirty="0"/>
              <a:t>In countries like Singapore, Norway and Sweden – </a:t>
            </a:r>
            <a:r>
              <a:rPr lang="en-US" sz="2400" dirty="0">
                <a:solidFill>
                  <a:srgbClr val="FF0000"/>
                </a:solidFill>
              </a:rPr>
              <a:t>high usage of online government services as the citizens feel comfortable with this approach of dealing with the government</a:t>
            </a:r>
          </a:p>
          <a:p>
            <a:pPr algn="just"/>
            <a:r>
              <a:rPr lang="en-US" sz="2400" dirty="0"/>
              <a:t>In Britain, New Zealand and South Korea – </a:t>
            </a:r>
            <a:r>
              <a:rPr lang="en-US" sz="2400" dirty="0">
                <a:solidFill>
                  <a:srgbClr val="00B050"/>
                </a:solidFill>
              </a:rPr>
              <a:t>usage of government online services lags behind the general internet usage</a:t>
            </a:r>
          </a:p>
          <a:p>
            <a:pPr algn="just"/>
            <a:r>
              <a:rPr lang="en-US" sz="2400" b="1" dirty="0"/>
              <a:t>All the above statistics on usage of e‐governance services is time bound. </a:t>
            </a:r>
          </a:p>
          <a:p>
            <a:pPr algn="just"/>
            <a:r>
              <a:rPr lang="en-US" sz="2400" b="1" dirty="0"/>
              <a:t>Over the years, there has been a definite rise in the usage of e‐governance all over the world</a:t>
            </a:r>
          </a:p>
          <a:p>
            <a:pPr algn="just"/>
            <a:r>
              <a:rPr lang="en-US" sz="2400" dirty="0"/>
              <a:t>Today, the number of websites is estimated at one billion.</a:t>
            </a:r>
          </a:p>
          <a:p>
            <a:pPr algn="just"/>
            <a:r>
              <a:rPr lang="en-US" sz="2400" dirty="0"/>
              <a:t>According to statistics (</a:t>
            </a:r>
            <a:r>
              <a:rPr lang="en-US" sz="2400" dirty="0" err="1"/>
              <a:t>Miniwatts</a:t>
            </a:r>
            <a:r>
              <a:rPr lang="en-US" sz="2400" dirty="0"/>
              <a:t> Marketing Group, 2015) over 70 % of Europe´s population are active users of the Internet. </a:t>
            </a:r>
          </a:p>
          <a:p>
            <a:pPr algn="just"/>
            <a:r>
              <a:rPr lang="en-US" sz="2400" dirty="0"/>
              <a:t>A higher percentage is in North America (87.7%) and Australia and Oceania (72.9%)</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915400" cy="868362"/>
          </a:xfrm>
        </p:spPr>
        <p:txBody>
          <a:bodyPr>
            <a:normAutofit fontScale="90000"/>
          </a:bodyPr>
          <a:lstStyle/>
          <a:p>
            <a:r>
              <a:rPr lang="en-US" dirty="0">
                <a:solidFill>
                  <a:srgbClr val="0070C0"/>
                </a:solidFill>
              </a:rPr>
              <a:t>Online Service Delivery and Electronic Service Delivery</a:t>
            </a:r>
            <a:endParaRPr lang="en-US" dirty="0"/>
          </a:p>
        </p:txBody>
      </p:sp>
      <p:sp>
        <p:nvSpPr>
          <p:cNvPr id="3" name="Content Placeholder 2"/>
          <p:cNvSpPr>
            <a:spLocks noGrp="1"/>
          </p:cNvSpPr>
          <p:nvPr>
            <p:ph idx="1"/>
          </p:nvPr>
        </p:nvSpPr>
        <p:spPr>
          <a:xfrm>
            <a:off x="381000" y="1143000"/>
            <a:ext cx="8229600" cy="4525963"/>
          </a:xfrm>
        </p:spPr>
        <p:txBody>
          <a:bodyPr>
            <a:noAutofit/>
          </a:bodyPr>
          <a:lstStyle/>
          <a:p>
            <a:pPr algn="just"/>
            <a:r>
              <a:rPr lang="en-US" sz="1800" dirty="0">
                <a:solidFill>
                  <a:srgbClr val="0070C0"/>
                </a:solidFill>
              </a:rPr>
              <a:t>Electronic Service Delivery </a:t>
            </a:r>
            <a:r>
              <a:rPr lang="en-US" sz="1800" dirty="0"/>
              <a:t>is process of </a:t>
            </a:r>
            <a:r>
              <a:rPr lang="en-US" sz="1800" dirty="0">
                <a:solidFill>
                  <a:srgbClr val="FF0000"/>
                </a:solidFill>
              </a:rPr>
              <a:t>providing government services </a:t>
            </a:r>
            <a:r>
              <a:rPr lang="en-US" sz="1800" dirty="0"/>
              <a:t>through internet or any other electronic means.</a:t>
            </a:r>
          </a:p>
          <a:p>
            <a:pPr algn="just"/>
            <a:r>
              <a:rPr lang="en-US" sz="1800" dirty="0"/>
              <a:t>It is related to </a:t>
            </a:r>
            <a:r>
              <a:rPr lang="en-US" sz="1800" dirty="0">
                <a:solidFill>
                  <a:srgbClr val="FF0000"/>
                </a:solidFill>
              </a:rPr>
              <a:t>e-services and e-government</a:t>
            </a:r>
            <a:r>
              <a:rPr lang="en-US" sz="1800" dirty="0"/>
              <a:t>.</a:t>
            </a:r>
          </a:p>
          <a:p>
            <a:pPr algn="just"/>
            <a:r>
              <a:rPr lang="en-US" sz="1800" dirty="0"/>
              <a:t>Electronic service, short as e-service, is a general term that refers to services over the information communication technologies. </a:t>
            </a:r>
          </a:p>
          <a:p>
            <a:pPr algn="just"/>
            <a:r>
              <a:rPr lang="en-US" sz="1800" dirty="0"/>
              <a:t>The term e-service has many applications and can be found in many disciplines.</a:t>
            </a:r>
          </a:p>
          <a:p>
            <a:pPr algn="just"/>
            <a:r>
              <a:rPr lang="en-US" sz="1800" dirty="0"/>
              <a:t>The two </a:t>
            </a:r>
            <a:r>
              <a:rPr lang="en-US" sz="1800" dirty="0">
                <a:solidFill>
                  <a:srgbClr val="FF0000"/>
                </a:solidFill>
              </a:rPr>
              <a:t>dominant application areas of e-services are E-business (or e-commerce) and E-government (or non-commerce)</a:t>
            </a:r>
          </a:p>
          <a:p>
            <a:pPr lvl="1" algn="just">
              <a:buFont typeface="Wingdings" panose="05000000000000000000" pitchFamily="2" charset="2"/>
              <a:buChar char="ü"/>
            </a:pPr>
            <a:r>
              <a:rPr lang="en-US" sz="1400" dirty="0"/>
              <a:t>E-business (or e-commerce): e-services mostly provided by businesses or (NGOs) (private sector).</a:t>
            </a:r>
          </a:p>
          <a:p>
            <a:pPr lvl="1" algn="just">
              <a:buFont typeface="Wingdings" panose="05000000000000000000" pitchFamily="2" charset="2"/>
              <a:buChar char="ü"/>
            </a:pPr>
            <a:r>
              <a:rPr lang="en-US" sz="1800" dirty="0"/>
              <a:t>E-government: e-services provided by government to citizens or business (public sector is the supply side)</a:t>
            </a:r>
          </a:p>
          <a:p>
            <a:pPr algn="just"/>
            <a:r>
              <a:rPr lang="en-US" sz="1800" dirty="0"/>
              <a:t>Computer Language Company (2009) defines </a:t>
            </a:r>
            <a:r>
              <a:rPr lang="en-US" sz="1800" dirty="0">
                <a:solidFill>
                  <a:srgbClr val="FF0000"/>
                </a:solidFill>
              </a:rPr>
              <a:t>e-services as an umbrella term for services on the Internet. </a:t>
            </a:r>
          </a:p>
          <a:p>
            <a:pPr algn="just"/>
            <a:r>
              <a:rPr lang="en-US" sz="1800" dirty="0"/>
              <a:t>E-services include e-commerce transaction services for handling </a:t>
            </a:r>
            <a:r>
              <a:rPr lang="en-US" sz="1800" dirty="0">
                <a:solidFill>
                  <a:srgbClr val="FF0000"/>
                </a:solidFill>
              </a:rPr>
              <a:t>online orders</a:t>
            </a:r>
            <a:r>
              <a:rPr lang="en-US" sz="1800" dirty="0"/>
              <a:t>, </a:t>
            </a:r>
            <a:r>
              <a:rPr lang="en-US" sz="1800" dirty="0">
                <a:solidFill>
                  <a:srgbClr val="FF0000"/>
                </a:solidFill>
              </a:rPr>
              <a:t>application hosting </a:t>
            </a:r>
            <a:r>
              <a:rPr lang="en-US" sz="1800" dirty="0"/>
              <a:t>by application service providers (ASPs) </a:t>
            </a:r>
            <a:r>
              <a:rPr lang="en-US" sz="1800" dirty="0">
                <a:solidFill>
                  <a:srgbClr val="FF0000"/>
                </a:solidFill>
              </a:rPr>
              <a:t>and any processing capability</a:t>
            </a:r>
            <a:r>
              <a:rPr lang="en-US" sz="1800" dirty="0"/>
              <a:t> that is obtainable on the Web.</a:t>
            </a:r>
          </a:p>
        </p:txBody>
      </p:sp>
    </p:spTree>
    <p:extLst>
      <p:ext uri="{BB962C8B-B14F-4D97-AF65-F5344CB8AC3E}">
        <p14:creationId xmlns:p14="http://schemas.microsoft.com/office/powerpoint/2010/main" val="3623548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9067800" cy="1143000"/>
          </a:xfrm>
        </p:spPr>
        <p:txBody>
          <a:bodyPr>
            <a:normAutofit fontScale="90000"/>
          </a:bodyPr>
          <a:lstStyle/>
          <a:p>
            <a:r>
              <a:rPr lang="en-US" dirty="0">
                <a:solidFill>
                  <a:srgbClr val="0070C0"/>
                </a:solidFill>
              </a:rPr>
              <a:t>Online Service Delivery and Electronic Service Delivery</a:t>
            </a:r>
            <a:endParaRPr lang="en-US" dirty="0"/>
          </a:p>
        </p:txBody>
      </p:sp>
      <p:sp>
        <p:nvSpPr>
          <p:cNvPr id="3" name="Content Placeholder 2"/>
          <p:cNvSpPr>
            <a:spLocks noGrp="1"/>
          </p:cNvSpPr>
          <p:nvPr>
            <p:ph idx="1"/>
          </p:nvPr>
        </p:nvSpPr>
        <p:spPr>
          <a:xfrm>
            <a:off x="457200" y="1265467"/>
            <a:ext cx="8229600" cy="5456008"/>
          </a:xfrm>
        </p:spPr>
        <p:txBody>
          <a:bodyPr>
            <a:noAutofit/>
          </a:bodyPr>
          <a:lstStyle/>
          <a:p>
            <a:pPr algn="just"/>
            <a:r>
              <a:rPr lang="en-US" sz="1600" dirty="0"/>
              <a:t>Chun Hai (2007) argues that </a:t>
            </a:r>
            <a:r>
              <a:rPr lang="en-US" sz="1600" dirty="0">
                <a:solidFill>
                  <a:srgbClr val="FF0000"/>
                </a:solidFill>
              </a:rPr>
              <a:t>eservices are services on the Internet where it is possible to make a purchase and sale transaction</a:t>
            </a:r>
            <a:r>
              <a:rPr lang="en-US" sz="1600" dirty="0"/>
              <a:t>, unlike traditional websites, where only have descriptive information available and no online transaction is made possible.</a:t>
            </a:r>
          </a:p>
          <a:p>
            <a:pPr algn="just"/>
            <a:r>
              <a:rPr lang="en-US" sz="1600" dirty="0"/>
              <a:t>Similar </a:t>
            </a:r>
            <a:r>
              <a:rPr lang="en-US" sz="1600" dirty="0" err="1"/>
              <a:t>Zeithaml</a:t>
            </a:r>
            <a:r>
              <a:rPr lang="en-US" sz="1600" dirty="0"/>
              <a:t> and </a:t>
            </a:r>
            <a:r>
              <a:rPr lang="en-US" sz="1600" dirty="0" err="1"/>
              <a:t>Bitner</a:t>
            </a:r>
            <a:r>
              <a:rPr lang="en-US" sz="1600" dirty="0"/>
              <a:t> (2003) defined e-service as </a:t>
            </a:r>
            <a:r>
              <a:rPr lang="en-US" sz="1600" dirty="0">
                <a:solidFill>
                  <a:srgbClr val="FF0000"/>
                </a:solidFill>
              </a:rPr>
              <a:t>web services delivered through the Internet. </a:t>
            </a:r>
          </a:p>
          <a:p>
            <a:pPr algn="just"/>
            <a:r>
              <a:rPr lang="en-US" sz="1600" dirty="0"/>
              <a:t>Wilson (1998) mentioned that ‘</a:t>
            </a:r>
            <a:r>
              <a:rPr lang="en-US" sz="1600" dirty="0">
                <a:solidFill>
                  <a:srgbClr val="FF0000"/>
                </a:solidFill>
              </a:rPr>
              <a:t>an e-service is an activity or series of activities that takes place during the interaction between a provider and a customer </a:t>
            </a:r>
            <a:r>
              <a:rPr lang="en-US" sz="1600" dirty="0"/>
              <a:t>through an electronic channel’</a:t>
            </a:r>
          </a:p>
          <a:p>
            <a:pPr algn="just"/>
            <a:r>
              <a:rPr lang="en-US" sz="1600" dirty="0"/>
              <a:t>Methodical instructions (Finance Ministry of Slovak Republic, 2006) defines electronic services as "</a:t>
            </a:r>
            <a:r>
              <a:rPr lang="en-US" sz="1600" dirty="0">
                <a:solidFill>
                  <a:srgbClr val="FF0000"/>
                </a:solidFill>
              </a:rPr>
              <a:t>a service provided electronically by means of information and communication tools". </a:t>
            </a:r>
          </a:p>
          <a:p>
            <a:pPr algn="just"/>
            <a:r>
              <a:rPr lang="en-US" sz="1600" dirty="0"/>
              <a:t>Under the Law (Ministry of Communication of Slovak Republic, 2006) </a:t>
            </a:r>
            <a:r>
              <a:rPr lang="en-US" sz="1600" dirty="0">
                <a:solidFill>
                  <a:srgbClr val="FF0000"/>
                </a:solidFill>
              </a:rPr>
              <a:t>are public online services defined as</a:t>
            </a:r>
            <a:r>
              <a:rPr lang="en-US" sz="1600" dirty="0"/>
              <a:t>: electronic communication with obligated persons in dealing with the administration, notification, access to information and to the provision, or public participation in the administration of public affairs.</a:t>
            </a:r>
          </a:p>
          <a:p>
            <a:pPr algn="just"/>
            <a:r>
              <a:rPr lang="en-US" sz="1600" dirty="0"/>
              <a:t>Similarly, e-services defined by the European judiciary, stating that e-service is a service or resource on the Internet, which was set up to improve communication between citizens and businesses on the one hand and the European Institutions on the other side (European Justice, 2015).</a:t>
            </a:r>
          </a:p>
        </p:txBody>
      </p:sp>
    </p:spTree>
    <p:extLst>
      <p:ext uri="{BB962C8B-B14F-4D97-AF65-F5344CB8AC3E}">
        <p14:creationId xmlns:p14="http://schemas.microsoft.com/office/powerpoint/2010/main" val="5725022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839200" cy="914400"/>
          </a:xfrm>
        </p:spPr>
        <p:txBody>
          <a:bodyPr>
            <a:normAutofit fontScale="90000"/>
          </a:bodyPr>
          <a:lstStyle/>
          <a:p>
            <a:r>
              <a:rPr lang="en-US" dirty="0">
                <a:solidFill>
                  <a:srgbClr val="0070C0"/>
                </a:solidFill>
              </a:rPr>
              <a:t>Online Service Delivery and Electronic Service Delivery</a:t>
            </a:r>
            <a:endParaRPr lang="en-US" dirty="0"/>
          </a:p>
        </p:txBody>
      </p:sp>
      <p:sp>
        <p:nvSpPr>
          <p:cNvPr id="3" name="Content Placeholder 2"/>
          <p:cNvSpPr>
            <a:spLocks noGrp="1"/>
          </p:cNvSpPr>
          <p:nvPr>
            <p:ph idx="1"/>
          </p:nvPr>
        </p:nvSpPr>
        <p:spPr>
          <a:xfrm>
            <a:off x="467032" y="1371600"/>
            <a:ext cx="8229600" cy="4525963"/>
          </a:xfrm>
        </p:spPr>
        <p:txBody>
          <a:bodyPr>
            <a:normAutofit fontScale="62500" lnSpcReduction="20000"/>
          </a:bodyPr>
          <a:lstStyle/>
          <a:p>
            <a:pPr algn="just"/>
            <a:r>
              <a:rPr lang="en-US" dirty="0"/>
              <a:t>Electronically supplied services includes for example </a:t>
            </a:r>
            <a:r>
              <a:rPr lang="en-US" dirty="0">
                <a:solidFill>
                  <a:srgbClr val="FF0000"/>
                </a:solidFill>
              </a:rPr>
              <a:t>website supply, web-hosting; telecommunications services; goods</a:t>
            </a:r>
            <a:r>
              <a:rPr lang="en-US" dirty="0"/>
              <a:t>, where the order and processing is done electronically etc.</a:t>
            </a:r>
          </a:p>
          <a:p>
            <a:pPr algn="just"/>
            <a:r>
              <a:rPr lang="en-US" dirty="0"/>
              <a:t>The available definitions are built on one main idea  the internet or other electronic network.</a:t>
            </a:r>
          </a:p>
          <a:p>
            <a:pPr algn="just"/>
            <a:r>
              <a:rPr lang="en-US" dirty="0"/>
              <a:t>Various laws and experts define that e-services may vary, but all agree on the role of technology in transferring services. Therefore, eservices </a:t>
            </a:r>
            <a:r>
              <a:rPr lang="en-US" dirty="0">
                <a:solidFill>
                  <a:srgbClr val="FF0000"/>
                </a:solidFill>
              </a:rPr>
              <a:t>extend beyond the Internet. </a:t>
            </a:r>
          </a:p>
          <a:p>
            <a:pPr algn="just"/>
            <a:r>
              <a:rPr lang="en-US" dirty="0"/>
              <a:t>The e-services "</a:t>
            </a:r>
            <a:r>
              <a:rPr lang="en-US" dirty="0">
                <a:solidFill>
                  <a:srgbClr val="FF0000"/>
                </a:solidFill>
              </a:rPr>
              <a:t>off-line" can include telephone, fax, personal digital assistant, text messages, picture messages, Bluetooth, tracking system, radio-frequency identifiers, biometrics identifiers, electronic ID cards, e-mail,  chat, and many others </a:t>
            </a:r>
            <a:r>
              <a:rPr lang="en-US" dirty="0"/>
              <a:t>(Wikipedia Foundation, 2015)</a:t>
            </a:r>
          </a:p>
          <a:p>
            <a:pPr algn="just"/>
            <a:r>
              <a:rPr lang="en-US" dirty="0"/>
              <a:t>E-Service constitutes the online services </a:t>
            </a:r>
            <a:r>
              <a:rPr lang="en-US" dirty="0">
                <a:solidFill>
                  <a:srgbClr val="00B050"/>
                </a:solidFill>
              </a:rPr>
              <a:t>available on the Internet, whereby a valid transaction of buying and selling (procurement) is possible, as opposed to the traditional websites, whereby only descriptive information are available, and no online transaction is made possible</a:t>
            </a:r>
            <a:r>
              <a:rPr lang="en-US" dirty="0"/>
              <a:t>." (</a:t>
            </a:r>
            <a:r>
              <a:rPr lang="en-US" dirty="0" err="1"/>
              <a:t>Jeong</a:t>
            </a:r>
            <a:r>
              <a:rPr lang="en-US" dirty="0"/>
              <a:t>, 2007)</a:t>
            </a:r>
          </a:p>
        </p:txBody>
      </p:sp>
    </p:spTree>
    <p:extLst>
      <p:ext uri="{BB962C8B-B14F-4D97-AF65-F5344CB8AC3E}">
        <p14:creationId xmlns:p14="http://schemas.microsoft.com/office/powerpoint/2010/main" val="23665187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70C0"/>
                </a:solidFill>
              </a:rPr>
              <a:t>Online Service Delivery and Electronic Service Delivery</a:t>
            </a:r>
            <a:endParaRPr lang="en-US" dirty="0"/>
          </a:p>
        </p:txBody>
      </p:sp>
      <p:sp>
        <p:nvSpPr>
          <p:cNvPr id="7" name="Content Placeholder 6"/>
          <p:cNvSpPr>
            <a:spLocks noGrp="1"/>
          </p:cNvSpPr>
          <p:nvPr>
            <p:ph idx="1"/>
          </p:nvPr>
        </p:nvSpPr>
        <p:spPr/>
        <p:txBody>
          <a:bodyPr>
            <a:normAutofit fontScale="77500" lnSpcReduction="20000"/>
          </a:bodyPr>
          <a:lstStyle/>
          <a:p>
            <a:pPr algn="just"/>
            <a:r>
              <a:rPr lang="en-US" dirty="0"/>
              <a:t>In other words, e-governance may be defined as the delivery of government services and information to the public by using electronic means. </a:t>
            </a:r>
          </a:p>
          <a:p>
            <a:pPr algn="just"/>
            <a:r>
              <a:rPr lang="en-US" dirty="0"/>
              <a:t>These technologies </a:t>
            </a:r>
            <a:r>
              <a:rPr lang="en-US" dirty="0">
                <a:solidFill>
                  <a:srgbClr val="00B050"/>
                </a:solidFill>
              </a:rPr>
              <a:t>enable the government to transform its relations with its other wings, citizens, businesses</a:t>
            </a:r>
            <a:r>
              <a:rPr lang="en-US" dirty="0"/>
              <a:t>. </a:t>
            </a:r>
          </a:p>
          <a:p>
            <a:pPr algn="just"/>
            <a:r>
              <a:rPr lang="en-US" dirty="0"/>
              <a:t>Such an exercise leads to </a:t>
            </a:r>
            <a:r>
              <a:rPr lang="en-US" dirty="0">
                <a:solidFill>
                  <a:srgbClr val="00B050"/>
                </a:solidFill>
              </a:rPr>
              <a:t>better delivery of government services to citizens, improved interactions with business and industry, citizen empowerment </a:t>
            </a:r>
            <a:r>
              <a:rPr lang="en-US" dirty="0"/>
              <a:t>through access to information and a more efficient government management. </a:t>
            </a:r>
          </a:p>
          <a:p>
            <a:pPr algn="just"/>
            <a:r>
              <a:rPr lang="en-US" dirty="0"/>
              <a:t>The resulting benefits can be </a:t>
            </a:r>
            <a:r>
              <a:rPr lang="en-US" dirty="0">
                <a:solidFill>
                  <a:srgbClr val="00B050"/>
                </a:solidFill>
              </a:rPr>
              <a:t>lesser corruption, increased transparency, greater convenience, revenue growth, and/or cost reductions</a:t>
            </a:r>
          </a:p>
          <a:p>
            <a:endParaRPr lang="en-US" dirty="0"/>
          </a:p>
        </p:txBody>
      </p:sp>
    </p:spTree>
    <p:extLst>
      <p:ext uri="{BB962C8B-B14F-4D97-AF65-F5344CB8AC3E}">
        <p14:creationId xmlns:p14="http://schemas.microsoft.com/office/powerpoint/2010/main" val="17956607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US" sz="7200" dirty="0"/>
              <a:t>    </a:t>
            </a:r>
          </a:p>
          <a:p>
            <a:pPr>
              <a:buNone/>
            </a:pPr>
            <a:r>
              <a:rPr lang="en-US" sz="7200"/>
              <a:t>         </a:t>
            </a:r>
            <a:r>
              <a:rPr lang="en-US" sz="7200">
                <a:solidFill>
                  <a:srgbClr val="FF0000"/>
                </a:solidFill>
              </a:rPr>
              <a:t>THANK YOU</a:t>
            </a:r>
            <a:endParaRPr lang="en-US" sz="7200"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5222640</TotalTime>
  <Words>5226</Words>
  <Application>Microsoft Office PowerPoint</Application>
  <PresentationFormat>On-screen Show (4:3)</PresentationFormat>
  <Paragraphs>499</Paragraphs>
  <Slides>57</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Arial</vt:lpstr>
      <vt:lpstr>Calibri</vt:lpstr>
      <vt:lpstr>Courier New</vt:lpstr>
      <vt:lpstr>StoneSerif</vt:lpstr>
      <vt:lpstr>StoneSerif-Semibold</vt:lpstr>
      <vt:lpstr>Symbol</vt:lpstr>
      <vt:lpstr>Wingdings</vt:lpstr>
      <vt:lpstr>Office Theme</vt:lpstr>
      <vt:lpstr>Unit-1 Introduction to E-Government and E-Governance     </vt:lpstr>
      <vt:lpstr>What is E-Government?</vt:lpstr>
      <vt:lpstr>Advantages of E-Government</vt:lpstr>
      <vt:lpstr>What is E-Governance?</vt:lpstr>
      <vt:lpstr>E-Governance</vt:lpstr>
      <vt:lpstr>E-Governance</vt:lpstr>
      <vt:lpstr>E‐Government</vt:lpstr>
      <vt:lpstr>Non‐Internet e‐Government</vt:lpstr>
      <vt:lpstr>Difference between e-governance and e‐government</vt:lpstr>
      <vt:lpstr>Difference between e-governance and e‐government</vt:lpstr>
      <vt:lpstr>Difference between e­-governance and e‐government</vt:lpstr>
      <vt:lpstr>Difference between e-governance and e‐government</vt:lpstr>
      <vt:lpstr> WHY e‐GOVERNANCE? </vt:lpstr>
      <vt:lpstr> WHY e‐GOVERNANCE? </vt:lpstr>
      <vt:lpstr>WHY e‐GOVERNANCE?</vt:lpstr>
      <vt:lpstr>WHY e‐GOVERNANCE?</vt:lpstr>
      <vt:lpstr>Need for E-Governance </vt:lpstr>
      <vt:lpstr>Need for E-Governance </vt:lpstr>
      <vt:lpstr>Needs of E-governance </vt:lpstr>
      <vt:lpstr>Needs of E-governance </vt:lpstr>
      <vt:lpstr>Needs of E-governance </vt:lpstr>
      <vt:lpstr> Advantages/Benefits of E‐Governance</vt:lpstr>
      <vt:lpstr>Advantages/Benefits  of E‐Governance</vt:lpstr>
      <vt:lpstr>Advantages/Benefits  of E‐Governance</vt:lpstr>
      <vt:lpstr> E-Government as Information System </vt:lpstr>
      <vt:lpstr>E-Government as Information System</vt:lpstr>
      <vt:lpstr>IT Vs Information System</vt:lpstr>
      <vt:lpstr>E-Government as Information System</vt:lpstr>
      <vt:lpstr>E-Government as Information System</vt:lpstr>
      <vt:lpstr>E-Government as Information System</vt:lpstr>
      <vt:lpstr>E-Government as Information System</vt:lpstr>
      <vt:lpstr>E-Government as Information System</vt:lpstr>
      <vt:lpstr>E-Government as Information System</vt:lpstr>
      <vt:lpstr>E-Government Life Cycle</vt:lpstr>
      <vt:lpstr>E-Government Life Cycle</vt:lpstr>
      <vt:lpstr>E-Government Life Cycle</vt:lpstr>
      <vt:lpstr>E-Government Life Cycle</vt:lpstr>
      <vt:lpstr>E-Government Life Cycle</vt:lpstr>
      <vt:lpstr>E-Government Life Cycle</vt:lpstr>
      <vt:lpstr> e‐Governance  Challenges </vt:lpstr>
      <vt:lpstr>e‐Governance  Challenges</vt:lpstr>
      <vt:lpstr>e‐Governance  Challenges</vt:lpstr>
      <vt:lpstr>Evolution, Scope and Content of E‐governance</vt:lpstr>
      <vt:lpstr>Evolution, Scope and Content of E‐governance</vt:lpstr>
      <vt:lpstr>Evolution, Scope and Content of E‐governance</vt:lpstr>
      <vt:lpstr>Evolution, Scope and Content of E‐governance</vt:lpstr>
      <vt:lpstr>Evolution, Scope and Content of E‐governance</vt:lpstr>
      <vt:lpstr>Evolution, Scope and Content of E‐governance</vt:lpstr>
      <vt:lpstr>Present Global Trends of Growth In E‐Governance</vt:lpstr>
      <vt:lpstr>Present Global Trends of Growth In E‐Governance</vt:lpstr>
      <vt:lpstr>Other Key Findings</vt:lpstr>
      <vt:lpstr>Other Key Findings</vt:lpstr>
      <vt:lpstr>Online Service Delivery and Electronic Service Delivery</vt:lpstr>
      <vt:lpstr>Online Service Delivery and Electronic Service Delivery</vt:lpstr>
      <vt:lpstr>Online Service Delivery and Electronic Service Delivery</vt:lpstr>
      <vt:lpstr>Online Service Delivery and Electronic Service Delivery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Orientation on Radar Communication</dc:title>
  <dc:creator>SACHIT</dc:creator>
  <cp:lastModifiedBy>acer</cp:lastModifiedBy>
  <cp:revision>1807</cp:revision>
  <dcterms:created xsi:type="dcterms:W3CDTF">2006-08-16T00:00:00Z</dcterms:created>
  <dcterms:modified xsi:type="dcterms:W3CDTF">2025-06-22T16:22:35Z</dcterms:modified>
</cp:coreProperties>
</file>