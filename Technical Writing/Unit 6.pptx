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media/image5.jpg" ContentType="image/jpeg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822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5660" y="-8626"/>
            <a:ext cx="12191695" cy="685800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2A40"/>
          </a:solidFill>
          <a:ln/>
        </p:spPr>
      </p:sp>
      <p:pic>
        <p:nvPicPr>
          <p:cNvPr id="4" name="Image 0" descr="/home/claude/build/img_titl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5120640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F2A40">
              <a:alpha val="7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9659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WRITING · UNIT PRESENTATION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49240" y="233172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394960" y="342900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organizing, designing, and writing content that works for online readers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394960" y="4251960"/>
            <a:ext cx="2011680" cy="0"/>
          </a:xfrm>
          <a:prstGeom prst="line">
            <a:avLst/>
          </a:prstGeom>
          <a:noFill/>
          <a:ln w="25400">
            <a:solidFill>
              <a:srgbClr val="2E9E8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94960" y="4572000"/>
            <a:ext cx="6217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kern="0" spc="100" dirty="0">
                <a:solidFill>
                  <a:srgbClr val="89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
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Manila Aryal
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100" kern="0" spc="100" dirty="0">
                <a:solidFill>
                  <a:srgbClr val="89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Alisha Manandhar   ·   Ashlesha Shrestha   ·   Diya Gartaula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10731260" y="6271404"/>
            <a:ext cx="1173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843404" y="6456070"/>
            <a:ext cx="11731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fld id="{D87B74B7-856D-4DC8-85DB-BAF12A761461}" type="datetime1">
              <a:rPr lang="en-US" smtClean="0">
                <a:solidFill>
                  <a:schemeClr val="bg1"/>
                </a:solidFill>
              </a:rPr>
              <a:t>8/12/2026</a:t>
            </a:fld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70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2E9E8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945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880360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794760"/>
            <a:ext cx="22677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web writing means and why it differs from print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9856" y="196596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/>
        </p:spPr>
      </p:sp>
      <p:sp>
        <p:nvSpPr>
          <p:cNvPr id="10" name="Text 8"/>
          <p:cNvSpPr/>
          <p:nvPr/>
        </p:nvSpPr>
        <p:spPr>
          <a:xfrm>
            <a:off x="3621024" y="21945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621024" y="2880360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 Web Page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21024" y="3794760"/>
            <a:ext cx="22677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structuring, and designing content for the screen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91072" y="196596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945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92240" y="2880360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92240" y="3794760"/>
            <a:ext cx="22677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audience, structure, and scannable writing techniques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62288" y="1965960"/>
            <a:ext cx="2670048" cy="3931920"/>
          </a:xfrm>
          <a:prstGeom prst="roundRect">
            <a:avLst>
              <a:gd name="adj" fmla="val 2055"/>
            </a:avLst>
          </a:prstGeom>
          <a:solidFill>
            <a:srgbClr val="F4F7F9"/>
          </a:solidFill>
          <a:ln/>
        </p:spPr>
      </p:sp>
      <p:sp>
        <p:nvSpPr>
          <p:cNvPr id="18" name="Text 16"/>
          <p:cNvSpPr/>
          <p:nvPr/>
        </p:nvSpPr>
        <p:spPr>
          <a:xfrm>
            <a:off x="9363456" y="2194560"/>
            <a:ext cx="23042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363456" y="2880360"/>
            <a:ext cx="22677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63456" y="3794760"/>
            <a:ext cx="226771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pages, blogs, FAQs, wikis, and discussion forums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188366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18836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Writing for the Web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6309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 means creating content for online readers.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readers usually scan content instead of reading every word.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should be clear, concise, and easy to understand.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provide information quickly and effectively.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web writing focuses on the audience, purpose, and readability.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2" name="Image 0" descr="/home/claude/build/img_int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on Web Pages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creating a web page, a writer should: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audience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will read the page.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purpose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the page should achieve.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topic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clear and relevant subject.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information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useful and accurate content.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content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ideas before starting to write.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1408176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14081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Web Page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writer should consider: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does the reader need?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message?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information be organized?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headings and sections are needed?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images, links, or other elements can support the content?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page be made simple and easy to navigate?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989320"/>
            <a:ext cx="10607040" cy="566928"/>
          </a:xfrm>
          <a:prstGeom prst="roundRect">
            <a:avLst>
              <a:gd name="adj" fmla="val 8065"/>
            </a:avLst>
          </a:prstGeom>
          <a:solidFill>
            <a:srgbClr val="E7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989320"/>
            <a:ext cx="10149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250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right information easy for the right audience to find.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953512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953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Web Pages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web pages means arranging website content in a clear and logical structure so users can easily find information.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63093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List Content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everything that needs to be included.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Group Information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related items into categories or topics.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Set Priorities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content according to its importance to users.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Create a Structure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pages and sections will be connected.</a:t>
            </a:r>
            <a:endParaRPr lang="en-US" sz="1500" dirty="0"/>
          </a:p>
          <a:p>
            <a:pPr marL="228600" indent="-228600">
              <a:lnSpc>
                <a:spcPts val="2100"/>
              </a:lnSpc>
              <a:buSzPct val="100000"/>
              <a:buChar char="▪"/>
            </a:pPr>
            <a:r>
              <a:rPr lang="en-US" sz="15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Use Hyperlinks – </a:t>
            </a: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pages, sections, or external sites for easy navigation.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3" name="Image 0" descr="/home/claude/build/img_organiz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ORGANIZING A WEB PAGE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 designing is the process of planning, creating, and arranging the content and visual elements of a webpage to make it attractive, functional, user-friendly, and easy to navigate.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designin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top section or virtual storefront of a webpage.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contains the logo, title, navigation bar, and menu.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users quickly identify and navigate the website.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commonly use sizes H1–H6.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02280"/>
            <a:ext cx="5138928" cy="298704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Layout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07608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arrangement of text, images, menus, header, sidebar, and footer.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content logically for tidiness and easy navigation.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structure and placement of different elements.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elements (title, purpose, nav) should be placed near the top.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38367" y="3374136"/>
            <a:ext cx="5138928" cy="2615184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07"/>
          <a:stretch/>
        </p:blipFill>
        <p:spPr>
          <a:xfrm>
            <a:off x="681685" y="3117814"/>
            <a:ext cx="4758995" cy="275597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2058" t="2839" r="2567" b="1842"/>
          <a:stretch/>
        </p:blipFill>
        <p:spPr>
          <a:xfrm>
            <a:off x="6749929" y="3435124"/>
            <a:ext cx="3915803" cy="2493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Length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number of characters or words per line.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lines improve readability and reduce eye movement.</a:t>
            </a:r>
            <a:endParaRPr lang="en-US" sz="1400" dirty="0"/>
          </a:p>
          <a:p>
            <a:pPr marL="177800" indent="-177800">
              <a:lnSpc>
                <a:spcPts val="1600"/>
              </a:lnSpc>
              <a:buSzPct val="100000"/>
              <a:buChar char="▪"/>
            </a:pPr>
            <a:r>
              <a:rPr lang="en-US" sz="14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– </a:t>
            </a: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 characters or 10–12 words per line.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279392"/>
            <a:ext cx="2776118" cy="0"/>
          </a:xfrm>
          <a:prstGeom prst="line">
            <a:avLst/>
          </a:prstGeom>
          <a:noFill/>
          <a:ln w="15875">
            <a:solidFill>
              <a:srgbClr val="2E9E8F"/>
            </a:solidFill>
            <a:prstDash val="solid"/>
            <a:headEnd type="triangl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007608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007608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images, icons, logos, charts, and illustrations.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up text and attracts attention.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relevant and optimized for faster loading.</a:t>
            </a:r>
            <a:endParaRPr lang="en-US" sz="1400" dirty="0"/>
          </a:p>
          <a:p>
            <a:pPr marL="177800" indent="-177800">
              <a:lnSpc>
                <a:spcPts val="1600"/>
              </a:lnSpc>
              <a:buSzPct val="100000"/>
              <a:buChar char="▪"/>
            </a:pPr>
            <a:r>
              <a:rPr lang="en-US" sz="1400" b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formats – </a:t>
            </a: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GIF, and PNG.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07608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4416552"/>
            <a:ext cx="1420368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6888" y="4416552"/>
            <a:ext cx="1420368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0136" y="4416552"/>
            <a:ext cx="1420368" cy="1316736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39" y="4370833"/>
            <a:ext cx="5016142" cy="1495280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040" y="4593537"/>
            <a:ext cx="1347216" cy="893575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687" y="4646235"/>
            <a:ext cx="1181265" cy="85737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960" y="4522393"/>
            <a:ext cx="1228896" cy="11050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 smtClean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animation, audio, video, and interactive elements.</a:t>
            </a:r>
            <a:endParaRPr lang="en-US" sz="1400" dirty="0" smtClean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 smtClean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content more engaging and informative.</a:t>
            </a:r>
            <a:endParaRPr lang="en-US" sz="1400" dirty="0" smtClean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 smtClean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used carefully to avoid distraction and slow loading.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4653564"/>
            <a:ext cx="842711" cy="842711"/>
          </a:xfrm>
          <a:prstGeom prst="ellipse">
            <a:avLst/>
          </a:prstGeom>
          <a:solidFill>
            <a:srgbClr val="163B5C"/>
          </a:solidFill>
          <a:ln/>
        </p:spPr>
      </p:sp>
      <p:sp>
        <p:nvSpPr>
          <p:cNvPr id="13" name="Shape 11"/>
          <p:cNvSpPr/>
          <p:nvPr/>
        </p:nvSpPr>
        <p:spPr>
          <a:xfrm rot="5400000">
            <a:off x="1120689" y="4864242"/>
            <a:ext cx="289682" cy="42135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923898" y="4976165"/>
            <a:ext cx="446227" cy="197510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5" name="Shape 13"/>
          <p:cNvSpPr/>
          <p:nvPr/>
        </p:nvSpPr>
        <p:spPr>
          <a:xfrm>
            <a:off x="2424989" y="4877410"/>
            <a:ext cx="446227" cy="395021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6" name="Shape 14"/>
          <p:cNvSpPr/>
          <p:nvPr/>
        </p:nvSpPr>
        <p:spPr>
          <a:xfrm>
            <a:off x="2926080" y="4778654"/>
            <a:ext cx="446227" cy="592531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7171" y="4910328"/>
            <a:ext cx="446227" cy="329184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8" name="Shape 16"/>
          <p:cNvSpPr/>
          <p:nvPr/>
        </p:nvSpPr>
        <p:spPr>
          <a:xfrm>
            <a:off x="3928262" y="4828032"/>
            <a:ext cx="446227" cy="493776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19" name="Shape 17"/>
          <p:cNvSpPr/>
          <p:nvPr/>
        </p:nvSpPr>
        <p:spPr>
          <a:xfrm>
            <a:off x="4429354" y="4943246"/>
            <a:ext cx="446227" cy="263347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0445" y="4860950"/>
            <a:ext cx="446227" cy="427939"/>
          </a:xfrm>
          <a:prstGeom prst="rect">
            <a:avLst/>
          </a:prstGeom>
          <a:solidFill>
            <a:srgbClr val="2E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6007608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007608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text and graphics clearly.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information easier to compare and understand.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tables can be used to create the basic structure of a webpage.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07608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416552"/>
            <a:ext cx="4626864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63B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5928" y="4416552"/>
            <a:ext cx="0" cy="1316736"/>
          </a:xfrm>
          <a:prstGeom prst="line">
            <a:avLst/>
          </a:prstGeom>
          <a:noFill/>
          <a:ln w="12700">
            <a:solidFill>
              <a:srgbClr val="C7D3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8216" y="4416552"/>
            <a:ext cx="0" cy="1316736"/>
          </a:xfrm>
          <a:prstGeom prst="line">
            <a:avLst/>
          </a:prstGeom>
          <a:noFill/>
          <a:ln w="12700">
            <a:solidFill>
              <a:srgbClr val="C7D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4855464"/>
            <a:ext cx="4626864" cy="0"/>
          </a:xfrm>
          <a:prstGeom prst="line">
            <a:avLst/>
          </a:prstGeom>
          <a:noFill/>
          <a:ln w="12700">
            <a:solidFill>
              <a:srgbClr val="C7D3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5294376"/>
            <a:ext cx="4626864" cy="0"/>
          </a:xfrm>
          <a:prstGeom prst="line">
            <a:avLst/>
          </a:prstGeom>
          <a:noFill/>
          <a:ln w="12700">
            <a:solidFill>
              <a:srgbClr val="C7D3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4416552"/>
            <a:ext cx="4626864" cy="438912"/>
          </a:xfrm>
          <a:prstGeom prst="rect">
            <a:avLst/>
          </a:prstGeom>
          <a:solidFill>
            <a:srgbClr val="E7F3F1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around text, images, tables, or sections.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and organize content.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be used properly to avoid a cluttered appearance.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4416552"/>
            <a:ext cx="203582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31750">
            <a:solidFill>
              <a:srgbClr val="16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5716" y="4416552"/>
            <a:ext cx="2035820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2E9E8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007608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07608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style, size, and appearance of text.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simple fonts improve readability and professionalism.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excessive CAPITAL LETTERS and bold text, as they can appear like shouting.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07608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325112"/>
            <a:ext cx="2544775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808415" y="4745736"/>
            <a:ext cx="2082089" cy="7900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2E9E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webpages attractive and readable.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colors based on the purpose and target audience.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proper color combinations and contrast between text and background.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16552"/>
            <a:ext cx="852221" cy="1316736"/>
          </a:xfrm>
          <a:prstGeom prst="roundRect">
            <a:avLst>
              <a:gd name="adj" fmla="val 4292"/>
            </a:avLst>
          </a:prstGeom>
          <a:solidFill>
            <a:srgbClr val="16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1766621" y="4416552"/>
            <a:ext cx="852221" cy="1316736"/>
          </a:xfrm>
          <a:prstGeom prst="roundRect">
            <a:avLst>
              <a:gd name="adj" fmla="val 4292"/>
            </a:avLst>
          </a:prstGeom>
          <a:solidFill>
            <a:srgbClr val="2E9E8F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1994" y="4416552"/>
            <a:ext cx="852221" cy="1316736"/>
          </a:xfrm>
          <a:prstGeom prst="roundRect">
            <a:avLst>
              <a:gd name="adj" fmla="val 4292"/>
            </a:avLst>
          </a:prstGeom>
          <a:solidFill>
            <a:srgbClr val="E8A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17366" y="4416552"/>
            <a:ext cx="852221" cy="1316736"/>
          </a:xfrm>
          <a:prstGeom prst="roundRect">
            <a:avLst>
              <a:gd name="adj" fmla="val 4292"/>
            </a:avLst>
          </a:prstGeom>
          <a:solidFill>
            <a:srgbClr val="C05A2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42739" y="4416552"/>
            <a:ext cx="852221" cy="1316736"/>
          </a:xfrm>
          <a:prstGeom prst="roundRect">
            <a:avLst>
              <a:gd name="adj" fmla="val 4292"/>
            </a:avLst>
          </a:prstGeom>
          <a:solidFill>
            <a:srgbClr val="6C7A89"/>
          </a:solidFill>
          <a:ln/>
        </p:spPr>
      </p:sp>
      <p:sp>
        <p:nvSpPr>
          <p:cNvPr id="17" name="Text 15"/>
          <p:cNvSpPr/>
          <p:nvPr/>
        </p:nvSpPr>
        <p:spPr>
          <a:xfrm>
            <a:off x="6007608" y="932688"/>
            <a:ext cx="51389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007608" y="1691640"/>
            <a:ext cx="51389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designing webpages that can be used by everyone, including people with disabilities.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readable fonts and good color contrast.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alternative text (alt text) for images.</a:t>
            </a:r>
            <a:endParaRPr lang="en-US" sz="1400" dirty="0"/>
          </a:p>
          <a:p>
            <a:pPr marL="177800" indent="-1778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captions for audio and video content.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07608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18704" y="4416552"/>
            <a:ext cx="1316736" cy="1316736"/>
          </a:xfrm>
          <a:prstGeom prst="ellipse">
            <a:avLst/>
          </a:prstGeom>
          <a:ln w="38100">
            <a:solidFill>
              <a:srgbClr val="2E9E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71733" y="4666732"/>
            <a:ext cx="210678" cy="210678"/>
          </a:xfrm>
          <a:prstGeom prst="ellipse">
            <a:avLst/>
          </a:prstGeom>
          <a:solidFill>
            <a:srgbClr val="163B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17819" y="4930079"/>
            <a:ext cx="118506" cy="493776"/>
          </a:xfrm>
          <a:prstGeom prst="roundRect">
            <a:avLst>
              <a:gd name="adj" fmla="val 23148"/>
            </a:avLst>
          </a:prstGeom>
          <a:solidFill>
            <a:srgbClr val="163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214970" y="5042002"/>
            <a:ext cx="724205" cy="105339"/>
          </a:xfrm>
          <a:prstGeom prst="roundRect">
            <a:avLst>
              <a:gd name="adj" fmla="val 26042"/>
            </a:avLst>
          </a:prstGeom>
          <a:solidFill>
            <a:srgbClr val="163B5C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keeping layout, fonts, colors, buttons, navigation, and formatting consistent.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professional and organized appearance.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website readability and navigation.</a:t>
            </a:r>
            <a:endParaRPr lang="en-US" sz="140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better and more comfortable user experience.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4690872"/>
            <a:ext cx="457200" cy="320040"/>
          </a:xfrm>
          <a:prstGeom prst="rect">
            <a:avLst/>
          </a:prstGeom>
          <a:solidFill>
            <a:srgbClr val="C05A2C"/>
          </a:solidFill>
          <a:ln/>
        </p:spPr>
      </p:sp>
      <p:sp>
        <p:nvSpPr>
          <p:cNvPr id="13" name="Shape 11"/>
          <p:cNvSpPr/>
          <p:nvPr/>
        </p:nvSpPr>
        <p:spPr>
          <a:xfrm>
            <a:off x="1627632" y="4828032"/>
            <a:ext cx="640080" cy="457200"/>
          </a:xfrm>
          <a:prstGeom prst="rect">
            <a:avLst/>
          </a:prstGeom>
          <a:solidFill>
            <a:srgbClr val="3D8BBE"/>
          </a:solidFill>
          <a:ln/>
        </p:spPr>
      </p:sp>
      <p:sp>
        <p:nvSpPr>
          <p:cNvPr id="14" name="Shape 12"/>
          <p:cNvSpPr/>
          <p:nvPr/>
        </p:nvSpPr>
        <p:spPr>
          <a:xfrm>
            <a:off x="2542032" y="4645152"/>
            <a:ext cx="365760" cy="548640"/>
          </a:xfrm>
          <a:prstGeom prst="rect">
            <a:avLst/>
          </a:prstGeom>
          <a:solidFill>
            <a:srgbClr val="E8A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307592" y="5285232"/>
            <a:ext cx="548640" cy="274320"/>
          </a:xfrm>
          <a:prstGeom prst="rect">
            <a:avLst/>
          </a:prstGeom>
          <a:solidFill>
            <a:srgbClr val="6C7A89"/>
          </a:solidFill>
          <a:ln/>
        </p:spPr>
      </p:sp>
      <p:sp>
        <p:nvSpPr>
          <p:cNvPr id="16" name="Shape 14"/>
          <p:cNvSpPr/>
          <p:nvPr/>
        </p:nvSpPr>
        <p:spPr>
          <a:xfrm>
            <a:off x="6007608" y="4160520"/>
            <a:ext cx="5138928" cy="1828800"/>
          </a:xfrm>
          <a:prstGeom prst="roundRect">
            <a:avLst>
              <a:gd name="adj" fmla="val 3000"/>
            </a:avLst>
          </a:prstGeom>
          <a:solidFill>
            <a:srgbClr val="F4F7F9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4745736"/>
            <a:ext cx="1088136" cy="658368"/>
          </a:xfrm>
          <a:prstGeom prst="roundRect">
            <a:avLst>
              <a:gd name="adj" fmla="val 4167"/>
            </a:avLst>
          </a:prstGeom>
          <a:solidFill>
            <a:srgbClr val="2E9E8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43216" y="4745736"/>
            <a:ext cx="1088136" cy="658368"/>
          </a:xfrm>
          <a:prstGeom prst="roundRect">
            <a:avLst>
              <a:gd name="adj" fmla="val 4167"/>
            </a:avLst>
          </a:prstGeom>
          <a:solidFill>
            <a:srgbClr val="2E9E8F"/>
          </a:solidFill>
          <a:ln/>
        </p:spPr>
      </p:sp>
      <p:sp>
        <p:nvSpPr>
          <p:cNvPr id="19" name="Shape 17"/>
          <p:cNvSpPr/>
          <p:nvPr/>
        </p:nvSpPr>
        <p:spPr>
          <a:xfrm>
            <a:off x="8622792" y="4745736"/>
            <a:ext cx="1088136" cy="658368"/>
          </a:xfrm>
          <a:prstGeom prst="roundRect">
            <a:avLst>
              <a:gd name="adj" fmla="val 4167"/>
            </a:avLst>
          </a:prstGeom>
          <a:solidFill>
            <a:srgbClr val="2E9E8F"/>
          </a:solidFill>
          <a:ln/>
        </p:spPr>
      </p:sp>
      <p:sp>
        <p:nvSpPr>
          <p:cNvPr id="20" name="Shape 18"/>
          <p:cNvSpPr/>
          <p:nvPr/>
        </p:nvSpPr>
        <p:spPr>
          <a:xfrm>
            <a:off x="9802368" y="4745736"/>
            <a:ext cx="1088136" cy="658368"/>
          </a:xfrm>
          <a:prstGeom prst="roundRect">
            <a:avLst>
              <a:gd name="adj" fmla="val 4167"/>
            </a:avLst>
          </a:prstGeom>
          <a:solidFill>
            <a:srgbClr val="2E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6044184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07608" y="6044184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WEB PAGE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B5C"/>
          </a:solidFill>
          <a:ln/>
        </p:spPr>
      </p:sp>
      <p:pic>
        <p:nvPicPr>
          <p:cNvPr id="3" name="Image 0" descr="/home/claude/build/img_writingdiv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40233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4023360"/>
          </a:xfrm>
          <a:prstGeom prst="rect">
            <a:avLst/>
          </a:prstGeom>
          <a:solidFill>
            <a:srgbClr val="0F2A40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title tells users what a webpage is about. A good page title should be: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descriptive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and specific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the content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to readers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important keywords when appropriate to the content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457200" y="4670853"/>
            <a:ext cx="10936224" cy="1375719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18" name="Text 10"/>
          <p:cNvSpPr/>
          <p:nvPr/>
        </p:nvSpPr>
        <p:spPr>
          <a:xfrm>
            <a:off x="917283" y="467085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917283" y="5024174"/>
            <a:ext cx="5852160" cy="73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0"/>
              </a:lnSpc>
            </a:pPr>
            <a:r>
              <a:rPr lang="en-US" dirty="0"/>
              <a:t>❌ Welcome to Our </a:t>
            </a:r>
            <a:r>
              <a:rPr lang="en-US" dirty="0" smtClean="0"/>
              <a:t>Website</a:t>
            </a:r>
          </a:p>
          <a:p>
            <a:pPr>
              <a:lnSpc>
                <a:spcPts val="2100"/>
              </a:lnSpc>
            </a:pPr>
            <a:r>
              <a:rPr lang="en-US" dirty="0"/>
              <a:t>✅ BSc CSIT Course Information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is the group of people who will read or use the webpage. A writer should consider: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63093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readers?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they already know?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they need?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language will they understand?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3" name="Image 0" descr="/home/claude/build/img_audienc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457200" y="4670853"/>
            <a:ext cx="6656832" cy="1375719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18" name="Text 10"/>
          <p:cNvSpPr/>
          <p:nvPr/>
        </p:nvSpPr>
        <p:spPr>
          <a:xfrm>
            <a:off x="917283" y="467085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917283" y="5024174"/>
            <a:ext cx="5852160" cy="73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0"/>
              </a:lnSpc>
            </a:pPr>
            <a:r>
              <a:rPr lang="en-US" dirty="0"/>
              <a:t>A website for beginners → simple language</a:t>
            </a:r>
          </a:p>
          <a:p>
            <a:pPr>
              <a:lnSpc>
                <a:spcPts val="2100"/>
              </a:lnSpc>
            </a:pPr>
            <a:r>
              <a:rPr lang="en-US" dirty="0"/>
              <a:t>A website for experts → technical terminology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Pyramid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inverted pyramid means putting the most important information first, followed by supporting details. This is important because web users may leave a page without reading everything.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6309360" cy="2651760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649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5852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i="1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results will be published on August 15. Students can check their results through the college website. Further instructions will be provided later.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1737360"/>
            <a:ext cx="4206240" cy="1051560"/>
          </a:xfrm>
          <a:prstGeom prst="rect">
            <a:avLst/>
          </a:prstGeom>
          <a:solidFill>
            <a:srgbClr val="163B5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173736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info: who, what, when, where, why, how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788920"/>
            <a:ext cx="3200400" cy="1051560"/>
          </a:xfrm>
          <a:prstGeom prst="rect">
            <a:avLst/>
          </a:prstGeom>
          <a:solidFill>
            <a:srgbClr val="2E6E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788920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details, important and unique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595360" y="3840480"/>
            <a:ext cx="2194560" cy="1051560"/>
          </a:xfrm>
          <a:prstGeom prst="rect">
            <a:avLst/>
          </a:prstGeom>
          <a:solidFill>
            <a:srgbClr val="2E9E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3840480"/>
            <a:ext cx="1920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that add value, if the reader wants to know more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Facts, Not Hype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content should provide facts and useful information, rather than exaggerated or promotional claims.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5166360" cy="2331720"/>
          </a:xfrm>
          <a:prstGeom prst="roundRect">
            <a:avLst>
              <a:gd name="adj" fmla="val 1667"/>
            </a:avLst>
          </a:prstGeom>
          <a:solidFill>
            <a:srgbClr val="F4F7F9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514600"/>
            <a:ext cx="5166360" cy="594360"/>
          </a:xfrm>
          <a:prstGeom prst="roundRect">
            <a:avLst>
              <a:gd name="adj" fmla="val 9231"/>
            </a:avLst>
          </a:prstGeom>
          <a:solidFill>
            <a:srgbClr val="2E8B57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07208"/>
            <a:ext cx="5166360" cy="301752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146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33832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accurate information</a:t>
            </a:r>
            <a:endParaRPr lang="en-US" sz="1300" dirty="0"/>
          </a:p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evidence where necessary</a:t>
            </a:r>
            <a:endParaRPr lang="en-US" sz="1300" dirty="0"/>
          </a:p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objective</a:t>
            </a:r>
            <a:endParaRPr lang="en-US" sz="1300" dirty="0"/>
          </a:p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exaggeration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514600"/>
            <a:ext cx="5166360" cy="2331720"/>
          </a:xfrm>
          <a:prstGeom prst="roundRect">
            <a:avLst>
              <a:gd name="adj" fmla="val 1667"/>
            </a:avLst>
          </a:prstGeom>
          <a:solidFill>
            <a:srgbClr val="F4F7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9320" y="2514600"/>
            <a:ext cx="5166360" cy="594360"/>
          </a:xfrm>
          <a:prstGeom prst="roundRect">
            <a:avLst>
              <a:gd name="adj" fmla="val 9231"/>
            </a:avLst>
          </a:prstGeom>
          <a:solidFill>
            <a:srgbClr val="C05A2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2807208"/>
            <a:ext cx="5166360" cy="301752"/>
          </a:xfrm>
          <a:prstGeom prst="rect">
            <a:avLst/>
          </a:prstGeom>
          <a:solidFill>
            <a:srgbClr val="C05A2C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2514600"/>
            <a:ext cx="5166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3383280"/>
            <a:ext cx="4526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unsupported claims</a:t>
            </a:r>
            <a:endParaRPr lang="en-US" sz="1300" dirty="0"/>
          </a:p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excessive promotional language</a:t>
            </a:r>
            <a:endParaRPr lang="en-US" sz="1300" dirty="0"/>
          </a:p>
          <a:p>
            <a:pPr marL="203200" indent="-2032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 the audience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27" name="Shape 9"/>
          <p:cNvSpPr/>
          <p:nvPr/>
        </p:nvSpPr>
        <p:spPr>
          <a:xfrm>
            <a:off x="548640" y="5074424"/>
            <a:ext cx="10634472" cy="1375719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28" name="Text 10"/>
          <p:cNvSpPr/>
          <p:nvPr/>
        </p:nvSpPr>
        <p:spPr>
          <a:xfrm>
            <a:off x="1008723" y="5074424"/>
            <a:ext cx="58431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29" name="Text 11"/>
          <p:cNvSpPr/>
          <p:nvPr/>
        </p:nvSpPr>
        <p:spPr>
          <a:xfrm>
            <a:off x="1008723" y="5427745"/>
            <a:ext cx="9348986" cy="738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0"/>
              </a:lnSpc>
            </a:pPr>
            <a:r>
              <a:rPr lang="en-US" dirty="0"/>
              <a:t>❌ We provide the world's best computer course!</a:t>
            </a:r>
          </a:p>
          <a:p>
            <a:pPr>
              <a:lnSpc>
                <a:spcPts val="2100"/>
              </a:lnSpc>
            </a:pPr>
            <a:r>
              <a:rPr lang="en-US" dirty="0"/>
              <a:t>✅ Our course covers programming, databases, networking, and web development.</a:t>
            </a:r>
          </a:p>
        </p:txBody>
      </p:sp>
      <p:sp>
        <p:nvSpPr>
          <p:cNvPr id="30" name="5-Point Star 29"/>
          <p:cNvSpPr/>
          <p:nvPr/>
        </p:nvSpPr>
        <p:spPr>
          <a:xfrm>
            <a:off x="6203092" y="238897"/>
            <a:ext cx="45719" cy="457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Scannable Text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Scannable text allows readers to quickly look through a webpage and find what they need. Readers usually scan a webpage before deciding what to read.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short paragraphs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headings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bullet points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important words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sentences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and subheadings divide content into smaller sections. They help readers: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structure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information quickly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page easily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each section contains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7" name="Shape 9"/>
          <p:cNvSpPr/>
          <p:nvPr/>
        </p:nvSpPr>
        <p:spPr>
          <a:xfrm>
            <a:off x="457200" y="4287383"/>
            <a:ext cx="10634472" cy="1609343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18" name="Text 10"/>
          <p:cNvSpPr/>
          <p:nvPr/>
        </p:nvSpPr>
        <p:spPr>
          <a:xfrm>
            <a:off x="917283" y="4422648"/>
            <a:ext cx="58431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19" name="Text 11"/>
          <p:cNvSpPr/>
          <p:nvPr/>
        </p:nvSpPr>
        <p:spPr>
          <a:xfrm>
            <a:off x="903182" y="4642103"/>
            <a:ext cx="9348986" cy="1101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0"/>
              </a:lnSpc>
            </a:pPr>
            <a:r>
              <a:rPr lang="en-US" dirty="0"/>
              <a:t>Course Information</a:t>
            </a:r>
          </a:p>
          <a:p>
            <a:pPr>
              <a:lnSpc>
                <a:spcPts val="2100"/>
              </a:lnSpc>
            </a:pPr>
            <a:r>
              <a:rPr lang="en-US" dirty="0"/>
              <a:t>Admission Requirements</a:t>
            </a:r>
          </a:p>
          <a:p>
            <a:pPr>
              <a:lnSpc>
                <a:spcPts val="2100"/>
              </a:lnSpc>
            </a:pPr>
            <a:r>
              <a:rPr lang="en-US" dirty="0"/>
              <a:t>Course Structure</a:t>
            </a:r>
          </a:p>
          <a:p>
            <a:pPr>
              <a:lnSpc>
                <a:spcPts val="2100"/>
              </a:lnSpc>
            </a:pPr>
            <a:r>
              <a:rPr lang="en-US" dirty="0"/>
              <a:t>Fee Structure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to Lists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paragraphs can be difficult to read on a screen. Convert information into bullets or numbered lists whenever appropriate.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4709160" cy="3017520"/>
          </a:xfrm>
          <a:prstGeom prst="roundRect">
            <a:avLst>
              <a:gd name="adj" fmla="val 1818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200400"/>
            <a:ext cx="4251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to submit their application form, citizenship certificate, academic certificates, photographs, and application fee.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606040"/>
            <a:ext cx="4709160" cy="3017520"/>
          </a:xfrm>
          <a:prstGeom prst="roundRect">
            <a:avLst>
              <a:gd name="adj" fmla="val 1818"/>
            </a:avLst>
          </a:prstGeom>
          <a:solidFill>
            <a:srgbClr val="163B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DOCUMENTS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41605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form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Citizenship certificate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certificates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</a:t>
            </a:r>
            <a:endParaRPr lang="en-US" sz="1300" dirty="0"/>
          </a:p>
          <a:p>
            <a:pPr marL="203200" indent="-203200">
              <a:lnSpc>
                <a:spcPts val="17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3977640"/>
            <a:ext cx="640080" cy="274320"/>
          </a:xfrm>
          <a:prstGeom prst="rightArrow">
            <a:avLst/>
          </a:prstGeom>
          <a:solidFill>
            <a:srgbClr val="2E9E8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5852160"/>
            <a:ext cx="10607040" cy="548640"/>
          </a:xfrm>
          <a:prstGeom prst="roundRect">
            <a:avLst>
              <a:gd name="adj" fmla="val 8333"/>
            </a:avLst>
          </a:prstGeom>
          <a:solidFill>
            <a:srgbClr val="E7F3F1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8521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250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becomes easier to scan and understand.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3310128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are important words or phrases related to the main topic of a webpage. They help in: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10607040" cy="1402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understand the topic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identify the content</a:t>
            </a:r>
            <a:endParaRPr lang="en-US" sz="150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find relevant information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TEXT FOR THE WEB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548640" y="3808476"/>
            <a:ext cx="10634472" cy="1609343"/>
          </a:xfrm>
          <a:prstGeom prst="roundRect">
            <a:avLst>
              <a:gd name="adj" fmla="val 2069"/>
            </a:avLst>
          </a:prstGeom>
          <a:solidFill>
            <a:srgbClr val="F4F7F9"/>
          </a:solidFill>
          <a:ln/>
        </p:spPr>
      </p:sp>
      <p:sp>
        <p:nvSpPr>
          <p:cNvPr id="16" name="Text 10"/>
          <p:cNvSpPr/>
          <p:nvPr/>
        </p:nvSpPr>
        <p:spPr>
          <a:xfrm>
            <a:off x="1008723" y="3943741"/>
            <a:ext cx="58431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94622" y="4163196"/>
            <a:ext cx="9348986" cy="11010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100"/>
              </a:lnSpc>
            </a:pPr>
            <a:r>
              <a:rPr lang="en-US" dirty="0"/>
              <a:t>For a webpage about Python:</a:t>
            </a:r>
          </a:p>
          <a:p>
            <a:pPr>
              <a:lnSpc>
                <a:spcPts val="2100"/>
              </a:lnSpc>
            </a:pPr>
            <a:endParaRPr lang="en-US" dirty="0"/>
          </a:p>
          <a:p>
            <a:pPr>
              <a:lnSpc>
                <a:spcPts val="2100"/>
              </a:lnSpc>
            </a:pPr>
            <a:r>
              <a:rPr lang="en-US" dirty="0"/>
              <a:t>Keywords:</a:t>
            </a:r>
          </a:p>
          <a:p>
            <a:pPr>
              <a:lnSpc>
                <a:spcPts val="2100"/>
              </a:lnSpc>
            </a:pPr>
            <a:r>
              <a:rPr lang="en-US" dirty="0"/>
              <a:t>Python programming, Python tutorial, learn Python, Python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 are webpages created for a specific purpose, such as providing information, answering questions, sharing ideas, or enabling discussions among users.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speci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SPECIAL WEB PAGES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56432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6667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45643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105656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43159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10565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49651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75488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(Frequently Asked Questions)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04104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6" name="Shape 23"/>
          <p:cNvSpPr/>
          <p:nvPr/>
        </p:nvSpPr>
        <p:spPr>
          <a:xfrm>
            <a:off x="713232" y="56144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540410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6053328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9" name="Shape 26"/>
          <p:cNvSpPr/>
          <p:nvPr/>
        </p:nvSpPr>
        <p:spPr>
          <a:xfrm>
            <a:off x="713232" y="626364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30" name="Text 27"/>
          <p:cNvSpPr/>
          <p:nvPr/>
        </p:nvSpPr>
        <p:spPr>
          <a:xfrm>
            <a:off x="960120" y="6053328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entry point to a website and provides links to other pages.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homep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56432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6667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45643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page visitors see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105656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43159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10565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 navigation menu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49651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75488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overview of the website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04104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6" name="Shape 23"/>
          <p:cNvSpPr/>
          <p:nvPr/>
        </p:nvSpPr>
        <p:spPr>
          <a:xfrm>
            <a:off x="713232" y="56144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540410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include a search bar, images, and announcements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or webpage where articles or posts are published regularly in chronological order.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blogs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5643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7307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45643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Regularly updated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7939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455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27939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displayed from newest to oldest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0235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53766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510235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include multiple media (text, images, videos)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599846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blogs, technology blogs, travel blogs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build/img_faq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631092"/>
            <a:ext cx="12191695" cy="52269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82958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FAQ (Frequently Asked Questions)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wiki is a website where multiple users can create, edit, and update content collaboratively.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wiki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56432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6667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456432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permission can edit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105656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43159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105656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in nature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754880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49651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4754880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continuously updated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" y="5404104"/>
            <a:ext cx="6309360" cy="530352"/>
          </a:xfrm>
          <a:prstGeom prst="roundRect">
            <a:avLst>
              <a:gd name="adj" fmla="val 8621"/>
            </a:avLst>
          </a:prstGeom>
          <a:solidFill>
            <a:srgbClr val="F4F7F9"/>
          </a:solidFill>
          <a:ln/>
        </p:spPr>
      </p:sp>
      <p:sp>
        <p:nvSpPr>
          <p:cNvPr id="26" name="Shape 23"/>
          <p:cNvSpPr/>
          <p:nvPr/>
        </p:nvSpPr>
        <p:spPr>
          <a:xfrm>
            <a:off x="713232" y="56144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7" name="Text 24"/>
          <p:cNvSpPr/>
          <p:nvPr/>
        </p:nvSpPr>
        <p:spPr>
          <a:xfrm>
            <a:off x="960120" y="5404104"/>
            <a:ext cx="5760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between related topics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09960" y="457200"/>
            <a:ext cx="62179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E9E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09960" y="594360"/>
            <a:ext cx="621792" cy="0"/>
          </a:xfrm>
          <a:prstGeom prst="line">
            <a:avLst/>
          </a:prstGeom>
          <a:noFill/>
          <a:ln w="12700">
            <a:solidFill>
              <a:srgbClr val="2E9E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516636"/>
            <a:ext cx="64008" cy="640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Shape 3"/>
          <p:cNvSpPr/>
          <p:nvPr/>
        </p:nvSpPr>
        <p:spPr>
          <a:xfrm>
            <a:off x="11301984" y="516636"/>
            <a:ext cx="64008" cy="64008"/>
          </a:xfrm>
          <a:prstGeom prst="ellipse">
            <a:avLst/>
          </a:prstGeom>
          <a:solidFill>
            <a:srgbClr val="E8A93B"/>
          </a:solidFill>
          <a:ln/>
        </p:spPr>
      </p:sp>
      <p:sp>
        <p:nvSpPr>
          <p:cNvPr id="6" name="Shape 4"/>
          <p:cNvSpPr/>
          <p:nvPr/>
        </p:nvSpPr>
        <p:spPr>
          <a:xfrm>
            <a:off x="11420856" y="516636"/>
            <a:ext cx="64008" cy="64008"/>
          </a:xfrm>
          <a:prstGeom prst="ellipse">
            <a:avLst/>
          </a:prstGeom>
          <a:solidFill>
            <a:srgbClr val="2E9E6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502920"/>
            <a:ext cx="247802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"/>
            <a:ext cx="2478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9326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Forums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1737360"/>
            <a:ext cx="6309360" cy="1143000"/>
          </a:xfrm>
          <a:prstGeom prst="roundRect">
            <a:avLst>
              <a:gd name="adj" fmla="val 4800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discussion forum is an online platform where users ask questions, share ideas, and discuss topics by posting messages.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68896" y="1682496"/>
            <a:ext cx="4544568" cy="4315968"/>
          </a:xfrm>
          <a:prstGeom prst="roundRect">
            <a:avLst>
              <a:gd name="adj" fmla="val 1271"/>
            </a:avLst>
          </a:prstGeom>
          <a:solidFill>
            <a:srgbClr val="F4F7F9"/>
          </a:solidFill>
          <a:ln/>
        </p:spPr>
      </p:sp>
      <p:pic>
        <p:nvPicPr>
          <p:cNvPr id="14" name="Image 0" descr="/home/claude/build/img_forum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23760" y="1737360"/>
            <a:ext cx="4434840" cy="42062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3063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345643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17" name="Shape 14"/>
          <p:cNvSpPr/>
          <p:nvPr/>
        </p:nvSpPr>
        <p:spPr>
          <a:xfrm>
            <a:off x="713232" y="373075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45643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replies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27939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20" name="Shape 17"/>
          <p:cNvSpPr/>
          <p:nvPr/>
        </p:nvSpPr>
        <p:spPr>
          <a:xfrm>
            <a:off x="713232" y="455371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1" name="Text 18"/>
          <p:cNvSpPr/>
          <p:nvPr/>
        </p:nvSpPr>
        <p:spPr>
          <a:xfrm>
            <a:off x="960120" y="427939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Topic-wise discussions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5102352"/>
            <a:ext cx="6309360" cy="658368"/>
          </a:xfrm>
          <a:prstGeom prst="roundRect">
            <a:avLst>
              <a:gd name="adj" fmla="val 6944"/>
            </a:avLst>
          </a:prstGeom>
          <a:solidFill>
            <a:srgbClr val="F4F7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13232" y="537667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5102352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2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participation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599846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</a:t>
            </a: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Reddit, Quora, Stack Overflow, college discussion forums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62495" y="6528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WEB PAGES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36873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B5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289304" cy="329184"/>
          </a:xfrm>
          <a:prstGeom prst="roundRect">
            <a:avLst>
              <a:gd name="adj" fmla="val 50000"/>
            </a:avLst>
          </a:prstGeom>
          <a:solidFill>
            <a:srgbClr val="2E9E8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for the Web — Key Takeaways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607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writing is designed for online audiences, not print readers.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web content is clear, concise, accurate, and organized.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audience and purpose before creating a page.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pages around what the reader actually needs to find.</a:t>
            </a:r>
            <a:endParaRPr lang="en-US" sz="1450" dirty="0"/>
          </a:p>
          <a:p>
            <a:pPr marL="228600" indent="-228600">
              <a:lnSpc>
                <a:spcPts val="2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DC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organization makes content easier to locate and understand.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2700">
            <a:solidFill>
              <a:srgbClr val="2A5A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E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“Good web writing makes information simple, useful, and accessible.”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89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1961</Words>
  <Application>Microsoft Office PowerPoint</Application>
  <PresentationFormat>Widescreen</PresentationFormat>
  <Paragraphs>369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acer</cp:lastModifiedBy>
  <cp:revision>10</cp:revision>
  <dcterms:created xsi:type="dcterms:W3CDTF">2026-08-12T05:03:25Z</dcterms:created>
  <dcterms:modified xsi:type="dcterms:W3CDTF">2026-08-12T15:29:57Z</dcterms:modified>
</cp:coreProperties>
</file>