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6"/>
  </p:notesMasterIdLst>
  <p:sldIdLst>
    <p:sldId id="256" r:id="rId2"/>
    <p:sldId id="301" r:id="rId3"/>
    <p:sldId id="257" r:id="rId4"/>
    <p:sldId id="258" r:id="rId5"/>
    <p:sldId id="303" r:id="rId6"/>
    <p:sldId id="283" r:id="rId7"/>
    <p:sldId id="284" r:id="rId8"/>
    <p:sldId id="285" r:id="rId9"/>
    <p:sldId id="286" r:id="rId10"/>
    <p:sldId id="287" r:id="rId11"/>
    <p:sldId id="288" r:id="rId12"/>
    <p:sldId id="259" r:id="rId13"/>
    <p:sldId id="260" r:id="rId14"/>
    <p:sldId id="261" r:id="rId15"/>
    <p:sldId id="262" r:id="rId16"/>
    <p:sldId id="291" r:id="rId17"/>
    <p:sldId id="292" r:id="rId18"/>
    <p:sldId id="293" r:id="rId19"/>
    <p:sldId id="294" r:id="rId20"/>
    <p:sldId id="295" r:id="rId21"/>
    <p:sldId id="263" r:id="rId22"/>
    <p:sldId id="264" r:id="rId23"/>
    <p:sldId id="265" r:id="rId24"/>
    <p:sldId id="266" r:id="rId25"/>
    <p:sldId id="267" r:id="rId26"/>
    <p:sldId id="268" r:id="rId27"/>
    <p:sldId id="269" r:id="rId28"/>
    <p:sldId id="270" r:id="rId29"/>
    <p:sldId id="271" r:id="rId30"/>
    <p:sldId id="272" r:id="rId31"/>
    <p:sldId id="273" r:id="rId32"/>
    <p:sldId id="274" r:id="rId33"/>
    <p:sldId id="275" r:id="rId34"/>
    <p:sldId id="276" r:id="rId35"/>
    <p:sldId id="277" r:id="rId36"/>
    <p:sldId id="278" r:id="rId37"/>
    <p:sldId id="279" r:id="rId38"/>
    <p:sldId id="298" r:id="rId39"/>
    <p:sldId id="281" r:id="rId40"/>
    <p:sldId id="282" r:id="rId41"/>
    <p:sldId id="289" r:id="rId42"/>
    <p:sldId id="290" r:id="rId43"/>
    <p:sldId id="296" r:id="rId44"/>
    <p:sldId id="297" r:id="rId4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E2761"/>
    <a:srgbClr val="F0F0F0"/>
    <a:srgbClr val="BEC0C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75" d="100"/>
          <a:sy n="75" d="100"/>
        </p:scale>
        <p:origin x="516" y="-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484177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1AC923-E287-1262-2FDD-FABE9CDFB8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BD2823E-403C-BBBF-6F40-7B527F2BCB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EC38792-9B74-CC6B-A35E-022FAEDEF1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1DDBCB-C0E7-E7D7-9045-96FDAEAA36B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7645407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26D6BC-ECD9-6131-53F9-7B7E4AD733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3734975-07E1-6C38-364D-F4E1BD4CC6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DE38FB9-B895-BD5A-D240-284A6C6248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51EB3E-CA7A-6A1E-E995-F1CD25A86B1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7912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C256B8-79EC-238B-A809-6D045ECB39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810D82C-03F5-B9D4-EAC5-A9AB718AB4E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6A8C446-8646-3946-E56B-4EDEA33D2B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95B366-FE74-0B21-9B61-30B17500798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641276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7B6393-3972-54DB-5AD9-96B0860F24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FB1BEE2-371D-22FA-45EC-F4B95F45E5B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A2010D0-AEBB-6716-363B-5A9A901287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E5C776-052E-1CB5-0C5F-94A784D134B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2326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01A428-9CC9-F0E4-50FB-1EB3E75434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71C95CB-AC8C-23F4-A5A6-C8D156BBD54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A382F21-D494-F4DC-025A-4EE6739F0B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2FED3E-0E05-581A-DA02-9CB9A9E827A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5452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8AFE1A-DEE1-59B4-6C97-4889BF2047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752EF91-3E62-04D9-1EA9-783F4139FA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2E4DC11-A320-E2BA-36D4-B97D7B66D6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1146E2-C233-F0A6-0B86-E49D29EC112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453197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F2DBA5-A43C-012A-AFCB-9E7F17677B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1E1001C-A921-E9B5-BDCF-63803B1788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F02113D-267B-CD2F-B421-12A9520AC4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EEA384-7837-0E71-6305-FEC79BA5717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883343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1214714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6549045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38738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jpg"/><Relationship Id="rId4" Type="http://schemas.openxmlformats.org/officeDocument/2006/relationships/image" Target="../media/image6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microsoft.com/office/2007/relationships/hdphoto" Target="../media/hdphoto1.wdp"/><Relationship Id="rId4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0.jpeg"/><Relationship Id="rId4" Type="http://schemas.openxmlformats.org/officeDocument/2006/relationships/image" Target="../media/image19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4.jpg"/><Relationship Id="rId4" Type="http://schemas.openxmlformats.org/officeDocument/2006/relationships/image" Target="../media/image2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microsoft.com/office/2007/relationships/hdphoto" Target="../media/hdphoto2.wdp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9.png"/><Relationship Id="rId4" Type="http://schemas.openxmlformats.org/officeDocument/2006/relationships/image" Target="../media/image1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3.jpeg"/><Relationship Id="rId4" Type="http://schemas.openxmlformats.org/officeDocument/2006/relationships/image" Target="../media/image3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5.jpe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8.png"/><Relationship Id="rId4" Type="http://schemas.openxmlformats.org/officeDocument/2006/relationships/image" Target="../media/image37.jpe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9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1.jpe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3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5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7.jpe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8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0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2.jpe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4.jpe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7.jpe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9.jpe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1.jpe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2.jpe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6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4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6.jpe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8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2103120"/>
            <a:ext cx="5486400" cy="5486400"/>
          </a:xfrm>
          <a:prstGeom prst="ellipse">
            <a:avLst/>
          </a:prstGeom>
          <a:ln w="19050">
            <a:solidFill>
              <a:srgbClr val="33408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2377440" y="4206240"/>
            <a:ext cx="4754880" cy="4754880"/>
          </a:xfrm>
          <a:prstGeom prst="ellipse">
            <a:avLst/>
          </a:prstGeom>
          <a:ln w="19050">
            <a:solidFill>
              <a:srgbClr val="33408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2121408"/>
            <a:ext cx="777240" cy="77724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5" name="Image 0" descr="/home/claude/icons/edi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5042" y="2323490"/>
            <a:ext cx="373075" cy="37307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2999232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777240" y="3310128"/>
            <a:ext cx="9601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Technical Writing</a:t>
            </a:r>
            <a:endParaRPr lang="en-US" sz="4800" dirty="0"/>
          </a:p>
        </p:txBody>
      </p:sp>
      <p:sp>
        <p:nvSpPr>
          <p:cNvPr id="8" name="Text 5"/>
          <p:cNvSpPr/>
          <p:nvPr/>
        </p:nvSpPr>
        <p:spPr>
          <a:xfrm>
            <a:off x="822960" y="452628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822960" y="4892040"/>
            <a:ext cx="1737360" cy="420624"/>
          </a:xfrm>
          <a:prstGeom prst="roundRect">
            <a:avLst>
              <a:gd name="adj" fmla="val 50000"/>
            </a:avLst>
          </a:prstGeom>
          <a:solidFill>
            <a:srgbClr val="2A3373"/>
          </a:solidFill>
          <a:ln w="12700">
            <a:solidFill>
              <a:srgbClr val="3E4A9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22960" y="4892040"/>
            <a:ext cx="1737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Kamana Shrestha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2761488" y="4892040"/>
            <a:ext cx="1452067" cy="420624"/>
          </a:xfrm>
          <a:prstGeom prst="roundRect">
            <a:avLst>
              <a:gd name="adj" fmla="val 50000"/>
            </a:avLst>
          </a:prstGeom>
          <a:solidFill>
            <a:srgbClr val="2A3373"/>
          </a:solidFill>
          <a:ln w="12700">
            <a:solidFill>
              <a:srgbClr val="3E4A9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761488" y="4892040"/>
            <a:ext cx="1452067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Gaurav Thapa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4414723" y="4892040"/>
            <a:ext cx="1452067" cy="420624"/>
          </a:xfrm>
          <a:prstGeom prst="roundRect">
            <a:avLst>
              <a:gd name="adj" fmla="val 50000"/>
            </a:avLst>
          </a:prstGeom>
          <a:solidFill>
            <a:srgbClr val="2A3373"/>
          </a:solidFill>
          <a:ln w="12700">
            <a:solidFill>
              <a:srgbClr val="3E4A9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414723" y="4892040"/>
            <a:ext cx="1452067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Hrikesh Aron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6067958" y="4892040"/>
            <a:ext cx="1356970" cy="420624"/>
          </a:xfrm>
          <a:prstGeom prst="roundRect">
            <a:avLst>
              <a:gd name="adj" fmla="val 50000"/>
            </a:avLst>
          </a:prstGeom>
          <a:solidFill>
            <a:srgbClr val="2A3373"/>
          </a:solidFill>
          <a:ln w="12700">
            <a:solidFill>
              <a:srgbClr val="3E4A96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067958" y="4892040"/>
            <a:ext cx="135697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Aayush Shah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1133856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D5DC227-FC40-7555-A36C-B08293D551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C29532E8-8802-5212-AB72-70B59B80C031}"/>
              </a:ext>
            </a:extLst>
          </p:cNvPr>
          <p:cNvSpPr/>
          <p:nvPr/>
        </p:nvSpPr>
        <p:spPr>
          <a:xfrm>
            <a:off x="9326880" y="-2103120"/>
            <a:ext cx="5486400" cy="5486400"/>
          </a:xfrm>
          <a:prstGeom prst="ellipse">
            <a:avLst/>
          </a:prstGeom>
          <a:ln w="19050">
            <a:solidFill>
              <a:srgbClr val="334085"/>
            </a:solidFill>
            <a:prstDash val="solid"/>
          </a:ln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A94C31DF-28EE-D88C-B87C-1FCBCE0FA90C}"/>
              </a:ext>
            </a:extLst>
          </p:cNvPr>
          <p:cNvSpPr/>
          <p:nvPr/>
        </p:nvSpPr>
        <p:spPr>
          <a:xfrm>
            <a:off x="-2377440" y="4206240"/>
            <a:ext cx="4754880" cy="4754880"/>
          </a:xfrm>
          <a:prstGeom prst="ellipse">
            <a:avLst/>
          </a:prstGeom>
          <a:ln w="19050">
            <a:solidFill>
              <a:srgbClr val="334085"/>
            </a:solidFill>
            <a:prstDash val="solid"/>
          </a:ln>
        </p:spPr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F85796C6-22CD-8CA5-145B-A93376750971}"/>
              </a:ext>
            </a:extLst>
          </p:cNvPr>
          <p:cNvSpPr/>
          <p:nvPr/>
        </p:nvSpPr>
        <p:spPr>
          <a:xfrm>
            <a:off x="564564" y="214884"/>
            <a:ext cx="9601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Presentation</a:t>
            </a:r>
          </a:p>
        </p:txBody>
      </p:sp>
      <p:sp>
        <p:nvSpPr>
          <p:cNvPr id="17" name="Text 14">
            <a:extLst>
              <a:ext uri="{FF2B5EF4-FFF2-40B4-BE49-F238E27FC236}">
                <a16:creationId xmlns:a16="http://schemas.microsoft.com/office/drawing/2014/main" id="{85A5065B-3B13-FF44-80A8-B0FBC0A35977}"/>
              </a:ext>
            </a:extLst>
          </p:cNvPr>
          <p:cNvSpPr/>
          <p:nvPr/>
        </p:nvSpPr>
        <p:spPr>
          <a:xfrm>
            <a:off x="1133856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CFD2DDCD-B408-E7DB-1577-D38FA4DB86A9}"/>
              </a:ext>
            </a:extLst>
          </p:cNvPr>
          <p:cNvGrpSpPr/>
          <p:nvPr/>
        </p:nvGrpSpPr>
        <p:grpSpPr>
          <a:xfrm>
            <a:off x="547200" y="1281600"/>
            <a:ext cx="5356800" cy="2422800"/>
            <a:chOff x="1543575" y="1266444"/>
            <a:chExt cx="3172817" cy="2340864"/>
          </a:xfrm>
          <a:effectLst>
            <a:glow rad="63500">
              <a:schemeClr val="accent1">
                <a:satMod val="175000"/>
                <a:alpha val="40000"/>
              </a:schemeClr>
            </a:glow>
          </a:effectLst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5D158B82-7B04-6436-B819-886B51781D90}"/>
                </a:ext>
              </a:extLst>
            </p:cNvPr>
            <p:cNvSpPr/>
            <p:nvPr/>
          </p:nvSpPr>
          <p:spPr>
            <a:xfrm>
              <a:off x="1543575" y="1266444"/>
              <a:ext cx="3172817" cy="2340864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285750" indent="-285750">
                <a:buFont typeface="Wingdings" panose="05000000000000000000" pitchFamily="2" charset="2"/>
                <a:buChar char="ü"/>
              </a:pPr>
              <a:endParaRPr lang="en-US" dirty="0"/>
            </a:p>
            <a:p>
              <a:pPr marL="285750" indent="-285750">
                <a:buFont typeface="Wingdings" panose="05000000000000000000" pitchFamily="2" charset="2"/>
                <a:buChar char="ü"/>
              </a:pPr>
              <a:endParaRPr lang="en-US" dirty="0"/>
            </a:p>
            <a:p>
              <a:pPr marL="285750" indent="-285750">
                <a:buFont typeface="Wingdings" panose="05000000000000000000" pitchFamily="2" charset="2"/>
                <a:buChar char="ü"/>
              </a:pPr>
              <a:r>
                <a:rPr lang="en-US" dirty="0"/>
                <a:t>Introduction</a:t>
              </a:r>
            </a:p>
            <a:p>
              <a:pPr marL="285750" indent="-285750">
                <a:buFont typeface="Wingdings" panose="05000000000000000000" pitchFamily="2" charset="2"/>
                <a:buChar char="ü"/>
              </a:pPr>
              <a:r>
                <a:rPr lang="en-US" dirty="0"/>
                <a:t>Getting Started on a Presentation</a:t>
              </a:r>
            </a:p>
            <a:p>
              <a:pPr algn="ctr"/>
              <a:endParaRPr lang="en-US" dirty="0"/>
            </a:p>
          </p:txBody>
        </p: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4DDDBAA2-DF28-8E54-012A-EC24704D5CFA}"/>
                </a:ext>
              </a:extLst>
            </p:cNvPr>
            <p:cNvGrpSpPr/>
            <p:nvPr/>
          </p:nvGrpSpPr>
          <p:grpSpPr>
            <a:xfrm>
              <a:off x="2403949" y="1479423"/>
              <a:ext cx="1452067" cy="420624"/>
              <a:chOff x="2761488" y="4892040"/>
              <a:chExt cx="1452067" cy="420624"/>
            </a:xfrm>
          </p:grpSpPr>
          <p:sp>
            <p:nvSpPr>
              <p:cNvPr id="27" name="Shape 8">
                <a:extLst>
                  <a:ext uri="{FF2B5EF4-FFF2-40B4-BE49-F238E27FC236}">
                    <a16:creationId xmlns:a16="http://schemas.microsoft.com/office/drawing/2014/main" id="{02B7F28B-87B0-9C8C-C216-0E025EB3309B}"/>
                  </a:ext>
                </a:extLst>
              </p:cNvPr>
              <p:cNvSpPr/>
              <p:nvPr/>
            </p:nvSpPr>
            <p:spPr>
              <a:xfrm>
                <a:off x="2761488" y="4892040"/>
                <a:ext cx="1452067" cy="420624"/>
              </a:xfrm>
              <a:prstGeom prst="roundRect">
                <a:avLst/>
              </a:prstGeom>
              <a:solidFill>
                <a:srgbClr val="2A3373"/>
              </a:solidFill>
              <a:ln w="12700">
                <a:noFill/>
                <a:prstDash val="solid"/>
              </a:ln>
            </p:spPr>
          </p:sp>
          <p:sp>
            <p:nvSpPr>
              <p:cNvPr id="28" name="Text 9">
                <a:extLst>
                  <a:ext uri="{FF2B5EF4-FFF2-40B4-BE49-F238E27FC236}">
                    <a16:creationId xmlns:a16="http://schemas.microsoft.com/office/drawing/2014/main" id="{09D6CF62-BD03-8025-2496-92A75C10B65E}"/>
                  </a:ext>
                </a:extLst>
              </p:cNvPr>
              <p:cNvSpPr/>
              <p:nvPr/>
            </p:nvSpPr>
            <p:spPr>
              <a:xfrm>
                <a:off x="2761488" y="4892040"/>
                <a:ext cx="1452067" cy="420624"/>
              </a:xfrm>
              <a:prstGeom prst="roundRect">
                <a:avLst/>
              </a:prstGeom>
              <a:noFill/>
              <a:ln>
                <a:noFill/>
              </a:ln>
            </p:spPr>
            <p:txBody>
              <a:bodyPr wrap="square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1250" dirty="0">
                    <a:solidFill>
                      <a:srgbClr val="FFFFFF"/>
                    </a:solidFill>
                    <a:latin typeface="Calibri" pitchFamily="34" charset="0"/>
                    <a:cs typeface="Calibri" pitchFamily="34" charset="-120"/>
                  </a:rPr>
                  <a:t>Kamana Shrestha</a:t>
                </a:r>
                <a:endParaRPr kumimoji="0" lang="en-US" sz="125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876D6D76-8030-4392-A39B-CAA89FC41637}"/>
              </a:ext>
            </a:extLst>
          </p:cNvPr>
          <p:cNvGrpSpPr/>
          <p:nvPr/>
        </p:nvGrpSpPr>
        <p:grpSpPr>
          <a:xfrm>
            <a:off x="6271200" y="1281600"/>
            <a:ext cx="5356800" cy="2422800"/>
            <a:chOff x="-350969" y="1068621"/>
            <a:chExt cx="5356800" cy="2422800"/>
          </a:xfrm>
        </p:grpSpPr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7F4F9B01-79E2-353B-7374-F9A6D119587C}"/>
                </a:ext>
              </a:extLst>
            </p:cNvPr>
            <p:cNvSpPr/>
            <p:nvPr/>
          </p:nvSpPr>
          <p:spPr>
            <a:xfrm>
              <a:off x="-350969" y="1068621"/>
              <a:ext cx="5356800" cy="2422800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285750" indent="-285750">
                <a:buFont typeface="Wingdings" panose="05000000000000000000" pitchFamily="2" charset="2"/>
                <a:buChar char="Ø"/>
              </a:pPr>
              <a:endParaRPr lang="en-US" dirty="0"/>
            </a:p>
            <a:p>
              <a:pPr marL="285750" indent="-285750">
                <a:buFont typeface="Wingdings" panose="05000000000000000000" pitchFamily="2" charset="2"/>
                <a:buChar char="Ø"/>
              </a:pPr>
              <a:endParaRPr lang="en-US" dirty="0"/>
            </a:p>
            <a:p>
              <a:endParaRPr lang="en-US" dirty="0"/>
            </a:p>
            <a:p>
              <a:pPr marL="285750" indent="-285750">
                <a:buFont typeface="Wingdings" panose="05000000000000000000" pitchFamily="2" charset="2"/>
                <a:buChar char="ü"/>
              </a:pPr>
              <a:r>
                <a:rPr lang="en-US" dirty="0"/>
                <a:t>Planning </a:t>
              </a:r>
            </a:p>
            <a:p>
              <a:pPr marL="285750" indent="-285750">
                <a:buFont typeface="Wingdings" panose="05000000000000000000" pitchFamily="2" charset="2"/>
                <a:buChar char="ü"/>
              </a:pPr>
              <a:r>
                <a:rPr lang="en-US" dirty="0"/>
                <a:t>Organizing and Composing (audience and topic, graphic aids, organization, and composition.)</a:t>
              </a:r>
            </a:p>
            <a:p>
              <a:pPr marL="285750" indent="-285750">
                <a:buFont typeface="Wingdings" panose="05000000000000000000" pitchFamily="2" charset="2"/>
                <a:buChar char="Ø"/>
              </a:pPr>
              <a:endParaRPr lang="en-US" dirty="0"/>
            </a:p>
          </p:txBody>
        </p:sp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CC1C1A13-B274-CC59-9655-92550A03CD60}"/>
                </a:ext>
              </a:extLst>
            </p:cNvPr>
            <p:cNvGrpSpPr/>
            <p:nvPr/>
          </p:nvGrpSpPr>
          <p:grpSpPr>
            <a:xfrm>
              <a:off x="2403949" y="1479423"/>
              <a:ext cx="1452067" cy="420624"/>
              <a:chOff x="2761488" y="4892040"/>
              <a:chExt cx="1452067" cy="420624"/>
            </a:xfrm>
          </p:grpSpPr>
          <p:sp>
            <p:nvSpPr>
              <p:cNvPr id="33" name="Shape 8">
                <a:extLst>
                  <a:ext uri="{FF2B5EF4-FFF2-40B4-BE49-F238E27FC236}">
                    <a16:creationId xmlns:a16="http://schemas.microsoft.com/office/drawing/2014/main" id="{1569AE90-0E10-2397-E621-0E027BDD9008}"/>
                  </a:ext>
                </a:extLst>
              </p:cNvPr>
              <p:cNvSpPr/>
              <p:nvPr/>
            </p:nvSpPr>
            <p:spPr>
              <a:xfrm>
                <a:off x="2761488" y="4892040"/>
                <a:ext cx="1452067" cy="420624"/>
              </a:xfrm>
              <a:prstGeom prst="roundRect">
                <a:avLst/>
              </a:prstGeom>
              <a:solidFill>
                <a:srgbClr val="2A3373"/>
              </a:solidFill>
              <a:ln w="12700">
                <a:solidFill>
                  <a:srgbClr val="3E4A96"/>
                </a:solidFill>
                <a:prstDash val="solid"/>
              </a:ln>
            </p:spPr>
          </p:sp>
          <p:sp>
            <p:nvSpPr>
              <p:cNvPr id="34" name="Text 9">
                <a:extLst>
                  <a:ext uri="{FF2B5EF4-FFF2-40B4-BE49-F238E27FC236}">
                    <a16:creationId xmlns:a16="http://schemas.microsoft.com/office/drawing/2014/main" id="{A32365D9-0A3F-40F3-1225-C9D3DCF9E35E}"/>
                  </a:ext>
                </a:extLst>
              </p:cNvPr>
              <p:cNvSpPr/>
              <p:nvPr/>
            </p:nvSpPr>
            <p:spPr>
              <a:xfrm>
                <a:off x="2761488" y="4892040"/>
                <a:ext cx="1452067" cy="420624"/>
              </a:xfrm>
              <a:prstGeom prst="round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1250" dirty="0">
                    <a:solidFill>
                      <a:schemeClr val="bg1"/>
                    </a:solidFill>
                    <a:latin typeface="Calibri" panose="020F0502020204030204"/>
                  </a:rPr>
                  <a:t>Gaurav Thapa</a:t>
                </a:r>
                <a:endParaRPr kumimoji="0" lang="en-US" sz="125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427C70FA-78D4-3A0F-5473-698B2436F695}"/>
              </a:ext>
            </a:extLst>
          </p:cNvPr>
          <p:cNvGrpSpPr/>
          <p:nvPr/>
        </p:nvGrpSpPr>
        <p:grpSpPr>
          <a:xfrm>
            <a:off x="547200" y="4068000"/>
            <a:ext cx="5356800" cy="2422800"/>
            <a:chOff x="1543574" y="1266444"/>
            <a:chExt cx="5356800" cy="2422800"/>
          </a:xfrm>
        </p:grpSpPr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8D9B5734-A737-8B82-FD52-15CB51B7A1C7}"/>
                </a:ext>
              </a:extLst>
            </p:cNvPr>
            <p:cNvSpPr/>
            <p:nvPr/>
          </p:nvSpPr>
          <p:spPr>
            <a:xfrm>
              <a:off x="1543574" y="1266444"/>
              <a:ext cx="5356800" cy="2422800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285750" indent="-285750">
                <a:buFont typeface="Wingdings" panose="05000000000000000000" pitchFamily="2" charset="2"/>
                <a:buChar char="ü"/>
              </a:pPr>
              <a:endParaRPr lang="en-US" dirty="0"/>
            </a:p>
            <a:p>
              <a:pPr marL="285750" indent="-285750">
                <a:buFont typeface="Wingdings" panose="05000000000000000000" pitchFamily="2" charset="2"/>
                <a:buChar char="ü"/>
              </a:pPr>
              <a:endParaRPr lang="en-US" dirty="0"/>
            </a:p>
            <a:p>
              <a:pPr marL="285750" indent="-285750">
                <a:buFont typeface="Wingdings" panose="05000000000000000000" pitchFamily="2" charset="2"/>
                <a:buChar char="ü"/>
              </a:pPr>
              <a:endParaRPr lang="en-US" dirty="0"/>
            </a:p>
            <a:p>
              <a:pPr marL="285750" indent="-285750">
                <a:buFont typeface="Wingdings" panose="05000000000000000000" pitchFamily="2" charset="2"/>
                <a:buChar char="ü"/>
              </a:pPr>
              <a:r>
                <a:rPr lang="en-US" dirty="0"/>
                <a:t>Preparing (outlines and notes, personal appearance)</a:t>
              </a:r>
            </a:p>
            <a:p>
              <a:pPr marL="285750" indent="-285750">
                <a:buFont typeface="Wingdings" panose="05000000000000000000" pitchFamily="2" charset="2"/>
                <a:buChar char="ü"/>
              </a:pPr>
              <a:r>
                <a:rPr lang="en-US" dirty="0"/>
                <a:t> Different methods of rehearsal. </a:t>
              </a:r>
            </a:p>
            <a:p>
              <a:endParaRPr lang="en-US" dirty="0"/>
            </a:p>
          </p:txBody>
        </p:sp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BC7A8524-276A-403E-A6C9-CC879396CFBC}"/>
                </a:ext>
              </a:extLst>
            </p:cNvPr>
            <p:cNvGrpSpPr/>
            <p:nvPr/>
          </p:nvGrpSpPr>
          <p:grpSpPr>
            <a:xfrm>
              <a:off x="2403949" y="1479423"/>
              <a:ext cx="1452067" cy="420624"/>
              <a:chOff x="2761488" y="4892040"/>
              <a:chExt cx="1452067" cy="420624"/>
            </a:xfrm>
          </p:grpSpPr>
          <p:sp>
            <p:nvSpPr>
              <p:cNvPr id="38" name="Shape 8">
                <a:extLst>
                  <a:ext uri="{FF2B5EF4-FFF2-40B4-BE49-F238E27FC236}">
                    <a16:creationId xmlns:a16="http://schemas.microsoft.com/office/drawing/2014/main" id="{B2E9BC2B-9FAD-715A-3DEA-20CCF3665EC7}"/>
                  </a:ext>
                </a:extLst>
              </p:cNvPr>
              <p:cNvSpPr/>
              <p:nvPr/>
            </p:nvSpPr>
            <p:spPr>
              <a:xfrm>
                <a:off x="2761488" y="4892040"/>
                <a:ext cx="1452067" cy="420624"/>
              </a:xfrm>
              <a:prstGeom prst="roundRect">
                <a:avLst/>
              </a:prstGeom>
              <a:solidFill>
                <a:srgbClr val="2A3373"/>
              </a:solidFill>
              <a:ln w="12700">
                <a:solidFill>
                  <a:srgbClr val="3E4A96"/>
                </a:solidFill>
                <a:prstDash val="solid"/>
              </a:ln>
            </p:spPr>
          </p:sp>
          <p:sp>
            <p:nvSpPr>
              <p:cNvPr id="39" name="Text 9">
                <a:extLst>
                  <a:ext uri="{FF2B5EF4-FFF2-40B4-BE49-F238E27FC236}">
                    <a16:creationId xmlns:a16="http://schemas.microsoft.com/office/drawing/2014/main" id="{2B671464-6B21-1AE3-61A1-D419562C289D}"/>
                  </a:ext>
                </a:extLst>
              </p:cNvPr>
              <p:cNvSpPr/>
              <p:nvPr/>
            </p:nvSpPr>
            <p:spPr>
              <a:xfrm>
                <a:off x="2761488" y="4892040"/>
                <a:ext cx="1452067" cy="420624"/>
              </a:xfrm>
              <a:prstGeom prst="round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25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Calibri" pitchFamily="34" charset="-120"/>
                  </a:rPr>
                  <a:t>Hrikesh</a:t>
                </a:r>
                <a:r>
                  <a:rPr kumimoji="0" lang="en-US" sz="125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Calibri" pitchFamily="34" charset="-120"/>
                  </a:rPr>
                  <a:t> A</a:t>
                </a:r>
                <a:r>
                  <a:rPr lang="en-US" sz="1250" dirty="0" err="1">
                    <a:solidFill>
                      <a:srgbClr val="FFFFFF"/>
                    </a:solidFill>
                    <a:latin typeface="Calibri" pitchFamily="34" charset="0"/>
                    <a:cs typeface="Calibri" pitchFamily="34" charset="-120"/>
                  </a:rPr>
                  <a:t>ron</a:t>
                </a:r>
                <a:endParaRPr kumimoji="0" lang="en-US" sz="125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DB229D3A-2C7D-3418-2D24-AA0EC54B04BE}"/>
              </a:ext>
            </a:extLst>
          </p:cNvPr>
          <p:cNvGrpSpPr/>
          <p:nvPr/>
        </p:nvGrpSpPr>
        <p:grpSpPr>
          <a:xfrm>
            <a:off x="6271199" y="4068000"/>
            <a:ext cx="5356800" cy="2422800"/>
            <a:chOff x="1543575" y="1266444"/>
            <a:chExt cx="3172817" cy="2340864"/>
          </a:xfrm>
        </p:grpSpPr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00191AA4-7635-AB34-E627-616B02A82DB9}"/>
                </a:ext>
              </a:extLst>
            </p:cNvPr>
            <p:cNvSpPr/>
            <p:nvPr/>
          </p:nvSpPr>
          <p:spPr>
            <a:xfrm>
              <a:off x="1543575" y="1266444"/>
              <a:ext cx="3172817" cy="2340864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285750" indent="-285750">
                <a:buFont typeface="Wingdings" panose="05000000000000000000" pitchFamily="2" charset="2"/>
                <a:buChar char="ü"/>
              </a:pPr>
              <a:endParaRPr lang="en-US" dirty="0"/>
            </a:p>
            <a:p>
              <a:pPr marL="285750" indent="-285750">
                <a:buFont typeface="Wingdings" panose="05000000000000000000" pitchFamily="2" charset="2"/>
                <a:buChar char="ü"/>
              </a:pPr>
              <a:r>
                <a:rPr lang="en-US" dirty="0"/>
                <a:t>Group Presentation</a:t>
              </a:r>
            </a:p>
            <a:p>
              <a:pPr marL="285750" indent="-285750">
                <a:buFont typeface="Wingdings" panose="05000000000000000000" pitchFamily="2" charset="2"/>
                <a:buChar char="ü"/>
              </a:pPr>
              <a:r>
                <a:rPr lang="en-US" dirty="0"/>
                <a:t>Presenting</a:t>
              </a:r>
            </a:p>
          </p:txBody>
        </p:sp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B28AA8C3-B433-6C27-D30B-1BB8C265BC1C}"/>
                </a:ext>
              </a:extLst>
            </p:cNvPr>
            <p:cNvGrpSpPr/>
            <p:nvPr/>
          </p:nvGrpSpPr>
          <p:grpSpPr>
            <a:xfrm>
              <a:off x="2403949" y="1479423"/>
              <a:ext cx="1452067" cy="420624"/>
              <a:chOff x="2761488" y="4892040"/>
              <a:chExt cx="1452067" cy="420624"/>
            </a:xfrm>
          </p:grpSpPr>
          <p:sp>
            <p:nvSpPr>
              <p:cNvPr id="43" name="Shape 8">
                <a:extLst>
                  <a:ext uri="{FF2B5EF4-FFF2-40B4-BE49-F238E27FC236}">
                    <a16:creationId xmlns:a16="http://schemas.microsoft.com/office/drawing/2014/main" id="{BCAC6BBD-BCDF-AD0F-CC26-6CA68B7625A6}"/>
                  </a:ext>
                </a:extLst>
              </p:cNvPr>
              <p:cNvSpPr/>
              <p:nvPr/>
            </p:nvSpPr>
            <p:spPr>
              <a:xfrm>
                <a:off x="2761488" y="4892040"/>
                <a:ext cx="1452067" cy="420624"/>
              </a:xfrm>
              <a:prstGeom prst="roundRect">
                <a:avLst/>
              </a:prstGeom>
              <a:solidFill>
                <a:srgbClr val="2A3373"/>
              </a:solidFill>
              <a:ln w="12700">
                <a:solidFill>
                  <a:srgbClr val="3E4A96"/>
                </a:solidFill>
                <a:prstDash val="solid"/>
              </a:ln>
            </p:spPr>
          </p:sp>
          <p:sp>
            <p:nvSpPr>
              <p:cNvPr id="44" name="Text 9">
                <a:extLst>
                  <a:ext uri="{FF2B5EF4-FFF2-40B4-BE49-F238E27FC236}">
                    <a16:creationId xmlns:a16="http://schemas.microsoft.com/office/drawing/2014/main" id="{599CB054-9C3C-7F0D-D62D-43F9B4F356EE}"/>
                  </a:ext>
                </a:extLst>
              </p:cNvPr>
              <p:cNvSpPr/>
              <p:nvPr/>
            </p:nvSpPr>
            <p:spPr>
              <a:xfrm>
                <a:off x="2761488" y="4892040"/>
                <a:ext cx="1452067" cy="420624"/>
              </a:xfrm>
              <a:prstGeom prst="round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25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Calibri" pitchFamily="34" charset="-120"/>
                  </a:rPr>
                  <a:t>Ayush Shah</a:t>
                </a:r>
                <a:endParaRPr kumimoji="0" lang="en-US" sz="125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787488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3" name="Image 0" descr="/home/claude/icons/message_circ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041" y="604601"/>
            <a:ext cx="272125" cy="2721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384048"/>
            <a:ext cx="78638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10099548" y="530352"/>
            <a:ext cx="1513332" cy="329184"/>
          </a:xfrm>
          <a:prstGeom prst="roundRect">
            <a:avLst>
              <a:gd name="adj" fmla="val 50000"/>
            </a:avLst>
          </a:prstGeom>
          <a:solidFill>
            <a:srgbClr val="CADCFC"/>
          </a:solidFill>
          <a:ln/>
        </p:spPr>
      </p:sp>
      <p:sp>
        <p:nvSpPr>
          <p:cNvPr id="6" name="Text 3"/>
          <p:cNvSpPr/>
          <p:nvPr/>
        </p:nvSpPr>
        <p:spPr>
          <a:xfrm>
            <a:off x="10099548" y="530352"/>
            <a:ext cx="151333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Kamana Shrestha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548640" y="1225296"/>
            <a:ext cx="11064240" cy="0"/>
          </a:xfrm>
          <a:prstGeom prst="line">
            <a:avLst/>
          </a:prstGeom>
          <a:noFill/>
          <a:ln w="12700">
            <a:solidFill>
              <a:srgbClr val="E4E8F2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22960" y="1691640"/>
            <a:ext cx="1051560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presentation is a planned oral communication delivered to an audience.</a:t>
            </a:r>
            <a:endParaRPr lang="en-US" sz="1600" dirty="0"/>
          </a:p>
          <a:p>
            <a:pPr marL="228600" indent="-228600"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Purpose: to inform, explain, persuade, or demonstrate.</a:t>
            </a:r>
            <a:endParaRPr lang="en-US" sz="1600" dirty="0"/>
          </a:p>
          <a:p>
            <a:pPr marL="228600" indent="-228600"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Effective presentations combine clear content, organization, delivery, and visual support.</a:t>
            </a:r>
            <a:endParaRPr lang="en-US" sz="1600" dirty="0"/>
          </a:p>
          <a:p>
            <a:pPr marL="228600" indent="-228600"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technical writing, presentations help communicate technical information clearly and efficiently.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133856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pic>
        <p:nvPicPr>
          <p:cNvPr id="19458" name="Picture 2" descr="5 tips to turn your presentation from good to great - contentgroup">
            <a:extLst>
              <a:ext uri="{FF2B5EF4-FFF2-40B4-BE49-F238E27FC236}">
                <a16:creationId xmlns:a16="http://schemas.microsoft.com/office/drawing/2014/main" id="{E39D851C-0C97-8F91-E535-2DD000680A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6436" y="3546083"/>
            <a:ext cx="3722604" cy="2786137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65000" dist="50800" dir="12900000" kx="195000" ky="145000" algn="tl" rotWithShape="0">
              <a:srgbClr val="000000">
                <a:alpha val="30000"/>
              </a:srgbClr>
            </a:outerShdw>
          </a:effectLst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3" name="Image 0" descr="/home/claude/icons/targ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041" y="604601"/>
            <a:ext cx="272125" cy="2721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384048"/>
            <a:ext cx="78638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Getting Started on a Presentation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10099548" y="530352"/>
            <a:ext cx="1513332" cy="329184"/>
          </a:xfrm>
          <a:prstGeom prst="roundRect">
            <a:avLst>
              <a:gd name="adj" fmla="val 50000"/>
            </a:avLst>
          </a:prstGeom>
          <a:solidFill>
            <a:srgbClr val="CADCFC"/>
          </a:solidFill>
          <a:ln/>
        </p:spPr>
      </p:sp>
      <p:sp>
        <p:nvSpPr>
          <p:cNvPr id="6" name="Text 3"/>
          <p:cNvSpPr/>
          <p:nvPr/>
        </p:nvSpPr>
        <p:spPr>
          <a:xfrm>
            <a:off x="10099548" y="530352"/>
            <a:ext cx="151333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Kamana Shrestha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548640" y="1225296"/>
            <a:ext cx="11064240" cy="0"/>
          </a:xfrm>
          <a:prstGeom prst="line">
            <a:avLst/>
          </a:prstGeom>
          <a:noFill/>
          <a:ln w="12700">
            <a:solidFill>
              <a:srgbClr val="E4E8F2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22960" y="1600200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readers or listeners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822960" y="2011680"/>
            <a:ext cx="512064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who will receive the message.</a:t>
            </a:r>
            <a:endParaRPr lang="en-US" sz="145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Consider their knowledge, interests, needs, and expectations.</a:t>
            </a:r>
            <a:endParaRPr lang="en-US" sz="1450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8D26A924-2AB7-0A41-62D3-79C56FBBFA0F}"/>
              </a:ext>
            </a:extLst>
          </p:cNvPr>
          <p:cNvGrpSpPr/>
          <p:nvPr/>
        </p:nvGrpSpPr>
        <p:grpSpPr>
          <a:xfrm>
            <a:off x="822960" y="3511296"/>
            <a:ext cx="5029200" cy="2263140"/>
            <a:chOff x="6309360" y="1600200"/>
            <a:chExt cx="5029200" cy="2263140"/>
          </a:xfrm>
        </p:grpSpPr>
        <p:sp>
          <p:nvSpPr>
            <p:cNvPr id="10" name="Text 7"/>
            <p:cNvSpPr/>
            <p:nvPr/>
          </p:nvSpPr>
          <p:spPr>
            <a:xfrm>
              <a:off x="6309360" y="1600200"/>
              <a:ext cx="5029200" cy="31089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50" b="1" dirty="0">
                  <a:solidFill>
                    <a:srgbClr val="1E276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Writer's focus</a:t>
              </a:r>
              <a:endParaRPr lang="en-US" sz="1450" dirty="0"/>
            </a:p>
          </p:txBody>
        </p:sp>
        <p:sp>
          <p:nvSpPr>
            <p:cNvPr id="11" name="Text 8"/>
            <p:cNvSpPr/>
            <p:nvPr/>
          </p:nvSpPr>
          <p:spPr>
            <a:xfrm>
              <a:off x="6309360" y="2011680"/>
              <a:ext cx="5029200" cy="18516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228600" indent="-228600">
                <a:spcAft>
                  <a:spcPts val="1200"/>
                </a:spcAft>
                <a:buSzPct val="100000"/>
                <a:buChar char="•"/>
              </a:pPr>
              <a:r>
                <a:rPr lang="en-US" sz="1450" dirty="0">
                  <a:solidFill>
                    <a:srgbClr val="33384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Define the purpose and main message.</a:t>
              </a:r>
              <a:endParaRPr lang="en-US" sz="1450" dirty="0"/>
            </a:p>
            <a:p>
              <a:pPr marL="228600" indent="-228600">
                <a:spcAft>
                  <a:spcPts val="1200"/>
                </a:spcAft>
                <a:buSzPct val="100000"/>
                <a:buChar char="•"/>
              </a:pPr>
              <a:r>
                <a:rPr lang="en-US" sz="1450" dirty="0">
                  <a:solidFill>
                    <a:srgbClr val="33384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Choose information appropriate for the audience.</a:t>
              </a:r>
              <a:endParaRPr lang="en-US" sz="1450" dirty="0"/>
            </a:p>
            <a:p>
              <a:pPr marL="228600" indent="-228600">
                <a:spcAft>
                  <a:spcPts val="1200"/>
                </a:spcAft>
                <a:buSzPct val="100000"/>
                <a:buChar char="•"/>
              </a:pPr>
              <a:r>
                <a:rPr lang="en-US" sz="1450" dirty="0">
                  <a:solidFill>
                    <a:srgbClr val="33384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Focus on clarity, accuracy, relevance, and audience understanding.</a:t>
              </a:r>
              <a:endParaRPr lang="en-US" sz="1450" dirty="0"/>
            </a:p>
          </p:txBody>
        </p:sp>
      </p:grpSp>
      <p:sp>
        <p:nvSpPr>
          <p:cNvPr id="12" name="Text 9"/>
          <p:cNvSpPr/>
          <p:nvPr/>
        </p:nvSpPr>
        <p:spPr>
          <a:xfrm>
            <a:off x="1133856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pic>
        <p:nvPicPr>
          <p:cNvPr id="21506" name="Picture 2" descr="What is Focus Problem and How Can It Be Solved? | Anadolu Sağlık Merkezi">
            <a:extLst>
              <a:ext uri="{FF2B5EF4-FFF2-40B4-BE49-F238E27FC236}">
                <a16:creationId xmlns:a16="http://schemas.microsoft.com/office/drawing/2014/main" id="{88CDE1EB-B7D2-0892-CF06-63AD9954CB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48402" y="1772983"/>
            <a:ext cx="5210175" cy="3476625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FECBC95-905D-FB91-6628-A16B60038C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10DEA104-DBE6-FEF9-3120-610408CD53FD}"/>
              </a:ext>
            </a:extLst>
          </p:cNvPr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3" name="Image 0" descr="/home/claude/icons/target.png">
            <a:extLst>
              <a:ext uri="{FF2B5EF4-FFF2-40B4-BE49-F238E27FC236}">
                <a16:creationId xmlns:a16="http://schemas.microsoft.com/office/drawing/2014/main" id="{FEB6FEA2-59C3-74E7-1750-719C1DAFF0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041" y="604601"/>
            <a:ext cx="272125" cy="272125"/>
          </a:xfrm>
          <a:prstGeom prst="rect">
            <a:avLst/>
          </a:prstGeom>
        </p:spPr>
      </p:pic>
      <p:sp>
        <p:nvSpPr>
          <p:cNvPr id="4" name="Text 1">
            <a:extLst>
              <a:ext uri="{FF2B5EF4-FFF2-40B4-BE49-F238E27FC236}">
                <a16:creationId xmlns:a16="http://schemas.microsoft.com/office/drawing/2014/main" id="{CF9F2E0F-DB57-BA12-213A-8AC3AE0354E3}"/>
              </a:ext>
            </a:extLst>
          </p:cNvPr>
          <p:cNvSpPr/>
          <p:nvPr/>
        </p:nvSpPr>
        <p:spPr>
          <a:xfrm>
            <a:off x="1280160" y="384048"/>
            <a:ext cx="78638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</a:rPr>
              <a:t>Presentation: Types</a:t>
            </a:r>
            <a:endParaRPr lang="en-US" sz="2400" dirty="0"/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BB2802B1-138F-A2C6-8027-0B94D926CDDD}"/>
              </a:ext>
            </a:extLst>
          </p:cNvPr>
          <p:cNvSpPr/>
          <p:nvPr/>
        </p:nvSpPr>
        <p:spPr>
          <a:xfrm>
            <a:off x="10099548" y="530352"/>
            <a:ext cx="1513332" cy="329184"/>
          </a:xfrm>
          <a:prstGeom prst="roundRect">
            <a:avLst>
              <a:gd name="adj" fmla="val 50000"/>
            </a:avLst>
          </a:prstGeom>
          <a:solidFill>
            <a:srgbClr val="CADCFC"/>
          </a:solidFill>
          <a:ln/>
        </p:spPr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644A761C-0A41-98AC-6D73-61D599963C85}"/>
              </a:ext>
            </a:extLst>
          </p:cNvPr>
          <p:cNvSpPr/>
          <p:nvPr/>
        </p:nvSpPr>
        <p:spPr>
          <a:xfrm>
            <a:off x="10099548" y="530352"/>
            <a:ext cx="151333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Kamana Shrestha</a:t>
            </a:r>
            <a:endParaRPr lang="en-US" sz="1050" dirty="0"/>
          </a:p>
        </p:txBody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1AAE469A-6082-A499-D819-285C948B8A1B}"/>
              </a:ext>
            </a:extLst>
          </p:cNvPr>
          <p:cNvSpPr/>
          <p:nvPr/>
        </p:nvSpPr>
        <p:spPr>
          <a:xfrm>
            <a:off x="548640" y="1225296"/>
            <a:ext cx="11064240" cy="0"/>
          </a:xfrm>
          <a:prstGeom prst="line">
            <a:avLst/>
          </a:prstGeom>
          <a:noFill/>
          <a:ln w="12700">
            <a:solidFill>
              <a:srgbClr val="E4E8F2"/>
            </a:solidFill>
            <a:prstDash val="solid"/>
          </a:ln>
        </p:spPr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8575045F-3B4E-E72E-24D9-56B2652461F5}"/>
              </a:ext>
            </a:extLst>
          </p:cNvPr>
          <p:cNvGrpSpPr/>
          <p:nvPr/>
        </p:nvGrpSpPr>
        <p:grpSpPr>
          <a:xfrm>
            <a:off x="822960" y="1688255"/>
            <a:ext cx="5120640" cy="1746504"/>
            <a:chOff x="822960" y="1600200"/>
            <a:chExt cx="5120640" cy="1746504"/>
          </a:xfrm>
        </p:grpSpPr>
        <p:sp>
          <p:nvSpPr>
            <p:cNvPr id="8" name="Text 5">
              <a:extLst>
                <a:ext uri="{FF2B5EF4-FFF2-40B4-BE49-F238E27FC236}">
                  <a16:creationId xmlns:a16="http://schemas.microsoft.com/office/drawing/2014/main" id="{973322F8-A00C-E45B-50F7-4B1CEF1429B3}"/>
                </a:ext>
              </a:extLst>
            </p:cNvPr>
            <p:cNvSpPr/>
            <p:nvPr/>
          </p:nvSpPr>
          <p:spPr>
            <a:xfrm>
              <a:off x="822960" y="1600200"/>
              <a:ext cx="5120640" cy="31089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50" b="1" dirty="0">
                  <a:solidFill>
                    <a:srgbClr val="1E276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Individual Presentation</a:t>
              </a:r>
            </a:p>
          </p:txBody>
        </p:sp>
        <p:sp>
          <p:nvSpPr>
            <p:cNvPr id="9" name="Text 6">
              <a:extLst>
                <a:ext uri="{FF2B5EF4-FFF2-40B4-BE49-F238E27FC236}">
                  <a16:creationId xmlns:a16="http://schemas.microsoft.com/office/drawing/2014/main" id="{C31D3A99-D847-A4FE-27C0-2E5393FFDEFD}"/>
                </a:ext>
              </a:extLst>
            </p:cNvPr>
            <p:cNvSpPr/>
            <p:nvPr/>
          </p:nvSpPr>
          <p:spPr>
            <a:xfrm>
              <a:off x="822960" y="2011680"/>
              <a:ext cx="5120640" cy="133502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228600" indent="-228600">
                <a:spcAft>
                  <a:spcPts val="1200"/>
                </a:spcAft>
                <a:buSzPct val="100000"/>
                <a:buChar char="•"/>
              </a:pPr>
              <a:r>
                <a:rPr lang="en-US" sz="1450" dirty="0">
                  <a:solidFill>
                    <a:schemeClr val="bg2">
                      <a:lumMod val="25000"/>
                    </a:schemeClr>
                  </a:solidFill>
                  <a:latin typeface="Calibri" panose="020F0502020204030204" pitchFamily="34" charset="0"/>
                  <a:ea typeface="Calibri" pitchFamily="34" charset="-122"/>
                  <a:cs typeface="Calibri" panose="020F0502020204030204" pitchFamily="34" charset="0"/>
                </a:rPr>
                <a:t>P</a:t>
              </a:r>
              <a:r>
                <a:rPr lang="en-US" sz="1450" dirty="0">
                  <a:solidFill>
                    <a:schemeClr val="bg2">
                      <a:lumMod val="25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resented by a single speaker.</a:t>
              </a:r>
            </a:p>
            <a:p>
              <a:pPr marL="228600" indent="-228600">
                <a:spcAft>
                  <a:spcPts val="1200"/>
                </a:spcAft>
                <a:buSzPct val="100000"/>
                <a:buChar char="•"/>
              </a:pPr>
              <a:r>
                <a:rPr lang="en-US" sz="1450" dirty="0">
                  <a:solidFill>
                    <a:srgbClr val="33384A"/>
                  </a:solidFill>
                  <a:latin typeface="Calibri" pitchFamily="34" charset="0"/>
                  <a:cs typeface="Calibri" pitchFamily="34" charset="-120"/>
                </a:rPr>
                <a:t>O</a:t>
              </a:r>
              <a:r>
                <a:rPr lang="en-US" sz="1450" dirty="0">
                  <a:solidFill>
                    <a:srgbClr val="33384A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ne person is responsible for delivering the entire topic</a:t>
              </a:r>
              <a:r>
                <a:rPr lang="en-US" sz="1450" dirty="0">
                  <a:solidFill>
                    <a:srgbClr val="33384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.</a:t>
              </a:r>
              <a:endParaRPr lang="en-US" sz="1450" dirty="0"/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AFA2DD7E-8FFC-1629-E215-B9FD41ECB361}"/>
              </a:ext>
            </a:extLst>
          </p:cNvPr>
          <p:cNvGrpSpPr/>
          <p:nvPr/>
        </p:nvGrpSpPr>
        <p:grpSpPr>
          <a:xfrm>
            <a:off x="6080760" y="4400549"/>
            <a:ext cx="5029200" cy="2263140"/>
            <a:chOff x="6309360" y="1600200"/>
            <a:chExt cx="5029200" cy="2263140"/>
          </a:xfrm>
        </p:grpSpPr>
        <p:sp>
          <p:nvSpPr>
            <p:cNvPr id="10" name="Text 7">
              <a:extLst>
                <a:ext uri="{FF2B5EF4-FFF2-40B4-BE49-F238E27FC236}">
                  <a16:creationId xmlns:a16="http://schemas.microsoft.com/office/drawing/2014/main" id="{CEE050CE-A059-3B17-070B-3CA7C0357F02}"/>
                </a:ext>
              </a:extLst>
            </p:cNvPr>
            <p:cNvSpPr/>
            <p:nvPr/>
          </p:nvSpPr>
          <p:spPr>
            <a:xfrm>
              <a:off x="6309360" y="1600200"/>
              <a:ext cx="5029200" cy="31089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50" b="1" dirty="0">
                  <a:solidFill>
                    <a:srgbClr val="1E2761"/>
                  </a:solidFill>
                  <a:latin typeface="Calibri" pitchFamily="34" charset="0"/>
                  <a:cs typeface="Calibri" pitchFamily="34" charset="-120"/>
                </a:rPr>
                <a:t>Group Presentation </a:t>
              </a:r>
              <a:endParaRPr lang="en-US" sz="1450" dirty="0"/>
            </a:p>
          </p:txBody>
        </p:sp>
        <p:sp>
          <p:nvSpPr>
            <p:cNvPr id="11" name="Text 8">
              <a:extLst>
                <a:ext uri="{FF2B5EF4-FFF2-40B4-BE49-F238E27FC236}">
                  <a16:creationId xmlns:a16="http://schemas.microsoft.com/office/drawing/2014/main" id="{40DAD577-9505-6E9B-654C-6489EF659EEF}"/>
                </a:ext>
              </a:extLst>
            </p:cNvPr>
            <p:cNvSpPr/>
            <p:nvPr/>
          </p:nvSpPr>
          <p:spPr>
            <a:xfrm>
              <a:off x="6309360" y="2011680"/>
              <a:ext cx="5029200" cy="18516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228600" indent="-228600">
                <a:spcAft>
                  <a:spcPts val="1200"/>
                </a:spcAft>
                <a:buSzPct val="100000"/>
                <a:buChar char="•"/>
              </a:pPr>
              <a:r>
                <a:rPr lang="en-US" sz="1450" dirty="0">
                  <a:solidFill>
                    <a:srgbClr val="33384A"/>
                  </a:solidFill>
                  <a:latin typeface="Calibri" pitchFamily="34" charset="0"/>
                  <a:cs typeface="Calibri" pitchFamily="34" charset="-120"/>
                </a:rPr>
                <a:t>Presented by two or more speakers.</a:t>
              </a:r>
              <a:endParaRPr lang="en-US" sz="1450" dirty="0"/>
            </a:p>
            <a:p>
              <a:pPr marL="228600" indent="-228600">
                <a:spcAft>
                  <a:spcPts val="1200"/>
                </a:spcAft>
                <a:buSzPct val="100000"/>
                <a:buChar char="•"/>
              </a:pPr>
              <a:r>
                <a:rPr lang="en-US" sz="1450" dirty="0">
                  <a:solidFill>
                    <a:srgbClr val="33384A"/>
                  </a:solidFill>
                  <a:latin typeface="Calibri" pitchFamily="34" charset="0"/>
                  <a:cs typeface="Calibri" pitchFamily="34" charset="-120"/>
                </a:rPr>
                <a:t>Proper planning, coordination, communication and practice.</a:t>
              </a:r>
              <a:endParaRPr lang="en-US" sz="1450" dirty="0"/>
            </a:p>
          </p:txBody>
        </p:sp>
      </p:grpSp>
      <p:sp>
        <p:nvSpPr>
          <p:cNvPr id="12" name="Text 9">
            <a:extLst>
              <a:ext uri="{FF2B5EF4-FFF2-40B4-BE49-F238E27FC236}">
                <a16:creationId xmlns:a16="http://schemas.microsoft.com/office/drawing/2014/main" id="{3B9D1AA1-77F5-2148-8114-39E90EBE0340}"/>
              </a:ext>
            </a:extLst>
          </p:cNvPr>
          <p:cNvSpPr/>
          <p:nvPr/>
        </p:nvSpPr>
        <p:spPr>
          <a:xfrm>
            <a:off x="1133856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60AD1654-2A69-EE5E-ED03-08EB531411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5540" y="1325881"/>
            <a:ext cx="3873500" cy="2577771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75B8DCD1-5B8C-D014-3A2B-21F26532373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37111" y="3718973"/>
            <a:ext cx="4141471" cy="2754979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8019723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607040" y="5120640"/>
            <a:ext cx="3291840" cy="3291840"/>
          </a:xfrm>
          <a:prstGeom prst="ellipse">
            <a:avLst/>
          </a:prstGeom>
          <a:ln w="15875">
            <a:solidFill>
              <a:srgbClr val="33408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2960" y="1051560"/>
            <a:ext cx="960120" cy="9601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4" name="Image 0" descr="/home/claude/icons/us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2591" y="1301191"/>
            <a:ext cx="460858" cy="46085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04672" y="2240280"/>
            <a:ext cx="8686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Organizing a Group Presentation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822960" y="3246120"/>
            <a:ext cx="87782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0"/>
              </a:spcAft>
              <a:buNone/>
            </a:pPr>
            <a:r>
              <a:rPr lang="en-US" sz="1550" dirty="0">
                <a:solidFill>
                  <a:srgbClr val="D9E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group presentation involves two or more speakers working together to present one topic.</a:t>
            </a:r>
            <a:endParaRPr lang="en-US" sz="155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550" dirty="0">
                <a:solidFill>
                  <a:srgbClr val="D9E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Successful group presentations require planning, coordination, communication, and practice.</a:t>
            </a:r>
            <a:endParaRPr lang="en-US" sz="155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550" dirty="0">
                <a:solidFill>
                  <a:srgbClr val="D9E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member should understand their responsibilities and the overall structure.</a:t>
            </a:r>
            <a:endParaRPr lang="en-US" sz="15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3" name="Image 0" descr="/home/claude/icons/scisso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041" y="604601"/>
            <a:ext cx="272125" cy="2721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384048"/>
            <a:ext cx="78638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Organizing a Group Presentation: Dividing the Topic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10439705" y="530352"/>
            <a:ext cx="1173175" cy="329184"/>
          </a:xfrm>
          <a:prstGeom prst="roundRect">
            <a:avLst>
              <a:gd name="adj" fmla="val 50000"/>
            </a:avLst>
          </a:prstGeom>
          <a:solidFill>
            <a:srgbClr val="CADCFC"/>
          </a:solidFill>
          <a:ln/>
        </p:spPr>
      </p:sp>
      <p:sp>
        <p:nvSpPr>
          <p:cNvPr id="6" name="Text 3"/>
          <p:cNvSpPr/>
          <p:nvPr/>
        </p:nvSpPr>
        <p:spPr>
          <a:xfrm>
            <a:off x="10439705" y="530352"/>
            <a:ext cx="1173175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Aayush Shah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548640" y="1225296"/>
            <a:ext cx="11064240" cy="0"/>
          </a:xfrm>
          <a:prstGeom prst="line">
            <a:avLst/>
          </a:prstGeom>
          <a:noFill/>
          <a:ln w="12700">
            <a:solidFill>
              <a:srgbClr val="E4E8F2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22960" y="1691640"/>
            <a:ext cx="1051560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300"/>
              </a:spcAft>
              <a:buSzPct val="100000"/>
              <a:buChar char="•"/>
            </a:pPr>
            <a:r>
              <a:rPr lang="en-US" sz="155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Divide the topic into logical sections.</a:t>
            </a:r>
            <a:endParaRPr lang="en-US" sz="1550" dirty="0"/>
          </a:p>
          <a:p>
            <a:pPr marL="228600" indent="-228600">
              <a:spcAft>
                <a:spcPts val="1300"/>
              </a:spcAft>
              <a:buSzPct val="100000"/>
              <a:buChar char="•"/>
            </a:pPr>
            <a:r>
              <a:rPr lang="en-US" sz="155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sections according to members' abilities and interests.</a:t>
            </a:r>
            <a:endParaRPr lang="en-US" sz="1550" dirty="0"/>
          </a:p>
          <a:p>
            <a:pPr marL="228600" indent="-228600">
              <a:spcAft>
                <a:spcPts val="1300"/>
              </a:spcAft>
              <a:buSzPct val="100000"/>
              <a:buChar char="•"/>
            </a:pPr>
            <a:r>
              <a:rPr lang="en-US" sz="155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each member a meaningful and balanced role.</a:t>
            </a:r>
            <a:endParaRPr lang="en-US" sz="1550" dirty="0"/>
          </a:p>
          <a:p>
            <a:pPr marL="228600" indent="-228600">
              <a:spcAft>
                <a:spcPts val="1300"/>
              </a:spcAft>
              <a:buSzPct val="100000"/>
              <a:buChar char="•"/>
            </a:pPr>
            <a:r>
              <a:rPr lang="en-US" sz="155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Agree on a common style and overall message.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1133856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10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DB6971E-1EAD-0A0C-5D0E-B95835675B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5040" y="1726691"/>
            <a:ext cx="5943600" cy="3962400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3" name="Image 0" descr="/home/claude/icons/clo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041" y="604601"/>
            <a:ext cx="272125" cy="2721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384048"/>
            <a:ext cx="78638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Group Presentation: Setting Time Limits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10439705" y="530352"/>
            <a:ext cx="1173175" cy="329184"/>
          </a:xfrm>
          <a:prstGeom prst="roundRect">
            <a:avLst>
              <a:gd name="adj" fmla="val 50000"/>
            </a:avLst>
          </a:prstGeom>
          <a:solidFill>
            <a:srgbClr val="CADCFC"/>
          </a:solidFill>
          <a:ln/>
        </p:spPr>
      </p:sp>
      <p:sp>
        <p:nvSpPr>
          <p:cNvPr id="6" name="Text 3"/>
          <p:cNvSpPr/>
          <p:nvPr/>
        </p:nvSpPr>
        <p:spPr>
          <a:xfrm>
            <a:off x="10439705" y="530352"/>
            <a:ext cx="1173175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Aayush Shah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548640" y="1225296"/>
            <a:ext cx="11064240" cy="0"/>
          </a:xfrm>
          <a:prstGeom prst="line">
            <a:avLst/>
          </a:prstGeom>
          <a:noFill/>
          <a:ln w="12700">
            <a:solidFill>
              <a:srgbClr val="E4E8F2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22960" y="1691640"/>
            <a:ext cx="1051560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 the total presentation time.</a:t>
            </a:r>
            <a:endParaRPr lang="en-US" sz="15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Allocate time fairly among speakers.</a:t>
            </a:r>
            <a:endParaRPr lang="en-US" sz="15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time limits for each section.</a:t>
            </a:r>
            <a:endParaRPr lang="en-US" sz="15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 time for introduction, conclusion, and questions.</a:t>
            </a:r>
            <a:endParaRPr lang="en-US" sz="15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Rehearse with a timer to avoid exceeding the limit.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133856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cs typeface="Calibri" pitchFamily="34" charset="-120"/>
              </a:rPr>
              <a:t>32</a:t>
            </a:r>
            <a:endParaRPr lang="en-US" sz="1000" dirty="0"/>
          </a:p>
        </p:txBody>
      </p:sp>
      <p:pic>
        <p:nvPicPr>
          <p:cNvPr id="17410" name="Picture 2" descr="Time limits create productive meetings - Jurassic Parliament">
            <a:extLst>
              <a:ext uri="{FF2B5EF4-FFF2-40B4-BE49-F238E27FC236}">
                <a16:creationId xmlns:a16="http://schemas.microsoft.com/office/drawing/2014/main" id="{3F4AD7C7-C29B-C616-17B4-474C08386B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39865" y="1702517"/>
            <a:ext cx="5208270" cy="3489541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65000" dist="50800" dir="12900000" kx="195000" ky="145000" algn="tl" rotWithShape="0">
              <a:srgbClr val="000000">
                <a:alpha val="30000"/>
              </a:srgbClr>
            </a:outerShdw>
          </a:effectLst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3" name="Image 0" descr="/home/claude/icons/arrow_right_circ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041" y="604601"/>
            <a:ext cx="272125" cy="2721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384048"/>
            <a:ext cx="78638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Group Presentation: Transitioning Between Speakers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10439705" y="530352"/>
            <a:ext cx="1173175" cy="329184"/>
          </a:xfrm>
          <a:prstGeom prst="roundRect">
            <a:avLst>
              <a:gd name="adj" fmla="val 50000"/>
            </a:avLst>
          </a:prstGeom>
          <a:solidFill>
            <a:srgbClr val="CADCFC"/>
          </a:solidFill>
          <a:ln/>
        </p:spPr>
      </p:sp>
      <p:sp>
        <p:nvSpPr>
          <p:cNvPr id="6" name="Text 3"/>
          <p:cNvSpPr/>
          <p:nvPr/>
        </p:nvSpPr>
        <p:spPr>
          <a:xfrm>
            <a:off x="10439705" y="530352"/>
            <a:ext cx="1173175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Aayush Shah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548640" y="1225296"/>
            <a:ext cx="11064240" cy="0"/>
          </a:xfrm>
          <a:prstGeom prst="line">
            <a:avLst/>
          </a:prstGeom>
          <a:noFill/>
          <a:ln w="12700">
            <a:solidFill>
              <a:srgbClr val="E4E8F2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22960" y="1965960"/>
            <a:ext cx="1051560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the change from one speaker to another smooth and clear.</a:t>
            </a:r>
            <a:endParaRPr lang="en-US" sz="14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Briefly summarize the completed section.</a:t>
            </a:r>
            <a:endParaRPr lang="en-US" sz="14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Introduce the next speaker or topic.</a:t>
            </a:r>
            <a:endParaRPr lang="en-US" sz="14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next speaker should be ready before the transition.</a:t>
            </a:r>
            <a:endParaRPr lang="en-US" sz="1400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35897658-55C8-B7FB-6247-27FE15E729D9}"/>
              </a:ext>
            </a:extLst>
          </p:cNvPr>
          <p:cNvGrpSpPr/>
          <p:nvPr/>
        </p:nvGrpSpPr>
        <p:grpSpPr>
          <a:xfrm>
            <a:off x="696041" y="4972561"/>
            <a:ext cx="9509760" cy="1051560"/>
            <a:chOff x="822960" y="3703320"/>
            <a:chExt cx="9509760" cy="1051560"/>
          </a:xfrm>
        </p:grpSpPr>
        <p:sp>
          <p:nvSpPr>
            <p:cNvPr id="9" name="Text 6"/>
            <p:cNvSpPr/>
            <p:nvPr/>
          </p:nvSpPr>
          <p:spPr>
            <a:xfrm>
              <a:off x="822960" y="3703320"/>
              <a:ext cx="2743200" cy="31089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50" b="1" dirty="0">
                  <a:solidFill>
                    <a:srgbClr val="1E276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Example</a:t>
              </a:r>
              <a:endParaRPr lang="en-US" sz="1450" dirty="0"/>
            </a:p>
          </p:txBody>
        </p:sp>
        <p:sp>
          <p:nvSpPr>
            <p:cNvPr id="10" name="Shape 7"/>
            <p:cNvSpPr/>
            <p:nvPr/>
          </p:nvSpPr>
          <p:spPr>
            <a:xfrm>
              <a:off x="822960" y="4069080"/>
              <a:ext cx="9509760" cy="685800"/>
            </a:xfrm>
            <a:prstGeom prst="roundRect">
              <a:avLst>
                <a:gd name="adj" fmla="val 10667"/>
              </a:avLst>
            </a:prstGeom>
            <a:solidFill>
              <a:srgbClr val="F5F7FC"/>
            </a:solidFill>
            <a:ln w="12700">
              <a:solidFill>
                <a:srgbClr val="CADCFC"/>
              </a:solidFill>
              <a:prstDash val="solid"/>
            </a:ln>
          </p:spPr>
        </p:sp>
        <p:sp>
          <p:nvSpPr>
            <p:cNvPr id="11" name="Text 8"/>
            <p:cNvSpPr/>
            <p:nvPr/>
          </p:nvSpPr>
          <p:spPr>
            <a:xfrm>
              <a:off x="1097280" y="4069080"/>
              <a:ext cx="8961120" cy="685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300" i="1" dirty="0">
                  <a:solidFill>
                    <a:srgbClr val="1E276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“Now that we have discussed planning, Member 3 will explain preparation.”</a:t>
              </a:r>
              <a:endParaRPr lang="en-US" sz="1300" dirty="0"/>
            </a:p>
          </p:txBody>
        </p:sp>
      </p:grpSp>
      <p:sp>
        <p:nvSpPr>
          <p:cNvPr id="12" name="Text 9"/>
          <p:cNvSpPr/>
          <p:nvPr/>
        </p:nvSpPr>
        <p:spPr>
          <a:xfrm>
            <a:off x="1133856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cs typeface="Calibri" pitchFamily="34" charset="-120"/>
              </a:rPr>
              <a:t>33</a:t>
            </a:r>
            <a:endParaRPr lang="en-US" sz="100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5742BA8F-9C68-61C2-2BF1-A0E822F27AC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7027" y="1421391"/>
            <a:ext cx="5423279" cy="3615519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3" name="Image 0" descr="/home/claude/icons/lay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041" y="604601"/>
            <a:ext cx="272125" cy="2721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384048"/>
            <a:ext cx="78638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Group Presentation: Graphic Aids and Handouts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10439705" y="530352"/>
            <a:ext cx="1173175" cy="329184"/>
          </a:xfrm>
          <a:prstGeom prst="roundRect">
            <a:avLst>
              <a:gd name="adj" fmla="val 50000"/>
            </a:avLst>
          </a:prstGeom>
          <a:solidFill>
            <a:srgbClr val="CADCFC"/>
          </a:solidFill>
          <a:ln/>
        </p:spPr>
      </p:sp>
      <p:sp>
        <p:nvSpPr>
          <p:cNvPr id="6" name="Text 3"/>
          <p:cNvSpPr/>
          <p:nvPr/>
        </p:nvSpPr>
        <p:spPr>
          <a:xfrm>
            <a:off x="10439705" y="530352"/>
            <a:ext cx="1173175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Aayush Shah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548640" y="1225296"/>
            <a:ext cx="11064240" cy="0"/>
          </a:xfrm>
          <a:prstGeom prst="line">
            <a:avLst/>
          </a:prstGeom>
          <a:noFill/>
          <a:ln w="12700">
            <a:solidFill>
              <a:srgbClr val="E4E8F2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22960" y="1691640"/>
            <a:ext cx="1051560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Coordinate slides so the whole presentation has a consistent design.</a:t>
            </a:r>
            <a:endParaRPr lang="en-US" sz="15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responsibility for preparing and checking visual aids.</a:t>
            </a:r>
            <a:endParaRPr lang="en-US" sz="15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sure charts and diagrams are readable.</a:t>
            </a:r>
            <a:endParaRPr lang="en-US" sz="15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useful handouts when they add value.</a:t>
            </a:r>
            <a:endParaRPr lang="en-US" sz="15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giving handouts that distract from the presentation.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133856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cs typeface="Calibri" pitchFamily="34" charset="-120"/>
              </a:rPr>
              <a:t>34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3" name="Image 0" descr="/home/claude/icons/help_circ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041" y="604601"/>
            <a:ext cx="272125" cy="2721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384048"/>
            <a:ext cx="78638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Group Presentation: Answering Questions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10439705" y="530352"/>
            <a:ext cx="1173175" cy="329184"/>
          </a:xfrm>
          <a:prstGeom prst="roundRect">
            <a:avLst>
              <a:gd name="adj" fmla="val 50000"/>
            </a:avLst>
          </a:prstGeom>
          <a:solidFill>
            <a:srgbClr val="CADCFC"/>
          </a:solidFill>
          <a:ln/>
        </p:spPr>
      </p:sp>
      <p:sp>
        <p:nvSpPr>
          <p:cNvPr id="6" name="Text 3"/>
          <p:cNvSpPr/>
          <p:nvPr/>
        </p:nvSpPr>
        <p:spPr>
          <a:xfrm>
            <a:off x="10439705" y="530352"/>
            <a:ext cx="1173175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Aayush Shah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548640" y="1225296"/>
            <a:ext cx="11064240" cy="0"/>
          </a:xfrm>
          <a:prstGeom prst="line">
            <a:avLst/>
          </a:prstGeom>
          <a:noFill/>
          <a:ln w="12700">
            <a:solidFill>
              <a:srgbClr val="E4E8F2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22960" y="1691640"/>
            <a:ext cx="1051560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 who will answer different types of questions.</a:t>
            </a:r>
            <a:endParaRPr lang="en-US" sz="15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to the complete question before responding.</a:t>
            </a:r>
            <a:endParaRPr lang="en-US" sz="15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briefly, clearly, and accurately.</a:t>
            </a:r>
            <a:endParaRPr lang="en-US" sz="15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unsure, acknowledge it rather than guessing.</a:t>
            </a:r>
            <a:endParaRPr lang="en-US" sz="15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members can add information when necessary.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133856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cs typeface="Calibri" pitchFamily="34" charset="-120"/>
              </a:rPr>
              <a:t>35</a:t>
            </a:r>
            <a:endParaRPr lang="en-US" sz="1000" dirty="0"/>
          </a:p>
        </p:txBody>
      </p:sp>
      <p:pic>
        <p:nvPicPr>
          <p:cNvPr id="18434" name="Picture 2" descr="Answering a question with a question - Organising Students">
            <a:extLst>
              <a:ext uri="{FF2B5EF4-FFF2-40B4-BE49-F238E27FC236}">
                <a16:creationId xmlns:a16="http://schemas.microsoft.com/office/drawing/2014/main" id="{C034025F-9AC0-0C3C-76C3-B59FADB5D0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19775" y="1426465"/>
            <a:ext cx="6067425" cy="4591050"/>
          </a:xfrm>
          <a:prstGeom prst="rect">
            <a:avLst/>
          </a:prstGeom>
          <a:ln w="127000" cap="rnd">
            <a:solidFill>
              <a:srgbClr val="FFFFFF"/>
            </a:solidFill>
          </a:ln>
          <a:effectLst>
            <a:outerShdw blurRad="76200" dist="95250" dir="10500000" sx="97000" sy="23000" kx="900000" algn="br" rotWithShape="0">
              <a:srgbClr val="000000">
                <a:alpha val="20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607040" y="5120640"/>
            <a:ext cx="3291840" cy="3291840"/>
          </a:xfrm>
          <a:prstGeom prst="ellipse">
            <a:avLst/>
          </a:prstGeom>
          <a:ln w="15875">
            <a:solidFill>
              <a:srgbClr val="33408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2960" y="1051560"/>
            <a:ext cx="960120" cy="9601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4" name="Image 0" descr="/home/claude/icons/clip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2591" y="1301191"/>
            <a:ext cx="460858" cy="46085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04672" y="2240280"/>
            <a:ext cx="8686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Planning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822960" y="3246120"/>
            <a:ext cx="87782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0"/>
              </a:spcAft>
              <a:buNone/>
            </a:pPr>
            <a:r>
              <a:rPr lang="en-US" sz="1550" dirty="0">
                <a:solidFill>
                  <a:srgbClr val="D9E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 is the process of deciding what information will be presented and how it will be presented.</a:t>
            </a:r>
            <a:endParaRPr lang="en-US" sz="155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550" dirty="0">
                <a:solidFill>
                  <a:srgbClr val="D9E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includes analyzing the audience, selecting the topic, choosing visual aids, considering the location, and managing time.</a:t>
            </a:r>
            <a:endParaRPr lang="en-US" sz="155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550" dirty="0">
                <a:solidFill>
                  <a:srgbClr val="D9E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planning reduces confusion and helps the speaker stay focused.</a:t>
            </a:r>
            <a:endParaRPr lang="en-US" sz="155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550" dirty="0">
                <a:solidFill>
                  <a:srgbClr val="D9E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also makes the presentation more organized and effective.</a:t>
            </a:r>
            <a:endParaRPr lang="en-US" sz="15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3" name="Image 0" descr="/home/claude/icons/us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041" y="604601"/>
            <a:ext cx="272125" cy="2721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384048"/>
            <a:ext cx="78638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Planning: Audience and Topic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10354666" y="530352"/>
            <a:ext cx="1258214" cy="329184"/>
          </a:xfrm>
          <a:prstGeom prst="roundRect">
            <a:avLst>
              <a:gd name="adj" fmla="val 50000"/>
            </a:avLst>
          </a:prstGeom>
          <a:solidFill>
            <a:srgbClr val="CADCFC"/>
          </a:solidFill>
          <a:ln/>
        </p:spPr>
      </p:sp>
      <p:sp>
        <p:nvSpPr>
          <p:cNvPr id="6" name="Text 3"/>
          <p:cNvSpPr/>
          <p:nvPr/>
        </p:nvSpPr>
        <p:spPr>
          <a:xfrm>
            <a:off x="10354666" y="530352"/>
            <a:ext cx="125821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Gaurav Thapa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548640" y="1225296"/>
            <a:ext cx="11064240" cy="0"/>
          </a:xfrm>
          <a:prstGeom prst="line">
            <a:avLst/>
          </a:prstGeom>
          <a:noFill/>
          <a:ln w="12700">
            <a:solidFill>
              <a:srgbClr val="E4E8F2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22960" y="1600200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Audience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822960" y="2011680"/>
            <a:ext cx="512064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audience determines the type and level of information included in a presentation.</a:t>
            </a:r>
            <a:endParaRPr lang="en-US" sz="14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are the listeners? What do they already know?</a:t>
            </a:r>
            <a:endParaRPr lang="en-US" sz="14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 they need or expect from the presentation?</a:t>
            </a:r>
            <a:endParaRPr lang="en-US" sz="1400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487193FB-9E08-B4EC-FAD9-C0490CB849F4}"/>
              </a:ext>
            </a:extLst>
          </p:cNvPr>
          <p:cNvGrpSpPr/>
          <p:nvPr/>
        </p:nvGrpSpPr>
        <p:grpSpPr>
          <a:xfrm>
            <a:off x="6362702" y="4628769"/>
            <a:ext cx="5029200" cy="2007870"/>
            <a:chOff x="6309360" y="1600200"/>
            <a:chExt cx="5029200" cy="2007870"/>
          </a:xfrm>
        </p:grpSpPr>
        <p:sp>
          <p:nvSpPr>
            <p:cNvPr id="10" name="Text 7"/>
            <p:cNvSpPr/>
            <p:nvPr/>
          </p:nvSpPr>
          <p:spPr>
            <a:xfrm>
              <a:off x="6309360" y="1600200"/>
              <a:ext cx="5029200" cy="31089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50" b="1" dirty="0">
                  <a:solidFill>
                    <a:srgbClr val="1E276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Topic</a:t>
              </a:r>
              <a:endParaRPr lang="en-US" sz="1450" dirty="0"/>
            </a:p>
          </p:txBody>
        </p:sp>
        <p:sp>
          <p:nvSpPr>
            <p:cNvPr id="11" name="Text 8"/>
            <p:cNvSpPr/>
            <p:nvPr/>
          </p:nvSpPr>
          <p:spPr>
            <a:xfrm>
              <a:off x="6309360" y="2011680"/>
              <a:ext cx="5029200" cy="6400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spcAft>
                  <a:spcPts val="1000"/>
                </a:spcAft>
                <a:buNone/>
              </a:pPr>
              <a:r>
                <a:rPr lang="en-US" sz="1400" dirty="0">
                  <a:solidFill>
                    <a:srgbClr val="33384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The topic should be clearly defined so that the presentation does not become too broad.</a:t>
              </a:r>
              <a:endParaRPr lang="en-US" sz="1400" dirty="0"/>
            </a:p>
          </p:txBody>
        </p:sp>
        <p:sp>
          <p:nvSpPr>
            <p:cNvPr id="12" name="Text 9"/>
            <p:cNvSpPr/>
            <p:nvPr/>
          </p:nvSpPr>
          <p:spPr>
            <a:xfrm>
              <a:off x="6309360" y="2697480"/>
              <a:ext cx="5029200" cy="91059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228600" indent="-228600">
                <a:spcAft>
                  <a:spcPts val="1000"/>
                </a:spcAft>
                <a:buSzPct val="100000"/>
                <a:buChar char="•"/>
              </a:pPr>
              <a:r>
                <a:rPr lang="en-US" sz="1400" dirty="0">
                  <a:solidFill>
                    <a:srgbClr val="33384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Define the scope and purpose of the topic.</a:t>
              </a:r>
              <a:endParaRPr lang="en-US" sz="1400" dirty="0"/>
            </a:p>
            <a:p>
              <a:pPr marL="228600" indent="-228600">
                <a:spcAft>
                  <a:spcPts val="1000"/>
                </a:spcAft>
                <a:buSzPct val="100000"/>
                <a:buChar char="•"/>
              </a:pPr>
              <a:r>
                <a:rPr lang="en-US" sz="1400" dirty="0">
                  <a:solidFill>
                    <a:srgbClr val="33384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Select information that directly supports the purpose.</a:t>
              </a:r>
              <a:endParaRPr lang="en-US" sz="1400" dirty="0"/>
            </a:p>
          </p:txBody>
        </p:sp>
      </p:grpSp>
      <p:sp>
        <p:nvSpPr>
          <p:cNvPr id="13" name="Text 10"/>
          <p:cNvSpPr/>
          <p:nvPr/>
        </p:nvSpPr>
        <p:spPr>
          <a:xfrm>
            <a:off x="1133856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pic>
        <p:nvPicPr>
          <p:cNvPr id="20482" name="Picture 2" descr="What is a Target Audience? - Smartpedia - t2informatik">
            <a:extLst>
              <a:ext uri="{FF2B5EF4-FFF2-40B4-BE49-F238E27FC236}">
                <a16:creationId xmlns:a16="http://schemas.microsoft.com/office/drawing/2014/main" id="{E9AE3E46-8BE0-4393-DEBC-8ED90B8F61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58906" y="1426465"/>
            <a:ext cx="4932996" cy="2929890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486" name="Picture 6" descr="How to Select Good Topics for Research | Exeed College">
            <a:extLst>
              <a:ext uri="{FF2B5EF4-FFF2-40B4-BE49-F238E27FC236}">
                <a16:creationId xmlns:a16="http://schemas.microsoft.com/office/drawing/2014/main" id="{9B41DAE3-7E6C-6A9E-2ABF-204525CCD99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270" r="13821" b="6184"/>
          <a:stretch>
            <a:fillRect/>
          </a:stretch>
        </p:blipFill>
        <p:spPr bwMode="auto">
          <a:xfrm>
            <a:off x="304800" y="3615252"/>
            <a:ext cx="5791200" cy="2910897"/>
          </a:xfrm>
          <a:prstGeom prst="ellipse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3" name="Image 0" descr="/home/claude/icons/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041" y="604601"/>
            <a:ext cx="272125" cy="2721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384048"/>
            <a:ext cx="78638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Planning: Graphic Aids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10354666" y="530352"/>
            <a:ext cx="1258214" cy="329184"/>
          </a:xfrm>
          <a:prstGeom prst="roundRect">
            <a:avLst>
              <a:gd name="adj" fmla="val 50000"/>
            </a:avLst>
          </a:prstGeom>
          <a:solidFill>
            <a:srgbClr val="CADCFC"/>
          </a:solidFill>
          <a:ln/>
        </p:spPr>
      </p:sp>
      <p:sp>
        <p:nvSpPr>
          <p:cNvPr id="6" name="Text 3"/>
          <p:cNvSpPr/>
          <p:nvPr/>
        </p:nvSpPr>
        <p:spPr>
          <a:xfrm>
            <a:off x="10354666" y="530352"/>
            <a:ext cx="125821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Gaurav Thapa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548640" y="1225296"/>
            <a:ext cx="11064240" cy="0"/>
          </a:xfrm>
          <a:prstGeom prst="line">
            <a:avLst/>
          </a:prstGeom>
          <a:noFill/>
          <a:ln w="12700">
            <a:solidFill>
              <a:srgbClr val="E4E8F2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22960" y="1600200"/>
            <a:ext cx="10515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45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Graphic aids are visual materials used to support and explain information.</a:t>
            </a:r>
            <a:endParaRPr lang="en-US" sz="145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45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include charts, graphs, tables, diagrams, photographs, and illustrations.</a:t>
            </a:r>
            <a:endParaRPr lang="en-US" sz="145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45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can make complex information easier to understand and remember.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822960" y="3246120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Guidelines for choosing what to illustrate: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822960" y="3657600"/>
            <a:ext cx="1051560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Illustrate information that is difficult to explain with words alone.</a:t>
            </a:r>
            <a:endParaRPr lang="en-US" sz="145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visuals for comparisons, processes, relationships, trends, and complex data.</a:t>
            </a:r>
            <a:endParaRPr lang="en-US" sz="145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visuals that improve understanding—not decoration.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1133856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3" name="Image 0" descr="/home/claude/icons/gri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041" y="604601"/>
            <a:ext cx="272125" cy="2721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384048"/>
            <a:ext cx="78638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Planning: Types of Graphic Aids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10354666" y="530352"/>
            <a:ext cx="1258214" cy="329184"/>
          </a:xfrm>
          <a:prstGeom prst="roundRect">
            <a:avLst>
              <a:gd name="adj" fmla="val 50000"/>
            </a:avLst>
          </a:prstGeom>
          <a:solidFill>
            <a:srgbClr val="CADCFC"/>
          </a:solidFill>
          <a:ln/>
        </p:spPr>
      </p:sp>
      <p:sp>
        <p:nvSpPr>
          <p:cNvPr id="6" name="Text 3"/>
          <p:cNvSpPr/>
          <p:nvPr/>
        </p:nvSpPr>
        <p:spPr>
          <a:xfrm>
            <a:off x="10354666" y="530352"/>
            <a:ext cx="125821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Gaurav Thapa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548640" y="1225296"/>
            <a:ext cx="11064240" cy="0"/>
          </a:xfrm>
          <a:prstGeom prst="line">
            <a:avLst/>
          </a:prstGeom>
          <a:noFill/>
          <a:ln w="12700">
            <a:solidFill>
              <a:srgbClr val="E4E8F2"/>
            </a:solidFill>
            <a:prstDash val="solid"/>
          </a:ln>
        </p:spPr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03D90428-EB3D-22B4-C9CA-6B370BF95B81}"/>
              </a:ext>
            </a:extLst>
          </p:cNvPr>
          <p:cNvGrpSpPr/>
          <p:nvPr/>
        </p:nvGrpSpPr>
        <p:grpSpPr>
          <a:xfrm>
            <a:off x="822960" y="1691640"/>
            <a:ext cx="3291840" cy="1965960"/>
            <a:chOff x="822960" y="1691640"/>
            <a:chExt cx="3291840" cy="1965960"/>
          </a:xfr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grpSpPr>
        <p:sp>
          <p:nvSpPr>
            <p:cNvPr id="8" name="Shape 5"/>
            <p:cNvSpPr/>
            <p:nvPr/>
          </p:nvSpPr>
          <p:spPr>
            <a:xfrm>
              <a:off x="822960" y="1691640"/>
              <a:ext cx="3291840" cy="1965960"/>
            </a:xfrm>
            <a:prstGeom prst="roundRect">
              <a:avLst>
                <a:gd name="adj" fmla="val 4186"/>
              </a:avLst>
            </a:prstGeom>
            <a:solidFill>
              <a:srgbClr val="F5F7FC"/>
            </a:solidFill>
            <a:ln w="12700">
              <a:solidFill>
                <a:srgbClr val="E4E8F2"/>
              </a:solidFill>
              <a:prstDash val="solid"/>
            </a:ln>
          </p:spPr>
        </p:sp>
        <p:sp>
          <p:nvSpPr>
            <p:cNvPr id="9" name="Shape 6"/>
            <p:cNvSpPr/>
            <p:nvPr/>
          </p:nvSpPr>
          <p:spPr>
            <a:xfrm>
              <a:off x="1078992" y="1947672"/>
              <a:ext cx="566928" cy="566928"/>
            </a:xfrm>
            <a:prstGeom prst="ellipse">
              <a:avLst/>
            </a:prstGeom>
            <a:solidFill>
              <a:srgbClr val="CADCFC"/>
            </a:solidFill>
            <a:ln/>
          </p:spPr>
        </p:sp>
        <p:pic>
          <p:nvPicPr>
            <p:cNvPr id="10" name="Image 1" descr="/home/claude/icons/bar_chart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226393" y="2095073"/>
              <a:ext cx="272125" cy="272125"/>
            </a:xfrm>
            <a:prstGeom prst="rect">
              <a:avLst/>
            </a:prstGeom>
          </p:spPr>
        </p:pic>
        <p:sp>
          <p:nvSpPr>
            <p:cNvPr id="11" name="Text 7"/>
            <p:cNvSpPr/>
            <p:nvPr/>
          </p:nvSpPr>
          <p:spPr>
            <a:xfrm>
              <a:off x="1078992" y="2651760"/>
              <a:ext cx="2779776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1500" b="1" dirty="0">
                  <a:solidFill>
                    <a:srgbClr val="1E2761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Charts</a:t>
              </a:r>
              <a:endParaRPr lang="en-US" sz="1500" dirty="0"/>
            </a:p>
          </p:txBody>
        </p:sp>
        <p:sp>
          <p:nvSpPr>
            <p:cNvPr id="12" name="Text 8"/>
            <p:cNvSpPr/>
            <p:nvPr/>
          </p:nvSpPr>
          <p:spPr>
            <a:xfrm>
              <a:off x="1078992" y="3108960"/>
              <a:ext cx="2779776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33384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Show comparisons or relationships</a:t>
              </a:r>
              <a:endParaRPr lang="en-US" sz="1400" dirty="0"/>
            </a:p>
          </p:txBody>
        </p:sp>
      </p:grpSp>
      <p:sp>
        <p:nvSpPr>
          <p:cNvPr id="38" name="Text 29"/>
          <p:cNvSpPr/>
          <p:nvPr/>
        </p:nvSpPr>
        <p:spPr>
          <a:xfrm>
            <a:off x="1133856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6811FA1E-BDED-14FF-C267-29A756E6FF30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3416" b="6666"/>
          <a:stretch>
            <a:fillRect/>
          </a:stretch>
        </p:blipFill>
        <p:spPr>
          <a:xfrm>
            <a:off x="4370833" y="1298448"/>
            <a:ext cx="7242048" cy="5363024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606F7FE-4249-C219-EC7D-E3DE492FE8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2590B313-A1AA-B3C4-F1A0-526AEE5B09F4}"/>
              </a:ext>
            </a:extLst>
          </p:cNvPr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3" name="Image 0" descr="/home/claude/icons/grid.png">
            <a:extLst>
              <a:ext uri="{FF2B5EF4-FFF2-40B4-BE49-F238E27FC236}">
                <a16:creationId xmlns:a16="http://schemas.microsoft.com/office/drawing/2014/main" id="{EF44D4E3-10DA-195C-16C3-34C94774C4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041" y="604601"/>
            <a:ext cx="272125" cy="272125"/>
          </a:xfrm>
          <a:prstGeom prst="rect">
            <a:avLst/>
          </a:prstGeom>
        </p:spPr>
      </p:pic>
      <p:sp>
        <p:nvSpPr>
          <p:cNvPr id="4" name="Text 1">
            <a:extLst>
              <a:ext uri="{FF2B5EF4-FFF2-40B4-BE49-F238E27FC236}">
                <a16:creationId xmlns:a16="http://schemas.microsoft.com/office/drawing/2014/main" id="{7A569F0B-E003-49DE-9FCC-BE0B2713104B}"/>
              </a:ext>
            </a:extLst>
          </p:cNvPr>
          <p:cNvSpPr/>
          <p:nvPr/>
        </p:nvSpPr>
        <p:spPr>
          <a:xfrm>
            <a:off x="1280160" y="384048"/>
            <a:ext cx="78638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Planning: Types of Graphic Aids</a:t>
            </a:r>
            <a:endParaRPr lang="en-US" sz="2400" dirty="0"/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DFF4EDB7-8760-BAAC-29FE-C2B0DF9C75A1}"/>
              </a:ext>
            </a:extLst>
          </p:cNvPr>
          <p:cNvSpPr/>
          <p:nvPr/>
        </p:nvSpPr>
        <p:spPr>
          <a:xfrm>
            <a:off x="10354666" y="530352"/>
            <a:ext cx="1258214" cy="329184"/>
          </a:xfrm>
          <a:prstGeom prst="roundRect">
            <a:avLst>
              <a:gd name="adj" fmla="val 50000"/>
            </a:avLst>
          </a:prstGeom>
          <a:solidFill>
            <a:srgbClr val="CADCFC"/>
          </a:solidFill>
          <a:ln/>
        </p:spPr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29CC4B86-3F4E-950E-CD60-8910787E0175}"/>
              </a:ext>
            </a:extLst>
          </p:cNvPr>
          <p:cNvSpPr/>
          <p:nvPr/>
        </p:nvSpPr>
        <p:spPr>
          <a:xfrm>
            <a:off x="10354666" y="530352"/>
            <a:ext cx="125821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Gaurav Thapa</a:t>
            </a:r>
            <a:endParaRPr lang="en-US" sz="1050" dirty="0"/>
          </a:p>
        </p:txBody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8A2473B6-C22B-94D2-AA66-2D1F512A4552}"/>
              </a:ext>
            </a:extLst>
          </p:cNvPr>
          <p:cNvSpPr/>
          <p:nvPr/>
        </p:nvSpPr>
        <p:spPr>
          <a:xfrm>
            <a:off x="548640" y="1225296"/>
            <a:ext cx="11064240" cy="0"/>
          </a:xfrm>
          <a:prstGeom prst="line">
            <a:avLst/>
          </a:prstGeom>
          <a:noFill/>
          <a:ln w="12700">
            <a:solidFill>
              <a:srgbClr val="E4E8F2"/>
            </a:solidFill>
            <a:prstDash val="solid"/>
          </a:ln>
        </p:spPr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B9B001A7-93F2-0E28-E839-D7A1B0D92895}"/>
              </a:ext>
            </a:extLst>
          </p:cNvPr>
          <p:cNvGrpSpPr/>
          <p:nvPr/>
        </p:nvGrpSpPr>
        <p:grpSpPr>
          <a:xfrm>
            <a:off x="566928" y="1649878"/>
            <a:ext cx="3291840" cy="1965960"/>
            <a:chOff x="4434840" y="1691640"/>
            <a:chExt cx="3291840" cy="1965960"/>
          </a:xfr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grpSpPr>
        <p:sp>
          <p:nvSpPr>
            <p:cNvPr id="13" name="Shape 9">
              <a:extLst>
                <a:ext uri="{FF2B5EF4-FFF2-40B4-BE49-F238E27FC236}">
                  <a16:creationId xmlns:a16="http://schemas.microsoft.com/office/drawing/2014/main" id="{FC64715E-6472-FF81-18E7-04BBB99FB11D}"/>
                </a:ext>
              </a:extLst>
            </p:cNvPr>
            <p:cNvSpPr/>
            <p:nvPr/>
          </p:nvSpPr>
          <p:spPr>
            <a:xfrm>
              <a:off x="4434840" y="1691640"/>
              <a:ext cx="3291840" cy="1965960"/>
            </a:xfrm>
            <a:prstGeom prst="roundRect">
              <a:avLst>
                <a:gd name="adj" fmla="val 4186"/>
              </a:avLst>
            </a:prstGeom>
            <a:solidFill>
              <a:srgbClr val="F5F7FC"/>
            </a:solidFill>
            <a:ln w="12700">
              <a:solidFill>
                <a:srgbClr val="E4E8F2"/>
              </a:solidFill>
              <a:prstDash val="soli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4" name="Shape 10">
              <a:extLst>
                <a:ext uri="{FF2B5EF4-FFF2-40B4-BE49-F238E27FC236}">
                  <a16:creationId xmlns:a16="http://schemas.microsoft.com/office/drawing/2014/main" id="{228C3E96-559D-7D28-F742-4B7E070D23DD}"/>
                </a:ext>
              </a:extLst>
            </p:cNvPr>
            <p:cNvSpPr/>
            <p:nvPr/>
          </p:nvSpPr>
          <p:spPr>
            <a:xfrm>
              <a:off x="4690872" y="1947672"/>
              <a:ext cx="566928" cy="566928"/>
            </a:xfrm>
            <a:prstGeom prst="ellipse">
              <a:avLst/>
            </a:prstGeom>
            <a:solidFill>
              <a:srgbClr val="CADCFC"/>
            </a:solidFill>
            <a:ln/>
          </p:spPr>
        </p:sp>
        <p:pic>
          <p:nvPicPr>
            <p:cNvPr id="15" name="Image 2" descr="/home/claude/icons/trending_up.png">
              <a:extLst>
                <a:ext uri="{FF2B5EF4-FFF2-40B4-BE49-F238E27FC236}">
                  <a16:creationId xmlns:a16="http://schemas.microsoft.com/office/drawing/2014/main" id="{815A3BB7-DE61-302B-7BE9-D518E85F658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838273" y="2095073"/>
              <a:ext cx="272125" cy="272125"/>
            </a:xfrm>
            <a:prstGeom prst="rect">
              <a:avLst/>
            </a:prstGeom>
          </p:spPr>
        </p:pic>
        <p:sp>
          <p:nvSpPr>
            <p:cNvPr id="16" name="Text 11">
              <a:extLst>
                <a:ext uri="{FF2B5EF4-FFF2-40B4-BE49-F238E27FC236}">
                  <a16:creationId xmlns:a16="http://schemas.microsoft.com/office/drawing/2014/main" id="{79FFED04-E86C-B4EC-B2E6-8B79BF97B5B5}"/>
                </a:ext>
              </a:extLst>
            </p:cNvPr>
            <p:cNvSpPr/>
            <p:nvPr/>
          </p:nvSpPr>
          <p:spPr>
            <a:xfrm>
              <a:off x="4690872" y="2651760"/>
              <a:ext cx="2779776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1500" b="1" dirty="0">
                  <a:solidFill>
                    <a:srgbClr val="1E2761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Graphs</a:t>
              </a:r>
              <a:endParaRPr lang="en-US" sz="1500" dirty="0"/>
            </a:p>
          </p:txBody>
        </p:sp>
        <p:sp>
          <p:nvSpPr>
            <p:cNvPr id="17" name="Text 12">
              <a:extLst>
                <a:ext uri="{FF2B5EF4-FFF2-40B4-BE49-F238E27FC236}">
                  <a16:creationId xmlns:a16="http://schemas.microsoft.com/office/drawing/2014/main" id="{2123709D-A0FD-A411-5513-68FE213BC653}"/>
                </a:ext>
              </a:extLst>
            </p:cNvPr>
            <p:cNvSpPr/>
            <p:nvPr/>
          </p:nvSpPr>
          <p:spPr>
            <a:xfrm>
              <a:off x="4690872" y="3108960"/>
              <a:ext cx="2779776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1150" dirty="0">
                  <a:solidFill>
                    <a:srgbClr val="33384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show trends and numerical data</a:t>
              </a:r>
              <a:endParaRPr lang="en-US" sz="1150" dirty="0"/>
            </a:p>
          </p:txBody>
        </p:sp>
      </p:grpSp>
      <p:sp>
        <p:nvSpPr>
          <p:cNvPr id="38" name="Text 29">
            <a:extLst>
              <a:ext uri="{FF2B5EF4-FFF2-40B4-BE49-F238E27FC236}">
                <a16:creationId xmlns:a16="http://schemas.microsoft.com/office/drawing/2014/main" id="{9F5C7BD3-E1EE-EEDB-3032-2DB69BB97A5F}"/>
              </a:ext>
            </a:extLst>
          </p:cNvPr>
          <p:cNvSpPr/>
          <p:nvPr/>
        </p:nvSpPr>
        <p:spPr>
          <a:xfrm>
            <a:off x="1133856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cs typeface="Calibri" pitchFamily="34" charset="-120"/>
              </a:rPr>
              <a:t>7</a:t>
            </a:r>
            <a:endParaRPr lang="en-US" sz="1000" dirty="0"/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54AAD630-EE62-5841-8CDE-A506575132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60029" y="1298448"/>
            <a:ext cx="6752851" cy="548424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9544368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675B79E-403C-5AE6-182E-75F4D90AEE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20E47C1D-3030-09BD-9673-29FFC0D5C99D}"/>
              </a:ext>
            </a:extLst>
          </p:cNvPr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3" name="Image 0" descr="/home/claude/icons/grid.png">
            <a:extLst>
              <a:ext uri="{FF2B5EF4-FFF2-40B4-BE49-F238E27FC236}">
                <a16:creationId xmlns:a16="http://schemas.microsoft.com/office/drawing/2014/main" id="{8146C7F8-C635-6D61-6921-A9E94507FD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041" y="604601"/>
            <a:ext cx="272125" cy="272125"/>
          </a:xfrm>
          <a:prstGeom prst="rect">
            <a:avLst/>
          </a:prstGeom>
        </p:spPr>
      </p:pic>
      <p:sp>
        <p:nvSpPr>
          <p:cNvPr id="4" name="Text 1">
            <a:extLst>
              <a:ext uri="{FF2B5EF4-FFF2-40B4-BE49-F238E27FC236}">
                <a16:creationId xmlns:a16="http://schemas.microsoft.com/office/drawing/2014/main" id="{6A03AE73-BCFB-4FD0-10F2-AD845C800B4F}"/>
              </a:ext>
            </a:extLst>
          </p:cNvPr>
          <p:cNvSpPr/>
          <p:nvPr/>
        </p:nvSpPr>
        <p:spPr>
          <a:xfrm>
            <a:off x="1280160" y="384048"/>
            <a:ext cx="78638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Planning: Types of Graphic Aids</a:t>
            </a:r>
            <a:endParaRPr lang="en-US" sz="2400" dirty="0"/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2325FAA8-99E4-1131-A50E-3A0F77A918EC}"/>
              </a:ext>
            </a:extLst>
          </p:cNvPr>
          <p:cNvSpPr/>
          <p:nvPr/>
        </p:nvSpPr>
        <p:spPr>
          <a:xfrm>
            <a:off x="10354666" y="530352"/>
            <a:ext cx="1258214" cy="329184"/>
          </a:xfrm>
          <a:prstGeom prst="roundRect">
            <a:avLst>
              <a:gd name="adj" fmla="val 50000"/>
            </a:avLst>
          </a:prstGeom>
          <a:solidFill>
            <a:srgbClr val="CADCFC"/>
          </a:solidFill>
          <a:ln/>
        </p:spPr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2E0C7B1D-01BB-D2F9-EA14-AAA29E25A26A}"/>
              </a:ext>
            </a:extLst>
          </p:cNvPr>
          <p:cNvSpPr/>
          <p:nvPr/>
        </p:nvSpPr>
        <p:spPr>
          <a:xfrm>
            <a:off x="10354666" y="530352"/>
            <a:ext cx="125821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Gaurav Thapa</a:t>
            </a:r>
            <a:endParaRPr lang="en-US" sz="1050" dirty="0"/>
          </a:p>
        </p:txBody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78FDBDBE-6317-70DB-4135-5E1156E04BB8}"/>
              </a:ext>
            </a:extLst>
          </p:cNvPr>
          <p:cNvSpPr/>
          <p:nvPr/>
        </p:nvSpPr>
        <p:spPr>
          <a:xfrm>
            <a:off x="548640" y="1225296"/>
            <a:ext cx="11064240" cy="0"/>
          </a:xfrm>
          <a:prstGeom prst="line">
            <a:avLst/>
          </a:prstGeom>
          <a:noFill/>
          <a:ln w="12700">
            <a:solidFill>
              <a:srgbClr val="E4E8F2"/>
            </a:solidFill>
            <a:prstDash val="solid"/>
          </a:ln>
        </p:spPr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A0770A03-6D3F-C75D-BA1A-2896DFD4DA41}"/>
              </a:ext>
            </a:extLst>
          </p:cNvPr>
          <p:cNvGrpSpPr/>
          <p:nvPr/>
        </p:nvGrpSpPr>
        <p:grpSpPr>
          <a:xfrm>
            <a:off x="548640" y="1600200"/>
            <a:ext cx="3035808" cy="1965960"/>
            <a:chOff x="8046720" y="1691640"/>
            <a:chExt cx="3291840" cy="1965960"/>
          </a:xfr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grpSpPr>
        <p:sp>
          <p:nvSpPr>
            <p:cNvPr id="18" name="Shape 13">
              <a:extLst>
                <a:ext uri="{FF2B5EF4-FFF2-40B4-BE49-F238E27FC236}">
                  <a16:creationId xmlns:a16="http://schemas.microsoft.com/office/drawing/2014/main" id="{508B1E3A-3437-AC31-35A0-FA5E04AB83CC}"/>
                </a:ext>
              </a:extLst>
            </p:cNvPr>
            <p:cNvSpPr/>
            <p:nvPr/>
          </p:nvSpPr>
          <p:spPr>
            <a:xfrm>
              <a:off x="8046720" y="1691640"/>
              <a:ext cx="3291840" cy="1965960"/>
            </a:xfrm>
            <a:prstGeom prst="roundRect">
              <a:avLst>
                <a:gd name="adj" fmla="val 4186"/>
              </a:avLst>
            </a:prstGeom>
            <a:solidFill>
              <a:srgbClr val="F5F7FC"/>
            </a:solidFill>
            <a:ln w="12700">
              <a:solidFill>
                <a:srgbClr val="E4E8F2"/>
              </a:solidFill>
              <a:prstDash val="solid"/>
            </a:ln>
          </p:spPr>
        </p:sp>
        <p:sp>
          <p:nvSpPr>
            <p:cNvPr id="19" name="Shape 14">
              <a:extLst>
                <a:ext uri="{FF2B5EF4-FFF2-40B4-BE49-F238E27FC236}">
                  <a16:creationId xmlns:a16="http://schemas.microsoft.com/office/drawing/2014/main" id="{24D791F8-9F15-7FBC-5CA7-C5DA187E045B}"/>
                </a:ext>
              </a:extLst>
            </p:cNvPr>
            <p:cNvSpPr/>
            <p:nvPr/>
          </p:nvSpPr>
          <p:spPr>
            <a:xfrm>
              <a:off x="8302752" y="1947672"/>
              <a:ext cx="566928" cy="566928"/>
            </a:xfrm>
            <a:prstGeom prst="ellipse">
              <a:avLst/>
            </a:prstGeom>
            <a:solidFill>
              <a:srgbClr val="CADCFC"/>
            </a:solidFill>
            <a:ln/>
          </p:spPr>
        </p:sp>
        <p:pic>
          <p:nvPicPr>
            <p:cNvPr id="20" name="Image 3" descr="/home/claude/icons/git_branch.png">
              <a:extLst>
                <a:ext uri="{FF2B5EF4-FFF2-40B4-BE49-F238E27FC236}">
                  <a16:creationId xmlns:a16="http://schemas.microsoft.com/office/drawing/2014/main" id="{A4E0C2A0-F3E7-44AC-ED94-104F6A6578C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450153" y="2095073"/>
              <a:ext cx="272125" cy="272125"/>
            </a:xfrm>
            <a:prstGeom prst="rect">
              <a:avLst/>
            </a:prstGeom>
          </p:spPr>
        </p:pic>
        <p:sp>
          <p:nvSpPr>
            <p:cNvPr id="21" name="Text 15">
              <a:extLst>
                <a:ext uri="{FF2B5EF4-FFF2-40B4-BE49-F238E27FC236}">
                  <a16:creationId xmlns:a16="http://schemas.microsoft.com/office/drawing/2014/main" id="{29BC12B4-0B19-B254-6CE1-595AB1FEA3F1}"/>
                </a:ext>
              </a:extLst>
            </p:cNvPr>
            <p:cNvSpPr/>
            <p:nvPr/>
          </p:nvSpPr>
          <p:spPr>
            <a:xfrm>
              <a:off x="8302752" y="2651760"/>
              <a:ext cx="2779776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1500" b="1" dirty="0">
                  <a:solidFill>
                    <a:srgbClr val="1E2761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Diagrams</a:t>
              </a:r>
              <a:endParaRPr lang="en-US" sz="1500" dirty="0"/>
            </a:p>
          </p:txBody>
        </p:sp>
        <p:sp>
          <p:nvSpPr>
            <p:cNvPr id="22" name="Text 16">
              <a:extLst>
                <a:ext uri="{FF2B5EF4-FFF2-40B4-BE49-F238E27FC236}">
                  <a16:creationId xmlns:a16="http://schemas.microsoft.com/office/drawing/2014/main" id="{D001FDC5-D6B1-10E8-181A-832222C31B38}"/>
                </a:ext>
              </a:extLst>
            </p:cNvPr>
            <p:cNvSpPr/>
            <p:nvPr/>
          </p:nvSpPr>
          <p:spPr>
            <a:xfrm>
              <a:off x="8302752" y="3108960"/>
              <a:ext cx="2779776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1150" dirty="0">
                  <a:solidFill>
                    <a:srgbClr val="33384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explain structures or processes</a:t>
              </a:r>
              <a:endParaRPr lang="en-US" sz="1150" dirty="0"/>
            </a:p>
          </p:txBody>
        </p:sp>
      </p:grpSp>
      <p:sp>
        <p:nvSpPr>
          <p:cNvPr id="38" name="Text 29">
            <a:extLst>
              <a:ext uri="{FF2B5EF4-FFF2-40B4-BE49-F238E27FC236}">
                <a16:creationId xmlns:a16="http://schemas.microsoft.com/office/drawing/2014/main" id="{30BFE4CF-744C-2CC1-9852-7FFCCF1FEEF9}"/>
              </a:ext>
            </a:extLst>
          </p:cNvPr>
          <p:cNvSpPr/>
          <p:nvPr/>
        </p:nvSpPr>
        <p:spPr>
          <a:xfrm>
            <a:off x="1133856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cs typeface="Calibri" pitchFamily="34" charset="-120"/>
              </a:rPr>
              <a:t>8</a:t>
            </a:r>
            <a:endParaRPr lang="en-US" sz="10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7661B1A-85D1-206C-1A0C-94EBB20B67CE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1845"/>
          <a:stretch>
            <a:fillRect/>
          </a:stretch>
        </p:blipFill>
        <p:spPr>
          <a:xfrm>
            <a:off x="3749040" y="957926"/>
            <a:ext cx="8297241" cy="55160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025398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1B79959-4A26-F6B9-30ED-51A6546B44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1108924-4869-F12D-A1CD-F1D9F007A4CF}"/>
              </a:ext>
            </a:extLst>
          </p:cNvPr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3" name="Image 0" descr="/home/claude/icons/grid.png">
            <a:extLst>
              <a:ext uri="{FF2B5EF4-FFF2-40B4-BE49-F238E27FC236}">
                <a16:creationId xmlns:a16="http://schemas.microsoft.com/office/drawing/2014/main" id="{7295DF73-90B7-6804-9858-75E2497F0F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041" y="604601"/>
            <a:ext cx="272125" cy="272125"/>
          </a:xfrm>
          <a:prstGeom prst="rect">
            <a:avLst/>
          </a:prstGeom>
        </p:spPr>
      </p:pic>
      <p:sp>
        <p:nvSpPr>
          <p:cNvPr id="4" name="Text 1">
            <a:extLst>
              <a:ext uri="{FF2B5EF4-FFF2-40B4-BE49-F238E27FC236}">
                <a16:creationId xmlns:a16="http://schemas.microsoft.com/office/drawing/2014/main" id="{87A0D7A6-5566-D734-A122-8746A8829C24}"/>
              </a:ext>
            </a:extLst>
          </p:cNvPr>
          <p:cNvSpPr/>
          <p:nvPr/>
        </p:nvSpPr>
        <p:spPr>
          <a:xfrm>
            <a:off x="1280160" y="384048"/>
            <a:ext cx="78638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Planning: Types of Graphic Aids</a:t>
            </a:r>
            <a:endParaRPr lang="en-US" sz="2400" dirty="0"/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403A767B-B270-65AC-468B-D0A8BABE6EC8}"/>
              </a:ext>
            </a:extLst>
          </p:cNvPr>
          <p:cNvSpPr/>
          <p:nvPr/>
        </p:nvSpPr>
        <p:spPr>
          <a:xfrm>
            <a:off x="10354666" y="530352"/>
            <a:ext cx="1258214" cy="329184"/>
          </a:xfrm>
          <a:prstGeom prst="roundRect">
            <a:avLst>
              <a:gd name="adj" fmla="val 50000"/>
            </a:avLst>
          </a:prstGeom>
          <a:solidFill>
            <a:srgbClr val="CADCFC"/>
          </a:solidFill>
          <a:ln/>
        </p:spPr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D406DB27-3231-2A1C-F756-A9550B8E3473}"/>
              </a:ext>
            </a:extLst>
          </p:cNvPr>
          <p:cNvSpPr/>
          <p:nvPr/>
        </p:nvSpPr>
        <p:spPr>
          <a:xfrm>
            <a:off x="10354666" y="530352"/>
            <a:ext cx="125821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Gaurav Thapa</a:t>
            </a:r>
            <a:endParaRPr lang="en-US" sz="1050" dirty="0"/>
          </a:p>
        </p:txBody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08E4BAA6-2E1A-5344-C110-E003EE5C074D}"/>
              </a:ext>
            </a:extLst>
          </p:cNvPr>
          <p:cNvSpPr/>
          <p:nvPr/>
        </p:nvSpPr>
        <p:spPr>
          <a:xfrm>
            <a:off x="548640" y="1225296"/>
            <a:ext cx="11064240" cy="0"/>
          </a:xfrm>
          <a:prstGeom prst="line">
            <a:avLst/>
          </a:prstGeom>
          <a:noFill/>
          <a:ln w="12700">
            <a:solidFill>
              <a:srgbClr val="E4E8F2"/>
            </a:solidFill>
            <a:prstDash val="solid"/>
          </a:ln>
        </p:spPr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2CF692E4-085A-0305-2613-5C916F5E877C}"/>
              </a:ext>
            </a:extLst>
          </p:cNvPr>
          <p:cNvGrpSpPr/>
          <p:nvPr/>
        </p:nvGrpSpPr>
        <p:grpSpPr>
          <a:xfrm>
            <a:off x="696041" y="1533054"/>
            <a:ext cx="3291840" cy="1965960"/>
            <a:chOff x="822960" y="3977640"/>
            <a:chExt cx="3291840" cy="1965960"/>
          </a:xfr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grpSpPr>
        <p:sp>
          <p:nvSpPr>
            <p:cNvPr id="23" name="Shape 17">
              <a:extLst>
                <a:ext uri="{FF2B5EF4-FFF2-40B4-BE49-F238E27FC236}">
                  <a16:creationId xmlns:a16="http://schemas.microsoft.com/office/drawing/2014/main" id="{AA8EA399-3570-5C30-0D7A-FF7D3E0F319F}"/>
                </a:ext>
              </a:extLst>
            </p:cNvPr>
            <p:cNvSpPr/>
            <p:nvPr/>
          </p:nvSpPr>
          <p:spPr>
            <a:xfrm>
              <a:off x="822960" y="3977640"/>
              <a:ext cx="3291840" cy="1965960"/>
            </a:xfrm>
            <a:prstGeom prst="roundRect">
              <a:avLst>
                <a:gd name="adj" fmla="val 4186"/>
              </a:avLst>
            </a:prstGeom>
            <a:solidFill>
              <a:srgbClr val="F5F7FC"/>
            </a:solidFill>
            <a:ln w="12700">
              <a:solidFill>
                <a:srgbClr val="E4E8F2"/>
              </a:solidFill>
              <a:prstDash val="solid"/>
            </a:ln>
          </p:spPr>
        </p:sp>
        <p:sp>
          <p:nvSpPr>
            <p:cNvPr id="24" name="Shape 18">
              <a:extLst>
                <a:ext uri="{FF2B5EF4-FFF2-40B4-BE49-F238E27FC236}">
                  <a16:creationId xmlns:a16="http://schemas.microsoft.com/office/drawing/2014/main" id="{C734692C-6993-102B-CCBD-C013636FB7FF}"/>
                </a:ext>
              </a:extLst>
            </p:cNvPr>
            <p:cNvSpPr/>
            <p:nvPr/>
          </p:nvSpPr>
          <p:spPr>
            <a:xfrm>
              <a:off x="1078992" y="4233672"/>
              <a:ext cx="566928" cy="566928"/>
            </a:xfrm>
            <a:prstGeom prst="ellipse">
              <a:avLst/>
            </a:prstGeom>
            <a:solidFill>
              <a:srgbClr val="CADCFC"/>
            </a:solidFill>
            <a:ln/>
          </p:spPr>
        </p:sp>
        <p:pic>
          <p:nvPicPr>
            <p:cNvPr id="25" name="Image 4" descr="/home/claude/icons/layers.png">
              <a:extLst>
                <a:ext uri="{FF2B5EF4-FFF2-40B4-BE49-F238E27FC236}">
                  <a16:creationId xmlns:a16="http://schemas.microsoft.com/office/drawing/2014/main" id="{FB83C911-F554-77D2-626B-B2E244B767E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226393" y="4381073"/>
              <a:ext cx="272125" cy="272125"/>
            </a:xfrm>
            <a:prstGeom prst="rect">
              <a:avLst/>
            </a:prstGeom>
          </p:spPr>
        </p:pic>
        <p:sp>
          <p:nvSpPr>
            <p:cNvPr id="26" name="Text 19">
              <a:extLst>
                <a:ext uri="{FF2B5EF4-FFF2-40B4-BE49-F238E27FC236}">
                  <a16:creationId xmlns:a16="http://schemas.microsoft.com/office/drawing/2014/main" id="{41A9C80B-AE22-8EAB-7C08-72EADA5B88EA}"/>
                </a:ext>
              </a:extLst>
            </p:cNvPr>
            <p:cNvSpPr/>
            <p:nvPr/>
          </p:nvSpPr>
          <p:spPr>
            <a:xfrm>
              <a:off x="1078992" y="4937760"/>
              <a:ext cx="2779776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1500" b="1" dirty="0">
                  <a:solidFill>
                    <a:srgbClr val="1E2761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Tables</a:t>
              </a:r>
              <a:endParaRPr lang="en-US" sz="1500" dirty="0"/>
            </a:p>
          </p:txBody>
        </p:sp>
        <p:sp>
          <p:nvSpPr>
            <p:cNvPr id="27" name="Text 20">
              <a:extLst>
                <a:ext uri="{FF2B5EF4-FFF2-40B4-BE49-F238E27FC236}">
                  <a16:creationId xmlns:a16="http://schemas.microsoft.com/office/drawing/2014/main" id="{6B773AD8-F37A-F1D0-7F1B-2E32CD82B1BD}"/>
                </a:ext>
              </a:extLst>
            </p:cNvPr>
            <p:cNvSpPr/>
            <p:nvPr/>
          </p:nvSpPr>
          <p:spPr>
            <a:xfrm>
              <a:off x="1078992" y="5394960"/>
              <a:ext cx="2779776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1150" dirty="0">
                  <a:solidFill>
                    <a:srgbClr val="33384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organize detailed information</a:t>
              </a:r>
              <a:endParaRPr lang="en-US" sz="1150" dirty="0"/>
            </a:p>
          </p:txBody>
        </p:sp>
      </p:grpSp>
      <p:sp>
        <p:nvSpPr>
          <p:cNvPr id="38" name="Text 29">
            <a:extLst>
              <a:ext uri="{FF2B5EF4-FFF2-40B4-BE49-F238E27FC236}">
                <a16:creationId xmlns:a16="http://schemas.microsoft.com/office/drawing/2014/main" id="{CDEEA554-6D73-78C7-8942-5C22BAE8574E}"/>
              </a:ext>
            </a:extLst>
          </p:cNvPr>
          <p:cNvSpPr/>
          <p:nvPr/>
        </p:nvSpPr>
        <p:spPr>
          <a:xfrm>
            <a:off x="1133856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cs typeface="Calibri" pitchFamily="34" charset="-120"/>
              </a:rPr>
              <a:t>9</a:t>
            </a:r>
            <a:endParaRPr lang="en-US" sz="10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025FFDF-EFA7-2EF6-3C3F-2673A66A23AB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1186"/>
          <a:stretch>
            <a:fillRect/>
          </a:stretch>
        </p:blipFill>
        <p:spPr>
          <a:xfrm>
            <a:off x="4042472" y="1147574"/>
            <a:ext cx="8092439" cy="5330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779852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593C992-E318-CF1A-5139-157F00B13D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4824B9CF-766C-E3B3-7277-7B58F2CE3802}"/>
              </a:ext>
            </a:extLst>
          </p:cNvPr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3" name="Image 0" descr="/home/claude/icons/grid.png">
            <a:extLst>
              <a:ext uri="{FF2B5EF4-FFF2-40B4-BE49-F238E27FC236}">
                <a16:creationId xmlns:a16="http://schemas.microsoft.com/office/drawing/2014/main" id="{3725B002-F07A-FB77-C777-A0D28AC203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041" y="604601"/>
            <a:ext cx="272125" cy="272125"/>
          </a:xfrm>
          <a:prstGeom prst="rect">
            <a:avLst/>
          </a:prstGeom>
        </p:spPr>
      </p:pic>
      <p:sp>
        <p:nvSpPr>
          <p:cNvPr id="4" name="Text 1">
            <a:extLst>
              <a:ext uri="{FF2B5EF4-FFF2-40B4-BE49-F238E27FC236}">
                <a16:creationId xmlns:a16="http://schemas.microsoft.com/office/drawing/2014/main" id="{106AE0B5-E327-7604-FD2F-D62D6D0B21A8}"/>
              </a:ext>
            </a:extLst>
          </p:cNvPr>
          <p:cNvSpPr/>
          <p:nvPr/>
        </p:nvSpPr>
        <p:spPr>
          <a:xfrm>
            <a:off x="1280160" y="384048"/>
            <a:ext cx="78638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Planning: Types of Graphic Aids</a:t>
            </a:r>
            <a:endParaRPr lang="en-US" sz="2400" dirty="0"/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67D34EE5-C8C1-7AF4-7A0F-FBF727237B39}"/>
              </a:ext>
            </a:extLst>
          </p:cNvPr>
          <p:cNvSpPr/>
          <p:nvPr/>
        </p:nvSpPr>
        <p:spPr>
          <a:xfrm>
            <a:off x="10354666" y="530352"/>
            <a:ext cx="1258214" cy="329184"/>
          </a:xfrm>
          <a:prstGeom prst="roundRect">
            <a:avLst>
              <a:gd name="adj" fmla="val 50000"/>
            </a:avLst>
          </a:prstGeom>
          <a:solidFill>
            <a:srgbClr val="CADCFC"/>
          </a:solidFill>
          <a:ln/>
        </p:spPr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89B88AD9-37C6-E5B0-60EC-016719CC1F36}"/>
              </a:ext>
            </a:extLst>
          </p:cNvPr>
          <p:cNvSpPr/>
          <p:nvPr/>
        </p:nvSpPr>
        <p:spPr>
          <a:xfrm>
            <a:off x="10354666" y="530352"/>
            <a:ext cx="125821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Gaurav Thapa</a:t>
            </a:r>
            <a:endParaRPr lang="en-US" sz="1050" dirty="0"/>
          </a:p>
        </p:txBody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BCCB3E60-DB6C-BF5B-FBEA-9E07D6DE84B8}"/>
              </a:ext>
            </a:extLst>
          </p:cNvPr>
          <p:cNvSpPr/>
          <p:nvPr/>
        </p:nvSpPr>
        <p:spPr>
          <a:xfrm>
            <a:off x="548640" y="1225296"/>
            <a:ext cx="11064240" cy="0"/>
          </a:xfrm>
          <a:prstGeom prst="line">
            <a:avLst/>
          </a:prstGeom>
          <a:noFill/>
          <a:ln w="12700">
            <a:solidFill>
              <a:srgbClr val="E4E8F2"/>
            </a:solidFill>
            <a:prstDash val="solid"/>
          </a:ln>
        </p:spPr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202DDF33-F045-E0AE-E940-1F7DC2A01521}"/>
              </a:ext>
            </a:extLst>
          </p:cNvPr>
          <p:cNvGrpSpPr/>
          <p:nvPr/>
        </p:nvGrpSpPr>
        <p:grpSpPr>
          <a:xfrm>
            <a:off x="696041" y="1591057"/>
            <a:ext cx="3291840" cy="1965960"/>
            <a:chOff x="4434840" y="3977640"/>
            <a:chExt cx="3291840" cy="1965960"/>
          </a:xfr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grpSpPr>
        <p:sp>
          <p:nvSpPr>
            <p:cNvPr id="28" name="Shape 21">
              <a:extLst>
                <a:ext uri="{FF2B5EF4-FFF2-40B4-BE49-F238E27FC236}">
                  <a16:creationId xmlns:a16="http://schemas.microsoft.com/office/drawing/2014/main" id="{59F574F7-43C4-197B-279E-E8E1524ECB30}"/>
                </a:ext>
              </a:extLst>
            </p:cNvPr>
            <p:cNvSpPr/>
            <p:nvPr/>
          </p:nvSpPr>
          <p:spPr>
            <a:xfrm>
              <a:off x="4434840" y="3977640"/>
              <a:ext cx="3291840" cy="1965960"/>
            </a:xfrm>
            <a:prstGeom prst="roundRect">
              <a:avLst>
                <a:gd name="adj" fmla="val 4186"/>
              </a:avLst>
            </a:prstGeom>
            <a:solidFill>
              <a:srgbClr val="F5F7FC"/>
            </a:solidFill>
            <a:ln w="12700">
              <a:solidFill>
                <a:srgbClr val="E4E8F2"/>
              </a:solidFill>
              <a:prstDash val="solid"/>
            </a:ln>
          </p:spPr>
        </p:sp>
        <p:sp>
          <p:nvSpPr>
            <p:cNvPr id="29" name="Shape 22">
              <a:extLst>
                <a:ext uri="{FF2B5EF4-FFF2-40B4-BE49-F238E27FC236}">
                  <a16:creationId xmlns:a16="http://schemas.microsoft.com/office/drawing/2014/main" id="{3E11D87B-990F-08F1-68EB-B5388BE9DDEE}"/>
                </a:ext>
              </a:extLst>
            </p:cNvPr>
            <p:cNvSpPr/>
            <p:nvPr/>
          </p:nvSpPr>
          <p:spPr>
            <a:xfrm>
              <a:off x="4690872" y="4233672"/>
              <a:ext cx="566928" cy="566928"/>
            </a:xfrm>
            <a:prstGeom prst="ellipse">
              <a:avLst/>
            </a:prstGeom>
            <a:solidFill>
              <a:srgbClr val="CADCFC"/>
            </a:solidFill>
            <a:ln/>
          </p:spPr>
        </p:sp>
        <p:pic>
          <p:nvPicPr>
            <p:cNvPr id="30" name="Image 5" descr="/home/claude/icons/camera.png">
              <a:extLst>
                <a:ext uri="{FF2B5EF4-FFF2-40B4-BE49-F238E27FC236}">
                  <a16:creationId xmlns:a16="http://schemas.microsoft.com/office/drawing/2014/main" id="{D250D294-C7B4-BBFC-76B9-3F8ADBE59CE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838273" y="4381073"/>
              <a:ext cx="272125" cy="272125"/>
            </a:xfrm>
            <a:prstGeom prst="rect">
              <a:avLst/>
            </a:prstGeom>
          </p:spPr>
        </p:pic>
        <p:sp>
          <p:nvSpPr>
            <p:cNvPr id="31" name="Text 23">
              <a:extLst>
                <a:ext uri="{FF2B5EF4-FFF2-40B4-BE49-F238E27FC236}">
                  <a16:creationId xmlns:a16="http://schemas.microsoft.com/office/drawing/2014/main" id="{3C75CD2B-4DFC-D321-7AD0-E356D7743E37}"/>
                </a:ext>
              </a:extLst>
            </p:cNvPr>
            <p:cNvSpPr/>
            <p:nvPr/>
          </p:nvSpPr>
          <p:spPr>
            <a:xfrm>
              <a:off x="4690872" y="4937760"/>
              <a:ext cx="2779776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1500" b="1" dirty="0">
                  <a:solidFill>
                    <a:srgbClr val="1E2761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Photographs / illustrations</a:t>
              </a:r>
              <a:endParaRPr lang="en-US" sz="1500" dirty="0"/>
            </a:p>
          </p:txBody>
        </p:sp>
        <p:sp>
          <p:nvSpPr>
            <p:cNvPr id="32" name="Text 24">
              <a:extLst>
                <a:ext uri="{FF2B5EF4-FFF2-40B4-BE49-F238E27FC236}">
                  <a16:creationId xmlns:a16="http://schemas.microsoft.com/office/drawing/2014/main" id="{CC886578-3DA3-A463-55E3-28306C0A552E}"/>
                </a:ext>
              </a:extLst>
            </p:cNvPr>
            <p:cNvSpPr/>
            <p:nvPr/>
          </p:nvSpPr>
          <p:spPr>
            <a:xfrm>
              <a:off x="4690872" y="5394960"/>
              <a:ext cx="2779776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1150" dirty="0">
                  <a:solidFill>
                    <a:srgbClr val="33384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show objects or examples</a:t>
              </a:r>
              <a:endParaRPr lang="en-US" sz="1150" dirty="0"/>
            </a:p>
          </p:txBody>
        </p:sp>
      </p:grpSp>
      <p:sp>
        <p:nvSpPr>
          <p:cNvPr id="38" name="Text 29">
            <a:extLst>
              <a:ext uri="{FF2B5EF4-FFF2-40B4-BE49-F238E27FC236}">
                <a16:creationId xmlns:a16="http://schemas.microsoft.com/office/drawing/2014/main" id="{B393B385-2A21-1F6F-706A-9AB482C5670A}"/>
              </a:ext>
            </a:extLst>
          </p:cNvPr>
          <p:cNvSpPr/>
          <p:nvPr/>
        </p:nvSpPr>
        <p:spPr>
          <a:xfrm>
            <a:off x="1133856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cs typeface="Calibri" pitchFamily="34" charset="-120"/>
              </a:rPr>
              <a:t>10</a:t>
            </a:r>
            <a:endParaRPr lang="en-US" sz="10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E439403-E505-ABB6-9F86-A7C09515623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43913" y="1353313"/>
            <a:ext cx="7766117" cy="4919468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286288875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A6A9725-2134-6DA2-AE69-F51C2F1BBA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7CE5CF18-2187-ED56-CA57-C6CBFF602354}"/>
              </a:ext>
            </a:extLst>
          </p:cNvPr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3" name="Image 0" descr="/home/claude/icons/grid.png">
            <a:extLst>
              <a:ext uri="{FF2B5EF4-FFF2-40B4-BE49-F238E27FC236}">
                <a16:creationId xmlns:a16="http://schemas.microsoft.com/office/drawing/2014/main" id="{8693BA37-85ED-1B59-725F-B8868D2D50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041" y="604601"/>
            <a:ext cx="272125" cy="272125"/>
          </a:xfrm>
          <a:prstGeom prst="rect">
            <a:avLst/>
          </a:prstGeom>
        </p:spPr>
      </p:pic>
      <p:sp>
        <p:nvSpPr>
          <p:cNvPr id="4" name="Text 1">
            <a:extLst>
              <a:ext uri="{FF2B5EF4-FFF2-40B4-BE49-F238E27FC236}">
                <a16:creationId xmlns:a16="http://schemas.microsoft.com/office/drawing/2014/main" id="{3692FA28-DD38-2588-919C-3EAD8889290C}"/>
              </a:ext>
            </a:extLst>
          </p:cNvPr>
          <p:cNvSpPr/>
          <p:nvPr/>
        </p:nvSpPr>
        <p:spPr>
          <a:xfrm>
            <a:off x="1280160" y="384048"/>
            <a:ext cx="78638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Planning: Types of Graphic Aids</a:t>
            </a:r>
            <a:endParaRPr lang="en-US" sz="2400" dirty="0"/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BE4D0054-3A87-B586-741C-CB6E72FDE503}"/>
              </a:ext>
            </a:extLst>
          </p:cNvPr>
          <p:cNvSpPr/>
          <p:nvPr/>
        </p:nvSpPr>
        <p:spPr>
          <a:xfrm>
            <a:off x="10354666" y="530352"/>
            <a:ext cx="1258214" cy="329184"/>
          </a:xfrm>
          <a:prstGeom prst="roundRect">
            <a:avLst>
              <a:gd name="adj" fmla="val 50000"/>
            </a:avLst>
          </a:prstGeom>
          <a:solidFill>
            <a:srgbClr val="CADCFC"/>
          </a:solidFill>
          <a:ln/>
        </p:spPr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84C4ADCA-A662-D74B-60D3-592FB14DD5A4}"/>
              </a:ext>
            </a:extLst>
          </p:cNvPr>
          <p:cNvSpPr/>
          <p:nvPr/>
        </p:nvSpPr>
        <p:spPr>
          <a:xfrm>
            <a:off x="10354666" y="530352"/>
            <a:ext cx="125821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Gaurav Thapa</a:t>
            </a:r>
            <a:endParaRPr lang="en-US" sz="1050" dirty="0"/>
          </a:p>
        </p:txBody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F156C9D5-DCBB-6C9F-51CB-C45DC52E5102}"/>
              </a:ext>
            </a:extLst>
          </p:cNvPr>
          <p:cNvSpPr/>
          <p:nvPr/>
        </p:nvSpPr>
        <p:spPr>
          <a:xfrm>
            <a:off x="548640" y="1225296"/>
            <a:ext cx="11064240" cy="0"/>
          </a:xfrm>
          <a:prstGeom prst="line">
            <a:avLst/>
          </a:prstGeom>
          <a:noFill/>
          <a:ln w="12700">
            <a:solidFill>
              <a:srgbClr val="E4E8F2"/>
            </a:solidFill>
            <a:prstDash val="solid"/>
          </a:ln>
        </p:spPr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7543544E-B6AA-E87F-CE52-AA1611DD340A}"/>
              </a:ext>
            </a:extLst>
          </p:cNvPr>
          <p:cNvGrpSpPr/>
          <p:nvPr/>
        </p:nvGrpSpPr>
        <p:grpSpPr>
          <a:xfrm>
            <a:off x="696041" y="1691638"/>
            <a:ext cx="3291840" cy="1653968"/>
            <a:chOff x="8046720" y="3977640"/>
            <a:chExt cx="3291840" cy="1965960"/>
          </a:xfr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grpSpPr>
        <p:sp>
          <p:nvSpPr>
            <p:cNvPr id="33" name="Shape 25">
              <a:extLst>
                <a:ext uri="{FF2B5EF4-FFF2-40B4-BE49-F238E27FC236}">
                  <a16:creationId xmlns:a16="http://schemas.microsoft.com/office/drawing/2014/main" id="{B6E2E646-860C-47A2-38BA-B9BE912AC523}"/>
                </a:ext>
              </a:extLst>
            </p:cNvPr>
            <p:cNvSpPr/>
            <p:nvPr/>
          </p:nvSpPr>
          <p:spPr>
            <a:xfrm>
              <a:off x="8046720" y="3977640"/>
              <a:ext cx="3291840" cy="1965960"/>
            </a:xfrm>
            <a:prstGeom prst="roundRect">
              <a:avLst>
                <a:gd name="adj" fmla="val 4186"/>
              </a:avLst>
            </a:prstGeom>
            <a:solidFill>
              <a:srgbClr val="F5F7FC"/>
            </a:solidFill>
            <a:ln w="12700">
              <a:solidFill>
                <a:srgbClr val="E4E8F2"/>
              </a:solidFill>
              <a:prstDash val="solid"/>
            </a:ln>
          </p:spPr>
        </p:sp>
        <p:sp>
          <p:nvSpPr>
            <p:cNvPr id="34" name="Shape 26">
              <a:extLst>
                <a:ext uri="{FF2B5EF4-FFF2-40B4-BE49-F238E27FC236}">
                  <a16:creationId xmlns:a16="http://schemas.microsoft.com/office/drawing/2014/main" id="{009616DB-F2F2-1DF9-9D18-E25536D325F9}"/>
                </a:ext>
              </a:extLst>
            </p:cNvPr>
            <p:cNvSpPr/>
            <p:nvPr/>
          </p:nvSpPr>
          <p:spPr>
            <a:xfrm>
              <a:off x="8302752" y="4233672"/>
              <a:ext cx="566928" cy="566928"/>
            </a:xfrm>
            <a:prstGeom prst="ellipse">
              <a:avLst/>
            </a:prstGeom>
            <a:solidFill>
              <a:srgbClr val="CADCFC"/>
            </a:solidFill>
            <a:ln/>
          </p:spPr>
        </p:sp>
        <p:pic>
          <p:nvPicPr>
            <p:cNvPr id="35" name="Image 6" descr="/home/claude/icons/map.png">
              <a:extLst>
                <a:ext uri="{FF2B5EF4-FFF2-40B4-BE49-F238E27FC236}">
                  <a16:creationId xmlns:a16="http://schemas.microsoft.com/office/drawing/2014/main" id="{AF81D3B6-21F0-51A6-3B06-014637608AC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450153" y="4381073"/>
              <a:ext cx="272125" cy="272125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sp>
          <p:nvSpPr>
            <p:cNvPr id="36" name="Text 27">
              <a:extLst>
                <a:ext uri="{FF2B5EF4-FFF2-40B4-BE49-F238E27FC236}">
                  <a16:creationId xmlns:a16="http://schemas.microsoft.com/office/drawing/2014/main" id="{40A22FD9-3F55-67F9-827C-9D4CCDCC307B}"/>
                </a:ext>
              </a:extLst>
            </p:cNvPr>
            <p:cNvSpPr/>
            <p:nvPr/>
          </p:nvSpPr>
          <p:spPr>
            <a:xfrm>
              <a:off x="8302752" y="4937760"/>
              <a:ext cx="2779776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1500" b="1" dirty="0">
                  <a:solidFill>
                    <a:srgbClr val="1E2761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Maps</a:t>
              </a:r>
              <a:endParaRPr lang="en-US" sz="1500" dirty="0"/>
            </a:p>
          </p:txBody>
        </p:sp>
        <p:sp>
          <p:nvSpPr>
            <p:cNvPr id="37" name="Text 28">
              <a:extLst>
                <a:ext uri="{FF2B5EF4-FFF2-40B4-BE49-F238E27FC236}">
                  <a16:creationId xmlns:a16="http://schemas.microsoft.com/office/drawing/2014/main" id="{671C310C-FE2C-71FE-6241-0ED79852DF91}"/>
                </a:ext>
              </a:extLst>
            </p:cNvPr>
            <p:cNvSpPr/>
            <p:nvPr/>
          </p:nvSpPr>
          <p:spPr>
            <a:xfrm>
              <a:off x="8302752" y="5394960"/>
              <a:ext cx="2779776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1150" dirty="0">
                  <a:solidFill>
                    <a:srgbClr val="33384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show location and spatial relationships</a:t>
              </a:r>
              <a:endParaRPr lang="en-US" sz="1150" dirty="0"/>
            </a:p>
          </p:txBody>
        </p:sp>
      </p:grpSp>
      <p:sp>
        <p:nvSpPr>
          <p:cNvPr id="38" name="Text 29">
            <a:extLst>
              <a:ext uri="{FF2B5EF4-FFF2-40B4-BE49-F238E27FC236}">
                <a16:creationId xmlns:a16="http://schemas.microsoft.com/office/drawing/2014/main" id="{E0EF9E10-60EE-CA15-EBF7-3C8903510DE2}"/>
              </a:ext>
            </a:extLst>
          </p:cNvPr>
          <p:cNvSpPr/>
          <p:nvPr/>
        </p:nvSpPr>
        <p:spPr>
          <a:xfrm>
            <a:off x="1133856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cs typeface="Calibri" pitchFamily="34" charset="-120"/>
              </a:rPr>
              <a:t>11</a:t>
            </a:r>
            <a:endParaRPr lang="en-US" sz="1000" dirty="0"/>
          </a:p>
        </p:txBody>
      </p:sp>
      <p:pic>
        <p:nvPicPr>
          <p:cNvPr id="4098" name="Picture 2" descr="World Record For Longest Drive In Golf | Detroit Chinatown">
            <a:extLst>
              <a:ext uri="{FF2B5EF4-FFF2-40B4-BE49-F238E27FC236}">
                <a16:creationId xmlns:a16="http://schemas.microsoft.com/office/drawing/2014/main" id="{6BDF3DE5-A921-1C8A-F9C6-17308159CF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18233" y="1277160"/>
            <a:ext cx="7368967" cy="5123640"/>
          </a:xfrm>
          <a:custGeom>
            <a:avLst/>
            <a:gdLst>
              <a:gd name="csX0" fmla="*/ 0 w 7368967"/>
              <a:gd name="csY0" fmla="*/ 0 h 5123640"/>
              <a:gd name="csX1" fmla="*/ 345775 w 7368967"/>
              <a:gd name="csY1" fmla="*/ 0 h 5123640"/>
              <a:gd name="csX2" fmla="*/ 765239 w 7368967"/>
              <a:gd name="csY2" fmla="*/ 0 h 5123640"/>
              <a:gd name="csX3" fmla="*/ 1479462 w 7368967"/>
              <a:gd name="csY3" fmla="*/ 0 h 5123640"/>
              <a:gd name="csX4" fmla="*/ 2046305 w 7368967"/>
              <a:gd name="csY4" fmla="*/ 0 h 5123640"/>
              <a:gd name="csX5" fmla="*/ 2613149 w 7368967"/>
              <a:gd name="csY5" fmla="*/ 0 h 5123640"/>
              <a:gd name="csX6" fmla="*/ 3032613 w 7368967"/>
              <a:gd name="csY6" fmla="*/ 0 h 5123640"/>
              <a:gd name="csX7" fmla="*/ 3378388 w 7368967"/>
              <a:gd name="csY7" fmla="*/ 0 h 5123640"/>
              <a:gd name="csX8" fmla="*/ 3797852 w 7368967"/>
              <a:gd name="csY8" fmla="*/ 0 h 5123640"/>
              <a:gd name="csX9" fmla="*/ 4217316 w 7368967"/>
              <a:gd name="csY9" fmla="*/ 0 h 5123640"/>
              <a:gd name="csX10" fmla="*/ 4710470 w 7368967"/>
              <a:gd name="csY10" fmla="*/ 0 h 5123640"/>
              <a:gd name="csX11" fmla="*/ 5277314 w 7368967"/>
              <a:gd name="csY11" fmla="*/ 0 h 5123640"/>
              <a:gd name="csX12" fmla="*/ 5991537 w 7368967"/>
              <a:gd name="csY12" fmla="*/ 0 h 5123640"/>
              <a:gd name="csX13" fmla="*/ 6705760 w 7368967"/>
              <a:gd name="csY13" fmla="*/ 0 h 5123640"/>
              <a:gd name="csX14" fmla="*/ 7368967 w 7368967"/>
              <a:gd name="csY14" fmla="*/ 0 h 5123640"/>
              <a:gd name="csX15" fmla="*/ 7368967 w 7368967"/>
              <a:gd name="csY15" fmla="*/ 569293 h 5123640"/>
              <a:gd name="csX16" fmla="*/ 7368967 w 7368967"/>
              <a:gd name="csY16" fmla="*/ 1241059 h 5123640"/>
              <a:gd name="csX17" fmla="*/ 7368967 w 7368967"/>
              <a:gd name="csY17" fmla="*/ 1810353 h 5123640"/>
              <a:gd name="csX18" fmla="*/ 7368967 w 7368967"/>
              <a:gd name="csY18" fmla="*/ 2379646 h 5123640"/>
              <a:gd name="csX19" fmla="*/ 7368967 w 7368967"/>
              <a:gd name="csY19" fmla="*/ 2948939 h 5123640"/>
              <a:gd name="csX20" fmla="*/ 7368967 w 7368967"/>
              <a:gd name="csY20" fmla="*/ 3466996 h 5123640"/>
              <a:gd name="csX21" fmla="*/ 7368967 w 7368967"/>
              <a:gd name="csY21" fmla="*/ 4138763 h 5123640"/>
              <a:gd name="csX22" fmla="*/ 7368967 w 7368967"/>
              <a:gd name="csY22" fmla="*/ 5123640 h 5123640"/>
              <a:gd name="csX23" fmla="*/ 6728434 w 7368967"/>
              <a:gd name="csY23" fmla="*/ 5123640 h 5123640"/>
              <a:gd name="csX24" fmla="*/ 6235280 w 7368967"/>
              <a:gd name="csY24" fmla="*/ 5123640 h 5123640"/>
              <a:gd name="csX25" fmla="*/ 5742126 w 7368967"/>
              <a:gd name="csY25" fmla="*/ 5123640 h 5123640"/>
              <a:gd name="csX26" fmla="*/ 5322662 w 7368967"/>
              <a:gd name="csY26" fmla="*/ 5123640 h 5123640"/>
              <a:gd name="csX27" fmla="*/ 4608439 w 7368967"/>
              <a:gd name="csY27" fmla="*/ 5123640 h 5123640"/>
              <a:gd name="csX28" fmla="*/ 3967905 w 7368967"/>
              <a:gd name="csY28" fmla="*/ 5123640 h 5123640"/>
              <a:gd name="csX29" fmla="*/ 3474751 w 7368967"/>
              <a:gd name="csY29" fmla="*/ 5123640 h 5123640"/>
              <a:gd name="csX30" fmla="*/ 2981597 w 7368967"/>
              <a:gd name="csY30" fmla="*/ 5123640 h 5123640"/>
              <a:gd name="csX31" fmla="*/ 2414754 w 7368967"/>
              <a:gd name="csY31" fmla="*/ 5123640 h 5123640"/>
              <a:gd name="csX32" fmla="*/ 1700531 w 7368967"/>
              <a:gd name="csY32" fmla="*/ 5123640 h 5123640"/>
              <a:gd name="csX33" fmla="*/ 1281067 w 7368967"/>
              <a:gd name="csY33" fmla="*/ 5123640 h 5123640"/>
              <a:gd name="csX34" fmla="*/ 714223 w 7368967"/>
              <a:gd name="csY34" fmla="*/ 5123640 h 5123640"/>
              <a:gd name="csX35" fmla="*/ 0 w 7368967"/>
              <a:gd name="csY35" fmla="*/ 5123640 h 5123640"/>
              <a:gd name="csX36" fmla="*/ 0 w 7368967"/>
              <a:gd name="csY36" fmla="*/ 4451874 h 5123640"/>
              <a:gd name="csX37" fmla="*/ 0 w 7368967"/>
              <a:gd name="csY37" fmla="*/ 3831344 h 5123640"/>
              <a:gd name="csX38" fmla="*/ 0 w 7368967"/>
              <a:gd name="csY38" fmla="*/ 3210814 h 5123640"/>
              <a:gd name="csX39" fmla="*/ 0 w 7368967"/>
              <a:gd name="csY39" fmla="*/ 2692757 h 5123640"/>
              <a:gd name="csX40" fmla="*/ 0 w 7368967"/>
              <a:gd name="csY40" fmla="*/ 2123464 h 5123640"/>
              <a:gd name="csX41" fmla="*/ 0 w 7368967"/>
              <a:gd name="csY41" fmla="*/ 1656644 h 5123640"/>
              <a:gd name="csX42" fmla="*/ 0 w 7368967"/>
              <a:gd name="csY42" fmla="*/ 1087350 h 5123640"/>
              <a:gd name="csX43" fmla="*/ 0 w 7368967"/>
              <a:gd name="csY43" fmla="*/ 569293 h 5123640"/>
              <a:gd name="csX44" fmla="*/ 0 w 7368967"/>
              <a:gd name="csY44" fmla="*/ 0 h 512364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</a:cxnLst>
            <a:rect l="l" t="t" r="r" b="b"/>
            <a:pathLst>
              <a:path w="7368967" h="5123640" extrusionOk="0">
                <a:moveTo>
                  <a:pt x="0" y="0"/>
                </a:moveTo>
                <a:cubicBezTo>
                  <a:pt x="71670" y="-19102"/>
                  <a:pt x="181879" y="12541"/>
                  <a:pt x="345775" y="0"/>
                </a:cubicBezTo>
                <a:cubicBezTo>
                  <a:pt x="509671" y="-12541"/>
                  <a:pt x="680495" y="12302"/>
                  <a:pt x="765239" y="0"/>
                </a:cubicBezTo>
                <a:cubicBezTo>
                  <a:pt x="849983" y="-12302"/>
                  <a:pt x="1133932" y="57762"/>
                  <a:pt x="1479462" y="0"/>
                </a:cubicBezTo>
                <a:cubicBezTo>
                  <a:pt x="1824992" y="-57762"/>
                  <a:pt x="1789310" y="32822"/>
                  <a:pt x="2046305" y="0"/>
                </a:cubicBezTo>
                <a:cubicBezTo>
                  <a:pt x="2303300" y="-32822"/>
                  <a:pt x="2385648" y="239"/>
                  <a:pt x="2613149" y="0"/>
                </a:cubicBezTo>
                <a:cubicBezTo>
                  <a:pt x="2840650" y="-239"/>
                  <a:pt x="2840835" y="46128"/>
                  <a:pt x="3032613" y="0"/>
                </a:cubicBezTo>
                <a:cubicBezTo>
                  <a:pt x="3224391" y="-46128"/>
                  <a:pt x="3292904" y="30240"/>
                  <a:pt x="3378388" y="0"/>
                </a:cubicBezTo>
                <a:cubicBezTo>
                  <a:pt x="3463873" y="-30240"/>
                  <a:pt x="3689630" y="4384"/>
                  <a:pt x="3797852" y="0"/>
                </a:cubicBezTo>
                <a:cubicBezTo>
                  <a:pt x="3906074" y="-4384"/>
                  <a:pt x="4125678" y="42750"/>
                  <a:pt x="4217316" y="0"/>
                </a:cubicBezTo>
                <a:cubicBezTo>
                  <a:pt x="4308954" y="-42750"/>
                  <a:pt x="4557822" y="36796"/>
                  <a:pt x="4710470" y="0"/>
                </a:cubicBezTo>
                <a:cubicBezTo>
                  <a:pt x="4863118" y="-36796"/>
                  <a:pt x="5068175" y="15139"/>
                  <a:pt x="5277314" y="0"/>
                </a:cubicBezTo>
                <a:cubicBezTo>
                  <a:pt x="5486453" y="-15139"/>
                  <a:pt x="5807511" y="62089"/>
                  <a:pt x="5991537" y="0"/>
                </a:cubicBezTo>
                <a:cubicBezTo>
                  <a:pt x="6175563" y="-62089"/>
                  <a:pt x="6562527" y="35412"/>
                  <a:pt x="6705760" y="0"/>
                </a:cubicBezTo>
                <a:cubicBezTo>
                  <a:pt x="6848993" y="-35412"/>
                  <a:pt x="7134006" y="54548"/>
                  <a:pt x="7368967" y="0"/>
                </a:cubicBezTo>
                <a:cubicBezTo>
                  <a:pt x="7370603" y="191685"/>
                  <a:pt x="7333682" y="312618"/>
                  <a:pt x="7368967" y="569293"/>
                </a:cubicBezTo>
                <a:cubicBezTo>
                  <a:pt x="7404252" y="825968"/>
                  <a:pt x="7333335" y="1046440"/>
                  <a:pt x="7368967" y="1241059"/>
                </a:cubicBezTo>
                <a:cubicBezTo>
                  <a:pt x="7404599" y="1435678"/>
                  <a:pt x="7314639" y="1550289"/>
                  <a:pt x="7368967" y="1810353"/>
                </a:cubicBezTo>
                <a:cubicBezTo>
                  <a:pt x="7423295" y="2070417"/>
                  <a:pt x="7312399" y="2259173"/>
                  <a:pt x="7368967" y="2379646"/>
                </a:cubicBezTo>
                <a:cubicBezTo>
                  <a:pt x="7425535" y="2500119"/>
                  <a:pt x="7306650" y="2797008"/>
                  <a:pt x="7368967" y="2948939"/>
                </a:cubicBezTo>
                <a:cubicBezTo>
                  <a:pt x="7431284" y="3100870"/>
                  <a:pt x="7332145" y="3247439"/>
                  <a:pt x="7368967" y="3466996"/>
                </a:cubicBezTo>
                <a:cubicBezTo>
                  <a:pt x="7405789" y="3686553"/>
                  <a:pt x="7332151" y="3959258"/>
                  <a:pt x="7368967" y="4138763"/>
                </a:cubicBezTo>
                <a:cubicBezTo>
                  <a:pt x="7405783" y="4318268"/>
                  <a:pt x="7341859" y="4656546"/>
                  <a:pt x="7368967" y="5123640"/>
                </a:cubicBezTo>
                <a:cubicBezTo>
                  <a:pt x="7050577" y="5162076"/>
                  <a:pt x="6994830" y="5068425"/>
                  <a:pt x="6728434" y="5123640"/>
                </a:cubicBezTo>
                <a:cubicBezTo>
                  <a:pt x="6462038" y="5178855"/>
                  <a:pt x="6429654" y="5081693"/>
                  <a:pt x="6235280" y="5123640"/>
                </a:cubicBezTo>
                <a:cubicBezTo>
                  <a:pt x="6040906" y="5165587"/>
                  <a:pt x="5938770" y="5104654"/>
                  <a:pt x="5742126" y="5123640"/>
                </a:cubicBezTo>
                <a:cubicBezTo>
                  <a:pt x="5545482" y="5142626"/>
                  <a:pt x="5500097" y="5073998"/>
                  <a:pt x="5322662" y="5123640"/>
                </a:cubicBezTo>
                <a:cubicBezTo>
                  <a:pt x="5145227" y="5173282"/>
                  <a:pt x="4802227" y="5091749"/>
                  <a:pt x="4608439" y="5123640"/>
                </a:cubicBezTo>
                <a:cubicBezTo>
                  <a:pt x="4414651" y="5155531"/>
                  <a:pt x="4213709" y="5108106"/>
                  <a:pt x="3967905" y="5123640"/>
                </a:cubicBezTo>
                <a:cubicBezTo>
                  <a:pt x="3722101" y="5139174"/>
                  <a:pt x="3624427" y="5110192"/>
                  <a:pt x="3474751" y="5123640"/>
                </a:cubicBezTo>
                <a:cubicBezTo>
                  <a:pt x="3325075" y="5137088"/>
                  <a:pt x="3085515" y="5082740"/>
                  <a:pt x="2981597" y="5123640"/>
                </a:cubicBezTo>
                <a:cubicBezTo>
                  <a:pt x="2877679" y="5164540"/>
                  <a:pt x="2669465" y="5085718"/>
                  <a:pt x="2414754" y="5123640"/>
                </a:cubicBezTo>
                <a:cubicBezTo>
                  <a:pt x="2160043" y="5161562"/>
                  <a:pt x="2008757" y="5081742"/>
                  <a:pt x="1700531" y="5123640"/>
                </a:cubicBezTo>
                <a:cubicBezTo>
                  <a:pt x="1392305" y="5165538"/>
                  <a:pt x="1443217" y="5112228"/>
                  <a:pt x="1281067" y="5123640"/>
                </a:cubicBezTo>
                <a:cubicBezTo>
                  <a:pt x="1118917" y="5135052"/>
                  <a:pt x="988542" y="5080195"/>
                  <a:pt x="714223" y="5123640"/>
                </a:cubicBezTo>
                <a:cubicBezTo>
                  <a:pt x="439904" y="5167085"/>
                  <a:pt x="195421" y="5068335"/>
                  <a:pt x="0" y="5123640"/>
                </a:cubicBezTo>
                <a:cubicBezTo>
                  <a:pt x="-51674" y="4802643"/>
                  <a:pt x="77283" y="4599189"/>
                  <a:pt x="0" y="4451874"/>
                </a:cubicBezTo>
                <a:cubicBezTo>
                  <a:pt x="-77283" y="4304559"/>
                  <a:pt x="46546" y="4133706"/>
                  <a:pt x="0" y="3831344"/>
                </a:cubicBezTo>
                <a:cubicBezTo>
                  <a:pt x="-46546" y="3528982"/>
                  <a:pt x="36606" y="3350243"/>
                  <a:pt x="0" y="3210814"/>
                </a:cubicBezTo>
                <a:cubicBezTo>
                  <a:pt x="-36606" y="3071385"/>
                  <a:pt x="8927" y="2894400"/>
                  <a:pt x="0" y="2692757"/>
                </a:cubicBezTo>
                <a:cubicBezTo>
                  <a:pt x="-8927" y="2491114"/>
                  <a:pt x="17171" y="2309003"/>
                  <a:pt x="0" y="2123464"/>
                </a:cubicBezTo>
                <a:cubicBezTo>
                  <a:pt x="-17171" y="1937925"/>
                  <a:pt x="39515" y="1801345"/>
                  <a:pt x="0" y="1656644"/>
                </a:cubicBezTo>
                <a:cubicBezTo>
                  <a:pt x="-39515" y="1511943"/>
                  <a:pt x="10536" y="1283343"/>
                  <a:pt x="0" y="1087350"/>
                </a:cubicBezTo>
                <a:cubicBezTo>
                  <a:pt x="-10536" y="891357"/>
                  <a:pt x="15599" y="824042"/>
                  <a:pt x="0" y="569293"/>
                </a:cubicBezTo>
                <a:cubicBezTo>
                  <a:pt x="-15599" y="314544"/>
                  <a:pt x="39636" y="283082"/>
                  <a:pt x="0" y="0"/>
                </a:cubicBezTo>
                <a:close/>
              </a:path>
            </a:pathLst>
          </a:custGeom>
          <a:noFill/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2650216993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4998972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3" name="Image 0" descr="/home/claude/icons/check_squa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041" y="604601"/>
            <a:ext cx="272125" cy="2721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384048"/>
            <a:ext cx="78638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Planning: Guidelines for Creating Graphic Aids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10354666" y="530352"/>
            <a:ext cx="1258214" cy="329184"/>
          </a:xfrm>
          <a:prstGeom prst="roundRect">
            <a:avLst>
              <a:gd name="adj" fmla="val 50000"/>
            </a:avLst>
          </a:prstGeom>
          <a:solidFill>
            <a:srgbClr val="CADCFC"/>
          </a:solidFill>
          <a:ln/>
        </p:spPr>
      </p:sp>
      <p:sp>
        <p:nvSpPr>
          <p:cNvPr id="6" name="Text 3"/>
          <p:cNvSpPr/>
          <p:nvPr/>
        </p:nvSpPr>
        <p:spPr>
          <a:xfrm>
            <a:off x="10354666" y="530352"/>
            <a:ext cx="125821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Gaurav Thapa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548640" y="1225296"/>
            <a:ext cx="11064240" cy="0"/>
          </a:xfrm>
          <a:prstGeom prst="line">
            <a:avLst/>
          </a:prstGeom>
          <a:noFill/>
          <a:ln w="12700">
            <a:solidFill>
              <a:srgbClr val="E4E8F2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22960" y="1691640"/>
            <a:ext cx="1051560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300"/>
              </a:spcAft>
              <a:buSzPct val="100000"/>
              <a:buChar char="•"/>
            </a:pPr>
            <a:r>
              <a:rPr lang="en-US" sz="155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the graphic simple and focused.</a:t>
            </a:r>
            <a:endParaRPr lang="en-US" sz="1550" dirty="0"/>
          </a:p>
          <a:p>
            <a:pPr marL="228600" indent="-228600">
              <a:spcAft>
                <a:spcPts val="1300"/>
              </a:spcAft>
              <a:buSzPct val="100000"/>
              <a:buChar char="•"/>
            </a:pPr>
            <a:r>
              <a:rPr lang="en-US" sz="155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readable labels, fonts, and symbols.</a:t>
            </a:r>
            <a:endParaRPr lang="en-US" sz="1550" dirty="0"/>
          </a:p>
          <a:p>
            <a:pPr marL="228600" indent="-228600">
              <a:spcAft>
                <a:spcPts val="1300"/>
              </a:spcAft>
              <a:buSzPct val="100000"/>
              <a:buChar char="•"/>
            </a:pPr>
            <a:r>
              <a:rPr lang="en-US" sz="155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each visual a clear purpose.</a:t>
            </a:r>
            <a:endParaRPr lang="en-US" sz="1550" dirty="0"/>
          </a:p>
          <a:p>
            <a:pPr marL="228600" indent="-228600">
              <a:spcAft>
                <a:spcPts val="1300"/>
              </a:spcAft>
              <a:buSzPct val="100000"/>
              <a:buChar char="•"/>
            </a:pPr>
            <a:r>
              <a:rPr lang="en-US" sz="155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unnecessary details and overcrowding.</a:t>
            </a:r>
            <a:endParaRPr lang="en-US" sz="1550" dirty="0"/>
          </a:p>
          <a:p>
            <a:pPr marL="228600" indent="-228600">
              <a:spcAft>
                <a:spcPts val="1300"/>
              </a:spcAft>
              <a:buSzPct val="100000"/>
              <a:buChar char="•"/>
            </a:pPr>
            <a:r>
              <a:rPr lang="en-US" sz="155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visuals large enough for the audience to see.</a:t>
            </a:r>
            <a:endParaRPr lang="en-US" sz="1550" dirty="0"/>
          </a:p>
          <a:p>
            <a:pPr marL="228600" indent="-228600">
              <a:spcAft>
                <a:spcPts val="1300"/>
              </a:spcAft>
              <a:buSzPct val="100000"/>
              <a:buChar char="•"/>
            </a:pPr>
            <a:r>
              <a:rPr lang="en-US" sz="155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the important parts while presenting.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1133856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cs typeface="Calibri" pitchFamily="34" charset="-120"/>
              </a:rPr>
              <a:t>12</a:t>
            </a:r>
            <a:endParaRPr lang="en-US" sz="1000" dirty="0"/>
          </a:p>
        </p:txBody>
      </p:sp>
      <p:pic>
        <p:nvPicPr>
          <p:cNvPr id="5126" name="Picture 6" descr="What Are Content Guidelines &amp; Why You Need Them">
            <a:extLst>
              <a:ext uri="{FF2B5EF4-FFF2-40B4-BE49-F238E27FC236}">
                <a16:creationId xmlns:a16="http://schemas.microsoft.com/office/drawing/2014/main" id="{3972FEEE-48DD-F2B5-9FFA-A5C0760ACDA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157" t="10348" r="20523" b="10846"/>
          <a:stretch>
            <a:fillRect/>
          </a:stretch>
        </p:blipFill>
        <p:spPr bwMode="auto">
          <a:xfrm>
            <a:off x="6196084" y="1630702"/>
            <a:ext cx="5295331" cy="4108658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3" name="Image 0" descr="/home/claude/icons/map_p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041" y="604601"/>
            <a:ext cx="272125" cy="2721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384048"/>
            <a:ext cx="78638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Planning: Location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10354666" y="530352"/>
            <a:ext cx="1258214" cy="329184"/>
          </a:xfrm>
          <a:prstGeom prst="roundRect">
            <a:avLst>
              <a:gd name="adj" fmla="val 50000"/>
            </a:avLst>
          </a:prstGeom>
          <a:solidFill>
            <a:srgbClr val="CADCFC"/>
          </a:solidFill>
          <a:ln/>
        </p:spPr>
      </p:sp>
      <p:sp>
        <p:nvSpPr>
          <p:cNvPr id="6" name="Text 3"/>
          <p:cNvSpPr/>
          <p:nvPr/>
        </p:nvSpPr>
        <p:spPr>
          <a:xfrm>
            <a:off x="10354666" y="530352"/>
            <a:ext cx="125821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Gaurav Thapa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548640" y="1225296"/>
            <a:ext cx="11064240" cy="0"/>
          </a:xfrm>
          <a:prstGeom prst="line">
            <a:avLst/>
          </a:prstGeom>
          <a:noFill/>
          <a:ln w="12700">
            <a:solidFill>
              <a:srgbClr val="E4E8F2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22960" y="1600200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822960" y="1993392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25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location is the physical place where the presentation will take place.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822960" y="2450592"/>
            <a:ext cx="512064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speaker should understand the room size, seating arrangement, stage position, and visibility.</a:t>
            </a:r>
            <a:endParaRPr lang="en-US" sz="125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location can affect how the speaker moves and interacts with the audience.</a:t>
            </a:r>
            <a:endParaRPr lang="en-US" sz="125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Checking the location beforehand helps prevent problems during the presentation.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1133856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cs typeface="Calibri" pitchFamily="34" charset="-120"/>
              </a:rPr>
              <a:t>13</a:t>
            </a:r>
            <a:endParaRPr lang="en-US" sz="1000" dirty="0"/>
          </a:p>
        </p:txBody>
      </p:sp>
      <p:pic>
        <p:nvPicPr>
          <p:cNvPr id="6146" name="Picture 2" descr="Presentation audience Vectors - Download Free High-Quality Vectors |  Magnific (formerly Freepik)">
            <a:extLst>
              <a:ext uri="{FF2B5EF4-FFF2-40B4-BE49-F238E27FC236}">
                <a16:creationId xmlns:a16="http://schemas.microsoft.com/office/drawing/2014/main" id="{E1ADE5A4-DA90-0296-1D2F-6D9FBE90FC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9400" y="1393449"/>
            <a:ext cx="4445076" cy="2469400"/>
          </a:xfrm>
          <a:prstGeom prst="rect">
            <a:avLst/>
          </a:prstGeom>
          <a:ln w="127000" cap="rnd">
            <a:solidFill>
              <a:srgbClr val="FFFFFF"/>
            </a:solidFill>
          </a:ln>
          <a:effectLst>
            <a:outerShdw blurRad="76200" dist="95250" dir="10500000" sx="97000" sy="23000" kx="900000" algn="br" rotWithShape="0">
              <a:srgbClr val="000000">
                <a:alpha val="20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6" name="Group 15">
            <a:extLst>
              <a:ext uri="{FF2B5EF4-FFF2-40B4-BE49-F238E27FC236}">
                <a16:creationId xmlns:a16="http://schemas.microsoft.com/office/drawing/2014/main" id="{E274BCBA-CF41-C6C2-35C0-BDAFFF693F63}"/>
              </a:ext>
            </a:extLst>
          </p:cNvPr>
          <p:cNvGrpSpPr/>
          <p:nvPr/>
        </p:nvGrpSpPr>
        <p:grpSpPr>
          <a:xfrm>
            <a:off x="6629400" y="4351043"/>
            <a:ext cx="5029200" cy="2671549"/>
            <a:chOff x="6309360" y="1600200"/>
            <a:chExt cx="5029200" cy="2671549"/>
          </a:xfrm>
        </p:grpSpPr>
        <p:sp>
          <p:nvSpPr>
            <p:cNvPr id="17" name="Text 5"/>
            <p:cNvSpPr/>
            <p:nvPr/>
          </p:nvSpPr>
          <p:spPr>
            <a:xfrm>
              <a:off x="6309360" y="1600200"/>
              <a:ext cx="5029200" cy="31089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50" b="1" dirty="0">
                  <a:solidFill>
                    <a:srgbClr val="1E276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Time</a:t>
              </a:r>
              <a:endParaRPr lang="en-US" sz="1450" dirty="0"/>
            </a:p>
          </p:txBody>
        </p:sp>
        <p:sp>
          <p:nvSpPr>
            <p:cNvPr id="18" name="Text 6"/>
            <p:cNvSpPr/>
            <p:nvPr/>
          </p:nvSpPr>
          <p:spPr>
            <a:xfrm>
              <a:off x="6309360" y="2011680"/>
              <a:ext cx="5029200" cy="7772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spcAft>
                  <a:spcPts val="800"/>
                </a:spcAft>
                <a:buNone/>
              </a:pPr>
              <a:r>
                <a:rPr lang="en-US" sz="1350" dirty="0">
                  <a:solidFill>
                    <a:srgbClr val="33384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The speaker should decide how much time to spend on the introduction, body, conclusion, and questions.</a:t>
              </a:r>
              <a:endParaRPr lang="en-US" sz="1350" dirty="0"/>
            </a:p>
          </p:txBody>
        </p:sp>
        <p:sp>
          <p:nvSpPr>
            <p:cNvPr id="19" name="Text 7"/>
            <p:cNvSpPr/>
            <p:nvPr/>
          </p:nvSpPr>
          <p:spPr>
            <a:xfrm>
              <a:off x="6309360" y="2834640"/>
              <a:ext cx="5029200" cy="143710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228600" indent="-228600">
                <a:spcAft>
                  <a:spcPts val="1000"/>
                </a:spcAft>
                <a:buSzPct val="100000"/>
                <a:buChar char="•"/>
              </a:pPr>
              <a:r>
                <a:rPr lang="en-US" sz="1350" dirty="0">
                  <a:solidFill>
                    <a:srgbClr val="33384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Set a realistic time limit and allocate time to each section.</a:t>
              </a:r>
              <a:endParaRPr lang="en-US" sz="1350" dirty="0"/>
            </a:p>
          </p:txBody>
        </p:sp>
      </p:grpSp>
      <p:pic>
        <p:nvPicPr>
          <p:cNvPr id="6150" name="Picture 6" descr="Strategies for Time Management in Presentation - Public Speaking Lab Blog">
            <a:extLst>
              <a:ext uri="{FF2B5EF4-FFF2-40B4-BE49-F238E27FC236}">
                <a16:creationId xmlns:a16="http://schemas.microsoft.com/office/drawing/2014/main" id="{2DB0C6C4-CFAC-B573-79FD-DB7B8494D68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1272"/>
          <a:stretch>
            <a:fillRect/>
          </a:stretch>
        </p:blipFill>
        <p:spPr bwMode="auto">
          <a:xfrm>
            <a:off x="832103" y="3990815"/>
            <a:ext cx="4490938" cy="2684305"/>
          </a:xfrm>
          <a:custGeom>
            <a:avLst/>
            <a:gdLst>
              <a:gd name="csX0" fmla="*/ 0 w 4490938"/>
              <a:gd name="csY0" fmla="*/ 0 h 2684305"/>
              <a:gd name="csX1" fmla="*/ 641563 w 4490938"/>
              <a:gd name="csY1" fmla="*/ 0 h 2684305"/>
              <a:gd name="csX2" fmla="*/ 1148397 w 4490938"/>
              <a:gd name="csY2" fmla="*/ 0 h 2684305"/>
              <a:gd name="csX3" fmla="*/ 1834869 w 4490938"/>
              <a:gd name="csY3" fmla="*/ 0 h 2684305"/>
              <a:gd name="csX4" fmla="*/ 2521341 w 4490938"/>
              <a:gd name="csY4" fmla="*/ 0 h 2684305"/>
              <a:gd name="csX5" fmla="*/ 3207813 w 4490938"/>
              <a:gd name="csY5" fmla="*/ 0 h 2684305"/>
              <a:gd name="csX6" fmla="*/ 3894285 w 4490938"/>
              <a:gd name="csY6" fmla="*/ 0 h 2684305"/>
              <a:gd name="csX7" fmla="*/ 4490938 w 4490938"/>
              <a:gd name="csY7" fmla="*/ 0 h 2684305"/>
              <a:gd name="csX8" fmla="*/ 4490938 w 4490938"/>
              <a:gd name="csY8" fmla="*/ 697919 h 2684305"/>
              <a:gd name="csX9" fmla="*/ 4490938 w 4490938"/>
              <a:gd name="csY9" fmla="*/ 1368996 h 2684305"/>
              <a:gd name="csX10" fmla="*/ 4490938 w 4490938"/>
              <a:gd name="csY10" fmla="*/ 2066915 h 2684305"/>
              <a:gd name="csX11" fmla="*/ 4490938 w 4490938"/>
              <a:gd name="csY11" fmla="*/ 2684305 h 2684305"/>
              <a:gd name="csX12" fmla="*/ 3939194 w 4490938"/>
              <a:gd name="csY12" fmla="*/ 2684305 h 2684305"/>
              <a:gd name="csX13" fmla="*/ 3297632 w 4490938"/>
              <a:gd name="csY13" fmla="*/ 2684305 h 2684305"/>
              <a:gd name="csX14" fmla="*/ 2790797 w 4490938"/>
              <a:gd name="csY14" fmla="*/ 2684305 h 2684305"/>
              <a:gd name="csX15" fmla="*/ 2194144 w 4490938"/>
              <a:gd name="csY15" fmla="*/ 2684305 h 2684305"/>
              <a:gd name="csX16" fmla="*/ 1642400 w 4490938"/>
              <a:gd name="csY16" fmla="*/ 2684305 h 2684305"/>
              <a:gd name="csX17" fmla="*/ 1000838 w 4490938"/>
              <a:gd name="csY17" fmla="*/ 2684305 h 2684305"/>
              <a:gd name="csX18" fmla="*/ 0 w 4490938"/>
              <a:gd name="csY18" fmla="*/ 2684305 h 2684305"/>
              <a:gd name="csX19" fmla="*/ 0 w 4490938"/>
              <a:gd name="csY19" fmla="*/ 2093758 h 2684305"/>
              <a:gd name="csX20" fmla="*/ 0 w 4490938"/>
              <a:gd name="csY20" fmla="*/ 1395839 h 2684305"/>
              <a:gd name="csX21" fmla="*/ 0 w 4490938"/>
              <a:gd name="csY21" fmla="*/ 697919 h 2684305"/>
              <a:gd name="csX22" fmla="*/ 0 w 4490938"/>
              <a:gd name="csY22" fmla="*/ 0 h 268430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</a:cxnLst>
            <a:rect l="l" t="t" r="r" b="b"/>
            <a:pathLst>
              <a:path w="4490938" h="2684305" extrusionOk="0">
                <a:moveTo>
                  <a:pt x="0" y="0"/>
                </a:moveTo>
                <a:cubicBezTo>
                  <a:pt x="314614" y="654"/>
                  <a:pt x="446058" y="15715"/>
                  <a:pt x="641563" y="0"/>
                </a:cubicBezTo>
                <a:cubicBezTo>
                  <a:pt x="837068" y="-15715"/>
                  <a:pt x="991273" y="-353"/>
                  <a:pt x="1148397" y="0"/>
                </a:cubicBezTo>
                <a:cubicBezTo>
                  <a:pt x="1305521" y="353"/>
                  <a:pt x="1509524" y="-1014"/>
                  <a:pt x="1834869" y="0"/>
                </a:cubicBezTo>
                <a:cubicBezTo>
                  <a:pt x="2160214" y="1014"/>
                  <a:pt x="2229494" y="24229"/>
                  <a:pt x="2521341" y="0"/>
                </a:cubicBezTo>
                <a:cubicBezTo>
                  <a:pt x="2813188" y="-24229"/>
                  <a:pt x="2892390" y="-33339"/>
                  <a:pt x="3207813" y="0"/>
                </a:cubicBezTo>
                <a:cubicBezTo>
                  <a:pt x="3523236" y="33339"/>
                  <a:pt x="3592357" y="30422"/>
                  <a:pt x="3894285" y="0"/>
                </a:cubicBezTo>
                <a:cubicBezTo>
                  <a:pt x="4196213" y="-30422"/>
                  <a:pt x="4232037" y="20417"/>
                  <a:pt x="4490938" y="0"/>
                </a:cubicBezTo>
                <a:cubicBezTo>
                  <a:pt x="4514203" y="271699"/>
                  <a:pt x="4485532" y="419649"/>
                  <a:pt x="4490938" y="697919"/>
                </a:cubicBezTo>
                <a:cubicBezTo>
                  <a:pt x="4496344" y="976189"/>
                  <a:pt x="4502362" y="1221080"/>
                  <a:pt x="4490938" y="1368996"/>
                </a:cubicBezTo>
                <a:cubicBezTo>
                  <a:pt x="4479514" y="1516912"/>
                  <a:pt x="4489135" y="1762488"/>
                  <a:pt x="4490938" y="2066915"/>
                </a:cubicBezTo>
                <a:cubicBezTo>
                  <a:pt x="4492741" y="2371342"/>
                  <a:pt x="4495247" y="2488206"/>
                  <a:pt x="4490938" y="2684305"/>
                </a:cubicBezTo>
                <a:cubicBezTo>
                  <a:pt x="4333472" y="2657381"/>
                  <a:pt x="4159508" y="2665199"/>
                  <a:pt x="3939194" y="2684305"/>
                </a:cubicBezTo>
                <a:cubicBezTo>
                  <a:pt x="3718880" y="2703411"/>
                  <a:pt x="3505797" y="2711269"/>
                  <a:pt x="3297632" y="2684305"/>
                </a:cubicBezTo>
                <a:cubicBezTo>
                  <a:pt x="3089467" y="2657341"/>
                  <a:pt x="2906503" y="2707142"/>
                  <a:pt x="2790797" y="2684305"/>
                </a:cubicBezTo>
                <a:cubicBezTo>
                  <a:pt x="2675092" y="2661468"/>
                  <a:pt x="2410250" y="2666670"/>
                  <a:pt x="2194144" y="2684305"/>
                </a:cubicBezTo>
                <a:cubicBezTo>
                  <a:pt x="1978038" y="2701940"/>
                  <a:pt x="1840528" y="2675210"/>
                  <a:pt x="1642400" y="2684305"/>
                </a:cubicBezTo>
                <a:cubicBezTo>
                  <a:pt x="1444272" y="2693400"/>
                  <a:pt x="1169630" y="2691709"/>
                  <a:pt x="1000838" y="2684305"/>
                </a:cubicBezTo>
                <a:cubicBezTo>
                  <a:pt x="832046" y="2676901"/>
                  <a:pt x="340533" y="2682926"/>
                  <a:pt x="0" y="2684305"/>
                </a:cubicBezTo>
                <a:cubicBezTo>
                  <a:pt x="-6078" y="2551810"/>
                  <a:pt x="10272" y="2317290"/>
                  <a:pt x="0" y="2093758"/>
                </a:cubicBezTo>
                <a:cubicBezTo>
                  <a:pt x="-10272" y="1870226"/>
                  <a:pt x="33801" y="1596245"/>
                  <a:pt x="0" y="1395839"/>
                </a:cubicBezTo>
                <a:cubicBezTo>
                  <a:pt x="-33801" y="1195433"/>
                  <a:pt x="-22789" y="997235"/>
                  <a:pt x="0" y="697919"/>
                </a:cubicBezTo>
                <a:cubicBezTo>
                  <a:pt x="22789" y="398603"/>
                  <a:pt x="-31605" y="165977"/>
                  <a:pt x="0" y="0"/>
                </a:cubicBezTo>
                <a:close/>
              </a:path>
            </a:pathLst>
          </a:custGeom>
          <a:noFill/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537395340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3" name="Image 0" descr="/home/claude/icons/clo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041" y="604601"/>
            <a:ext cx="272125" cy="2721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384048"/>
            <a:ext cx="103327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Planning: Audience &amp; Speaker Consideration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548640" y="1225296"/>
            <a:ext cx="11064240" cy="0"/>
          </a:xfrm>
          <a:prstGeom prst="line">
            <a:avLst/>
          </a:prstGeom>
          <a:noFill/>
          <a:ln w="12700">
            <a:solidFill>
              <a:srgbClr val="E4E8F2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22960" y="1600200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Audience considerations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822960" y="2011680"/>
            <a:ext cx="512064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speaker should consider the audience's knowledge, interests, expectations, and attention span.</a:t>
            </a:r>
            <a:endParaRPr lang="en-US" sz="135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information should be explained according to the audience's level of understanding.</a:t>
            </a:r>
            <a:endParaRPr lang="en-US" sz="135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speaker should use language that the audience can easily understand.</a:t>
            </a:r>
            <a:endParaRPr lang="en-US" sz="135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Audience reactions should also be observed during the presentation.</a:t>
            </a:r>
            <a:endParaRPr lang="en-US" sz="1350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B810ADD2-0837-7062-711D-831D069CC5DC}"/>
              </a:ext>
            </a:extLst>
          </p:cNvPr>
          <p:cNvGrpSpPr/>
          <p:nvPr/>
        </p:nvGrpSpPr>
        <p:grpSpPr>
          <a:xfrm>
            <a:off x="822960" y="4297680"/>
            <a:ext cx="5038343" cy="2560320"/>
            <a:chOff x="6300217" y="1600200"/>
            <a:chExt cx="5038343" cy="5346262"/>
          </a:xfrm>
        </p:grpSpPr>
        <p:sp>
          <p:nvSpPr>
            <p:cNvPr id="12" name="Text 8"/>
            <p:cNvSpPr/>
            <p:nvPr/>
          </p:nvSpPr>
          <p:spPr>
            <a:xfrm>
              <a:off x="6309360" y="1600200"/>
              <a:ext cx="5029200" cy="31089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50" b="1" dirty="0">
                  <a:solidFill>
                    <a:srgbClr val="1E276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Speaker's considerations</a:t>
              </a:r>
              <a:endParaRPr lang="en-US" sz="1450" dirty="0"/>
            </a:p>
          </p:txBody>
        </p:sp>
        <p:sp>
          <p:nvSpPr>
            <p:cNvPr id="13" name="Text 9"/>
            <p:cNvSpPr/>
            <p:nvPr/>
          </p:nvSpPr>
          <p:spPr>
            <a:xfrm>
              <a:off x="6300217" y="2374461"/>
              <a:ext cx="5029200" cy="457200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228600" indent="-228600">
                <a:spcAft>
                  <a:spcPts val="900"/>
                </a:spcAft>
                <a:buSzPct val="100000"/>
                <a:buChar char="•"/>
              </a:pPr>
              <a:r>
                <a:rPr lang="en-US" sz="1250" dirty="0">
                  <a:solidFill>
                    <a:srgbClr val="33384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The speaker should consider voice, appearance, posture, movement, confidence, and speaking speed.</a:t>
              </a:r>
              <a:endParaRPr lang="en-US" sz="1250" dirty="0"/>
            </a:p>
            <a:p>
              <a:pPr marL="228600" indent="-228600">
                <a:spcAft>
                  <a:spcPts val="900"/>
                </a:spcAft>
                <a:buSzPct val="100000"/>
                <a:buChar char="•"/>
              </a:pPr>
              <a:r>
                <a:rPr lang="en-US" sz="1250" dirty="0">
                  <a:solidFill>
                    <a:srgbClr val="33384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The speaker should be comfortable with the topic and familiar with the presentation materials.</a:t>
              </a:r>
              <a:endParaRPr lang="en-US" sz="1250" dirty="0"/>
            </a:p>
            <a:p>
              <a:pPr marL="228600" indent="-228600">
                <a:spcAft>
                  <a:spcPts val="900"/>
                </a:spcAft>
                <a:buSzPct val="100000"/>
                <a:buChar char="•"/>
              </a:pPr>
              <a:r>
                <a:rPr lang="en-US" sz="1250" dirty="0">
                  <a:solidFill>
                    <a:srgbClr val="33384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Clear pronunciation and appropriate volume are important.</a:t>
              </a:r>
              <a:endParaRPr lang="en-US" sz="1250" dirty="0"/>
            </a:p>
            <a:p>
              <a:pPr marL="228600" indent="-228600">
                <a:spcAft>
                  <a:spcPts val="900"/>
                </a:spcAft>
                <a:buSzPct val="100000"/>
                <a:buChar char="•"/>
              </a:pPr>
              <a:r>
                <a:rPr lang="en-US" sz="1250" dirty="0">
                  <a:solidFill>
                    <a:srgbClr val="33384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The speaker should also maintain eye contact and use natural gestures.</a:t>
              </a:r>
              <a:endParaRPr lang="en-US" sz="1250" dirty="0"/>
            </a:p>
          </p:txBody>
        </p:sp>
      </p:grpSp>
      <p:pic>
        <p:nvPicPr>
          <p:cNvPr id="14" name="Picture 4" descr="5 Small Things to Try to Immediately Be a Better Presenter">
            <a:extLst>
              <a:ext uri="{FF2B5EF4-FFF2-40B4-BE49-F238E27FC236}">
                <a16:creationId xmlns:a16="http://schemas.microsoft.com/office/drawing/2014/main" id="{BDD8BA4A-2FFC-D95E-BCEC-2E0C00B2E42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205"/>
          <a:stretch>
            <a:fillRect/>
          </a:stretch>
        </p:blipFill>
        <p:spPr bwMode="auto">
          <a:xfrm>
            <a:off x="6782937" y="1815152"/>
            <a:ext cx="4981433" cy="4162567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65000" dist="50800" dir="12900000" kx="195000" ky="145000" algn="tl" rotWithShape="0">
              <a:srgbClr val="000000">
                <a:alpha val="30000"/>
              </a:srgbClr>
            </a:outerShdw>
          </a:effectLst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</p:spPr>
      </p:pic>
      <p:sp>
        <p:nvSpPr>
          <p:cNvPr id="16" name="Text 10">
            <a:extLst>
              <a:ext uri="{FF2B5EF4-FFF2-40B4-BE49-F238E27FC236}">
                <a16:creationId xmlns:a16="http://schemas.microsoft.com/office/drawing/2014/main" id="{6AF7F61A-B33A-35BD-C95B-19DB43CB36BD}"/>
              </a:ext>
            </a:extLst>
          </p:cNvPr>
          <p:cNvSpPr/>
          <p:nvPr/>
        </p:nvSpPr>
        <p:spPr>
          <a:xfrm>
            <a:off x="1133856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3" name="Image 0" descr="/home/claude/icons/alert_circ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041" y="604601"/>
            <a:ext cx="272125" cy="2721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384048"/>
            <a:ext cx="78638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Planning: Stage Fright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10354666" y="530352"/>
            <a:ext cx="1258214" cy="329184"/>
          </a:xfrm>
          <a:prstGeom prst="roundRect">
            <a:avLst>
              <a:gd name="adj" fmla="val 50000"/>
            </a:avLst>
          </a:prstGeom>
          <a:solidFill>
            <a:srgbClr val="CADCFC"/>
          </a:solidFill>
          <a:ln/>
        </p:spPr>
      </p:sp>
      <p:sp>
        <p:nvSpPr>
          <p:cNvPr id="6" name="Text 3"/>
          <p:cNvSpPr/>
          <p:nvPr/>
        </p:nvSpPr>
        <p:spPr>
          <a:xfrm>
            <a:off x="10354666" y="530352"/>
            <a:ext cx="125821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Gaurav Thapa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548640" y="1225296"/>
            <a:ext cx="11064240" cy="0"/>
          </a:xfrm>
          <a:prstGeom prst="line">
            <a:avLst/>
          </a:prstGeom>
          <a:noFill/>
          <a:ln w="12700">
            <a:solidFill>
              <a:srgbClr val="E4E8F2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22960" y="16459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55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fright is nervousness or fear before or during a presentation.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822960" y="2423160"/>
            <a:ext cx="1051560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300"/>
              </a:spcAft>
              <a:buSzPct val="100000"/>
              <a:buChar char="•"/>
            </a:pPr>
            <a:r>
              <a:rPr lang="en-US" sz="155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 thoroughly and rehearse several times.</a:t>
            </a:r>
            <a:endParaRPr lang="en-US" sz="1550" dirty="0"/>
          </a:p>
          <a:p>
            <a:pPr marL="228600" indent="-228600">
              <a:spcAft>
                <a:spcPts val="1300"/>
              </a:spcAft>
              <a:buSzPct val="100000"/>
              <a:buChar char="•"/>
            </a:pPr>
            <a:r>
              <a:rPr lang="en-US" sz="155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the opening and key points well.</a:t>
            </a:r>
            <a:endParaRPr lang="en-US" sz="1550" dirty="0"/>
          </a:p>
          <a:p>
            <a:pPr marL="228600" indent="-228600">
              <a:spcAft>
                <a:spcPts val="1300"/>
              </a:spcAft>
              <a:buSzPct val="100000"/>
              <a:buChar char="•"/>
            </a:pPr>
            <a:r>
              <a:rPr lang="en-US" sz="155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slow, steady breaths and maintain a comfortable pace.</a:t>
            </a:r>
            <a:endParaRPr lang="en-US" sz="1550" dirty="0"/>
          </a:p>
          <a:p>
            <a:pPr marL="228600" indent="-228600">
              <a:spcAft>
                <a:spcPts val="1300"/>
              </a:spcAft>
              <a:buSzPct val="100000"/>
              <a:buChar char="•"/>
            </a:pPr>
            <a:r>
              <a:rPr lang="en-US" sz="155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on communicating the message rather than on being perfect.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1133856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cs typeface="Calibri" pitchFamily="34" charset="-120"/>
              </a:rPr>
              <a:t>15</a:t>
            </a:r>
            <a:endParaRPr lang="en-US" sz="1000" dirty="0"/>
          </a:p>
        </p:txBody>
      </p:sp>
      <p:pic>
        <p:nvPicPr>
          <p:cNvPr id="8194" name="Picture 2" descr="All the world's a stage - and I have got stage fright!">
            <a:extLst>
              <a:ext uri="{FF2B5EF4-FFF2-40B4-BE49-F238E27FC236}">
                <a16:creationId xmlns:a16="http://schemas.microsoft.com/office/drawing/2014/main" id="{1A074980-A8AC-F38C-ACE5-0D2D543150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3718" y="3022929"/>
            <a:ext cx="5263482" cy="3012110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3" name="Image 0" descr="/home/claude/icons/li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041" y="604601"/>
            <a:ext cx="272125" cy="2721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384048"/>
            <a:ext cx="78638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Organizing and Composing: Selecting an Organizational Plan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10354666" y="530352"/>
            <a:ext cx="1258214" cy="329184"/>
          </a:xfrm>
          <a:prstGeom prst="roundRect">
            <a:avLst>
              <a:gd name="adj" fmla="val 50000"/>
            </a:avLst>
          </a:prstGeom>
          <a:solidFill>
            <a:srgbClr val="CADCFC"/>
          </a:solidFill>
          <a:ln/>
        </p:spPr>
      </p:sp>
      <p:sp>
        <p:nvSpPr>
          <p:cNvPr id="6" name="Text 3"/>
          <p:cNvSpPr/>
          <p:nvPr/>
        </p:nvSpPr>
        <p:spPr>
          <a:xfrm>
            <a:off x="10354666" y="530352"/>
            <a:ext cx="125821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Gaurav Thapa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548640" y="1225296"/>
            <a:ext cx="11064240" cy="0"/>
          </a:xfrm>
          <a:prstGeom prst="line">
            <a:avLst/>
          </a:prstGeom>
          <a:noFill/>
          <a:ln w="12700">
            <a:solidFill>
              <a:srgbClr val="E4E8F2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22960" y="1572768"/>
            <a:ext cx="1051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Organizing and composing means arranging information in a logical order and turning it into a clear presentation.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suitable organizational plan helps the audience follow the speaker's ideas.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a structure that fits the purpose and topic.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822960" y="2971800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plans include: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822960" y="3337560"/>
            <a:ext cx="1051560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Chronological — arranged by time or sequence</a:t>
            </a:r>
            <a:endParaRPr lang="en-US" sz="13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Problem–solution — problem followed by possible solutions</a:t>
            </a:r>
            <a:endParaRPr lang="en-US" sz="13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Cause–effect — explains causes and results</a:t>
            </a:r>
            <a:endParaRPr lang="en-US" sz="13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Topical — divides the subject into major topics</a:t>
            </a:r>
            <a:endParaRPr lang="en-US" sz="13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Compare–contrast — shows similarities and differences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1133856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6C55A6D1-FF70-DADD-A61F-8EACE01392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82640" y="2235708"/>
            <a:ext cx="5486400" cy="3657600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3" name="Image 0" descr="/home/claude/icons/ey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041" y="604601"/>
            <a:ext cx="272125" cy="2721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384048"/>
            <a:ext cx="78638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Organizing and Composing: Previewing Organization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10354666" y="530352"/>
            <a:ext cx="1258214" cy="329184"/>
          </a:xfrm>
          <a:prstGeom prst="roundRect">
            <a:avLst>
              <a:gd name="adj" fmla="val 50000"/>
            </a:avLst>
          </a:prstGeom>
          <a:solidFill>
            <a:srgbClr val="CADCFC"/>
          </a:solidFill>
          <a:ln/>
        </p:spPr>
      </p:sp>
      <p:sp>
        <p:nvSpPr>
          <p:cNvPr id="6" name="Text 3"/>
          <p:cNvSpPr/>
          <p:nvPr/>
        </p:nvSpPr>
        <p:spPr>
          <a:xfrm>
            <a:off x="10354666" y="530352"/>
            <a:ext cx="125821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Gaurav Thapa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548640" y="1225296"/>
            <a:ext cx="11064240" cy="0"/>
          </a:xfrm>
          <a:prstGeom prst="line">
            <a:avLst/>
          </a:prstGeom>
          <a:noFill/>
          <a:ln w="12700">
            <a:solidFill>
              <a:srgbClr val="E4E8F2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22960" y="1691640"/>
            <a:ext cx="1051560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 the audience what the presentation will cover.</a:t>
            </a:r>
            <a:endParaRPr lang="en-US" sz="15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the main points in the order they will appear.</a:t>
            </a:r>
            <a:endParaRPr lang="en-US" sz="15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 listeners understand the overall structure.</a:t>
            </a:r>
            <a:endParaRPr lang="en-US" sz="1500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8A13A72E-D004-88E7-1B7A-4BB8F57455DC}"/>
              </a:ext>
            </a:extLst>
          </p:cNvPr>
          <p:cNvGrpSpPr/>
          <p:nvPr/>
        </p:nvGrpSpPr>
        <p:grpSpPr>
          <a:xfrm>
            <a:off x="968166" y="4594860"/>
            <a:ext cx="9509760" cy="1143000"/>
            <a:chOff x="822960" y="3246120"/>
            <a:chExt cx="9509760" cy="1143000"/>
          </a:xfrm>
        </p:grpSpPr>
        <p:sp>
          <p:nvSpPr>
            <p:cNvPr id="9" name="Text 6"/>
            <p:cNvSpPr/>
            <p:nvPr/>
          </p:nvSpPr>
          <p:spPr>
            <a:xfrm>
              <a:off x="822960" y="3246120"/>
              <a:ext cx="2743200" cy="31089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50" b="1" dirty="0">
                  <a:solidFill>
                    <a:srgbClr val="1E276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Example</a:t>
              </a:r>
              <a:endParaRPr lang="en-US" sz="1450" dirty="0"/>
            </a:p>
          </p:txBody>
        </p:sp>
        <p:sp>
          <p:nvSpPr>
            <p:cNvPr id="10" name="Shape 7"/>
            <p:cNvSpPr/>
            <p:nvPr/>
          </p:nvSpPr>
          <p:spPr>
            <a:xfrm>
              <a:off x="822960" y="3611880"/>
              <a:ext cx="9509760" cy="777240"/>
            </a:xfrm>
            <a:prstGeom prst="roundRect">
              <a:avLst>
                <a:gd name="adj" fmla="val 9412"/>
              </a:avLst>
            </a:prstGeom>
            <a:solidFill>
              <a:srgbClr val="F5F7FC"/>
            </a:solidFill>
            <a:ln w="12700">
              <a:solidFill>
                <a:srgbClr val="CADCFC"/>
              </a:solidFill>
              <a:prstDash val="solid"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1" name="Text 8"/>
            <p:cNvSpPr/>
            <p:nvPr/>
          </p:nvSpPr>
          <p:spPr>
            <a:xfrm>
              <a:off x="1097280" y="3611880"/>
              <a:ext cx="8961120" cy="7772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i="1" dirty="0">
                  <a:solidFill>
                    <a:srgbClr val="1E276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“First, we will discuss planning; next, organization; and finally, delivery.”</a:t>
              </a:r>
              <a:endParaRPr lang="en-US" sz="1400" dirty="0"/>
            </a:p>
          </p:txBody>
        </p:sp>
      </p:grpSp>
      <p:sp>
        <p:nvSpPr>
          <p:cNvPr id="12" name="Text 9"/>
          <p:cNvSpPr/>
          <p:nvPr/>
        </p:nvSpPr>
        <p:spPr>
          <a:xfrm>
            <a:off x="1133856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6BF72EDD-D6AB-CF4C-D758-8D6688C799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85046" y="1421893"/>
            <a:ext cx="5127834" cy="3418556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3" name="Image 0" descr="/home/claude/icons/pla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041" y="604601"/>
            <a:ext cx="272125" cy="2721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384048"/>
            <a:ext cx="78638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Organizing and Composing: Composing the Introduction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10354666" y="530352"/>
            <a:ext cx="1258214" cy="329184"/>
          </a:xfrm>
          <a:prstGeom prst="roundRect">
            <a:avLst>
              <a:gd name="adj" fmla="val 50000"/>
            </a:avLst>
          </a:prstGeom>
          <a:solidFill>
            <a:srgbClr val="CADCFC"/>
          </a:solidFill>
          <a:ln/>
        </p:spPr>
      </p:sp>
      <p:sp>
        <p:nvSpPr>
          <p:cNvPr id="6" name="Text 3"/>
          <p:cNvSpPr/>
          <p:nvPr/>
        </p:nvSpPr>
        <p:spPr>
          <a:xfrm>
            <a:off x="10354666" y="530352"/>
            <a:ext cx="125821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Gaurav Thapa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548640" y="1225296"/>
            <a:ext cx="11064240" cy="0"/>
          </a:xfrm>
          <a:prstGeom prst="line">
            <a:avLst/>
          </a:prstGeom>
          <a:noFill/>
          <a:ln w="12700">
            <a:solidFill>
              <a:srgbClr val="E4E8F2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22960" y="1645920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effective introduction should: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822960" y="2057400"/>
            <a:ext cx="1051560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Gain the audience's attention.</a:t>
            </a:r>
            <a:endParaRPr lang="en-US" sz="155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Introduce the topic.</a:t>
            </a:r>
            <a:endParaRPr lang="en-US" sz="155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 the purpose.</a:t>
            </a:r>
            <a:endParaRPr lang="en-US" sz="155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why the topic matters.</a:t>
            </a:r>
            <a:endParaRPr lang="en-US" sz="155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Preview the main points.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1133856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  <p:pic>
        <p:nvPicPr>
          <p:cNvPr id="9220" name="Picture 4" descr="3,992 Presentation Introduction Stock Photos - Free &amp; Royalty-Free Stock Photos from Dreamstime">
            <a:extLst>
              <a:ext uri="{FF2B5EF4-FFF2-40B4-BE49-F238E27FC236}">
                <a16:creationId xmlns:a16="http://schemas.microsoft.com/office/drawing/2014/main" id="{206E9DD4-124E-73BD-D30E-A1357618BF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74711" y="1591057"/>
            <a:ext cx="6838169" cy="4558779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3" name="Image 0" descr="/home/claude/icons/lay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041" y="604601"/>
            <a:ext cx="272125" cy="2721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384048"/>
            <a:ext cx="78638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Organizing and Composing: Composing the Body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10354666" y="530352"/>
            <a:ext cx="1258214" cy="329184"/>
          </a:xfrm>
          <a:prstGeom prst="roundRect">
            <a:avLst>
              <a:gd name="adj" fmla="val 50000"/>
            </a:avLst>
          </a:prstGeom>
          <a:solidFill>
            <a:srgbClr val="CADCFC"/>
          </a:solidFill>
          <a:ln/>
        </p:spPr>
      </p:sp>
      <p:sp>
        <p:nvSpPr>
          <p:cNvPr id="6" name="Text 3"/>
          <p:cNvSpPr/>
          <p:nvPr/>
        </p:nvSpPr>
        <p:spPr>
          <a:xfrm>
            <a:off x="10354666" y="530352"/>
            <a:ext cx="125821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Gaurav Thapa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548640" y="1225296"/>
            <a:ext cx="11064240" cy="0"/>
          </a:xfrm>
          <a:prstGeom prst="line">
            <a:avLst/>
          </a:prstGeom>
          <a:noFill/>
          <a:ln w="12700">
            <a:solidFill>
              <a:srgbClr val="E4E8F2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22960" y="1691640"/>
            <a:ext cx="1051560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300"/>
              </a:spcAft>
              <a:buSzPct val="100000"/>
              <a:buChar char="•"/>
            </a:pPr>
            <a:r>
              <a:rPr lang="en-US" sz="155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 the main points in a logical order.</a:t>
            </a:r>
            <a:endParaRPr lang="en-US" sz="1550" dirty="0"/>
          </a:p>
          <a:p>
            <a:pPr marL="228600" indent="-228600">
              <a:spcAft>
                <a:spcPts val="1300"/>
              </a:spcAft>
              <a:buSzPct val="100000"/>
              <a:buChar char="•"/>
            </a:pPr>
            <a:r>
              <a:rPr lang="en-US" sz="155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ideas with examples, evidence, or graphic aids.</a:t>
            </a:r>
            <a:endParaRPr lang="en-US" sz="1550" dirty="0"/>
          </a:p>
          <a:p>
            <a:pPr marL="228600" indent="-228600">
              <a:spcAft>
                <a:spcPts val="1300"/>
              </a:spcAft>
              <a:buSzPct val="100000"/>
              <a:buChar char="•"/>
            </a:pPr>
            <a:r>
              <a:rPr lang="en-US" sz="155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transitions between major points.</a:t>
            </a:r>
            <a:endParaRPr lang="en-US" sz="1550" dirty="0"/>
          </a:p>
          <a:p>
            <a:pPr marL="228600" indent="-228600">
              <a:spcAft>
                <a:spcPts val="1300"/>
              </a:spcAft>
              <a:buSzPct val="100000"/>
              <a:buChar char="•"/>
            </a:pPr>
            <a:r>
              <a:rPr lang="en-US" sz="155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each section focused on its main idea.</a:t>
            </a:r>
            <a:endParaRPr lang="en-US" sz="1550" dirty="0"/>
          </a:p>
          <a:p>
            <a:pPr marL="228600" indent="-228600">
              <a:spcAft>
                <a:spcPts val="1300"/>
              </a:spcAft>
              <a:buSzPct val="100000"/>
              <a:buChar char="•"/>
            </a:pPr>
            <a:r>
              <a:rPr lang="en-US" sz="155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 a balance between detail and available time.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1133856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EEA8189-4C33-4532-9EEA-D66C25976CA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585" t="1394" r="51150" b="47064"/>
          <a:stretch>
            <a:fillRect/>
          </a:stretch>
        </p:blipFill>
        <p:spPr>
          <a:xfrm>
            <a:off x="6476407" y="1631594"/>
            <a:ext cx="4862153" cy="3534766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3" name="Image 0" descr="/home/claude/icons/fla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041" y="604601"/>
            <a:ext cx="272125" cy="2721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384048"/>
            <a:ext cx="78638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Organizing and Composing: Composing the Conclusion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10354666" y="530352"/>
            <a:ext cx="1258214" cy="329184"/>
          </a:xfrm>
          <a:prstGeom prst="roundRect">
            <a:avLst>
              <a:gd name="adj" fmla="val 50000"/>
            </a:avLst>
          </a:prstGeom>
          <a:solidFill>
            <a:srgbClr val="CADCFC"/>
          </a:solidFill>
          <a:ln/>
        </p:spPr>
      </p:sp>
      <p:sp>
        <p:nvSpPr>
          <p:cNvPr id="6" name="Text 3"/>
          <p:cNvSpPr/>
          <p:nvPr/>
        </p:nvSpPr>
        <p:spPr>
          <a:xfrm>
            <a:off x="10354666" y="530352"/>
            <a:ext cx="125821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Gaurav Thapa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548640" y="1225296"/>
            <a:ext cx="11064240" cy="0"/>
          </a:xfrm>
          <a:prstGeom prst="line">
            <a:avLst/>
          </a:prstGeom>
          <a:noFill/>
          <a:ln w="12700">
            <a:solidFill>
              <a:srgbClr val="E4E8F2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22960" y="1691640"/>
            <a:ext cx="1051560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300"/>
              </a:spcAft>
              <a:buSzPct val="100000"/>
              <a:buChar char="•"/>
            </a:pPr>
            <a:r>
              <a:rPr lang="en-US" sz="155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that the presentation is ending.</a:t>
            </a:r>
            <a:endParaRPr lang="en-US" sz="1550" dirty="0"/>
          </a:p>
          <a:p>
            <a:pPr marL="228600" indent="-228600">
              <a:spcAft>
                <a:spcPts val="1300"/>
              </a:spcAft>
              <a:buSzPct val="100000"/>
              <a:buChar char="•"/>
            </a:pPr>
            <a:r>
              <a:rPr lang="en-US" sz="155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or summarize the major points.</a:t>
            </a:r>
            <a:endParaRPr lang="en-US" sz="1550" dirty="0"/>
          </a:p>
          <a:p>
            <a:pPr marL="228600" indent="-228600">
              <a:spcAft>
                <a:spcPts val="1300"/>
              </a:spcAft>
              <a:buSzPct val="100000"/>
              <a:buChar char="•"/>
            </a:pPr>
            <a:r>
              <a:rPr lang="en-US" sz="155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Reinforce the main message.</a:t>
            </a:r>
            <a:endParaRPr lang="en-US" sz="1550" dirty="0"/>
          </a:p>
          <a:p>
            <a:pPr marL="228600" indent="-228600">
              <a:spcAft>
                <a:spcPts val="1300"/>
              </a:spcAft>
              <a:buSzPct val="100000"/>
              <a:buChar char="•"/>
            </a:pPr>
            <a:r>
              <a:rPr lang="en-US" sz="155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with a memorable final statement, recommendation, or call to action.</a:t>
            </a:r>
            <a:endParaRPr lang="en-US" sz="1550" dirty="0"/>
          </a:p>
          <a:p>
            <a:pPr marL="228600" indent="-228600">
              <a:spcAft>
                <a:spcPts val="1300"/>
              </a:spcAft>
              <a:buSzPct val="100000"/>
              <a:buChar char="•"/>
            </a:pPr>
            <a:r>
              <a:rPr lang="en-US" sz="155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introducing major new information.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1133856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cs typeface="Calibri" pitchFamily="34" charset="-120"/>
              </a:rPr>
              <a:t>20</a:t>
            </a:r>
            <a:endParaRPr lang="en-US" sz="10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C590FEEE-10F1-EAC4-E158-DD1ED028D60B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20000"/>
          </a:blip>
          <a:stretch>
            <a:fillRect/>
          </a:stretch>
        </p:blipFill>
        <p:spPr>
          <a:xfrm>
            <a:off x="6974005" y="1647701"/>
            <a:ext cx="4807821" cy="3984993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607040" y="5120640"/>
            <a:ext cx="3291840" cy="3291840"/>
          </a:xfrm>
          <a:prstGeom prst="ellipse">
            <a:avLst/>
          </a:prstGeom>
          <a:ln w="15875">
            <a:solidFill>
              <a:srgbClr val="33408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2960" y="1051560"/>
            <a:ext cx="960120" cy="9601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4" name="Image 0" descr="/home/claude/icons/briefca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2591" y="1301191"/>
            <a:ext cx="460858" cy="46085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04672" y="2240280"/>
            <a:ext cx="8686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Preparing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822960" y="3246120"/>
            <a:ext cx="87782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0"/>
              </a:spcAft>
              <a:buNone/>
            </a:pPr>
            <a:r>
              <a:rPr lang="en-US" sz="1550" dirty="0">
                <a:solidFill>
                  <a:srgbClr val="D9E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Preparing means getting both the presentation materials and the speaker ready.</a:t>
            </a:r>
            <a:endParaRPr lang="en-US" sz="155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550" dirty="0">
                <a:solidFill>
                  <a:srgbClr val="D9E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speaker should review the content, prepare slides, organize notes, and check visual aids.</a:t>
            </a:r>
            <a:endParaRPr lang="en-US" sz="155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550" dirty="0">
                <a:solidFill>
                  <a:srgbClr val="D9E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Preparation also includes deciding what to wear and becoming familiar with the presentation environment.</a:t>
            </a:r>
            <a:endParaRPr lang="en-US" sz="15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3" name="Image 0" descr="/home/claude/icons/edi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041" y="604601"/>
            <a:ext cx="272125" cy="2721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384048"/>
            <a:ext cx="78638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Preparing: Outlines and Notes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10354666" y="530352"/>
            <a:ext cx="1258214" cy="329184"/>
          </a:xfrm>
          <a:prstGeom prst="roundRect">
            <a:avLst>
              <a:gd name="adj" fmla="val 50000"/>
            </a:avLst>
          </a:prstGeom>
          <a:solidFill>
            <a:srgbClr val="CADCFC"/>
          </a:solidFill>
          <a:ln/>
        </p:spPr>
      </p:sp>
      <p:sp>
        <p:nvSpPr>
          <p:cNvPr id="6" name="Text 3"/>
          <p:cNvSpPr/>
          <p:nvPr/>
        </p:nvSpPr>
        <p:spPr>
          <a:xfrm>
            <a:off x="10354666" y="530352"/>
            <a:ext cx="125821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Hrikesh Aron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548640" y="1225296"/>
            <a:ext cx="11064240" cy="0"/>
          </a:xfrm>
          <a:prstGeom prst="line">
            <a:avLst/>
          </a:prstGeom>
          <a:noFill/>
          <a:ln w="12700">
            <a:solidFill>
              <a:srgbClr val="E4E8F2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22960" y="1600200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Outlines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822960" y="2011680"/>
            <a:ext cx="512064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the structure and sequence of the presentation.</a:t>
            </a:r>
            <a:endParaRPr lang="en-US" sz="145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 keep ideas organized and complete.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6309360" y="1600200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Notes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6309360" y="2011680"/>
            <a:ext cx="502920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keywords and short phrases rather than full paragraphs.</a:t>
            </a:r>
            <a:endParaRPr lang="en-US" sz="145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 important examples, statistics, transitions, and reminders.</a:t>
            </a:r>
            <a:endParaRPr lang="en-US" sz="145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reading the entire presentation word-for-word.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1133856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cs typeface="Calibri" pitchFamily="34" charset="-120"/>
              </a:rPr>
              <a:t>22</a:t>
            </a:r>
            <a:endParaRPr lang="en-US" sz="1000" dirty="0"/>
          </a:p>
        </p:txBody>
      </p:sp>
      <p:pic>
        <p:nvPicPr>
          <p:cNvPr id="10242" name="Picture 2" descr="Public Speaking and Class Presentations | COS 133 College Orientation and  Success Strategies">
            <a:extLst>
              <a:ext uri="{FF2B5EF4-FFF2-40B4-BE49-F238E27FC236}">
                <a16:creationId xmlns:a16="http://schemas.microsoft.com/office/drawing/2014/main" id="{0422501A-6A0E-92AD-E21B-9B2386F4C2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4868" y="3430198"/>
            <a:ext cx="4452425" cy="2970602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65000" dist="50800" dir="12900000" kx="195000" ky="145000" algn="tl" rotWithShape="0">
              <a:srgbClr val="000000">
                <a:alpha val="30000"/>
              </a:srgbClr>
            </a:outerShdw>
          </a:effectLst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3" name="Image 0" descr="/home/claude/icons/us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041" y="604601"/>
            <a:ext cx="272125" cy="2721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384048"/>
            <a:ext cx="78638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Preparing: Personal Appearance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10354666" y="530352"/>
            <a:ext cx="1258214" cy="329184"/>
          </a:xfrm>
          <a:prstGeom prst="roundRect">
            <a:avLst>
              <a:gd name="adj" fmla="val 50000"/>
            </a:avLst>
          </a:prstGeom>
          <a:solidFill>
            <a:srgbClr val="CADCFC"/>
          </a:solidFill>
          <a:ln/>
        </p:spPr>
      </p:sp>
      <p:sp>
        <p:nvSpPr>
          <p:cNvPr id="6" name="Text 3"/>
          <p:cNvSpPr/>
          <p:nvPr/>
        </p:nvSpPr>
        <p:spPr>
          <a:xfrm>
            <a:off x="10354666" y="530352"/>
            <a:ext cx="125821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Hrikesh Aron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548640" y="1225296"/>
            <a:ext cx="11064240" cy="0"/>
          </a:xfrm>
          <a:prstGeom prst="line">
            <a:avLst/>
          </a:prstGeom>
          <a:noFill/>
          <a:ln w="12700">
            <a:solidFill>
              <a:srgbClr val="E4E8F2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22960" y="1691640"/>
            <a:ext cx="1051560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300"/>
              </a:spcAft>
              <a:buSzPct val="100000"/>
              <a:buChar char="•"/>
            </a:pPr>
            <a:r>
              <a:rPr lang="en-US" sz="155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Dress appropriately for the audience, topic, and occasion.</a:t>
            </a:r>
            <a:endParaRPr lang="en-US" sz="1550" dirty="0"/>
          </a:p>
          <a:p>
            <a:pPr marL="228600" indent="-228600">
              <a:spcAft>
                <a:spcPts val="1300"/>
              </a:spcAft>
              <a:buSzPct val="100000"/>
              <a:buChar char="•"/>
            </a:pPr>
            <a:r>
              <a:rPr lang="en-US" sz="155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 neat and professional appearance.</a:t>
            </a:r>
            <a:endParaRPr lang="en-US" sz="1550" dirty="0"/>
          </a:p>
          <a:p>
            <a:pPr marL="228600" indent="-228600">
              <a:spcAft>
                <a:spcPts val="1300"/>
              </a:spcAft>
              <a:buSzPct val="100000"/>
              <a:buChar char="•"/>
            </a:pPr>
            <a:r>
              <a:rPr lang="en-US" sz="155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comfortable clothing that does not distract from the message.</a:t>
            </a:r>
            <a:endParaRPr lang="en-US" sz="1550" dirty="0"/>
          </a:p>
          <a:p>
            <a:pPr marL="228600" indent="-228600">
              <a:spcAft>
                <a:spcPts val="1300"/>
              </a:spcAft>
              <a:buSzPct val="100000"/>
              <a:buChar char="•"/>
            </a:pPr>
            <a:r>
              <a:rPr lang="en-US" sz="155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 attention to posture, facial expression, and overall confidence.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1133856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cs typeface="Calibri" pitchFamily="34" charset="-120"/>
              </a:rPr>
              <a:t>23</a:t>
            </a:r>
            <a:endParaRPr lang="en-US" sz="1000" dirty="0"/>
          </a:p>
        </p:txBody>
      </p:sp>
      <p:pic>
        <p:nvPicPr>
          <p:cNvPr id="22530" name="Picture 2" descr="Influence, Persuasion, &amp; Personal Presentation: Why to Look Your Best | The Art of Manliness">
            <a:extLst>
              <a:ext uri="{FF2B5EF4-FFF2-40B4-BE49-F238E27FC236}">
                <a16:creationId xmlns:a16="http://schemas.microsoft.com/office/drawing/2014/main" id="{C16B0278-DCBF-04F0-A4A9-5525CB8FDA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28560" y="1560956"/>
            <a:ext cx="3810000" cy="424815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607040" y="5120640"/>
            <a:ext cx="3291840" cy="3291840"/>
          </a:xfrm>
          <a:prstGeom prst="ellipse">
            <a:avLst/>
          </a:prstGeom>
          <a:ln w="15875">
            <a:solidFill>
              <a:srgbClr val="33408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2960" y="1051560"/>
            <a:ext cx="960120" cy="9601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4" name="Image 0" descr="/home/claude/icons/repea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2591" y="1301191"/>
            <a:ext cx="460858" cy="46085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04672" y="2240280"/>
            <a:ext cx="8686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Rehearsing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822960" y="3246120"/>
            <a:ext cx="87782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0"/>
              </a:spcAft>
              <a:buNone/>
            </a:pPr>
            <a:r>
              <a:rPr lang="en-US" sz="1550" dirty="0">
                <a:solidFill>
                  <a:srgbClr val="D9E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Rehearsing means practicing the presentation before delivering it to the actual audience.</a:t>
            </a:r>
            <a:endParaRPr lang="en-US" sz="155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550" dirty="0">
                <a:solidFill>
                  <a:srgbClr val="D9E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helps the speaker improve timing, pronunciation, confidence, and body language.</a:t>
            </a:r>
            <a:endParaRPr lang="en-US" sz="155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550" dirty="0">
                <a:solidFill>
                  <a:srgbClr val="D9E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also helps identify weak or unclear parts of the presentation.</a:t>
            </a:r>
            <a:endParaRPr lang="en-US" sz="15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3" name="Image 0" descr="/home/claude/icons/mi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041" y="604601"/>
            <a:ext cx="272125" cy="2721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384048"/>
            <a:ext cx="78638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Rehearsing: Using an Audio Recorder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10354666" y="530352"/>
            <a:ext cx="1258214" cy="329184"/>
          </a:xfrm>
          <a:prstGeom prst="roundRect">
            <a:avLst>
              <a:gd name="adj" fmla="val 50000"/>
            </a:avLst>
          </a:prstGeom>
          <a:solidFill>
            <a:srgbClr val="CADCFC"/>
          </a:solidFill>
          <a:ln/>
        </p:spPr>
      </p:sp>
      <p:sp>
        <p:nvSpPr>
          <p:cNvPr id="6" name="Text 3"/>
          <p:cNvSpPr/>
          <p:nvPr/>
        </p:nvSpPr>
        <p:spPr>
          <a:xfrm>
            <a:off x="10354666" y="530352"/>
            <a:ext cx="125821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Hrikesh Aron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548640" y="1225296"/>
            <a:ext cx="11064240" cy="0"/>
          </a:xfrm>
          <a:prstGeom prst="line">
            <a:avLst/>
          </a:prstGeom>
          <a:noFill/>
          <a:ln w="12700">
            <a:solidFill>
              <a:srgbClr val="E4E8F2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22960" y="1691640"/>
            <a:ext cx="1051560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300"/>
              </a:spcAft>
              <a:buSzPct val="100000"/>
              <a:buChar char="•"/>
            </a:pPr>
            <a:r>
              <a:rPr lang="en-US" sz="155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your presentation and listen to it afterward.</a:t>
            </a:r>
            <a:endParaRPr lang="en-US" sz="1550" dirty="0"/>
          </a:p>
          <a:p>
            <a:pPr marL="228600" indent="-228600">
              <a:spcAft>
                <a:spcPts val="1300"/>
              </a:spcAft>
              <a:buSzPct val="100000"/>
              <a:buChar char="•"/>
            </a:pPr>
            <a:r>
              <a:rPr lang="en-US" sz="155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volume, pronunciation, speed, pauses, and repeated words.</a:t>
            </a:r>
            <a:endParaRPr lang="en-US" sz="1550" dirty="0"/>
          </a:p>
          <a:p>
            <a:pPr marL="228600" indent="-228600">
              <a:spcAft>
                <a:spcPts val="1300"/>
              </a:spcAft>
              <a:buSzPct val="100000"/>
              <a:buChar char="•"/>
            </a:pPr>
            <a:r>
              <a:rPr lang="en-US" sz="155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parts that sound unclear or too long.</a:t>
            </a:r>
            <a:endParaRPr lang="en-US" sz="1550" dirty="0"/>
          </a:p>
          <a:p>
            <a:pPr marL="228600" indent="-228600">
              <a:spcAft>
                <a:spcPts val="1300"/>
              </a:spcAft>
              <a:buSzPct val="100000"/>
              <a:buChar char="•"/>
            </a:pPr>
            <a:r>
              <a:rPr lang="en-US" sz="155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again after correcting problems.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1133856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cs typeface="Calibri" pitchFamily="34" charset="-120"/>
              </a:rPr>
              <a:t>24</a:t>
            </a:r>
            <a:endParaRPr lang="en-US" sz="1000" dirty="0"/>
          </a:p>
        </p:txBody>
      </p:sp>
      <p:pic>
        <p:nvPicPr>
          <p:cNvPr id="13320" name="Picture 8" descr="With so many voice recording apps out there,we share some of our favorites.">
            <a:extLst>
              <a:ext uri="{FF2B5EF4-FFF2-40B4-BE49-F238E27FC236}">
                <a16:creationId xmlns:a16="http://schemas.microsoft.com/office/drawing/2014/main" id="{59BC1251-106F-7E2B-2711-85D8F50161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36273" y="2356254"/>
            <a:ext cx="5876607" cy="3916529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3" name="Image 0" descr="/home/claude/icons/squa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041" y="604601"/>
            <a:ext cx="272125" cy="2721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384048"/>
            <a:ext cx="78638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Rehearsing: Using a Mirror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10354666" y="530352"/>
            <a:ext cx="1258214" cy="329184"/>
          </a:xfrm>
          <a:prstGeom prst="roundRect">
            <a:avLst>
              <a:gd name="adj" fmla="val 50000"/>
            </a:avLst>
          </a:prstGeom>
          <a:solidFill>
            <a:srgbClr val="CADCFC"/>
          </a:solidFill>
          <a:ln/>
        </p:spPr>
      </p:sp>
      <p:sp>
        <p:nvSpPr>
          <p:cNvPr id="6" name="Text 3"/>
          <p:cNvSpPr/>
          <p:nvPr/>
        </p:nvSpPr>
        <p:spPr>
          <a:xfrm>
            <a:off x="10354666" y="530352"/>
            <a:ext cx="125821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Hrikesh Aron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548640" y="1225296"/>
            <a:ext cx="11064240" cy="0"/>
          </a:xfrm>
          <a:prstGeom prst="line">
            <a:avLst/>
          </a:prstGeom>
          <a:noFill/>
          <a:ln w="12700">
            <a:solidFill>
              <a:srgbClr val="E4E8F2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22960" y="1691640"/>
            <a:ext cx="1051560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300"/>
              </a:spcAft>
              <a:buSzPct val="100000"/>
              <a:buChar char="•"/>
            </a:pPr>
            <a:r>
              <a:rPr lang="en-US" sz="155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while looking at yourself.</a:t>
            </a:r>
            <a:endParaRPr lang="en-US" sz="1550" dirty="0"/>
          </a:p>
          <a:p>
            <a:pPr marL="228600" indent="-228600">
              <a:spcAft>
                <a:spcPts val="1300"/>
              </a:spcAft>
              <a:buSzPct val="100000"/>
              <a:buChar char="•"/>
            </a:pPr>
            <a:r>
              <a:rPr lang="en-US" sz="155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 posture, facial expressions, gestures, and eye contact.</a:t>
            </a:r>
            <a:endParaRPr lang="en-US" sz="1550" dirty="0"/>
          </a:p>
          <a:p>
            <a:pPr marL="228600" indent="-228600">
              <a:spcAft>
                <a:spcPts val="1300"/>
              </a:spcAft>
              <a:buSzPct val="100000"/>
              <a:buChar char="•"/>
            </a:pPr>
            <a:r>
              <a:rPr lang="en-US" sz="155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distracting movements.</a:t>
            </a:r>
            <a:endParaRPr lang="en-US" sz="1550" dirty="0"/>
          </a:p>
          <a:p>
            <a:pPr marL="228600" indent="-228600">
              <a:spcAft>
                <a:spcPts val="1300"/>
              </a:spcAft>
              <a:buSzPct val="100000"/>
              <a:buChar char="•"/>
            </a:pPr>
            <a:r>
              <a:rPr lang="en-US" sz="155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a natural and confident delivery.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1133856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cs typeface="Calibri" pitchFamily="34" charset="-120"/>
              </a:rPr>
              <a:t>25</a:t>
            </a:r>
            <a:endParaRPr lang="en-US" sz="1000" dirty="0"/>
          </a:p>
        </p:txBody>
      </p:sp>
      <p:pic>
        <p:nvPicPr>
          <p:cNvPr id="11266" name="Picture 2" descr="56,900+ Rehearse Stock Photos, Pictures &amp; Royalty-Free Images - iStock">
            <a:extLst>
              <a:ext uri="{FF2B5EF4-FFF2-40B4-BE49-F238E27FC236}">
                <a16:creationId xmlns:a16="http://schemas.microsoft.com/office/drawing/2014/main" id="{57BD6826-6F1B-665B-AFE4-32B060DE87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04670" y="1999468"/>
            <a:ext cx="5678659" cy="3956343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3" name="Image 0" descr="/home/claude/icons/vide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041" y="604601"/>
            <a:ext cx="272125" cy="2721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384048"/>
            <a:ext cx="78638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Rehearsing: Using a Video Camera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10354666" y="530352"/>
            <a:ext cx="1258214" cy="329184"/>
          </a:xfrm>
          <a:prstGeom prst="roundRect">
            <a:avLst>
              <a:gd name="adj" fmla="val 50000"/>
            </a:avLst>
          </a:prstGeom>
          <a:solidFill>
            <a:srgbClr val="CADCFC"/>
          </a:solidFill>
          <a:ln/>
        </p:spPr>
      </p:sp>
      <p:sp>
        <p:nvSpPr>
          <p:cNvPr id="6" name="Text 3"/>
          <p:cNvSpPr/>
          <p:nvPr/>
        </p:nvSpPr>
        <p:spPr>
          <a:xfrm>
            <a:off x="10354666" y="530352"/>
            <a:ext cx="125821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Hrikesh Aron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548640" y="1225296"/>
            <a:ext cx="11064240" cy="0"/>
          </a:xfrm>
          <a:prstGeom prst="line">
            <a:avLst/>
          </a:prstGeom>
          <a:noFill/>
          <a:ln w="12700">
            <a:solidFill>
              <a:srgbClr val="E4E8F2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22960" y="1691640"/>
            <a:ext cx="1051560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300"/>
              </a:spcAft>
              <a:buSzPct val="100000"/>
              <a:buChar char="•"/>
            </a:pPr>
            <a:r>
              <a:rPr lang="en-US" sz="155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the complete presentation on video.</a:t>
            </a:r>
            <a:endParaRPr lang="en-US" sz="1550" dirty="0"/>
          </a:p>
          <a:p>
            <a:pPr marL="228600" indent="-228600">
              <a:spcAft>
                <a:spcPts val="1300"/>
              </a:spcAft>
              <a:buSzPct val="100000"/>
              <a:buChar char="•"/>
            </a:pPr>
            <a:r>
              <a:rPr lang="en-US" sz="155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voice, posture, gestures, eye contact, timing, and slide use.</a:t>
            </a:r>
            <a:endParaRPr lang="en-US" sz="1550" dirty="0"/>
          </a:p>
          <a:p>
            <a:pPr marL="228600" indent="-228600">
              <a:spcAft>
                <a:spcPts val="1300"/>
              </a:spcAft>
              <a:buSzPct val="100000"/>
              <a:buChar char="•"/>
            </a:pPr>
            <a:r>
              <a:rPr lang="en-US" sz="155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Notice habits that may distract the audience.</a:t>
            </a:r>
            <a:endParaRPr lang="en-US" sz="1550" dirty="0"/>
          </a:p>
          <a:p>
            <a:pPr marL="228600" indent="-228600">
              <a:spcAft>
                <a:spcPts val="1300"/>
              </a:spcAft>
              <a:buSzPct val="100000"/>
              <a:buChar char="•"/>
            </a:pPr>
            <a:r>
              <a:rPr lang="en-US" sz="155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the presentation after making improvements.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1133856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cs typeface="Calibri" pitchFamily="34" charset="-120"/>
              </a:rPr>
              <a:t>26</a:t>
            </a:r>
            <a:endParaRPr lang="en-US" sz="1000" dirty="0"/>
          </a:p>
        </p:txBody>
      </p:sp>
      <p:pic>
        <p:nvPicPr>
          <p:cNvPr id="12290" name="Picture 2" descr="Should You Practice or Rehearse for Your Next Business Presentation?">
            <a:extLst>
              <a:ext uri="{FF2B5EF4-FFF2-40B4-BE49-F238E27FC236}">
                <a16:creationId xmlns:a16="http://schemas.microsoft.com/office/drawing/2014/main" id="{B30E5884-74C3-5D44-1A27-DABB55B7EE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43556" y="2354585"/>
            <a:ext cx="6069323" cy="4046215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3" name="Image 0" descr="/home/claude/icons/us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041" y="604601"/>
            <a:ext cx="272125" cy="2721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384048"/>
            <a:ext cx="78638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Rehearsing: Using a Live Audience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10439705" y="530352"/>
            <a:ext cx="1173175" cy="329184"/>
          </a:xfrm>
          <a:prstGeom prst="roundRect">
            <a:avLst>
              <a:gd name="adj" fmla="val 50000"/>
            </a:avLst>
          </a:prstGeom>
          <a:solidFill>
            <a:srgbClr val="CADCFC"/>
          </a:solidFill>
          <a:ln/>
        </p:spPr>
      </p:sp>
      <p:sp>
        <p:nvSpPr>
          <p:cNvPr id="6" name="Text 3"/>
          <p:cNvSpPr/>
          <p:nvPr/>
        </p:nvSpPr>
        <p:spPr>
          <a:xfrm>
            <a:off x="10439705" y="530352"/>
            <a:ext cx="1173175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Aayush Shah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548640" y="1225296"/>
            <a:ext cx="11064240" cy="0"/>
          </a:xfrm>
          <a:prstGeom prst="line">
            <a:avLst/>
          </a:prstGeom>
          <a:noFill/>
          <a:ln w="12700">
            <a:solidFill>
              <a:srgbClr val="E4E8F2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22960" y="1691640"/>
            <a:ext cx="1051560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300"/>
              </a:spcAft>
              <a:buSzPct val="100000"/>
              <a:buChar char="•"/>
            </a:pPr>
            <a:r>
              <a:rPr lang="en-US" sz="155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in front of classmates, friends, or family.</a:t>
            </a:r>
            <a:endParaRPr lang="en-US" sz="1550" dirty="0"/>
          </a:p>
          <a:p>
            <a:pPr marL="228600" indent="-228600">
              <a:spcAft>
                <a:spcPts val="1300"/>
              </a:spcAft>
              <a:buSzPct val="100000"/>
              <a:buChar char="•"/>
            </a:pPr>
            <a:r>
              <a:rPr lang="en-US" sz="155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them to evaluate clarity, organization, delivery, and timing.</a:t>
            </a:r>
            <a:endParaRPr lang="en-US" sz="1550" dirty="0"/>
          </a:p>
          <a:p>
            <a:pPr marL="228600" indent="-228600">
              <a:spcAft>
                <a:spcPts val="1300"/>
              </a:spcAft>
              <a:buSzPct val="100000"/>
              <a:buChar char="•"/>
            </a:pPr>
            <a:r>
              <a:rPr lang="en-US" sz="155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Invite questions to simulate the real presentation.</a:t>
            </a:r>
            <a:endParaRPr lang="en-US" sz="1550" dirty="0"/>
          </a:p>
          <a:p>
            <a:pPr marL="228600" indent="-228600">
              <a:spcAft>
                <a:spcPts val="1300"/>
              </a:spcAft>
              <a:buSzPct val="100000"/>
              <a:buChar char="•"/>
            </a:pPr>
            <a:r>
              <a:rPr lang="en-US" sz="155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feedback to improve before the final presentation.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1133856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000" dirty="0"/>
          </a:p>
        </p:txBody>
      </p:sp>
      <p:pic>
        <p:nvPicPr>
          <p:cNvPr id="14338" name="Picture 2" descr="3 Rehearsal Tips for Better Presentations - Bob Goodyear ~ A Geek Who Speaks">
            <a:extLst>
              <a:ext uri="{FF2B5EF4-FFF2-40B4-BE49-F238E27FC236}">
                <a16:creationId xmlns:a16="http://schemas.microsoft.com/office/drawing/2014/main" id="{833A3CF9-1B28-F2FD-EC7C-70C1FDBF23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88430" y="2095500"/>
            <a:ext cx="5124450" cy="3416300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607040" y="5120640"/>
            <a:ext cx="3291840" cy="3291840"/>
          </a:xfrm>
          <a:prstGeom prst="ellipse">
            <a:avLst/>
          </a:prstGeom>
          <a:ln w="15875">
            <a:solidFill>
              <a:srgbClr val="33408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2960" y="1051560"/>
            <a:ext cx="960120" cy="9601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4" name="Image 0" descr="/home/claude/icons/repea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2591" y="1301191"/>
            <a:ext cx="460858" cy="46085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04672" y="2240280"/>
            <a:ext cx="8686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Presenting</a:t>
            </a:r>
            <a:endParaRPr lang="en-US" sz="3600" dirty="0">
              <a:solidFill>
                <a:schemeClr val="bg1"/>
              </a:solidFill>
            </a:endParaRPr>
          </a:p>
        </p:txBody>
      </p:sp>
      <p:sp>
        <p:nvSpPr>
          <p:cNvPr id="6" name="Text 3"/>
          <p:cNvSpPr/>
          <p:nvPr/>
        </p:nvSpPr>
        <p:spPr>
          <a:xfrm>
            <a:off x="822960" y="3246120"/>
            <a:ext cx="87782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1300"/>
              </a:spcAft>
              <a:buSzPct val="100000"/>
            </a:pPr>
            <a:r>
              <a:rPr lang="en-US" sz="15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Presenting is the actual delivery of the prepared information to the audience.</a:t>
            </a:r>
            <a:endParaRPr lang="en-US" sz="1550" dirty="0">
              <a:solidFill>
                <a:schemeClr val="bg1"/>
              </a:solidFill>
            </a:endParaRPr>
          </a:p>
          <a:p>
            <a:pPr>
              <a:spcAft>
                <a:spcPts val="1300"/>
              </a:spcAft>
              <a:buSzPct val="100000"/>
            </a:pPr>
            <a:r>
              <a:rPr lang="en-US" sz="15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speaker should communicate clearly using appropriate voice, body language, eye contact, and visual aids.</a:t>
            </a:r>
            <a:endParaRPr lang="en-US" sz="1550" dirty="0">
              <a:solidFill>
                <a:schemeClr val="bg1"/>
              </a:solidFill>
            </a:endParaRPr>
          </a:p>
          <a:p>
            <a:pPr>
              <a:spcAft>
                <a:spcPts val="1300"/>
              </a:spcAft>
              <a:buSzPct val="100000"/>
            </a:pPr>
            <a:r>
              <a:rPr lang="en-US" sz="15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speaker should explain the information instead of simply reading the slides.</a:t>
            </a:r>
            <a:endParaRPr lang="en-US" sz="1550" dirty="0">
              <a:solidFill>
                <a:schemeClr val="bg1"/>
              </a:solidFill>
            </a:endParaRPr>
          </a:p>
          <a:p>
            <a:pPr>
              <a:spcAft>
                <a:spcPts val="1300"/>
              </a:spcAft>
              <a:buSzPct val="100000"/>
            </a:pPr>
            <a:r>
              <a:rPr lang="en-US" sz="15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Effective delivery keeps the audience interested and helps them understand the message.</a:t>
            </a:r>
            <a:endParaRPr lang="en-US" sz="1550" dirty="0">
              <a:solidFill>
                <a:schemeClr val="bg1"/>
              </a:solidFill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AF224D7E-3AC9-4741-8720-A0DEA5FB840F}"/>
              </a:ext>
            </a:extLst>
          </p:cNvPr>
          <p:cNvGrpSpPr/>
          <p:nvPr/>
        </p:nvGrpSpPr>
        <p:grpSpPr>
          <a:xfrm>
            <a:off x="822960" y="1052945"/>
            <a:ext cx="960120" cy="960120"/>
            <a:chOff x="2737658" y="1275588"/>
            <a:chExt cx="566928" cy="566928"/>
          </a:xfrm>
        </p:grpSpPr>
        <p:sp>
          <p:nvSpPr>
            <p:cNvPr id="7" name="Shape 0">
              <a:extLst>
                <a:ext uri="{FF2B5EF4-FFF2-40B4-BE49-F238E27FC236}">
                  <a16:creationId xmlns:a16="http://schemas.microsoft.com/office/drawing/2014/main" id="{E7F3E4D8-D804-439B-A4EB-85B9F2B43197}"/>
                </a:ext>
              </a:extLst>
            </p:cNvPr>
            <p:cNvSpPr/>
            <p:nvPr/>
          </p:nvSpPr>
          <p:spPr>
            <a:xfrm>
              <a:off x="2737658" y="1275588"/>
              <a:ext cx="566928" cy="566928"/>
            </a:xfrm>
            <a:prstGeom prst="ellipse">
              <a:avLst/>
            </a:prstGeom>
            <a:solidFill>
              <a:schemeClr val="bg1"/>
            </a:solidFill>
            <a:ln/>
          </p:spPr>
          <p:txBody>
            <a:bodyPr/>
            <a:lstStyle/>
            <a:p>
              <a:endParaRPr lang="en-US" dirty="0"/>
            </a:p>
          </p:txBody>
        </p:sp>
        <p:pic>
          <p:nvPicPr>
            <p:cNvPr id="8" name="Image 0" descr="/home/claude/icons/mic.png">
              <a:extLst>
                <a:ext uri="{FF2B5EF4-FFF2-40B4-BE49-F238E27FC236}">
                  <a16:creationId xmlns:a16="http://schemas.microsoft.com/office/drawing/2014/main" id="{1889BAD5-5225-4E2B-953F-F0DF6F5349D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885059" y="1422989"/>
              <a:ext cx="272125" cy="27212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36468742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3" name="Image 0" descr="/home/claude/icons/hom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041" y="604601"/>
            <a:ext cx="272125" cy="2721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384048"/>
            <a:ext cx="78638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Presenting: Checking the Room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10439705" y="530352"/>
            <a:ext cx="1173175" cy="329184"/>
          </a:xfrm>
          <a:prstGeom prst="roundRect">
            <a:avLst>
              <a:gd name="adj" fmla="val 50000"/>
            </a:avLst>
          </a:prstGeom>
          <a:solidFill>
            <a:srgbClr val="CADCFC"/>
          </a:solidFill>
          <a:ln/>
        </p:spPr>
      </p:sp>
      <p:sp>
        <p:nvSpPr>
          <p:cNvPr id="6" name="Text 3"/>
          <p:cNvSpPr/>
          <p:nvPr/>
        </p:nvSpPr>
        <p:spPr>
          <a:xfrm>
            <a:off x="10439705" y="530352"/>
            <a:ext cx="1173175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Aayush Shah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548640" y="1225296"/>
            <a:ext cx="11064240" cy="0"/>
          </a:xfrm>
          <a:prstGeom prst="line">
            <a:avLst/>
          </a:prstGeom>
          <a:noFill/>
          <a:ln w="12700">
            <a:solidFill>
              <a:srgbClr val="E4E8F2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22960" y="1645920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presenting, check: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822960" y="2057400"/>
            <a:ext cx="1051560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Seating — Can everyone see and hear clearly?</a:t>
            </a:r>
            <a:endParaRPr lang="en-US" sz="1400" dirty="0"/>
          </a:p>
          <a:p>
            <a:pPr marL="228600" indent="-228600"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Lighting — Is the screen visible without making the room too dark?</a:t>
            </a:r>
            <a:endParaRPr lang="en-US" sz="1400" dirty="0"/>
          </a:p>
          <a:p>
            <a:pPr marL="228600" indent="-228600"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 — Is the room comfortable?</a:t>
            </a:r>
            <a:endParaRPr lang="en-US" sz="1400" dirty="0"/>
          </a:p>
          <a:p>
            <a:pPr marL="228600" indent="-228600"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Equipment — Test the computer, projector, microphone, and other devices.</a:t>
            </a:r>
            <a:endParaRPr lang="en-US" sz="1400" dirty="0"/>
          </a:p>
          <a:p>
            <a:pPr marL="228600" indent="-228600"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Graphic aids — Check that slides, charts, and other visuals display correctly.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133856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1000" dirty="0"/>
          </a:p>
        </p:txBody>
      </p:sp>
      <p:pic>
        <p:nvPicPr>
          <p:cNvPr id="15362" name="Picture 2" descr="Presentation Techniques You Didn't Know Existed (Until Now)">
            <a:extLst>
              <a:ext uri="{FF2B5EF4-FFF2-40B4-BE49-F238E27FC236}">
                <a16:creationId xmlns:a16="http://schemas.microsoft.com/office/drawing/2014/main" id="{1BC85780-4C30-5515-4300-0AF64F7ABA1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392"/>
          <a:stretch>
            <a:fillRect/>
          </a:stretch>
        </p:blipFill>
        <p:spPr bwMode="auto">
          <a:xfrm>
            <a:off x="6789420" y="1769463"/>
            <a:ext cx="5214460" cy="3319074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3" name="Image 0" descr="/home/claude/icons/message_squa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041" y="604601"/>
            <a:ext cx="272125" cy="2721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384048"/>
            <a:ext cx="78638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Presenting: Delivering the Message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10439705" y="530352"/>
            <a:ext cx="1173175" cy="329184"/>
          </a:xfrm>
          <a:prstGeom prst="roundRect">
            <a:avLst>
              <a:gd name="adj" fmla="val 50000"/>
            </a:avLst>
          </a:prstGeom>
          <a:solidFill>
            <a:srgbClr val="CADCFC"/>
          </a:solidFill>
          <a:ln/>
        </p:spPr>
      </p:sp>
      <p:sp>
        <p:nvSpPr>
          <p:cNvPr id="6" name="Text 3"/>
          <p:cNvSpPr/>
          <p:nvPr/>
        </p:nvSpPr>
        <p:spPr>
          <a:xfrm>
            <a:off x="10439705" y="530352"/>
            <a:ext cx="1173175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Aayush Shah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548640" y="1225296"/>
            <a:ext cx="11064240" cy="0"/>
          </a:xfrm>
          <a:prstGeom prst="line">
            <a:avLst/>
          </a:prstGeom>
          <a:noFill/>
          <a:ln w="12700">
            <a:solidFill>
              <a:srgbClr val="E4E8F2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22960" y="1691640"/>
            <a:ext cx="1051560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100"/>
              </a:spcAft>
              <a:buSzPct val="100000"/>
              <a:buChar char="•"/>
            </a:pPr>
            <a:r>
              <a:rPr lang="en-US" sz="145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 clearly, confidently, and at an appropriate pace.</a:t>
            </a:r>
            <a:endParaRPr lang="en-US" sz="1450" dirty="0"/>
          </a:p>
          <a:p>
            <a:pPr marL="228600" indent="-228600">
              <a:spcAft>
                <a:spcPts val="1100"/>
              </a:spcAft>
              <a:buSzPct val="100000"/>
              <a:buChar char="•"/>
            </a:pPr>
            <a:r>
              <a:rPr lang="en-US" sz="145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 eye contact with the audience.</a:t>
            </a:r>
            <a:endParaRPr lang="en-US" sz="1450" dirty="0"/>
          </a:p>
          <a:p>
            <a:pPr marL="228600" indent="-228600">
              <a:spcAft>
                <a:spcPts val="1100"/>
              </a:spcAft>
              <a:buSzPct val="100000"/>
              <a:buChar char="•"/>
            </a:pPr>
            <a:r>
              <a:rPr lang="en-US" sz="145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natural gestures and appropriate facial expressions.</a:t>
            </a:r>
            <a:endParaRPr lang="en-US" sz="1450" dirty="0"/>
          </a:p>
          <a:p>
            <a:pPr marL="228600" indent="-228600">
              <a:spcAft>
                <a:spcPts val="1100"/>
              </a:spcAft>
              <a:buSzPct val="100000"/>
              <a:buChar char="•"/>
            </a:pPr>
            <a:r>
              <a:rPr lang="en-US" sz="145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rather than simply read the slides.</a:t>
            </a:r>
            <a:endParaRPr lang="en-US" sz="1450" dirty="0"/>
          </a:p>
          <a:p>
            <a:pPr marL="228600" indent="-228600">
              <a:spcAft>
                <a:spcPts val="1100"/>
              </a:spcAft>
              <a:buSzPct val="100000"/>
              <a:buChar char="•"/>
            </a:pPr>
            <a:r>
              <a:rPr lang="en-US" sz="145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transitions to connect ideas.</a:t>
            </a:r>
            <a:endParaRPr lang="en-US" sz="1450" dirty="0"/>
          </a:p>
          <a:p>
            <a:pPr marL="228600" indent="-228600">
              <a:spcAft>
                <a:spcPts val="1100"/>
              </a:spcAft>
              <a:buSzPct val="100000"/>
              <a:buChar char="•"/>
            </a:pPr>
            <a:r>
              <a:rPr lang="en-US" sz="145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and respond respectfully to audience questions.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1133856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cs typeface="Calibri" pitchFamily="34" charset="-120"/>
              </a:rPr>
              <a:t>30</a:t>
            </a:r>
            <a:endParaRPr lang="en-US" sz="1000" dirty="0"/>
          </a:p>
        </p:txBody>
      </p:sp>
      <p:pic>
        <p:nvPicPr>
          <p:cNvPr id="16386" name="Picture 2" descr="7 Tips to Deliver an Effective Message Across Your District | Finalsite Blog">
            <a:extLst>
              <a:ext uri="{FF2B5EF4-FFF2-40B4-BE49-F238E27FC236}">
                <a16:creationId xmlns:a16="http://schemas.microsoft.com/office/drawing/2014/main" id="{14F8446E-5DC6-000F-92DA-186E1CEFF0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02705" y="1708975"/>
            <a:ext cx="5210175" cy="3476625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" name="Image 0" descr="/home/claude/icons/aw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041" y="650321"/>
            <a:ext cx="272125" cy="2721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38912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10439705" y="530352"/>
            <a:ext cx="1173175" cy="329184"/>
          </a:xfrm>
          <a:prstGeom prst="roundRect">
            <a:avLst>
              <a:gd name="adj" fmla="val 50000"/>
            </a:avLst>
          </a:prstGeom>
          <a:solidFill>
            <a:srgbClr val="2A3373"/>
          </a:solidFill>
          <a:ln w="12700">
            <a:solidFill>
              <a:srgbClr val="3E4A96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0439705" y="530352"/>
            <a:ext cx="1173175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Kamana Shrestha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822960" y="13716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effective presentation requires: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822960" y="1965960"/>
            <a:ext cx="5074920" cy="1051560"/>
          </a:xfrm>
          <a:prstGeom prst="roundRect">
            <a:avLst>
              <a:gd name="adj" fmla="val 7826"/>
            </a:avLst>
          </a:prstGeom>
          <a:solidFill>
            <a:srgbClr val="252E6B"/>
          </a:solidFill>
          <a:ln w="12700">
            <a:solidFill>
              <a:srgbClr val="3E4A96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024128" y="2263140"/>
            <a:ext cx="457200" cy="45720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0" name="Image 1" descr="/home/claude/icons/check_circ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" y="2382012"/>
            <a:ext cx="219456" cy="21945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627632" y="1965960"/>
            <a:ext cx="4114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the audience and purpose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6263640" y="1965960"/>
            <a:ext cx="5074920" cy="1051560"/>
          </a:xfrm>
          <a:prstGeom prst="roundRect">
            <a:avLst>
              <a:gd name="adj" fmla="val 7826"/>
            </a:avLst>
          </a:prstGeom>
          <a:solidFill>
            <a:srgbClr val="252E6B"/>
          </a:solidFill>
          <a:ln w="12700">
            <a:solidFill>
              <a:srgbClr val="3E4A96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6464808" y="2263140"/>
            <a:ext cx="457200" cy="45720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4" name="Image 2" descr="/home/claude/icons/check_circ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0" y="2382012"/>
            <a:ext cx="219456" cy="21945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7068312" y="1965960"/>
            <a:ext cx="4114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Careful planning and organization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822960" y="3273552"/>
            <a:ext cx="5074920" cy="1051560"/>
          </a:xfrm>
          <a:prstGeom prst="roundRect">
            <a:avLst>
              <a:gd name="adj" fmla="val 7826"/>
            </a:avLst>
          </a:prstGeom>
          <a:solidFill>
            <a:srgbClr val="252E6B"/>
          </a:solidFill>
          <a:ln w="12700">
            <a:solidFill>
              <a:srgbClr val="3E4A96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1024128" y="3570732"/>
            <a:ext cx="457200" cy="45720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8" name="Image 3" descr="/home/claude/icons/check_circ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" y="3689604"/>
            <a:ext cx="219456" cy="21945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627632" y="3273552"/>
            <a:ext cx="4114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composition and useful graphic aids</a:t>
            </a:r>
            <a:endParaRPr lang="en-US" sz="1300" dirty="0"/>
          </a:p>
        </p:txBody>
      </p:sp>
      <p:sp>
        <p:nvSpPr>
          <p:cNvPr id="20" name="Shape 14"/>
          <p:cNvSpPr/>
          <p:nvPr/>
        </p:nvSpPr>
        <p:spPr>
          <a:xfrm>
            <a:off x="6263640" y="3273552"/>
            <a:ext cx="5074920" cy="1051560"/>
          </a:xfrm>
          <a:prstGeom prst="roundRect">
            <a:avLst>
              <a:gd name="adj" fmla="val 7826"/>
            </a:avLst>
          </a:prstGeom>
          <a:solidFill>
            <a:srgbClr val="252E6B"/>
          </a:solidFill>
          <a:ln w="12700">
            <a:solidFill>
              <a:srgbClr val="3E4A96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6464808" y="3570732"/>
            <a:ext cx="457200" cy="45720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22" name="Image 4" descr="/home/claude/icons/check_circ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0" y="3689604"/>
            <a:ext cx="219456" cy="219456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7068312" y="3273552"/>
            <a:ext cx="4114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Preparation and rehearsal</a:t>
            </a:r>
            <a:endParaRPr lang="en-US" sz="1300" dirty="0"/>
          </a:p>
        </p:txBody>
      </p:sp>
      <p:sp>
        <p:nvSpPr>
          <p:cNvPr id="24" name="Shape 17"/>
          <p:cNvSpPr/>
          <p:nvPr/>
        </p:nvSpPr>
        <p:spPr>
          <a:xfrm>
            <a:off x="822960" y="4581144"/>
            <a:ext cx="5074920" cy="1051560"/>
          </a:xfrm>
          <a:prstGeom prst="roundRect">
            <a:avLst>
              <a:gd name="adj" fmla="val 7826"/>
            </a:avLst>
          </a:prstGeom>
          <a:solidFill>
            <a:srgbClr val="252E6B"/>
          </a:solidFill>
          <a:ln w="12700">
            <a:solidFill>
              <a:srgbClr val="3E4A96"/>
            </a:solidFill>
            <a:prstDash val="solid"/>
          </a:ln>
        </p:spPr>
      </p:sp>
      <p:sp>
        <p:nvSpPr>
          <p:cNvPr id="25" name="Shape 18"/>
          <p:cNvSpPr/>
          <p:nvPr/>
        </p:nvSpPr>
        <p:spPr>
          <a:xfrm>
            <a:off x="1024128" y="4878324"/>
            <a:ext cx="457200" cy="45720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26" name="Image 5" descr="/home/claude/icons/check_circ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" y="4997196"/>
            <a:ext cx="219456" cy="219456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1627632" y="4581144"/>
            <a:ext cx="4114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 delivery</a:t>
            </a:r>
            <a:endParaRPr lang="en-US" sz="1300" dirty="0"/>
          </a:p>
        </p:txBody>
      </p:sp>
      <p:sp>
        <p:nvSpPr>
          <p:cNvPr id="28" name="Shape 20"/>
          <p:cNvSpPr/>
          <p:nvPr/>
        </p:nvSpPr>
        <p:spPr>
          <a:xfrm>
            <a:off x="6263640" y="4581144"/>
            <a:ext cx="5074920" cy="1051560"/>
          </a:xfrm>
          <a:prstGeom prst="roundRect">
            <a:avLst>
              <a:gd name="adj" fmla="val 7826"/>
            </a:avLst>
          </a:prstGeom>
          <a:solidFill>
            <a:srgbClr val="252E6B"/>
          </a:solidFill>
          <a:ln w="12700">
            <a:solidFill>
              <a:srgbClr val="3E4A96"/>
            </a:solidFill>
            <a:prstDash val="solid"/>
          </a:ln>
        </p:spPr>
      </p:sp>
      <p:sp>
        <p:nvSpPr>
          <p:cNvPr id="29" name="Shape 21"/>
          <p:cNvSpPr/>
          <p:nvPr/>
        </p:nvSpPr>
        <p:spPr>
          <a:xfrm>
            <a:off x="6464808" y="4878324"/>
            <a:ext cx="457200" cy="45720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30" name="Image 6" descr="/home/claude/icons/check_circ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0" y="4997196"/>
            <a:ext cx="219456" cy="219456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7068312" y="4581144"/>
            <a:ext cx="4114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coordination in group presentations</a:t>
            </a:r>
            <a:endParaRPr lang="en-US" sz="1300" dirty="0"/>
          </a:p>
        </p:txBody>
      </p:sp>
      <p:sp>
        <p:nvSpPr>
          <p:cNvPr id="32" name="Text 23"/>
          <p:cNvSpPr/>
          <p:nvPr/>
        </p:nvSpPr>
        <p:spPr>
          <a:xfrm>
            <a:off x="1133856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cs typeface="Calibri" pitchFamily="34" charset="-120"/>
              </a:rPr>
              <a:t>36</a:t>
            </a:r>
            <a:endParaRPr lang="en-US" sz="10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2377440"/>
            <a:ext cx="5486400" cy="5486400"/>
          </a:xfrm>
          <a:prstGeom prst="ellipse">
            <a:avLst/>
          </a:prstGeom>
          <a:ln w="19050">
            <a:solidFill>
              <a:srgbClr val="33408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2560320" y="4023360"/>
            <a:ext cx="4754880" cy="4754880"/>
          </a:xfrm>
          <a:prstGeom prst="ellipse">
            <a:avLst/>
          </a:prstGeom>
          <a:ln w="19050">
            <a:solidFill>
              <a:srgbClr val="33408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600700" y="1965960"/>
            <a:ext cx="960120" cy="9601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5" name="Image 0" descr="/home/claude/icons/smi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0331" y="2215591"/>
            <a:ext cx="460858" cy="46085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0" y="3154680"/>
            <a:ext cx="12161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</a:rPr>
              <a:t>Feedbacks</a:t>
            </a:r>
            <a:endParaRPr lang="en-US" sz="4200" dirty="0"/>
          </a:p>
        </p:txBody>
      </p:sp>
      <p:sp>
        <p:nvSpPr>
          <p:cNvPr id="8" name="Text 5"/>
          <p:cNvSpPr/>
          <p:nvPr/>
        </p:nvSpPr>
        <p:spPr>
          <a:xfrm>
            <a:off x="1133856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cs typeface="Calibri" pitchFamily="34" charset="-120"/>
              </a:rPr>
              <a:t>37</a:t>
            </a:r>
            <a:endParaRPr lang="en-US" sz="10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2377440"/>
            <a:ext cx="5486400" cy="5486400"/>
          </a:xfrm>
          <a:prstGeom prst="ellipse">
            <a:avLst/>
          </a:prstGeom>
          <a:ln w="19050">
            <a:solidFill>
              <a:srgbClr val="33408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2560320" y="4023360"/>
            <a:ext cx="4754880" cy="4754880"/>
          </a:xfrm>
          <a:prstGeom prst="ellipse">
            <a:avLst/>
          </a:prstGeom>
          <a:ln w="19050">
            <a:solidFill>
              <a:srgbClr val="33408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600700" y="1965960"/>
            <a:ext cx="960120" cy="9601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5" name="Image 0" descr="/home/claude/icons/smi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0331" y="2215591"/>
            <a:ext cx="460858" cy="46085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0" y="3154680"/>
            <a:ext cx="12161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</a:rPr>
              <a:t>Questions?</a:t>
            </a:r>
            <a:endParaRPr lang="en-US" sz="4200" dirty="0"/>
          </a:p>
        </p:txBody>
      </p:sp>
      <p:sp>
        <p:nvSpPr>
          <p:cNvPr id="8" name="Text 5"/>
          <p:cNvSpPr/>
          <p:nvPr/>
        </p:nvSpPr>
        <p:spPr>
          <a:xfrm>
            <a:off x="1133856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cs typeface="Calibri" pitchFamily="34" charset="-120"/>
              </a:rPr>
              <a:t>37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425524394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2377440"/>
            <a:ext cx="5486400" cy="5486400"/>
          </a:xfrm>
          <a:prstGeom prst="ellipse">
            <a:avLst/>
          </a:prstGeom>
          <a:ln w="19050">
            <a:solidFill>
              <a:srgbClr val="33408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2560320" y="4023360"/>
            <a:ext cx="4754880" cy="4754880"/>
          </a:xfrm>
          <a:prstGeom prst="ellipse">
            <a:avLst/>
          </a:prstGeom>
          <a:ln w="19050">
            <a:solidFill>
              <a:srgbClr val="33408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600700" y="1965960"/>
            <a:ext cx="960120" cy="9601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5" name="Image 0" descr="/home/claude/icons/smi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0331" y="2215591"/>
            <a:ext cx="460858" cy="46085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0" y="3154680"/>
            <a:ext cx="12161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200" dirty="0"/>
          </a:p>
        </p:txBody>
      </p:sp>
      <p:sp>
        <p:nvSpPr>
          <p:cNvPr id="8" name="Text 5"/>
          <p:cNvSpPr/>
          <p:nvPr/>
        </p:nvSpPr>
        <p:spPr>
          <a:xfrm>
            <a:off x="1133856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cs typeface="Calibri" pitchFamily="34" charset="-120"/>
              </a:rPr>
              <a:t>37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0696398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308</TotalTime>
  <Words>2088</Words>
  <Application>Microsoft Office PowerPoint</Application>
  <PresentationFormat>Widescreen</PresentationFormat>
  <Paragraphs>378</Paragraphs>
  <Slides>44</Slides>
  <Notes>44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44</vt:i4>
      </vt:variant>
    </vt:vector>
  </HeadingPairs>
  <TitlesOfParts>
    <vt:vector size="49" baseType="lpstr">
      <vt:lpstr>Arial</vt:lpstr>
      <vt:lpstr>Calibri</vt:lpstr>
      <vt:lpstr>Cambria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Kamana Shrestha</cp:lastModifiedBy>
  <cp:revision>9</cp:revision>
  <dcterms:created xsi:type="dcterms:W3CDTF">2026-08-22T06:29:39Z</dcterms:created>
  <dcterms:modified xsi:type="dcterms:W3CDTF">2026-08-29T12:50:47Z</dcterms:modified>
</cp:coreProperties>
</file>