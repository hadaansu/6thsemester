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52"/>
  </p:notesMasterIdLst>
  <p:sldIdLst>
    <p:sldId id="256" r:id="rId2"/>
    <p:sldId id="257" r:id="rId3"/>
    <p:sldId id="299" r:id="rId4"/>
    <p:sldId id="300" r:id="rId5"/>
    <p:sldId id="259" r:id="rId6"/>
    <p:sldId id="260" r:id="rId7"/>
    <p:sldId id="262" r:id="rId8"/>
    <p:sldId id="264" r:id="rId9"/>
    <p:sldId id="265" r:id="rId10"/>
    <p:sldId id="268" r:id="rId11"/>
    <p:sldId id="273" r:id="rId12"/>
    <p:sldId id="271" r:id="rId13"/>
    <p:sldId id="274" r:id="rId14"/>
    <p:sldId id="275" r:id="rId15"/>
    <p:sldId id="276" r:id="rId16"/>
    <p:sldId id="277" r:id="rId17"/>
    <p:sldId id="278" r:id="rId18"/>
    <p:sldId id="279" r:id="rId19"/>
    <p:sldId id="280" r:id="rId20"/>
    <p:sldId id="281" r:id="rId21"/>
    <p:sldId id="282" r:id="rId22"/>
    <p:sldId id="283" r:id="rId23"/>
    <p:sldId id="285" r:id="rId24"/>
    <p:sldId id="286" r:id="rId25"/>
    <p:sldId id="287" r:id="rId26"/>
    <p:sldId id="288" r:id="rId27"/>
    <p:sldId id="289" r:id="rId28"/>
    <p:sldId id="290" r:id="rId29"/>
    <p:sldId id="291" r:id="rId30"/>
    <p:sldId id="292" r:id="rId31"/>
    <p:sldId id="301" r:id="rId32"/>
    <p:sldId id="302" r:id="rId33"/>
    <p:sldId id="303" r:id="rId34"/>
    <p:sldId id="293" r:id="rId35"/>
    <p:sldId id="294" r:id="rId36"/>
    <p:sldId id="295" r:id="rId37"/>
    <p:sldId id="296" r:id="rId38"/>
    <p:sldId id="297" r:id="rId39"/>
    <p:sldId id="304" r:id="rId40"/>
    <p:sldId id="305" r:id="rId41"/>
    <p:sldId id="316" r:id="rId42"/>
    <p:sldId id="311" r:id="rId43"/>
    <p:sldId id="312" r:id="rId44"/>
    <p:sldId id="317" r:id="rId45"/>
    <p:sldId id="307" r:id="rId46"/>
    <p:sldId id="313" r:id="rId47"/>
    <p:sldId id="310" r:id="rId48"/>
    <p:sldId id="318" r:id="rId49"/>
    <p:sldId id="319" r:id="rId50"/>
    <p:sldId id="298"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Backend </a:t>
            </a:r>
            <a:r>
              <a:rPr lang="en-US" b="1" dirty="0" err="1"/>
              <a:t>Infrastructure</a:t>
            </a:r>
            <a:r>
              <a:rPr lang="en-US" dirty="0" err="1"/>
              <a:t>:Servers</a:t>
            </a:r>
            <a:r>
              <a:rPr lang="en-US" dirty="0"/>
              <a:t> for data processing (e.g., AWS, Azure).</a:t>
            </a:r>
          </a:p>
          <a:p>
            <a:pPr>
              <a:buFont typeface="Arial" panose="020B0604020202020204" pitchFamily="34" charset="0"/>
              <a:buChar char="•"/>
            </a:pPr>
            <a:r>
              <a:rPr lang="en-US" dirty="0"/>
              <a:t>API for accessing weather data (e.g., </a:t>
            </a:r>
            <a:r>
              <a:rPr lang="en-US" dirty="0" err="1"/>
              <a:t>OpenWeatherMap</a:t>
            </a:r>
            <a:r>
              <a:rPr lang="en-US" dirty="0"/>
              <a:t> API).</a:t>
            </a:r>
          </a:p>
          <a:p>
            <a:r>
              <a:rPr lang="en-US" dirty="0"/>
              <a:t>Push notification services (Firebase Cloud Messaging or Apple Push Notification Service).</a:t>
            </a:r>
          </a:p>
        </p:txBody>
      </p:sp>
      <p:sp>
        <p:nvSpPr>
          <p:cNvPr id="4" name="Slide Number Placeholder 3"/>
          <p:cNvSpPr>
            <a:spLocks noGrp="1"/>
          </p:cNvSpPr>
          <p:nvPr>
            <p:ph type="sldNum" sz="quarter" idx="5"/>
          </p:nvPr>
        </p:nvSpPr>
        <p:spPr/>
        <p:txBody>
          <a:bodyPr/>
          <a:lstStyle/>
          <a:p>
            <a:fld id="{C0518F8A-C632-4190-AE69-CAB1B86ABD75}" type="slidenum">
              <a:rPr lang="en-US" smtClean="0"/>
              <a:t>18</a:t>
            </a:fld>
            <a:endParaRPr lang="en-US"/>
          </a:p>
        </p:txBody>
      </p:sp>
    </p:spTree>
    <p:extLst>
      <p:ext uri="{BB962C8B-B14F-4D97-AF65-F5344CB8AC3E}">
        <p14:creationId xmlns:p14="http://schemas.microsoft.com/office/powerpoint/2010/main" val="2433140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 scenario:</a:t>
            </a:r>
          </a:p>
          <a:p>
            <a:pPr>
              <a:buFont typeface="Arial" panose="020B0604020202020204" pitchFamily="34" charset="0"/>
              <a:buChar char="•"/>
            </a:pPr>
            <a:r>
              <a:rPr lang="en-US" dirty="0"/>
              <a:t>How will it reduce staff workload while maintaining high-quality service?</a:t>
            </a:r>
          </a:p>
          <a:p>
            <a:r>
              <a:rPr lang="en-US" b="1" dirty="0"/>
              <a:t>User Readiness</a:t>
            </a:r>
            <a:r>
              <a:rPr lang="en-US" dirty="0"/>
              <a:t>:</a:t>
            </a:r>
          </a:p>
          <a:p>
            <a:pPr>
              <a:buFont typeface="Arial" panose="020B0604020202020204" pitchFamily="34" charset="0"/>
              <a:buChar char="•"/>
            </a:pPr>
            <a:r>
              <a:rPr lang="en-US" dirty="0"/>
              <a:t>Are patients (especially elderly or less tech-savvy) ready to adopt an online system?</a:t>
            </a:r>
          </a:p>
          <a:p>
            <a:r>
              <a:rPr lang="en-US" dirty="0"/>
              <a:t>How much time and effort are needed to train staff?</a:t>
            </a:r>
          </a:p>
          <a:p>
            <a:r>
              <a:rPr lang="en-US" dirty="0"/>
              <a:t>Does the system meet healthcare privacy laws, such as HIPAA or GDPR?</a:t>
            </a:r>
          </a:p>
        </p:txBody>
      </p:sp>
      <p:sp>
        <p:nvSpPr>
          <p:cNvPr id="4" name="Slide Number Placeholder 3"/>
          <p:cNvSpPr>
            <a:spLocks noGrp="1"/>
          </p:cNvSpPr>
          <p:nvPr>
            <p:ph type="sldNum" sz="quarter" idx="5"/>
          </p:nvPr>
        </p:nvSpPr>
        <p:spPr/>
        <p:txBody>
          <a:bodyPr/>
          <a:lstStyle/>
          <a:p>
            <a:fld id="{C0518F8A-C632-4190-AE69-CAB1B86ABD75}" type="slidenum">
              <a:rPr lang="en-US" smtClean="0"/>
              <a:t>19</a:t>
            </a:fld>
            <a:endParaRPr lang="en-US"/>
          </a:p>
        </p:txBody>
      </p:sp>
    </p:spTree>
    <p:extLst>
      <p:ext uri="{BB962C8B-B14F-4D97-AF65-F5344CB8AC3E}">
        <p14:creationId xmlns:p14="http://schemas.microsoft.com/office/powerpoint/2010/main" val="1900979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shop:</a:t>
            </a:r>
          </a:p>
          <a:p>
            <a:r>
              <a:rPr lang="en-US" b="1" dirty="0"/>
              <a:t>Upfront Costs</a:t>
            </a:r>
            <a:r>
              <a:rPr lang="en-US" dirty="0"/>
              <a:t>:</a:t>
            </a:r>
          </a:p>
          <a:p>
            <a:pPr>
              <a:buFont typeface="Arial" panose="020B0604020202020204" pitchFamily="34" charset="0"/>
              <a:buChar char="•"/>
            </a:pPr>
            <a:r>
              <a:rPr lang="en-US" b="1" dirty="0"/>
              <a:t>Development</a:t>
            </a:r>
            <a:r>
              <a:rPr lang="en-US" dirty="0"/>
              <a:t>: $50,000 for app design, development, and testing.</a:t>
            </a:r>
          </a:p>
          <a:p>
            <a:pPr>
              <a:buFont typeface="Arial" panose="020B0604020202020204" pitchFamily="34" charset="0"/>
              <a:buChar char="•"/>
            </a:pPr>
            <a:r>
              <a:rPr lang="en-US" b="1" dirty="0"/>
              <a:t>Marketing</a:t>
            </a:r>
            <a:r>
              <a:rPr lang="en-US" dirty="0"/>
              <a:t>: $10,000 for app launch campaigns.</a:t>
            </a:r>
          </a:p>
          <a:p>
            <a:pPr>
              <a:buFont typeface="Arial" panose="020B0604020202020204" pitchFamily="34" charset="0"/>
              <a:buChar char="•"/>
            </a:pPr>
            <a:r>
              <a:rPr lang="en-US" b="1" dirty="0"/>
              <a:t>Infrastructure</a:t>
            </a:r>
            <a:r>
              <a:rPr lang="en-US" dirty="0"/>
              <a:t>: $5,000 for hosting services and cloud storage.</a:t>
            </a:r>
          </a:p>
          <a:p>
            <a:r>
              <a:rPr lang="en-US" b="1" dirty="0"/>
              <a:t>Recurring Costs</a:t>
            </a:r>
            <a:r>
              <a:rPr lang="en-US" dirty="0"/>
              <a:t>:</a:t>
            </a:r>
          </a:p>
          <a:p>
            <a:pPr>
              <a:buFont typeface="Arial" panose="020B0604020202020204" pitchFamily="34" charset="0"/>
              <a:buChar char="•"/>
            </a:pPr>
            <a:r>
              <a:rPr lang="en-US" b="1" dirty="0"/>
              <a:t>Maintenance</a:t>
            </a:r>
            <a:r>
              <a:rPr lang="en-US" dirty="0"/>
              <a:t>: $5,000 annually for updates and troubleshooting.</a:t>
            </a:r>
          </a:p>
          <a:p>
            <a:pPr>
              <a:buFont typeface="Arial" panose="020B0604020202020204" pitchFamily="34" charset="0"/>
              <a:buChar char="•"/>
            </a:pPr>
            <a:r>
              <a:rPr lang="en-US" b="1" dirty="0"/>
              <a:t>Customer Support</a:t>
            </a:r>
            <a:r>
              <a:rPr lang="en-US" dirty="0"/>
              <a:t>: $3,000 annually for support staff.</a:t>
            </a:r>
          </a:p>
          <a:p>
            <a:pPr>
              <a:buFont typeface="Arial" panose="020B0604020202020204" pitchFamily="34" charset="0"/>
              <a:buChar char="•"/>
            </a:pPr>
            <a:r>
              <a:rPr lang="en-US" dirty="0"/>
              <a:t>Use CRM SOFTWARE OR NOT?</a:t>
            </a:r>
          </a:p>
          <a:p>
            <a:r>
              <a:rPr lang="en-US" b="1" dirty="0"/>
              <a:t>Total First-Year Cost</a:t>
            </a:r>
            <a:r>
              <a:rPr lang="en-US" dirty="0"/>
              <a:t>: $73,000</a:t>
            </a:r>
            <a:br>
              <a:rPr lang="en-US" dirty="0"/>
            </a:br>
            <a:r>
              <a:rPr lang="en-US" b="1" dirty="0"/>
              <a:t>Subsequent Annual Costs</a:t>
            </a:r>
            <a:r>
              <a:rPr lang="en-US" dirty="0"/>
              <a:t>: $8,000</a:t>
            </a:r>
          </a:p>
          <a:p>
            <a:r>
              <a:rPr lang="en-US" b="1" dirty="0"/>
              <a:t>ROI (Return on Investment)</a:t>
            </a:r>
            <a:r>
              <a:rPr lang="en-US" dirty="0"/>
              <a:t>:</a:t>
            </a:r>
          </a:p>
          <a:p>
            <a:r>
              <a:rPr lang="en-US" b="1" dirty="0"/>
              <a:t>Break-Even Point</a:t>
            </a:r>
            <a:r>
              <a:rPr lang="en-US" dirty="0"/>
              <a:t>:</a:t>
            </a:r>
            <a:br>
              <a:rPr lang="en-US" dirty="0"/>
            </a:br>
            <a:r>
              <a:rPr lang="en-US" dirty="0"/>
              <a:t>Total Initial Cost ($73,000) ÷ Incremental Gain per Customer ($25) = </a:t>
            </a:r>
            <a:r>
              <a:rPr lang="en-US" b="1" dirty="0"/>
              <a:t>2,920 customers</a:t>
            </a:r>
            <a:r>
              <a:rPr lang="en-US" dirty="0"/>
              <a:t>.</a:t>
            </a:r>
            <a:br>
              <a:rPr lang="en-US" dirty="0"/>
            </a:br>
            <a:r>
              <a:rPr lang="en-US" dirty="0"/>
              <a:t>The program becomes profitable after onboarding 2,920 loyal customers.</a:t>
            </a:r>
          </a:p>
        </p:txBody>
      </p:sp>
      <p:sp>
        <p:nvSpPr>
          <p:cNvPr id="4" name="Slide Number Placeholder 3"/>
          <p:cNvSpPr>
            <a:spLocks noGrp="1"/>
          </p:cNvSpPr>
          <p:nvPr>
            <p:ph type="sldNum" sz="quarter" idx="5"/>
          </p:nvPr>
        </p:nvSpPr>
        <p:spPr/>
        <p:txBody>
          <a:bodyPr/>
          <a:lstStyle/>
          <a:p>
            <a:fld id="{C0518F8A-C632-4190-AE69-CAB1B86ABD75}" type="slidenum">
              <a:rPr lang="en-US" smtClean="0"/>
              <a:t>20</a:t>
            </a:fld>
            <a:endParaRPr lang="en-US"/>
          </a:p>
        </p:txBody>
      </p:sp>
    </p:spTree>
    <p:extLst>
      <p:ext uri="{BB962C8B-B14F-4D97-AF65-F5344CB8AC3E}">
        <p14:creationId xmlns:p14="http://schemas.microsoft.com/office/powerpoint/2010/main" val="2336739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Privacy Laws</a:t>
            </a:r>
            <a:r>
              <a:rPr lang="en-US" dirty="0"/>
              <a:t>: and  CARD NETWORK EXAMPLE</a:t>
            </a:r>
          </a:p>
          <a:p>
            <a:pPr>
              <a:buFont typeface="Arial" panose="020B0604020202020204" pitchFamily="34" charset="0"/>
              <a:buChar char="•"/>
            </a:pPr>
            <a:r>
              <a:rPr lang="en-US" b="1" dirty="0"/>
              <a:t>GDPR (General Data Protection Regulation)</a:t>
            </a:r>
            <a:r>
              <a:rPr lang="en-US" dirty="0"/>
              <a:t>:</a:t>
            </a:r>
            <a:br>
              <a:rPr lang="en-US" dirty="0"/>
            </a:br>
            <a:r>
              <a:rPr lang="en-US" dirty="0"/>
              <a:t>If operating in the EU, the platform must obtain explicit user consent for collecting and processing personal data.</a:t>
            </a:r>
          </a:p>
          <a:p>
            <a:pPr>
              <a:buFont typeface="Arial" panose="020B0604020202020204" pitchFamily="34" charset="0"/>
              <a:buChar char="•"/>
            </a:pPr>
            <a:r>
              <a:rPr lang="en-US" b="1" dirty="0"/>
              <a:t>CCPA (California Consumer Privacy Act)</a:t>
            </a:r>
            <a:r>
              <a:rPr lang="en-US" dirty="0"/>
              <a:t>:</a:t>
            </a:r>
            <a:br>
              <a:rPr lang="en-US" dirty="0"/>
            </a:br>
            <a:r>
              <a:rPr lang="en-US" dirty="0"/>
              <a:t>If operating in California, users must have the right to access, delete, or opt out of data collection.</a:t>
            </a:r>
          </a:p>
          <a:p>
            <a:r>
              <a:rPr lang="en-US" b="1" dirty="0"/>
              <a:t>Licensing and Permits</a:t>
            </a:r>
            <a:r>
              <a:rPr lang="en-US" dirty="0"/>
              <a:t>:</a:t>
            </a:r>
          </a:p>
          <a:p>
            <a:pPr>
              <a:buFont typeface="Arial" panose="020B0604020202020204" pitchFamily="34" charset="0"/>
              <a:buChar char="•"/>
            </a:pPr>
            <a:r>
              <a:rPr lang="en-US" b="1" dirty="0"/>
              <a:t>Business Licenses</a:t>
            </a:r>
            <a:r>
              <a:rPr lang="en-US" dirty="0"/>
              <a:t>:</a:t>
            </a:r>
            <a:br>
              <a:rPr lang="en-US" dirty="0"/>
            </a:br>
            <a:r>
              <a:rPr lang="en-US" dirty="0"/>
              <a:t>Obtain licenses to operate in target regions.</a:t>
            </a:r>
          </a:p>
          <a:p>
            <a:pPr>
              <a:buFont typeface="Arial" panose="020B0604020202020204" pitchFamily="34" charset="0"/>
              <a:buChar char="•"/>
            </a:pPr>
            <a:r>
              <a:rPr lang="en-US" b="1" dirty="0"/>
              <a:t>Health and Safety Compliance</a:t>
            </a:r>
            <a:r>
              <a:rPr lang="en-US" dirty="0"/>
              <a:t>:</a:t>
            </a:r>
            <a:br>
              <a:rPr lang="en-US" dirty="0"/>
            </a:br>
            <a:r>
              <a:rPr lang="en-US" dirty="0"/>
              <a:t>Verify that partner restaurants comply with local health and safety regulations.</a:t>
            </a:r>
          </a:p>
          <a:p>
            <a:r>
              <a:rPr lang="en-US" b="1" dirty="0"/>
              <a:t>Intellectual Property</a:t>
            </a:r>
            <a:r>
              <a:rPr lang="en-US" dirty="0"/>
              <a:t>:</a:t>
            </a:r>
          </a:p>
          <a:p>
            <a:pPr>
              <a:buFont typeface="Arial" panose="020B0604020202020204" pitchFamily="34" charset="0"/>
              <a:buChar char="•"/>
            </a:pPr>
            <a:r>
              <a:rPr lang="en-US" dirty="0"/>
              <a:t>Trademark the platform’s name and logo.</a:t>
            </a:r>
          </a:p>
          <a:p>
            <a:pPr>
              <a:buFont typeface="Arial" panose="020B0604020202020204" pitchFamily="34" charset="0"/>
              <a:buChar char="•"/>
            </a:pPr>
            <a:r>
              <a:rPr lang="en-US" dirty="0"/>
              <a:t>Ensure that the app design, code, and branding do not infringe on existing copyrights or patents.</a:t>
            </a:r>
          </a:p>
          <a:p>
            <a:r>
              <a:rPr lang="en-US" b="1" dirty="0"/>
              <a:t>Third-Party Contracts</a:t>
            </a:r>
            <a:r>
              <a:rPr lang="en-US" dirty="0"/>
              <a:t>:</a:t>
            </a:r>
          </a:p>
          <a:p>
            <a:pPr>
              <a:buFont typeface="Arial" panose="020B0604020202020204" pitchFamily="34" charset="0"/>
              <a:buChar char="•"/>
            </a:pPr>
            <a:r>
              <a:rPr lang="en-US" dirty="0"/>
              <a:t>Draft agreements with partner restaurants and delivery personnel to clearly outline responsibilities, payment terms, and liability.</a:t>
            </a:r>
          </a:p>
          <a:p>
            <a:r>
              <a:rPr lang="en-US" b="1" dirty="0"/>
              <a:t>AML (Anti-Money Laundering)</a:t>
            </a:r>
            <a:r>
              <a:rPr lang="en-US" dirty="0"/>
              <a:t>: Laws and regulations to prevent money laundering and financial </a:t>
            </a:r>
            <a:r>
              <a:rPr lang="en-US" dirty="0" err="1"/>
              <a:t>crimes.</a:t>
            </a:r>
            <a:r>
              <a:rPr lang="en-US" b="1" dirty="0" err="1"/>
              <a:t>KYC</a:t>
            </a:r>
            <a:r>
              <a:rPr lang="en-US" b="1" dirty="0"/>
              <a:t> (Know Your Customer)</a:t>
            </a:r>
            <a:r>
              <a:rPr lang="en-US" dirty="0"/>
              <a:t>: Processes to verify the identity of customers to prevent fraud and ensure compliance.</a:t>
            </a:r>
          </a:p>
        </p:txBody>
      </p:sp>
      <p:sp>
        <p:nvSpPr>
          <p:cNvPr id="4" name="Slide Number Placeholder 3"/>
          <p:cNvSpPr>
            <a:spLocks noGrp="1"/>
          </p:cNvSpPr>
          <p:nvPr>
            <p:ph type="sldNum" sz="quarter" idx="5"/>
          </p:nvPr>
        </p:nvSpPr>
        <p:spPr/>
        <p:txBody>
          <a:bodyPr/>
          <a:lstStyle/>
          <a:p>
            <a:fld id="{C0518F8A-C632-4190-AE69-CAB1B86ABD75}" type="slidenum">
              <a:rPr lang="en-US" smtClean="0"/>
              <a:t>21</a:t>
            </a:fld>
            <a:endParaRPr lang="en-US"/>
          </a:p>
        </p:txBody>
      </p:sp>
    </p:spTree>
    <p:extLst>
      <p:ext uri="{BB962C8B-B14F-4D97-AF65-F5344CB8AC3E}">
        <p14:creationId xmlns:p14="http://schemas.microsoft.com/office/powerpoint/2010/main" val="2145534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Gannt chart</a:t>
            </a:r>
          </a:p>
          <a:p>
            <a:pPr>
              <a:buFont typeface="Arial" panose="020B0604020202020204" pitchFamily="34" charset="0"/>
              <a:buChar char="•"/>
            </a:pPr>
            <a:r>
              <a:rPr lang="en-US" b="1" dirty="0" err="1"/>
              <a:t>Manpower</a:t>
            </a:r>
            <a:r>
              <a:rPr lang="en-US" dirty="0" err="1"/>
              <a:t>:Development</a:t>
            </a:r>
            <a:r>
              <a:rPr lang="en-US" dirty="0"/>
              <a:t> Team: 8 developers, 2 designers, 1 project manager.</a:t>
            </a:r>
          </a:p>
          <a:p>
            <a:pPr>
              <a:buFont typeface="Arial" panose="020B0604020202020204" pitchFamily="34" charset="0"/>
              <a:buChar char="•"/>
            </a:pPr>
            <a:r>
              <a:rPr lang="en-US" dirty="0"/>
              <a:t>Testing Team: 3 QA engineers.</a:t>
            </a:r>
          </a:p>
          <a:p>
            <a:pPr>
              <a:buFont typeface="Arial" panose="020B0604020202020204" pitchFamily="34" charset="0"/>
              <a:buChar char="•"/>
            </a:pPr>
            <a:r>
              <a:rPr lang="en-US" dirty="0"/>
              <a:t>Marketing Team: 2 specialists.</a:t>
            </a:r>
          </a:p>
          <a:p>
            <a:pPr>
              <a:buFont typeface="Arial" panose="020B0604020202020204" pitchFamily="34" charset="0"/>
              <a:buChar char="•"/>
            </a:pPr>
            <a:r>
              <a:rPr lang="en-US" b="1" dirty="0" err="1"/>
              <a:t>Tools</a:t>
            </a:r>
            <a:r>
              <a:rPr lang="en-US" dirty="0" err="1"/>
              <a:t>:Project</a:t>
            </a:r>
            <a:r>
              <a:rPr lang="en-US" dirty="0"/>
              <a:t> Management: Jira, Slack.</a:t>
            </a:r>
          </a:p>
          <a:p>
            <a:pPr>
              <a:buFont typeface="Arial" panose="020B0604020202020204" pitchFamily="34" charset="0"/>
              <a:buChar char="•"/>
            </a:pPr>
            <a:r>
              <a:rPr lang="en-US" dirty="0"/>
              <a:t>Design: Figma, Adobe XD.</a:t>
            </a:r>
          </a:p>
          <a:p>
            <a:pPr>
              <a:buFont typeface="Arial" panose="020B0604020202020204" pitchFamily="34" charset="0"/>
              <a:buChar char="•"/>
            </a:pPr>
            <a:r>
              <a:rPr lang="en-US" dirty="0"/>
              <a:t>Development: AWS, Node.js, React.</a:t>
            </a:r>
          </a:p>
          <a:p>
            <a:r>
              <a:rPr lang="en-US" b="1" dirty="0"/>
              <a:t>Potential Risks:</a:t>
            </a:r>
          </a:p>
          <a:p>
            <a:pPr>
              <a:buFont typeface="Arial" panose="020B0604020202020204" pitchFamily="34" charset="0"/>
              <a:buChar char="•"/>
            </a:pPr>
            <a:r>
              <a:rPr lang="en-US" b="1" dirty="0"/>
              <a:t>Delays in Requirements Gathering</a:t>
            </a:r>
            <a:r>
              <a:rPr lang="en-US" dirty="0"/>
              <a:t>:</a:t>
            </a:r>
          </a:p>
          <a:p>
            <a:pPr marL="742950" lvl="1" indent="-285750">
              <a:buFont typeface="Arial" panose="020B0604020202020204" pitchFamily="34" charset="0"/>
              <a:buChar char="•"/>
            </a:pPr>
            <a:r>
              <a:rPr lang="en-US" dirty="0"/>
              <a:t>Misalignment with stakeholders could delay subsequent phases.</a:t>
            </a:r>
          </a:p>
          <a:p>
            <a:pPr>
              <a:buFont typeface="Arial" panose="020B0604020202020204" pitchFamily="34" charset="0"/>
              <a:buChar char="•"/>
            </a:pPr>
            <a:r>
              <a:rPr lang="en-US" b="1" dirty="0"/>
              <a:t>Technical Challenges</a:t>
            </a:r>
            <a:r>
              <a:rPr lang="en-US" dirty="0"/>
              <a:t>:</a:t>
            </a:r>
          </a:p>
          <a:p>
            <a:pPr marL="742950" lvl="1" indent="-285750">
              <a:buFont typeface="Arial" panose="020B0604020202020204" pitchFamily="34" charset="0"/>
              <a:buChar char="•"/>
            </a:pPr>
            <a:r>
              <a:rPr lang="en-US" dirty="0"/>
              <a:t>Integration with third-party payment systems or inventory management might take longer than expected.</a:t>
            </a:r>
          </a:p>
          <a:p>
            <a:pPr>
              <a:buFont typeface="Arial" panose="020B0604020202020204" pitchFamily="34" charset="0"/>
              <a:buChar char="•"/>
            </a:pPr>
            <a:r>
              <a:rPr lang="en-US" b="1" dirty="0"/>
              <a:t>Testing Bottlenecks</a:t>
            </a:r>
            <a:r>
              <a:rPr lang="en-US" dirty="0"/>
              <a:t>:</a:t>
            </a:r>
          </a:p>
          <a:p>
            <a:pPr marL="742950" lvl="1" indent="-285750">
              <a:buFont typeface="Arial" panose="020B0604020202020204" pitchFamily="34" charset="0"/>
              <a:buChar char="•"/>
            </a:pPr>
            <a:r>
              <a:rPr lang="en-US" dirty="0"/>
              <a:t>Bugs or critical failures might extend testing timelines.</a:t>
            </a:r>
          </a:p>
          <a:p>
            <a:pPr>
              <a:buFont typeface="Arial" panose="020B0604020202020204" pitchFamily="34" charset="0"/>
              <a:buChar char="•"/>
            </a:pPr>
            <a:r>
              <a:rPr lang="en-US" b="1" dirty="0"/>
              <a:t>Staffing Issues</a:t>
            </a:r>
            <a:r>
              <a:rPr lang="en-US" dirty="0"/>
              <a:t>:</a:t>
            </a:r>
          </a:p>
          <a:p>
            <a:pPr marL="742950" lvl="1" indent="-285750">
              <a:buFont typeface="Arial" panose="020B0604020202020204" pitchFamily="34" charset="0"/>
              <a:buChar char="•"/>
            </a:pPr>
            <a:r>
              <a:rPr lang="en-US" dirty="0"/>
              <a:t>Loss of key team members could disrupt progress.</a:t>
            </a:r>
          </a:p>
          <a:p>
            <a:endParaRPr lang="en-US" dirty="0"/>
          </a:p>
        </p:txBody>
      </p:sp>
      <p:sp>
        <p:nvSpPr>
          <p:cNvPr id="4" name="Slide Number Placeholder 3"/>
          <p:cNvSpPr>
            <a:spLocks noGrp="1"/>
          </p:cNvSpPr>
          <p:nvPr>
            <p:ph type="sldNum" sz="quarter" idx="5"/>
          </p:nvPr>
        </p:nvSpPr>
        <p:spPr/>
        <p:txBody>
          <a:bodyPr/>
          <a:lstStyle/>
          <a:p>
            <a:fld id="{C0518F8A-C632-4190-AE69-CAB1B86ABD75}" type="slidenum">
              <a:rPr lang="en-US" smtClean="0"/>
              <a:t>22</a:t>
            </a:fld>
            <a:endParaRPr lang="en-US"/>
          </a:p>
        </p:txBody>
      </p:sp>
    </p:spTree>
    <p:extLst>
      <p:ext uri="{BB962C8B-B14F-4D97-AF65-F5344CB8AC3E}">
        <p14:creationId xmlns:p14="http://schemas.microsoft.com/office/powerpoint/2010/main" val="704007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gathering and discovering the needs and expectations of stakeholders for a system, </a:t>
            </a:r>
          </a:p>
        </p:txBody>
      </p:sp>
      <p:sp>
        <p:nvSpPr>
          <p:cNvPr id="4" name="Slide Number Placeholder 3"/>
          <p:cNvSpPr>
            <a:spLocks noGrp="1"/>
          </p:cNvSpPr>
          <p:nvPr>
            <p:ph type="sldNum" sz="quarter" idx="5"/>
          </p:nvPr>
        </p:nvSpPr>
        <p:spPr/>
        <p:txBody>
          <a:bodyPr/>
          <a:lstStyle/>
          <a:p>
            <a:fld id="{C0518F8A-C632-4190-AE69-CAB1B86ABD75}" type="slidenum">
              <a:rPr lang="en-US" smtClean="0"/>
              <a:t>23</a:t>
            </a:fld>
            <a:endParaRPr lang="en-US"/>
          </a:p>
        </p:txBody>
      </p:sp>
    </p:spTree>
    <p:extLst>
      <p:ext uri="{BB962C8B-B14F-4D97-AF65-F5344CB8AC3E}">
        <p14:creationId xmlns:p14="http://schemas.microsoft.com/office/powerpoint/2010/main" val="2960856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ma big data </a:t>
            </a:r>
            <a:r>
              <a:rPr lang="en-US" dirty="0" err="1"/>
              <a:t>data</a:t>
            </a:r>
            <a:r>
              <a:rPr lang="en-US" dirty="0"/>
              <a:t> science ko </a:t>
            </a:r>
            <a:r>
              <a:rPr lang="en-US" dirty="0" err="1"/>
              <a:t>kura</a:t>
            </a:r>
            <a:r>
              <a:rPr lang="en-US" dirty="0"/>
              <a:t> </a:t>
            </a:r>
            <a:r>
              <a:rPr lang="en-US" dirty="0" err="1"/>
              <a:t>haleni</a:t>
            </a:r>
            <a:r>
              <a:rPr lang="en-US" dirty="0"/>
              <a:t> </a:t>
            </a:r>
            <a:r>
              <a:rPr lang="en-US" dirty="0" err="1"/>
              <a:t>hunxa</a:t>
            </a:r>
            <a:r>
              <a:rPr lang="en-US" dirty="0"/>
              <a:t> … unstructured ma data lake </a:t>
            </a:r>
            <a:r>
              <a:rPr lang="en-US" dirty="0" err="1"/>
              <a:t>haru</a:t>
            </a:r>
            <a:r>
              <a:rPr lang="en-US" dirty="0"/>
              <a:t> ko example structured ma data warehouse data bricks </a:t>
            </a:r>
            <a:r>
              <a:rPr lang="en-US" dirty="0" err="1"/>
              <a:t>haru</a:t>
            </a:r>
            <a:r>
              <a:rPr lang="en-US" dirty="0"/>
              <a:t> ko </a:t>
            </a:r>
            <a:r>
              <a:rPr lang="en-US" dirty="0" err="1"/>
              <a:t>kura</a:t>
            </a:r>
            <a:r>
              <a:rPr lang="en-US" dirty="0"/>
              <a:t> </a:t>
            </a:r>
            <a:r>
              <a:rPr lang="en-US" dirty="0" err="1"/>
              <a:t>lekhna</a:t>
            </a:r>
            <a:r>
              <a:rPr lang="en-US" dirty="0"/>
              <a:t> </a:t>
            </a:r>
            <a:r>
              <a:rPr lang="en-US" dirty="0" err="1"/>
              <a:t>sakinxa</a:t>
            </a:r>
            <a:endParaRPr lang="en-US" dirty="0"/>
          </a:p>
        </p:txBody>
      </p:sp>
      <p:sp>
        <p:nvSpPr>
          <p:cNvPr id="4" name="Slide Number Placeholder 3"/>
          <p:cNvSpPr>
            <a:spLocks noGrp="1"/>
          </p:cNvSpPr>
          <p:nvPr>
            <p:ph type="sldNum" sz="quarter" idx="5"/>
          </p:nvPr>
        </p:nvSpPr>
        <p:spPr/>
        <p:txBody>
          <a:bodyPr/>
          <a:lstStyle/>
          <a:p>
            <a:fld id="{C0518F8A-C632-4190-AE69-CAB1B86ABD75}" type="slidenum">
              <a:rPr lang="en-US" smtClean="0"/>
              <a:t>27</a:t>
            </a:fld>
            <a:endParaRPr lang="en-US"/>
          </a:p>
        </p:txBody>
      </p:sp>
    </p:spTree>
    <p:extLst>
      <p:ext uri="{BB962C8B-B14F-4D97-AF65-F5344CB8AC3E}">
        <p14:creationId xmlns:p14="http://schemas.microsoft.com/office/powerpoint/2010/main" val="424386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518F8A-C632-4190-AE69-CAB1B86ABD75}" type="slidenum">
              <a:rPr lang="en-US" smtClean="0"/>
              <a:t>28</a:t>
            </a:fld>
            <a:endParaRPr lang="en-US"/>
          </a:p>
        </p:txBody>
      </p:sp>
    </p:spTree>
    <p:extLst>
      <p:ext uri="{BB962C8B-B14F-4D97-AF65-F5344CB8AC3E}">
        <p14:creationId xmlns:p14="http://schemas.microsoft.com/office/powerpoint/2010/main" val="69983629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7/22/2026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7/22/2026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7/22/2026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4</a:t>
            </a:r>
            <a:br>
              <a:rPr lang="en-US" sz="4800" dirty="0"/>
            </a:br>
            <a:br>
              <a:rPr lang="en-US" sz="6600" dirty="0"/>
            </a:br>
            <a:r>
              <a:rPr lang="en-US" sz="6600" dirty="0"/>
              <a:t>Requirement engineering</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Unit 4: Requirements Engineering (3 Hrs.) </a:t>
            </a:r>
          </a:p>
          <a:p>
            <a:r>
              <a:rPr lang="en-US" dirty="0">
                <a:latin typeface="Times New Roman" panose="02020603050405020304" pitchFamily="18" charset="0"/>
                <a:cs typeface="Times New Roman" panose="02020603050405020304" pitchFamily="18" charset="0"/>
              </a:rPr>
              <a:t>Concept of User and System Requirements; </a:t>
            </a:r>
          </a:p>
          <a:p>
            <a:r>
              <a:rPr lang="en-US" dirty="0">
                <a:latin typeface="Times New Roman" panose="02020603050405020304" pitchFamily="18" charset="0"/>
                <a:cs typeface="Times New Roman" panose="02020603050405020304" pitchFamily="18" charset="0"/>
              </a:rPr>
              <a:t>Functional and Non-Functional Requirements; </a:t>
            </a:r>
          </a:p>
          <a:p>
            <a:r>
              <a:rPr lang="en-US" dirty="0">
                <a:latin typeface="Times New Roman" panose="02020603050405020304" pitchFamily="18" charset="0"/>
                <a:cs typeface="Times New Roman" panose="02020603050405020304" pitchFamily="18" charset="0"/>
              </a:rPr>
              <a:t>Requirements Engineering Process; </a:t>
            </a:r>
          </a:p>
          <a:p>
            <a:r>
              <a:rPr lang="en-US" dirty="0">
                <a:latin typeface="Times New Roman" panose="02020603050405020304" pitchFamily="18" charset="0"/>
                <a:cs typeface="Times New Roman" panose="02020603050405020304" pitchFamily="18" charset="0"/>
              </a:rPr>
              <a:t>Requirements Elicitation; </a:t>
            </a:r>
          </a:p>
          <a:p>
            <a:r>
              <a:rPr lang="en-US" dirty="0">
                <a:latin typeface="Times New Roman" panose="02020603050405020304" pitchFamily="18" charset="0"/>
                <a:cs typeface="Times New Roman" panose="02020603050405020304" pitchFamily="18" charset="0"/>
              </a:rPr>
              <a:t>Requirements Specification; </a:t>
            </a:r>
          </a:p>
          <a:p>
            <a:r>
              <a:rPr lang="en-US" dirty="0">
                <a:latin typeface="Times New Roman" panose="02020603050405020304" pitchFamily="18" charset="0"/>
                <a:cs typeface="Times New Roman" panose="02020603050405020304" pitchFamily="18" charset="0"/>
              </a:rPr>
              <a:t>Requirements Validation; </a:t>
            </a:r>
          </a:p>
          <a:p>
            <a:r>
              <a:rPr lang="en-US" dirty="0">
                <a:latin typeface="Times New Roman" panose="02020603050405020304" pitchFamily="18" charset="0"/>
                <a:cs typeface="Times New Roman" panose="02020603050405020304" pitchFamily="18" charset="0"/>
              </a:rPr>
              <a:t>Requirements Change </a:t>
            </a: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requirement</a:t>
            </a:r>
          </a:p>
        </p:txBody>
      </p:sp>
      <p:sp>
        <p:nvSpPr>
          <p:cNvPr id="3" name="Content Placeholder 2"/>
          <p:cNvSpPr>
            <a:spLocks noGrp="1"/>
          </p:cNvSpPr>
          <p:nvPr>
            <p:ph idx="1"/>
          </p:nvPr>
        </p:nvSpPr>
        <p:spPr>
          <a:xfrm>
            <a:off x="932468" y="1776908"/>
            <a:ext cx="10515600" cy="5190309"/>
          </a:xfrm>
        </p:spPr>
        <p:txBody>
          <a:bodyPr>
            <a:normAutofit/>
          </a:bodyPr>
          <a:lstStyle/>
          <a:p>
            <a:pPr algn="just"/>
            <a:r>
              <a:rPr lang="en-US" dirty="0">
                <a:latin typeface="Times New Roman" panose="02020603050405020304" pitchFamily="18" charset="0"/>
                <a:cs typeface="Times New Roman" panose="02020603050405020304" pitchFamily="18" charset="0"/>
              </a:rPr>
              <a:t>User requirements are the statements in a natural, language plus diagram of what services that the system is expected to provide and the constrains under which it must operate. </a:t>
            </a:r>
          </a:p>
          <a:p>
            <a:pPr algn="just"/>
            <a:r>
              <a:rPr lang="en-US" dirty="0">
                <a:latin typeface="Times New Roman" panose="02020603050405020304" pitchFamily="18" charset="0"/>
                <a:cs typeface="Times New Roman" panose="02020603050405020304" pitchFamily="18" charset="0"/>
              </a:rPr>
              <a:t>User requirement comes from the user or other type of stakeholders to express what new system will bring about. </a:t>
            </a:r>
          </a:p>
          <a:p>
            <a:pPr algn="just"/>
            <a:r>
              <a:rPr lang="en-US" dirty="0">
                <a:latin typeface="Times New Roman" panose="02020603050405020304" pitchFamily="18" charset="0"/>
                <a:cs typeface="Times New Roman" panose="02020603050405020304" pitchFamily="18" charset="0"/>
              </a:rPr>
              <a:t>User requirements are generally documented in </a:t>
            </a:r>
            <a:r>
              <a:rPr lang="en-US" b="1" dirty="0">
                <a:latin typeface="Times New Roman" panose="02020603050405020304" pitchFamily="18" charset="0"/>
                <a:cs typeface="Times New Roman" panose="02020603050405020304" pitchFamily="18" charset="0"/>
              </a:rPr>
              <a:t>user requirement document </a:t>
            </a:r>
            <a:r>
              <a:rPr lang="en-US" dirty="0">
                <a:latin typeface="Times New Roman" panose="02020603050405020304" pitchFamily="18" charset="0"/>
                <a:cs typeface="Times New Roman" panose="02020603050405020304" pitchFamily="18" charset="0"/>
              </a:rPr>
              <a:t>using narrative text. User requirements are generally signed off by the user and used as primary input for creating system requirements. </a:t>
            </a:r>
          </a:p>
          <a:p>
            <a:pPr algn="just"/>
            <a:r>
              <a:rPr lang="en-US" dirty="0">
                <a:latin typeface="Times New Roman" panose="02020603050405020304" pitchFamily="18" charset="0"/>
                <a:cs typeface="Times New Roman" panose="02020603050405020304" pitchFamily="18" charset="0"/>
              </a:rPr>
              <a:t>An important and difficult step of designing a software product is determining what the user actually wants it to do. This is because the user is often not able to communicate the entirety of their needs and wants and the information they provide may also be incomplete, inaccurate and self-conflicting. This is why user requirements and generally considered separately from system requirements.</a:t>
            </a:r>
          </a:p>
          <a:p>
            <a:pPr algn="just"/>
            <a:r>
              <a:rPr lang="en-US" dirty="0">
                <a:latin typeface="Times New Roman" panose="02020603050405020304" pitchFamily="18" charset="0"/>
                <a:cs typeface="Times New Roman" panose="02020603050405020304" pitchFamily="18" charset="0"/>
              </a:rPr>
              <a:t>User requirement document is read by end user, </a:t>
            </a:r>
            <a:r>
              <a:rPr lang="en-US" b="1" dirty="0">
                <a:latin typeface="Times New Roman" panose="02020603050405020304" pitchFamily="18" charset="0"/>
                <a:cs typeface="Times New Roman" panose="02020603050405020304" pitchFamily="18" charset="0"/>
              </a:rPr>
              <a:t>client’s manager, system analyst and system architects.</a:t>
            </a:r>
          </a:p>
        </p:txBody>
      </p:sp>
      <p:sp>
        <p:nvSpPr>
          <p:cNvPr id="4" name="Slide Number Placeholder 3"/>
          <p:cNvSpPr>
            <a:spLocks noGrp="1"/>
          </p:cNvSpPr>
          <p:nvPr>
            <p:ph type="sldNum" sz="quarter" idx="12"/>
          </p:nvPr>
        </p:nvSpPr>
        <p:spPr/>
        <p:txBody>
          <a:bodyPr/>
          <a:lstStyle/>
          <a:p>
            <a:fld id="{81ACFABA-A45C-40AA-ABD1-FC8F80DAD626}" type="slidenum">
              <a:rPr lang="en-US" smtClean="0"/>
              <a:t>3</a:t>
            </a:fld>
            <a:endParaRPr lang="en-US"/>
          </a:p>
        </p:txBody>
      </p:sp>
    </p:spTree>
    <p:extLst>
      <p:ext uri="{BB962C8B-B14F-4D97-AF65-F5344CB8AC3E}">
        <p14:creationId xmlns:p14="http://schemas.microsoft.com/office/powerpoint/2010/main" val="234843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requirement</a:t>
            </a:r>
          </a:p>
        </p:txBody>
      </p:sp>
      <p:sp>
        <p:nvSpPr>
          <p:cNvPr id="3" name="Content Placeholder 2"/>
          <p:cNvSpPr>
            <a:spLocks noGrp="1"/>
          </p:cNvSpPr>
          <p:nvPr>
            <p:ph idx="1"/>
          </p:nvPr>
        </p:nvSpPr>
        <p:spPr>
          <a:xfrm>
            <a:off x="932468" y="1776908"/>
            <a:ext cx="10515600" cy="5190309"/>
          </a:xfrm>
        </p:spPr>
        <p:txBody>
          <a:bodyPr>
            <a:normAutofit/>
          </a:bodyPr>
          <a:lstStyle/>
          <a:p>
            <a:pPr algn="just"/>
            <a:r>
              <a:rPr lang="en-US" dirty="0">
                <a:latin typeface="Times New Roman" panose="02020603050405020304" pitchFamily="18" charset="0"/>
                <a:cs typeface="Times New Roman" panose="02020603050405020304" pitchFamily="18" charset="0"/>
              </a:rPr>
              <a:t>System requirements set out the systems </a:t>
            </a:r>
            <a:r>
              <a:rPr lang="en-US" b="1" dirty="0">
                <a:latin typeface="Times New Roman" panose="02020603050405020304" pitchFamily="18" charset="0"/>
                <a:cs typeface="Times New Roman" panose="02020603050405020304" pitchFamily="18" charset="0"/>
              </a:rPr>
              <a:t>function, services and operational constraints </a:t>
            </a:r>
            <a:r>
              <a:rPr lang="en-US" dirty="0">
                <a:latin typeface="Times New Roman" panose="02020603050405020304" pitchFamily="18" charset="0"/>
                <a:cs typeface="Times New Roman" panose="02020603050405020304" pitchFamily="18" charset="0"/>
              </a:rPr>
              <a:t>in detail. </a:t>
            </a:r>
          </a:p>
          <a:p>
            <a:pPr algn="just"/>
            <a:r>
              <a:rPr lang="en-US" dirty="0">
                <a:latin typeface="Times New Roman" panose="02020603050405020304" pitchFamily="18" charset="0"/>
                <a:cs typeface="Times New Roman" panose="02020603050405020304" pitchFamily="18" charset="0"/>
              </a:rPr>
              <a:t>System requirements are the building blocks that the developers use to build the system. These are the traditional "Shall" statement that describes what the system shall do. </a:t>
            </a:r>
          </a:p>
          <a:p>
            <a:pPr algn="just"/>
            <a:r>
              <a:rPr lang="en-US" dirty="0">
                <a:latin typeface="Times New Roman" panose="02020603050405020304" pitchFamily="18" charset="0"/>
                <a:cs typeface="Times New Roman" panose="02020603050405020304" pitchFamily="18" charset="0"/>
              </a:rPr>
              <a:t>System requirement document is the structured document setting out the detailed description of the system services written as a contractor(system analyst) between client and contractor.</a:t>
            </a:r>
          </a:p>
          <a:p>
            <a:pPr algn="just"/>
            <a:r>
              <a:rPr lang="en-US" dirty="0">
                <a:latin typeface="Times New Roman" panose="02020603050405020304" pitchFamily="18" charset="0"/>
                <a:cs typeface="Times New Roman" panose="02020603050405020304" pitchFamily="18" charset="0"/>
              </a:rPr>
              <a:t>System requirement are read by </a:t>
            </a:r>
            <a:r>
              <a:rPr lang="en-US" b="1" dirty="0">
                <a:latin typeface="Times New Roman" panose="02020603050405020304" pitchFamily="18" charset="0"/>
                <a:cs typeface="Times New Roman" panose="02020603050405020304" pitchFamily="18" charset="0"/>
              </a:rPr>
              <a:t>system analyst, system architects, system engineers and system testers </a:t>
            </a:r>
          </a:p>
        </p:txBody>
      </p:sp>
      <p:sp>
        <p:nvSpPr>
          <p:cNvPr id="4" name="Slide Number Placeholder 3"/>
          <p:cNvSpPr>
            <a:spLocks noGrp="1"/>
          </p:cNvSpPr>
          <p:nvPr>
            <p:ph type="sldNum" sz="quarter" idx="12"/>
          </p:nvPr>
        </p:nvSpPr>
        <p:spPr/>
        <p:txBody>
          <a:bodyPr/>
          <a:lstStyle/>
          <a:p>
            <a:fld id="{81ACFABA-A45C-40AA-ABD1-FC8F80DAD626}" type="slidenum">
              <a:rPr lang="en-US" smtClean="0"/>
              <a:t>4</a:t>
            </a:fld>
            <a:endParaRPr lang="en-US"/>
          </a:p>
        </p:txBody>
      </p:sp>
    </p:spTree>
    <p:extLst>
      <p:ext uri="{BB962C8B-B14F-4D97-AF65-F5344CB8AC3E}">
        <p14:creationId xmlns:p14="http://schemas.microsoft.com/office/powerpoint/2010/main" val="46372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 Requirement</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Functional requirements define the basic system behavior. Essentially, they are what the system does or must not do, and can be thought of in terms of how the system responds to inputs. </a:t>
            </a:r>
          </a:p>
          <a:p>
            <a:pPr algn="just"/>
            <a:r>
              <a:rPr lang="en-US" dirty="0">
                <a:latin typeface="Times New Roman" panose="02020603050405020304" pitchFamily="18" charset="0"/>
                <a:cs typeface="Times New Roman" panose="02020603050405020304" pitchFamily="18" charset="0"/>
              </a:rPr>
              <a:t>Functional requirements usually define if/then behaviors and include </a:t>
            </a:r>
            <a:r>
              <a:rPr lang="en-US" b="1" dirty="0">
                <a:latin typeface="Times New Roman" panose="02020603050405020304" pitchFamily="18" charset="0"/>
                <a:cs typeface="Times New Roman" panose="02020603050405020304" pitchFamily="18" charset="0"/>
              </a:rPr>
              <a:t>calculations, data input, and business processes</a:t>
            </a:r>
            <a:r>
              <a:rPr lang="en-US" dirty="0">
                <a:latin typeface="Times New Roman" panose="02020603050405020304" pitchFamily="18" charset="0"/>
                <a:cs typeface="Times New Roman" panose="02020603050405020304" pitchFamily="18" charset="0"/>
              </a:rPr>
              <a:t>. Functional requirements are the statement of the services that the system must provide or descriptions of how some computation are carried out. </a:t>
            </a:r>
          </a:p>
          <a:p>
            <a:pPr algn="just"/>
            <a:r>
              <a:rPr lang="en-US" dirty="0">
                <a:latin typeface="Times New Roman" panose="02020603050405020304" pitchFamily="18" charset="0"/>
                <a:cs typeface="Times New Roman" panose="02020603050405020304" pitchFamily="18" charset="0"/>
              </a:rPr>
              <a:t>Example of Functional Requirements </a:t>
            </a:r>
          </a:p>
          <a:p>
            <a:pPr algn="just"/>
            <a:r>
              <a:rPr lang="en-US" dirty="0">
                <a:latin typeface="Times New Roman" panose="02020603050405020304" pitchFamily="18" charset="0"/>
                <a:cs typeface="Times New Roman" panose="02020603050405020304" pitchFamily="18" charset="0"/>
              </a:rPr>
              <a:t>The software automatically validates customers against the Contact Management System </a:t>
            </a:r>
          </a:p>
          <a:p>
            <a:pPr algn="just"/>
            <a:r>
              <a:rPr lang="en-US" dirty="0">
                <a:latin typeface="Times New Roman" panose="02020603050405020304" pitchFamily="18" charset="0"/>
                <a:cs typeface="Times New Roman" panose="02020603050405020304" pitchFamily="18" charset="0"/>
              </a:rPr>
              <a:t>The Sales system should allow users to record customers sales </a:t>
            </a:r>
          </a:p>
        </p:txBody>
      </p:sp>
      <p:sp>
        <p:nvSpPr>
          <p:cNvPr id="4" name="Slide Number Placeholder 3"/>
          <p:cNvSpPr>
            <a:spLocks noGrp="1"/>
          </p:cNvSpPr>
          <p:nvPr>
            <p:ph type="sldNum" sz="quarter" idx="12"/>
          </p:nvPr>
        </p:nvSpPr>
        <p:spPr/>
        <p:txBody>
          <a:bodyPr/>
          <a:lstStyle/>
          <a:p>
            <a:fld id="{F4FDABE4-2AF6-4D4C-8AE8-BBA493930CF4}" type="slidenum">
              <a:rPr lang="en-US" smtClean="0"/>
              <a:t>5</a:t>
            </a:fld>
            <a:endParaRPr lang="en-US"/>
          </a:p>
        </p:txBody>
      </p:sp>
    </p:spTree>
    <p:extLst>
      <p:ext uri="{BB962C8B-B14F-4D97-AF65-F5344CB8AC3E}">
        <p14:creationId xmlns:p14="http://schemas.microsoft.com/office/powerpoint/2010/main" val="3667450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09" y="457199"/>
            <a:ext cx="10515600" cy="1325563"/>
          </a:xfrm>
        </p:spPr>
        <p:txBody>
          <a:bodyPr>
            <a:normAutofit fontScale="90000"/>
          </a:bodyPr>
          <a:lstStyle/>
          <a:p>
            <a:r>
              <a:rPr lang="en-US" b="1" dirty="0"/>
              <a:t>What should be included in the Functional Requirements Document?</a:t>
            </a:r>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dirty="0">
                <a:latin typeface="Arial" panose="020B0604020202020204" pitchFamily="34" charset="0"/>
                <a:ea typeface="Times New Roman" panose="02020603050405020304" pitchFamily="18" charset="0"/>
              </a:rPr>
              <a:t>Here is how to write functional requirements document:</a:t>
            </a:r>
          </a:p>
        </p:txBody>
      </p:sp>
      <p:pic>
        <p:nvPicPr>
          <p:cNvPr id="1028" name="Picture 2" descr="https://www.guru99.com/images/1/042619_0549_WhatisaFunc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4204" y="2776609"/>
            <a:ext cx="8709084" cy="272826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p:cNvSpPr>
            <a:spLocks noChangeArrowheads="1"/>
          </p:cNvSpPr>
          <p:nvPr/>
        </p:nvSpPr>
        <p:spPr bwMode="auto">
          <a:xfrm>
            <a:off x="0" y="224155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Slide Number Placeholder 3"/>
          <p:cNvSpPr>
            <a:spLocks noGrp="1"/>
          </p:cNvSpPr>
          <p:nvPr>
            <p:ph type="sldNum" sz="quarter" idx="12"/>
          </p:nvPr>
        </p:nvSpPr>
        <p:spPr/>
        <p:txBody>
          <a:bodyPr/>
          <a:lstStyle/>
          <a:p>
            <a:fld id="{F4FDABE4-2AF6-4D4C-8AE8-BBA493930CF4}" type="slidenum">
              <a:rPr lang="en-US" smtClean="0"/>
              <a:t>6</a:t>
            </a:fld>
            <a:endParaRPr lang="en-US"/>
          </a:p>
        </p:txBody>
      </p:sp>
    </p:spTree>
    <p:extLst>
      <p:ext uri="{BB962C8B-B14F-4D97-AF65-F5344CB8AC3E}">
        <p14:creationId xmlns:p14="http://schemas.microsoft.com/office/powerpoint/2010/main" val="1120529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Functional Requirement</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Here, are the pros/advantages of creating a typical functional requirement document-</a:t>
            </a:r>
          </a:p>
          <a:p>
            <a:pPr lvl="0" algn="just"/>
            <a:r>
              <a:rPr lang="en-US" dirty="0">
                <a:latin typeface="Times New Roman" panose="02020603050405020304" pitchFamily="18" charset="0"/>
                <a:cs typeface="Times New Roman" panose="02020603050405020304" pitchFamily="18" charset="0"/>
              </a:rPr>
              <a:t>Helps you to check whether the application is providing all the functionalities that were mentioned in the functional requirement of that application</a:t>
            </a:r>
          </a:p>
          <a:p>
            <a:pPr lvl="0" algn="just"/>
            <a:r>
              <a:rPr lang="en-US" dirty="0">
                <a:latin typeface="Times New Roman" panose="02020603050405020304" pitchFamily="18" charset="0"/>
                <a:cs typeface="Times New Roman" panose="02020603050405020304" pitchFamily="18" charset="0"/>
              </a:rPr>
              <a:t>A functional requirement document helps you to define the functionality of a system or one of its subsystems.</a:t>
            </a:r>
          </a:p>
          <a:p>
            <a:pPr lvl="0" algn="just"/>
            <a:r>
              <a:rPr lang="en-US" dirty="0">
                <a:latin typeface="Times New Roman" panose="02020603050405020304" pitchFamily="18" charset="0"/>
                <a:cs typeface="Times New Roman" panose="02020603050405020304" pitchFamily="18" charset="0"/>
              </a:rPr>
              <a:t>Functional requirements along with requirement analysis help identify missing requirements. They help clearly define the expected system service and behavior.</a:t>
            </a:r>
          </a:p>
          <a:p>
            <a:pPr lvl="0" algn="just"/>
            <a:r>
              <a:rPr lang="en-US" dirty="0">
                <a:latin typeface="Times New Roman" panose="02020603050405020304" pitchFamily="18" charset="0"/>
                <a:cs typeface="Times New Roman" panose="02020603050405020304" pitchFamily="18" charset="0"/>
              </a:rPr>
              <a:t>Errors caught in the Functional requirement gathering stage are the cheapest to fix.</a:t>
            </a:r>
          </a:p>
          <a:p>
            <a:pPr lvl="0" algn="just"/>
            <a:r>
              <a:rPr lang="en-US" dirty="0">
                <a:latin typeface="Times New Roman" panose="02020603050405020304" pitchFamily="18" charset="0"/>
                <a:cs typeface="Times New Roman" panose="02020603050405020304" pitchFamily="18" charset="0"/>
              </a:rPr>
              <a:t>Support user goals, tasks, or activities</a:t>
            </a:r>
          </a:p>
        </p:txBody>
      </p:sp>
      <p:sp>
        <p:nvSpPr>
          <p:cNvPr id="4" name="Slide Number Placeholder 3"/>
          <p:cNvSpPr>
            <a:spLocks noGrp="1"/>
          </p:cNvSpPr>
          <p:nvPr>
            <p:ph type="sldNum" sz="quarter" idx="12"/>
          </p:nvPr>
        </p:nvSpPr>
        <p:spPr/>
        <p:txBody>
          <a:bodyPr/>
          <a:lstStyle/>
          <a:p>
            <a:fld id="{F4FDABE4-2AF6-4D4C-8AE8-BBA493930CF4}" type="slidenum">
              <a:rPr lang="en-US" smtClean="0"/>
              <a:t>7</a:t>
            </a:fld>
            <a:endParaRPr lang="en-US"/>
          </a:p>
        </p:txBody>
      </p:sp>
    </p:spTree>
    <p:extLst>
      <p:ext uri="{BB962C8B-B14F-4D97-AF65-F5344CB8AC3E}">
        <p14:creationId xmlns:p14="http://schemas.microsoft.com/office/powerpoint/2010/main" val="1105565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Non-Functional Requirement</a:t>
            </a:r>
          </a:p>
        </p:txBody>
      </p:sp>
      <p:sp>
        <p:nvSpPr>
          <p:cNvPr id="3" name="Content Placeholder 2"/>
          <p:cNvSpPr>
            <a:spLocks noGrp="1"/>
          </p:cNvSpPr>
          <p:nvPr>
            <p:ph idx="1"/>
          </p:nvPr>
        </p:nvSpPr>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Non-Functional Requirement</a:t>
            </a:r>
            <a:r>
              <a:rPr lang="en-US" dirty="0">
                <a:latin typeface="Times New Roman" panose="02020603050405020304" pitchFamily="18" charset="0"/>
                <a:cs typeface="Times New Roman" panose="02020603050405020304" pitchFamily="18" charset="0"/>
              </a:rPr>
              <a:t> (NFR) specifies the quality attribute of a software system. They judge the software system based on Responsiveness, Usability, Security, Portability and other non-functional standards that are critical to the success of the software system. </a:t>
            </a:r>
          </a:p>
          <a:p>
            <a:pPr algn="just"/>
            <a:r>
              <a:rPr lang="en-US" b="1" dirty="0">
                <a:latin typeface="Times New Roman" panose="02020603050405020304" pitchFamily="18" charset="0"/>
                <a:cs typeface="Times New Roman" panose="02020603050405020304" pitchFamily="18" charset="0"/>
              </a:rPr>
              <a:t>Examples of Non-functional requirements </a:t>
            </a:r>
          </a:p>
          <a:p>
            <a:pPr algn="just"/>
            <a:r>
              <a:rPr lang="en-US" dirty="0">
                <a:latin typeface="Times New Roman" panose="02020603050405020304" pitchFamily="18" charset="0"/>
                <a:cs typeface="Times New Roman" panose="02020603050405020304" pitchFamily="18" charset="0"/>
              </a:rPr>
              <a:t>Users must change the initially assigned login password immediately after the first successful login.</a:t>
            </a:r>
          </a:p>
          <a:p>
            <a:pPr algn="just"/>
            <a:r>
              <a:rPr lang="en-US" dirty="0">
                <a:latin typeface="Times New Roman" panose="02020603050405020304" pitchFamily="18" charset="0"/>
                <a:cs typeface="Times New Roman" panose="02020603050405020304" pitchFamily="18" charset="0"/>
              </a:rPr>
              <a:t>Employees never allowed updating their salary information. Such attempt should be reported to the security administrator. </a:t>
            </a:r>
          </a:p>
          <a:p>
            <a:pPr algn="just"/>
            <a:r>
              <a:rPr lang="en-US" dirty="0">
                <a:latin typeface="Times New Roman" panose="02020603050405020304" pitchFamily="18" charset="0"/>
                <a:cs typeface="Times New Roman" panose="02020603050405020304" pitchFamily="18" charset="0"/>
              </a:rPr>
              <a:t>Every unsuccessful attempt by a user to access an item of data shall be recorded on an audit trail. </a:t>
            </a:r>
          </a:p>
          <a:p>
            <a:pPr algn="just"/>
            <a:r>
              <a:rPr lang="en-US" dirty="0">
                <a:latin typeface="Times New Roman" panose="02020603050405020304" pitchFamily="18" charset="0"/>
                <a:cs typeface="Times New Roman" panose="02020603050405020304" pitchFamily="18" charset="0"/>
              </a:rPr>
              <a:t>A website should be capable enough to handle 20 million users with affecting its performance The software should be portable. </a:t>
            </a:r>
          </a:p>
          <a:p>
            <a:pPr algn="just"/>
            <a:r>
              <a:rPr lang="en-US" dirty="0">
                <a:latin typeface="Times New Roman" panose="02020603050405020304" pitchFamily="18" charset="0"/>
                <a:cs typeface="Times New Roman" panose="02020603050405020304" pitchFamily="18" charset="0"/>
              </a:rPr>
              <a:t>So moving from one OS to other OS does not create any problem. Privacy of information, the export of restricted technologies, intellectual property rights, etc. should be audited.</a:t>
            </a:r>
          </a:p>
        </p:txBody>
      </p:sp>
      <p:sp>
        <p:nvSpPr>
          <p:cNvPr id="4" name="Slide Number Placeholder 3"/>
          <p:cNvSpPr>
            <a:spLocks noGrp="1"/>
          </p:cNvSpPr>
          <p:nvPr>
            <p:ph type="sldNum" sz="quarter" idx="12"/>
          </p:nvPr>
        </p:nvSpPr>
        <p:spPr/>
        <p:txBody>
          <a:bodyPr/>
          <a:lstStyle/>
          <a:p>
            <a:fld id="{F4FDABE4-2AF6-4D4C-8AE8-BBA493930CF4}" type="slidenum">
              <a:rPr lang="en-US" smtClean="0"/>
              <a:t>8</a:t>
            </a:fld>
            <a:endParaRPr lang="en-US"/>
          </a:p>
        </p:txBody>
      </p:sp>
    </p:spTree>
    <p:extLst>
      <p:ext uri="{BB962C8B-B14F-4D97-AF65-F5344CB8AC3E}">
        <p14:creationId xmlns:p14="http://schemas.microsoft.com/office/powerpoint/2010/main" val="2772038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Non-functional Requirement</a:t>
            </a:r>
          </a:p>
        </p:txBody>
      </p:sp>
      <p:pic>
        <p:nvPicPr>
          <p:cNvPr id="5" name="Content Placeholder 4"/>
          <p:cNvPicPr>
            <a:picLocks noGrp="1" noChangeAspect="1"/>
          </p:cNvPicPr>
          <p:nvPr>
            <p:ph idx="1"/>
          </p:nvPr>
        </p:nvPicPr>
        <p:blipFill>
          <a:blip r:embed="rId2"/>
          <a:stretch>
            <a:fillRect/>
          </a:stretch>
        </p:blipFill>
        <p:spPr>
          <a:xfrm>
            <a:off x="2509101" y="2152544"/>
            <a:ext cx="7173797" cy="4485365"/>
          </a:xfrm>
          <a:prstGeom prst="rect">
            <a:avLst/>
          </a:prstGeom>
        </p:spPr>
      </p:pic>
      <p:sp>
        <p:nvSpPr>
          <p:cNvPr id="4" name="Slide Number Placeholder 3"/>
          <p:cNvSpPr>
            <a:spLocks noGrp="1"/>
          </p:cNvSpPr>
          <p:nvPr>
            <p:ph type="sldNum" sz="quarter" idx="12"/>
          </p:nvPr>
        </p:nvSpPr>
        <p:spPr/>
        <p:txBody>
          <a:bodyPr/>
          <a:lstStyle/>
          <a:p>
            <a:fld id="{F4FDABE4-2AF6-4D4C-8AE8-BBA493930CF4}" type="slidenum">
              <a:rPr lang="en-US" smtClean="0"/>
              <a:t>9</a:t>
            </a:fld>
            <a:endParaRPr lang="en-US"/>
          </a:p>
        </p:txBody>
      </p:sp>
    </p:spTree>
    <p:extLst>
      <p:ext uri="{BB962C8B-B14F-4D97-AF65-F5344CB8AC3E}">
        <p14:creationId xmlns:p14="http://schemas.microsoft.com/office/powerpoint/2010/main" val="3342295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of Non-Functional Requirement</a:t>
            </a:r>
            <a:br>
              <a:rPr lang="en-US" dirty="0"/>
            </a:br>
            <a:endParaRPr lang="en-US" dirty="0"/>
          </a:p>
        </p:txBody>
      </p:sp>
      <p:sp>
        <p:nvSpPr>
          <p:cNvPr id="3" name="Content Placeholder 2"/>
          <p:cNvSpPr>
            <a:spLocks noGrp="1"/>
          </p:cNvSpPr>
          <p:nvPr>
            <p:ph idx="1"/>
          </p:nvPr>
        </p:nvSpPr>
        <p:spPr/>
        <p:txBody>
          <a:bodyPr/>
          <a:lstStyle/>
          <a:p>
            <a:pPr lvl="0" algn="just"/>
            <a:r>
              <a:rPr lang="en-US" dirty="0">
                <a:latin typeface="Times New Roman" panose="02020603050405020304" pitchFamily="18" charset="0"/>
                <a:cs typeface="Times New Roman" panose="02020603050405020304" pitchFamily="18" charset="0"/>
              </a:rPr>
              <a:t>The nonfunctional requirements ensure the software system follow legal and compliance rules.</a:t>
            </a:r>
          </a:p>
          <a:p>
            <a:pPr lvl="0" algn="just"/>
            <a:r>
              <a:rPr lang="en-US" dirty="0">
                <a:latin typeface="Times New Roman" panose="02020603050405020304" pitchFamily="18" charset="0"/>
                <a:cs typeface="Times New Roman" panose="02020603050405020304" pitchFamily="18" charset="0"/>
              </a:rPr>
              <a:t>They ensure the reliability, availability, and performance of the software system</a:t>
            </a:r>
          </a:p>
          <a:p>
            <a:pPr lvl="0" algn="just"/>
            <a:r>
              <a:rPr lang="en-US" dirty="0">
                <a:latin typeface="Times New Roman" panose="02020603050405020304" pitchFamily="18" charset="0"/>
                <a:cs typeface="Times New Roman" panose="02020603050405020304" pitchFamily="18" charset="0"/>
              </a:rPr>
              <a:t>They ensure good user experience and ease of operating the software.</a:t>
            </a:r>
          </a:p>
          <a:p>
            <a:pPr lvl="0" algn="just"/>
            <a:r>
              <a:rPr lang="en-US" dirty="0">
                <a:latin typeface="Times New Roman" panose="02020603050405020304" pitchFamily="18" charset="0"/>
                <a:cs typeface="Times New Roman" panose="02020603050405020304" pitchFamily="18" charset="0"/>
              </a:rPr>
              <a:t>They help in formulating security policy of the software system.</a:t>
            </a:r>
          </a:p>
        </p:txBody>
      </p:sp>
      <p:sp>
        <p:nvSpPr>
          <p:cNvPr id="4" name="Slide Number Placeholder 3"/>
          <p:cNvSpPr>
            <a:spLocks noGrp="1"/>
          </p:cNvSpPr>
          <p:nvPr>
            <p:ph type="sldNum" sz="quarter" idx="12"/>
          </p:nvPr>
        </p:nvSpPr>
        <p:spPr/>
        <p:txBody>
          <a:bodyPr/>
          <a:lstStyle/>
          <a:p>
            <a:fld id="{F4FDABE4-2AF6-4D4C-8AE8-BBA493930CF4}" type="slidenum">
              <a:rPr lang="en-US" smtClean="0"/>
              <a:t>10</a:t>
            </a:fld>
            <a:endParaRPr lang="en-US"/>
          </a:p>
        </p:txBody>
      </p:sp>
    </p:spTree>
    <p:extLst>
      <p:ext uri="{BB962C8B-B14F-4D97-AF65-F5344CB8AC3E}">
        <p14:creationId xmlns:p14="http://schemas.microsoft.com/office/powerpoint/2010/main" val="320535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1336" y="81306"/>
            <a:ext cx="9212246" cy="6695388"/>
          </a:xfrm>
        </p:spPr>
      </p:pic>
      <p:sp>
        <p:nvSpPr>
          <p:cNvPr id="3" name="Slide Number Placeholder 2"/>
          <p:cNvSpPr>
            <a:spLocks noGrp="1"/>
          </p:cNvSpPr>
          <p:nvPr>
            <p:ph type="sldNum" sz="quarter" idx="12"/>
          </p:nvPr>
        </p:nvSpPr>
        <p:spPr/>
        <p:txBody>
          <a:bodyPr/>
          <a:lstStyle/>
          <a:p>
            <a:fld id="{F4FDABE4-2AF6-4D4C-8AE8-BBA493930CF4}" type="slidenum">
              <a:rPr lang="en-US" smtClean="0"/>
              <a:t>11</a:t>
            </a:fld>
            <a:endParaRPr lang="en-US"/>
          </a:p>
        </p:txBody>
      </p:sp>
    </p:spTree>
    <p:extLst>
      <p:ext uri="{BB962C8B-B14F-4D97-AF65-F5344CB8AC3E}">
        <p14:creationId xmlns:p14="http://schemas.microsoft.com/office/powerpoint/2010/main" val="396552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Requirement</a:t>
            </a:r>
          </a:p>
        </p:txBody>
      </p:sp>
      <p:sp>
        <p:nvSpPr>
          <p:cNvPr id="3" name="Content Placeholder 2"/>
          <p:cNvSpPr>
            <a:spLocks noGrp="1"/>
          </p:cNvSpPr>
          <p:nvPr>
            <p:ph idx="1"/>
          </p:nvPr>
        </p:nvSpPr>
        <p:spPr/>
        <p:txBody>
          <a:bodyPr/>
          <a:lstStyle/>
          <a:p>
            <a:pPr marL="0" indent="0" algn="just">
              <a:buNone/>
            </a:pPr>
            <a:r>
              <a:rPr lang="en-US" b="1" dirty="0">
                <a:latin typeface="Times New Roman" panose="02020603050405020304" pitchFamily="18" charset="0"/>
                <a:cs typeface="Times New Roman" panose="02020603050405020304" pitchFamily="18" charset="0"/>
              </a:rPr>
              <a:t>Domain:</a:t>
            </a:r>
          </a:p>
          <a:p>
            <a:pPr algn="just"/>
            <a:r>
              <a:rPr lang="en-US" dirty="0">
                <a:latin typeface="Times New Roman" panose="02020603050405020304" pitchFamily="18" charset="0"/>
                <a:cs typeface="Times New Roman" panose="02020603050405020304" pitchFamily="18" charset="0"/>
              </a:rPr>
              <a:t>Domain is simply the area where a software belongs to. </a:t>
            </a:r>
          </a:p>
          <a:p>
            <a:pPr marL="0" indent="0" algn="just">
              <a:buNone/>
            </a:pPr>
            <a:r>
              <a:rPr lang="en-US" dirty="0">
                <a:latin typeface="Times New Roman" panose="02020603050405020304" pitchFamily="18" charset="0"/>
                <a:cs typeface="Times New Roman" panose="02020603050405020304" pitchFamily="18" charset="0"/>
              </a:rPr>
              <a:t>Example: E-commerce, Social Media, Health Insurance etc.</a:t>
            </a:r>
          </a:p>
          <a:p>
            <a:pPr marL="0" indent="0" algn="just">
              <a:buNone/>
            </a:pPr>
            <a:r>
              <a:rPr lang="en-US" b="1" dirty="0">
                <a:latin typeface="Times New Roman" panose="02020603050405020304" pitchFamily="18" charset="0"/>
                <a:cs typeface="Times New Roman" panose="02020603050405020304" pitchFamily="18" charset="0"/>
              </a:rPr>
              <a:t>Domain requirements </a:t>
            </a:r>
            <a:r>
              <a:rPr lang="en-US" dirty="0">
                <a:latin typeface="Times New Roman" panose="02020603050405020304" pitchFamily="18" charset="0"/>
                <a:cs typeface="Times New Roman" panose="02020603050405020304" pitchFamily="18" charset="0"/>
              </a:rPr>
              <a:t>are the requirements that need to be fulfilled by the software to remain in that domain. </a:t>
            </a:r>
          </a:p>
          <a:p>
            <a:pPr algn="just"/>
            <a:r>
              <a:rPr lang="en-US" dirty="0">
                <a:latin typeface="Times New Roman" panose="02020603050405020304" pitchFamily="18" charset="0"/>
                <a:cs typeface="Times New Roman" panose="02020603050405020304" pitchFamily="18" charset="0"/>
              </a:rPr>
              <a:t>Example:</a:t>
            </a:r>
          </a:p>
          <a:p>
            <a:pPr marL="0" indent="0" algn="just">
              <a:buNone/>
            </a:pPr>
            <a:r>
              <a:rPr lang="en-US" dirty="0">
                <a:latin typeface="Times New Roman" panose="02020603050405020304" pitchFamily="18" charset="0"/>
                <a:cs typeface="Times New Roman" panose="02020603050405020304" pitchFamily="18" charset="0"/>
              </a:rPr>
              <a:t>E-commerce domain : User should be able to buy/sell products, search for products.</a:t>
            </a:r>
          </a:p>
        </p:txBody>
      </p:sp>
      <p:sp>
        <p:nvSpPr>
          <p:cNvPr id="4" name="Slide Number Placeholder 3"/>
          <p:cNvSpPr>
            <a:spLocks noGrp="1"/>
          </p:cNvSpPr>
          <p:nvPr>
            <p:ph type="sldNum" sz="quarter" idx="12"/>
          </p:nvPr>
        </p:nvSpPr>
        <p:spPr/>
        <p:txBody>
          <a:bodyPr/>
          <a:lstStyle/>
          <a:p>
            <a:fld id="{F4FDABE4-2AF6-4D4C-8AE8-BBA493930CF4}" type="slidenum">
              <a:rPr lang="en-US" smtClean="0"/>
              <a:t>12</a:t>
            </a:fld>
            <a:endParaRPr lang="en-US"/>
          </a:p>
        </p:txBody>
      </p:sp>
    </p:spTree>
    <p:extLst>
      <p:ext uri="{BB962C8B-B14F-4D97-AF65-F5344CB8AC3E}">
        <p14:creationId xmlns:p14="http://schemas.microsoft.com/office/powerpoint/2010/main" val="121916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Engineering</a:t>
            </a:r>
            <a:br>
              <a:rPr lang="en-US" b="1"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Requirements engineering (RE)</a:t>
            </a:r>
            <a:r>
              <a:rPr lang="en-US" dirty="0">
                <a:latin typeface="Times New Roman" panose="02020603050405020304" pitchFamily="18" charset="0"/>
                <a:cs typeface="Times New Roman" panose="02020603050405020304" pitchFamily="18" charset="0"/>
              </a:rPr>
              <a:t> refers to the process of defining, documenting, and maintaining requirements in the engineering design process. </a:t>
            </a:r>
          </a:p>
          <a:p>
            <a:pPr algn="just"/>
            <a:r>
              <a:rPr lang="en-US" dirty="0">
                <a:latin typeface="Times New Roman" panose="02020603050405020304" pitchFamily="18" charset="0"/>
                <a:cs typeface="Times New Roman" panose="02020603050405020304" pitchFamily="18" charset="0"/>
              </a:rPr>
              <a:t>Requirement engineering provides the appropriate mechanism to understand what the customer desires, analyzing the need, and assessing feasibility, negotiating a reasonable solution, specifying the solution clearly, validating the specifications and managing the requirements as they are transformed into a working system. </a:t>
            </a:r>
          </a:p>
        </p:txBody>
      </p:sp>
      <p:sp>
        <p:nvSpPr>
          <p:cNvPr id="4" name="Slide Number Placeholder 3"/>
          <p:cNvSpPr>
            <a:spLocks noGrp="1"/>
          </p:cNvSpPr>
          <p:nvPr>
            <p:ph type="sldNum" sz="quarter" idx="12"/>
          </p:nvPr>
        </p:nvSpPr>
        <p:spPr/>
        <p:txBody>
          <a:bodyPr/>
          <a:lstStyle/>
          <a:p>
            <a:fld id="{F4FDABE4-2AF6-4D4C-8AE8-BBA493930CF4}" type="slidenum">
              <a:rPr lang="en-US" smtClean="0"/>
              <a:t>13</a:t>
            </a:fld>
            <a:endParaRPr lang="en-US"/>
          </a:p>
        </p:txBody>
      </p:sp>
    </p:spTree>
    <p:extLst>
      <p:ext uri="{BB962C8B-B14F-4D97-AF65-F5344CB8AC3E}">
        <p14:creationId xmlns:p14="http://schemas.microsoft.com/office/powerpoint/2010/main" val="80583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Engineering Process</a:t>
            </a:r>
            <a:endParaRPr lang="en-US" dirty="0"/>
          </a:p>
        </p:txBody>
      </p:sp>
      <p:sp>
        <p:nvSpPr>
          <p:cNvPr id="3" name="Content Placeholder 2"/>
          <p:cNvSpPr>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Feasibility Study</a:t>
            </a:r>
          </a:p>
          <a:p>
            <a:pPr lvl="0"/>
            <a:r>
              <a:rPr lang="en-US" dirty="0">
                <a:latin typeface="Times New Roman" panose="02020603050405020304" pitchFamily="18" charset="0"/>
                <a:cs typeface="Times New Roman" panose="02020603050405020304" pitchFamily="18" charset="0"/>
              </a:rPr>
              <a:t>Requirement Elicitation and Analysis</a:t>
            </a:r>
          </a:p>
          <a:p>
            <a:pPr lvl="0"/>
            <a:r>
              <a:rPr lang="en-US" dirty="0">
                <a:latin typeface="Times New Roman" panose="02020603050405020304" pitchFamily="18" charset="0"/>
                <a:cs typeface="Times New Roman" panose="02020603050405020304" pitchFamily="18" charset="0"/>
              </a:rPr>
              <a:t>Software Requirement Specification</a:t>
            </a:r>
          </a:p>
          <a:p>
            <a:pPr lvl="0"/>
            <a:r>
              <a:rPr lang="en-US" dirty="0">
                <a:latin typeface="Times New Roman" panose="02020603050405020304" pitchFamily="18" charset="0"/>
                <a:cs typeface="Times New Roman" panose="02020603050405020304" pitchFamily="18" charset="0"/>
              </a:rPr>
              <a:t>Software Requirement Validation</a:t>
            </a:r>
          </a:p>
        </p:txBody>
      </p:sp>
      <p:sp>
        <p:nvSpPr>
          <p:cNvPr id="4" name="Slide Number Placeholder 3"/>
          <p:cNvSpPr>
            <a:spLocks noGrp="1"/>
          </p:cNvSpPr>
          <p:nvPr>
            <p:ph type="sldNum" sz="quarter" idx="12"/>
          </p:nvPr>
        </p:nvSpPr>
        <p:spPr/>
        <p:txBody>
          <a:bodyPr/>
          <a:lstStyle/>
          <a:p>
            <a:fld id="{F4FDABE4-2AF6-4D4C-8AE8-BBA493930CF4}" type="slidenum">
              <a:rPr lang="en-US" smtClean="0"/>
              <a:t>14</a:t>
            </a:fld>
            <a:endParaRPr lang="en-US"/>
          </a:p>
        </p:txBody>
      </p:sp>
    </p:spTree>
    <p:extLst>
      <p:ext uri="{BB962C8B-B14F-4D97-AF65-F5344CB8AC3E}">
        <p14:creationId xmlns:p14="http://schemas.microsoft.com/office/powerpoint/2010/main" val="318178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quirement Engineer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9146" y="794760"/>
            <a:ext cx="7299327" cy="5032375"/>
          </a:xfrm>
          <a:prstGeom prst="rect">
            <a:avLst/>
          </a:prstGeom>
          <a:noFill/>
          <a:ln>
            <a:noFill/>
          </a:ln>
        </p:spPr>
      </p:pic>
      <p:sp>
        <p:nvSpPr>
          <p:cNvPr id="2" name="Slide Number Placeholder 1"/>
          <p:cNvSpPr>
            <a:spLocks noGrp="1"/>
          </p:cNvSpPr>
          <p:nvPr>
            <p:ph type="sldNum" sz="quarter" idx="12"/>
          </p:nvPr>
        </p:nvSpPr>
        <p:spPr/>
        <p:txBody>
          <a:bodyPr/>
          <a:lstStyle/>
          <a:p>
            <a:fld id="{F4FDABE4-2AF6-4D4C-8AE8-BBA493930CF4}" type="slidenum">
              <a:rPr lang="en-US" smtClean="0"/>
              <a:t>15</a:t>
            </a:fld>
            <a:endParaRPr lang="en-US"/>
          </a:p>
        </p:txBody>
      </p:sp>
    </p:spTree>
    <p:extLst>
      <p:ext uri="{BB962C8B-B14F-4D97-AF65-F5344CB8AC3E}">
        <p14:creationId xmlns:p14="http://schemas.microsoft.com/office/powerpoint/2010/main" val="593260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Feasibility Study:</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Feasibility Study</a:t>
            </a:r>
            <a:r>
              <a:rPr lang="en-US" dirty="0">
                <a:latin typeface="Times New Roman" panose="02020603050405020304" pitchFamily="18" charset="0"/>
                <a:cs typeface="Times New Roman" panose="02020603050405020304" pitchFamily="18" charset="0"/>
              </a:rPr>
              <a:t> in Software Engineering is a study to evaluate feasibility of proposed project or system. </a:t>
            </a:r>
          </a:p>
          <a:p>
            <a:pPr algn="just"/>
            <a:r>
              <a:rPr lang="en-US" dirty="0">
                <a:latin typeface="Times New Roman" panose="02020603050405020304" pitchFamily="18" charset="0"/>
                <a:cs typeface="Times New Roman" panose="02020603050405020304" pitchFamily="18" charset="0"/>
              </a:rPr>
              <a:t>As name suggests feasibility study is the feasibility analysis or it is a measure of the software product in terms of how much beneficial product development will be for the organization in a practical point of view. </a:t>
            </a:r>
          </a:p>
          <a:p>
            <a:pPr algn="just"/>
            <a:r>
              <a:rPr lang="en-US" dirty="0">
                <a:latin typeface="Times New Roman" panose="02020603050405020304" pitchFamily="18" charset="0"/>
                <a:cs typeface="Times New Roman" panose="02020603050405020304" pitchFamily="18" charset="0"/>
              </a:rPr>
              <a:t>Information such as </a:t>
            </a:r>
            <a:r>
              <a:rPr lang="en-US" b="1" dirty="0">
                <a:latin typeface="Times New Roman" panose="02020603050405020304" pitchFamily="18" charset="0"/>
                <a:cs typeface="Times New Roman" panose="02020603050405020304" pitchFamily="18" charset="0"/>
              </a:rPr>
              <a:t>resource availability, cost estimation for software development, benefits of the software to the organization after it is developed and cost to be incurred on its maintenance </a:t>
            </a:r>
            <a:r>
              <a:rPr lang="en-US" dirty="0">
                <a:latin typeface="Times New Roman" panose="02020603050405020304" pitchFamily="18" charset="0"/>
                <a:cs typeface="Times New Roman" panose="02020603050405020304" pitchFamily="18" charset="0"/>
              </a:rPr>
              <a:t>are considered during the feasibility study. </a:t>
            </a:r>
          </a:p>
          <a:p>
            <a:pPr algn="just"/>
            <a:r>
              <a:rPr lang="en-US" dirty="0">
                <a:latin typeface="Times New Roman" panose="02020603050405020304" pitchFamily="18" charset="0"/>
                <a:cs typeface="Times New Roman" panose="02020603050405020304" pitchFamily="18" charset="0"/>
              </a:rPr>
              <a:t>The objective of the feasibility study is establish the reasons for developing the software that is acceptable to users, adaptable to change and conformable to established standards. A feasibility study takes into account various constraints equipment, manpower, within which system should be implement and operate such as computing cost etc. </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FDABE4-2AF6-4D4C-8AE8-BBA493930CF4}" type="slidenum">
              <a:rPr lang="en-US" smtClean="0"/>
              <a:t>16</a:t>
            </a:fld>
            <a:endParaRPr lang="en-US"/>
          </a:p>
        </p:txBody>
      </p:sp>
    </p:spTree>
    <p:extLst>
      <p:ext uri="{BB962C8B-B14F-4D97-AF65-F5344CB8AC3E}">
        <p14:creationId xmlns:p14="http://schemas.microsoft.com/office/powerpoint/2010/main" val="3492067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Feasibility Study :</a:t>
            </a:r>
            <a:r>
              <a:rPr lang="en-US" dirty="0"/>
              <a:t> </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Technical Feasibility </a:t>
            </a:r>
          </a:p>
          <a:p>
            <a:r>
              <a:rPr lang="en-US" b="1" dirty="0">
                <a:latin typeface="Times New Roman" panose="02020603050405020304" pitchFamily="18" charset="0"/>
                <a:cs typeface="Times New Roman" panose="02020603050405020304" pitchFamily="18" charset="0"/>
              </a:rPr>
              <a:t>Operational Feasibility </a:t>
            </a:r>
          </a:p>
          <a:p>
            <a:r>
              <a:rPr lang="en-US" b="1" dirty="0">
                <a:latin typeface="Times New Roman" panose="02020603050405020304" pitchFamily="18" charset="0"/>
                <a:cs typeface="Times New Roman" panose="02020603050405020304" pitchFamily="18" charset="0"/>
              </a:rPr>
              <a:t>Economic Feasibility </a:t>
            </a:r>
          </a:p>
          <a:p>
            <a:r>
              <a:rPr lang="en-US" b="1" dirty="0">
                <a:latin typeface="Times New Roman" panose="02020603050405020304" pitchFamily="18" charset="0"/>
                <a:cs typeface="Times New Roman" panose="02020603050405020304" pitchFamily="18" charset="0"/>
              </a:rPr>
              <a:t>Legal Feasibility</a:t>
            </a:r>
          </a:p>
          <a:p>
            <a:r>
              <a:rPr lang="en-US" b="1" dirty="0">
                <a:latin typeface="Times New Roman" panose="02020603050405020304" pitchFamily="18" charset="0"/>
                <a:cs typeface="Times New Roman" panose="02020603050405020304" pitchFamily="18" charset="0"/>
              </a:rPr>
              <a:t>Schedule Feasibility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FDABE4-2AF6-4D4C-8AE8-BBA493930CF4}" type="slidenum">
              <a:rPr lang="en-US" smtClean="0"/>
              <a:t>17</a:t>
            </a:fld>
            <a:endParaRPr lang="en-US"/>
          </a:p>
        </p:txBody>
      </p:sp>
    </p:spTree>
    <p:extLst>
      <p:ext uri="{BB962C8B-B14F-4D97-AF65-F5344CB8AC3E}">
        <p14:creationId xmlns:p14="http://schemas.microsoft.com/office/powerpoint/2010/main" val="2393803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Technical Feasibility </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Technical Feasibility current resources both hardware software along with required technology are analyzed/assessed to develop project.</a:t>
            </a:r>
          </a:p>
          <a:p>
            <a:pPr algn="just"/>
            <a:r>
              <a:rPr lang="en-US" dirty="0">
                <a:latin typeface="Times New Roman" panose="02020603050405020304" pitchFamily="18" charset="0"/>
                <a:cs typeface="Times New Roman" panose="02020603050405020304" pitchFamily="18" charset="0"/>
              </a:rPr>
              <a:t> This technical feasibility study gives report whether there exists correct required resources and technologies which will be used for project development. </a:t>
            </a:r>
          </a:p>
          <a:p>
            <a:pPr algn="just"/>
            <a:r>
              <a:rPr lang="en-US" dirty="0">
                <a:latin typeface="Times New Roman" panose="02020603050405020304" pitchFamily="18" charset="0"/>
                <a:cs typeface="Times New Roman" panose="02020603050405020304" pitchFamily="18" charset="0"/>
              </a:rPr>
              <a:t>Along with this, feasibility study also analyzes technical skills and capabilities of technical team, existing technology can be used or not, maintenance and up-gradation is easy or not for chosen technology etc.  </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4FDABE4-2AF6-4D4C-8AE8-BBA493930CF4}" type="slidenum">
              <a:rPr lang="en-US" smtClean="0"/>
              <a:t>18</a:t>
            </a:fld>
            <a:endParaRPr lang="en-US"/>
          </a:p>
        </p:txBody>
      </p:sp>
    </p:spTree>
    <p:extLst>
      <p:ext uri="{BB962C8B-B14F-4D97-AF65-F5344CB8AC3E}">
        <p14:creationId xmlns:p14="http://schemas.microsoft.com/office/powerpoint/2010/main" val="298271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Operational Feasibility</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Operational Feasibility degree of providing service to requirements is analyzed along with how much easy product will be to operate and maintenance after deployment. </a:t>
            </a:r>
          </a:p>
          <a:p>
            <a:r>
              <a:rPr lang="en-US" dirty="0">
                <a:latin typeface="Times New Roman" panose="02020603050405020304" pitchFamily="18" charset="0"/>
                <a:cs typeface="Times New Roman" panose="02020603050405020304" pitchFamily="18" charset="0"/>
              </a:rPr>
              <a:t>Along with this other operational scopes are determining usability of product, Determining suggested solution by software development team is acceptable or not etc. </a:t>
            </a:r>
          </a:p>
        </p:txBody>
      </p:sp>
      <p:sp>
        <p:nvSpPr>
          <p:cNvPr id="4" name="Slide Number Placeholder 3"/>
          <p:cNvSpPr>
            <a:spLocks noGrp="1"/>
          </p:cNvSpPr>
          <p:nvPr>
            <p:ph type="sldNum" sz="quarter" idx="12"/>
          </p:nvPr>
        </p:nvSpPr>
        <p:spPr/>
        <p:txBody>
          <a:bodyPr/>
          <a:lstStyle/>
          <a:p>
            <a:fld id="{F4FDABE4-2AF6-4D4C-8AE8-BBA493930CF4}" type="slidenum">
              <a:rPr lang="en-US" smtClean="0"/>
              <a:t>19</a:t>
            </a:fld>
            <a:endParaRPr lang="en-US"/>
          </a:p>
        </p:txBody>
      </p:sp>
    </p:spTree>
    <p:extLst>
      <p:ext uri="{BB962C8B-B14F-4D97-AF65-F5344CB8AC3E}">
        <p14:creationId xmlns:p14="http://schemas.microsoft.com/office/powerpoint/2010/main" val="1453928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Economic Feasibility</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Economic Feasibility study cost and benefit of the project is analyzed. </a:t>
            </a:r>
          </a:p>
          <a:p>
            <a:pPr algn="just"/>
            <a:r>
              <a:rPr lang="en-US" dirty="0">
                <a:latin typeface="Times New Roman" panose="02020603050405020304" pitchFamily="18" charset="0"/>
                <a:cs typeface="Times New Roman" panose="02020603050405020304" pitchFamily="18" charset="0"/>
              </a:rPr>
              <a:t>Under this feasibility study a detail analysis is carried out what will be cost of the project for development which includes all required cost for final development like hardware and software resource required, design and development cost and operational cost and so on. </a:t>
            </a:r>
          </a:p>
          <a:p>
            <a:pPr algn="just"/>
            <a:r>
              <a:rPr lang="en-US" dirty="0">
                <a:latin typeface="Times New Roman" panose="02020603050405020304" pitchFamily="18" charset="0"/>
                <a:cs typeface="Times New Roman" panose="02020603050405020304" pitchFamily="18" charset="0"/>
              </a:rPr>
              <a:t>After that it is analyzed whether project will be beneficial in terms of finance for organization or not. </a:t>
            </a:r>
          </a:p>
        </p:txBody>
      </p:sp>
      <p:sp>
        <p:nvSpPr>
          <p:cNvPr id="4" name="Slide Number Placeholder 3"/>
          <p:cNvSpPr>
            <a:spLocks noGrp="1"/>
          </p:cNvSpPr>
          <p:nvPr>
            <p:ph type="sldNum" sz="quarter" idx="12"/>
          </p:nvPr>
        </p:nvSpPr>
        <p:spPr/>
        <p:txBody>
          <a:bodyPr/>
          <a:lstStyle/>
          <a:p>
            <a:fld id="{F4FDABE4-2AF6-4D4C-8AE8-BBA493930CF4}" type="slidenum">
              <a:rPr lang="en-US" smtClean="0"/>
              <a:t>20</a:t>
            </a:fld>
            <a:endParaRPr lang="en-US"/>
          </a:p>
        </p:txBody>
      </p:sp>
    </p:spTree>
    <p:extLst>
      <p:ext uri="{BB962C8B-B14F-4D97-AF65-F5344CB8AC3E}">
        <p14:creationId xmlns:p14="http://schemas.microsoft.com/office/powerpoint/2010/main" val="3165536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Legal Feasibility </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Legal Feasibility study project is analyzed in legality point of view. This includes analyzing barriers of legal implementation of project, data protection acts or social media laws, project certificate, license, copyright etc. </a:t>
            </a:r>
          </a:p>
          <a:p>
            <a:pPr algn="just"/>
            <a:r>
              <a:rPr lang="en-US" dirty="0">
                <a:latin typeface="Times New Roman" panose="02020603050405020304" pitchFamily="18" charset="0"/>
                <a:cs typeface="Times New Roman" panose="02020603050405020304" pitchFamily="18" charset="0"/>
              </a:rPr>
              <a:t>Overall it can be said that Legal Feasibility Study is study to know if proposed project conform legal and ethical requirements. </a:t>
            </a:r>
          </a:p>
        </p:txBody>
      </p:sp>
      <p:sp>
        <p:nvSpPr>
          <p:cNvPr id="4" name="Slide Number Placeholder 3"/>
          <p:cNvSpPr>
            <a:spLocks noGrp="1"/>
          </p:cNvSpPr>
          <p:nvPr>
            <p:ph type="sldNum" sz="quarter" idx="12"/>
          </p:nvPr>
        </p:nvSpPr>
        <p:spPr/>
        <p:txBody>
          <a:bodyPr/>
          <a:lstStyle/>
          <a:p>
            <a:fld id="{F4FDABE4-2AF6-4D4C-8AE8-BBA493930CF4}" type="slidenum">
              <a:rPr lang="en-US" smtClean="0"/>
              <a:t>21</a:t>
            </a:fld>
            <a:endParaRPr lang="en-US"/>
          </a:p>
        </p:txBody>
      </p:sp>
    </p:spTree>
    <p:extLst>
      <p:ext uri="{BB962C8B-B14F-4D97-AF65-F5344CB8AC3E}">
        <p14:creationId xmlns:p14="http://schemas.microsoft.com/office/powerpoint/2010/main" val="3026403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Schedule Feasibility </a:t>
            </a: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Schedule Feasibility Study mainly timelines/deadlines is analyzed for proposed project which includes how many times teams will take to complete final project which has a great impact on the organization as purpose of project may fail if it can’t be completed on time. </a:t>
            </a:r>
          </a:p>
        </p:txBody>
      </p:sp>
      <p:sp>
        <p:nvSpPr>
          <p:cNvPr id="4" name="Slide Number Placeholder 3"/>
          <p:cNvSpPr>
            <a:spLocks noGrp="1"/>
          </p:cNvSpPr>
          <p:nvPr>
            <p:ph type="sldNum" sz="quarter" idx="12"/>
          </p:nvPr>
        </p:nvSpPr>
        <p:spPr/>
        <p:txBody>
          <a:bodyPr/>
          <a:lstStyle/>
          <a:p>
            <a:fld id="{F4FDABE4-2AF6-4D4C-8AE8-BBA493930CF4}" type="slidenum">
              <a:rPr lang="en-US" smtClean="0"/>
              <a:t>22</a:t>
            </a:fld>
            <a:endParaRPr lang="en-US"/>
          </a:p>
        </p:txBody>
      </p:sp>
    </p:spTree>
    <p:extLst>
      <p:ext uri="{BB962C8B-B14F-4D97-AF65-F5344CB8AC3E}">
        <p14:creationId xmlns:p14="http://schemas.microsoft.com/office/powerpoint/2010/main" val="4101676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Requirement Elicitation and analysis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Aims of the requirements elicitation process are to understand the </a:t>
            </a:r>
            <a:r>
              <a:rPr lang="en-US" b="1" dirty="0">
                <a:latin typeface="Times New Roman" panose="02020603050405020304" pitchFamily="18" charset="0"/>
                <a:cs typeface="Times New Roman" panose="02020603050405020304" pitchFamily="18" charset="0"/>
              </a:rPr>
              <a:t>work that stakeholders do and how they might use a new system to help support that work </a:t>
            </a:r>
          </a:p>
          <a:p>
            <a:pPr algn="just"/>
            <a:r>
              <a:rPr lang="en-US" dirty="0">
                <a:latin typeface="Times New Roman" panose="02020603050405020304" pitchFamily="18" charset="0"/>
                <a:cs typeface="Times New Roman" panose="02020603050405020304" pitchFamily="18" charset="0"/>
              </a:rPr>
              <a:t>Software engineers work with stakeholders to find out about the application domain, work activities, the services and system features that stakeholders want, the required performance of the system, hardware constraints</a:t>
            </a:r>
          </a:p>
        </p:txBody>
      </p:sp>
      <p:sp>
        <p:nvSpPr>
          <p:cNvPr id="4" name="Slide Number Placeholder 3"/>
          <p:cNvSpPr>
            <a:spLocks noGrp="1"/>
          </p:cNvSpPr>
          <p:nvPr>
            <p:ph type="sldNum" sz="quarter" idx="12"/>
          </p:nvPr>
        </p:nvSpPr>
        <p:spPr/>
        <p:txBody>
          <a:bodyPr/>
          <a:lstStyle/>
          <a:p>
            <a:fld id="{F4FDABE4-2AF6-4D4C-8AE8-BBA493930CF4}" type="slidenum">
              <a:rPr lang="en-US" smtClean="0"/>
              <a:t>23</a:t>
            </a:fld>
            <a:endParaRPr lang="en-US"/>
          </a:p>
        </p:txBody>
      </p:sp>
    </p:spTree>
    <p:extLst>
      <p:ext uri="{BB962C8B-B14F-4D97-AF65-F5344CB8AC3E}">
        <p14:creationId xmlns:p14="http://schemas.microsoft.com/office/powerpoint/2010/main" val="601460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039764" cy="1260475"/>
          </a:xfrm>
        </p:spPr>
        <p:txBody>
          <a:bodyPr>
            <a:normAutofit fontScale="90000"/>
          </a:bodyPr>
          <a:lstStyle/>
          <a:p>
            <a:r>
              <a:rPr lang="en-US" sz="3200" b="1" dirty="0"/>
              <a:t>Eliciting and understanding requirements from system stakeholders is a difficult process for several reasons: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Stakeholders often don’t know what they want from a computer system except in the most general terms; they may make unrealistic demands because they don’t know what is and isn’t feasible</a:t>
            </a:r>
          </a:p>
          <a:p>
            <a:pPr algn="just"/>
            <a:r>
              <a:rPr lang="en-US" dirty="0">
                <a:latin typeface="Times New Roman" panose="02020603050405020304" pitchFamily="18" charset="0"/>
                <a:cs typeface="Times New Roman" panose="02020603050405020304" pitchFamily="18" charset="0"/>
              </a:rPr>
              <a:t> Stakeholders in a system naturally express requirements in their own terms and with implicit knowledge of their own work. Requirements engineers, without experience in the customer’s domain, may not understand these requirements</a:t>
            </a:r>
          </a:p>
        </p:txBody>
      </p:sp>
      <p:sp>
        <p:nvSpPr>
          <p:cNvPr id="4" name="Slide Number Placeholder 3"/>
          <p:cNvSpPr>
            <a:spLocks noGrp="1"/>
          </p:cNvSpPr>
          <p:nvPr>
            <p:ph type="sldNum" sz="quarter" idx="12"/>
          </p:nvPr>
        </p:nvSpPr>
        <p:spPr/>
        <p:txBody>
          <a:bodyPr/>
          <a:lstStyle/>
          <a:p>
            <a:fld id="{F4FDABE4-2AF6-4D4C-8AE8-BBA493930CF4}" type="slidenum">
              <a:rPr lang="en-US" smtClean="0"/>
              <a:t>24</a:t>
            </a:fld>
            <a:endParaRPr lang="en-US"/>
          </a:p>
        </p:txBody>
      </p:sp>
    </p:spTree>
    <p:extLst>
      <p:ext uri="{BB962C8B-B14F-4D97-AF65-F5344CB8AC3E}">
        <p14:creationId xmlns:p14="http://schemas.microsoft.com/office/powerpoint/2010/main" val="439069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90272"/>
          </a:xfrm>
        </p:spPr>
        <p:txBody>
          <a:bodyPr>
            <a:normAutofit/>
          </a:bodyPr>
          <a:lstStyle/>
          <a:p>
            <a:pPr algn="just"/>
            <a:r>
              <a:rPr lang="en-US" dirty="0">
                <a:latin typeface="Times New Roman" panose="02020603050405020304" pitchFamily="18" charset="0"/>
                <a:cs typeface="Times New Roman" panose="02020603050405020304" pitchFamily="18" charset="0"/>
              </a:rPr>
              <a:t>Different stakeholders, with diverse requirements, may express their requirements in different ways. Requirements engineers have to discover all potential sources of requirements and discover commonalities and conflict </a:t>
            </a:r>
          </a:p>
          <a:p>
            <a:pPr algn="just"/>
            <a:r>
              <a:rPr lang="en-US" dirty="0">
                <a:latin typeface="Times New Roman" panose="02020603050405020304" pitchFamily="18" charset="0"/>
                <a:cs typeface="Times New Roman" panose="02020603050405020304" pitchFamily="18" charset="0"/>
              </a:rPr>
              <a:t>Government factors may not allow system to be built. Stakeholders may demand specific system requirements because these will allow them to increase their influence in the organization. </a:t>
            </a:r>
          </a:p>
          <a:p>
            <a:pPr algn="just"/>
            <a:r>
              <a:rPr lang="en-US" dirty="0">
                <a:latin typeface="Times New Roman" panose="02020603050405020304" pitchFamily="18" charset="0"/>
                <a:cs typeface="Times New Roman" panose="02020603050405020304" pitchFamily="18" charset="0"/>
              </a:rPr>
              <a:t>The economic and business environment in which the analysis takes place is dynamic. It inevitably changes during the analysis process. The importance of particular requirements may change. New requirements may emerge from new stakeholders who were not originally consulted. </a:t>
            </a:r>
          </a:p>
        </p:txBody>
      </p:sp>
      <p:sp>
        <p:nvSpPr>
          <p:cNvPr id="2" name="Slide Number Placeholder 1"/>
          <p:cNvSpPr>
            <a:spLocks noGrp="1"/>
          </p:cNvSpPr>
          <p:nvPr>
            <p:ph type="sldNum" sz="quarter" idx="12"/>
          </p:nvPr>
        </p:nvSpPr>
        <p:spPr/>
        <p:txBody>
          <a:bodyPr/>
          <a:lstStyle/>
          <a:p>
            <a:fld id="{F4FDABE4-2AF6-4D4C-8AE8-BBA493930CF4}" type="slidenum">
              <a:rPr lang="en-US" smtClean="0"/>
              <a:t>25</a:t>
            </a:fld>
            <a:endParaRPr lang="en-US"/>
          </a:p>
        </p:txBody>
      </p:sp>
    </p:spTree>
    <p:extLst>
      <p:ext uri="{BB962C8B-B14F-4D97-AF65-F5344CB8AC3E}">
        <p14:creationId xmlns:p14="http://schemas.microsoft.com/office/powerpoint/2010/main" val="2385297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process</a:t>
            </a:r>
          </a:p>
        </p:txBody>
      </p:sp>
      <p:pic>
        <p:nvPicPr>
          <p:cNvPr id="4" name="Content Placeholder 3"/>
          <p:cNvPicPr>
            <a:picLocks noGrp="1" noChangeAspect="1"/>
          </p:cNvPicPr>
          <p:nvPr>
            <p:ph idx="1"/>
          </p:nvPr>
        </p:nvPicPr>
        <p:blipFill>
          <a:blip r:embed="rId2"/>
          <a:stretch>
            <a:fillRect/>
          </a:stretch>
        </p:blipFill>
        <p:spPr>
          <a:xfrm>
            <a:off x="2710196" y="1825625"/>
            <a:ext cx="6771608" cy="4351338"/>
          </a:xfrm>
          <a:prstGeom prst="rect">
            <a:avLst/>
          </a:prstGeom>
        </p:spPr>
      </p:pic>
      <p:sp>
        <p:nvSpPr>
          <p:cNvPr id="3" name="Slide Number Placeholder 2"/>
          <p:cNvSpPr>
            <a:spLocks noGrp="1"/>
          </p:cNvSpPr>
          <p:nvPr>
            <p:ph type="sldNum" sz="quarter" idx="12"/>
          </p:nvPr>
        </p:nvSpPr>
        <p:spPr/>
        <p:txBody>
          <a:bodyPr/>
          <a:lstStyle/>
          <a:p>
            <a:fld id="{F4FDABE4-2AF6-4D4C-8AE8-BBA493930CF4}" type="slidenum">
              <a:rPr lang="en-US" smtClean="0"/>
              <a:t>26</a:t>
            </a:fld>
            <a:endParaRPr lang="en-US"/>
          </a:p>
        </p:txBody>
      </p:sp>
    </p:spTree>
    <p:extLst>
      <p:ext uri="{BB962C8B-B14F-4D97-AF65-F5344CB8AC3E}">
        <p14:creationId xmlns:p14="http://schemas.microsoft.com/office/powerpoint/2010/main" val="4248560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78948"/>
          </a:xfrm>
        </p:spPr>
        <p:txBody>
          <a:bodyPr/>
          <a:lstStyle/>
          <a:p>
            <a:r>
              <a:rPr lang="en-US" dirty="0"/>
              <a:t>Requirement Elicitation process</a:t>
            </a: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process activities are:</a:t>
            </a:r>
          </a:p>
          <a:p>
            <a:pPr marL="0" indent="0" algn="just">
              <a:buNone/>
            </a:pPr>
            <a:r>
              <a:rPr lang="en-US" dirty="0">
                <a:latin typeface="Times New Roman" panose="02020603050405020304" pitchFamily="18" charset="0"/>
                <a:cs typeface="Times New Roman" panose="02020603050405020304" pitchFamily="18" charset="0"/>
              </a:rPr>
              <a:t> 1. </a:t>
            </a:r>
            <a:r>
              <a:rPr lang="en-US" b="1" dirty="0">
                <a:latin typeface="Times New Roman" panose="02020603050405020304" pitchFamily="18" charset="0"/>
                <a:cs typeface="Times New Roman" panose="02020603050405020304" pitchFamily="18" charset="0"/>
              </a:rPr>
              <a:t>Requirements discovery and understanding</a:t>
            </a:r>
          </a:p>
          <a:p>
            <a:pPr algn="just"/>
            <a:r>
              <a:rPr lang="en-US" dirty="0">
                <a:latin typeface="Times New Roman" panose="02020603050405020304" pitchFamily="18" charset="0"/>
                <a:cs typeface="Times New Roman" panose="02020603050405020304" pitchFamily="18" charset="0"/>
              </a:rPr>
              <a:t> This is the process of interacting with stakeholders of the system to discover their requirements. Domain requirements from stakeholders and documentation are also discovered during this activity.</a:t>
            </a:r>
          </a:p>
          <a:p>
            <a:pPr marL="0" indent="0" algn="just">
              <a:buNone/>
            </a:pPr>
            <a:r>
              <a:rPr lang="en-US" dirty="0">
                <a:latin typeface="Times New Roman" panose="02020603050405020304" pitchFamily="18" charset="0"/>
                <a:cs typeface="Times New Roman" panose="02020603050405020304" pitchFamily="18" charset="0"/>
              </a:rPr>
              <a:t> 2.</a:t>
            </a:r>
            <a:r>
              <a:rPr lang="en-US" b="1" dirty="0">
                <a:latin typeface="Times New Roman" panose="02020603050405020304" pitchFamily="18" charset="0"/>
                <a:cs typeface="Times New Roman" panose="02020603050405020304" pitchFamily="18" charset="0"/>
              </a:rPr>
              <a:t> Requirements classification and organization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This activity takes the unstructured collection of requirements, groups related requirements and organizes them into logical structure.</a:t>
            </a:r>
          </a:p>
        </p:txBody>
      </p:sp>
      <p:sp>
        <p:nvSpPr>
          <p:cNvPr id="4" name="Slide Number Placeholder 3"/>
          <p:cNvSpPr>
            <a:spLocks noGrp="1"/>
          </p:cNvSpPr>
          <p:nvPr>
            <p:ph type="sldNum" sz="quarter" idx="12"/>
          </p:nvPr>
        </p:nvSpPr>
        <p:spPr/>
        <p:txBody>
          <a:bodyPr/>
          <a:lstStyle/>
          <a:p>
            <a:fld id="{F4FDABE4-2AF6-4D4C-8AE8-BBA493930CF4}" type="slidenum">
              <a:rPr lang="en-US" smtClean="0"/>
              <a:t>27</a:t>
            </a:fld>
            <a:endParaRPr lang="en-US"/>
          </a:p>
        </p:txBody>
      </p:sp>
    </p:spTree>
    <p:extLst>
      <p:ext uri="{BB962C8B-B14F-4D97-AF65-F5344CB8AC3E}">
        <p14:creationId xmlns:p14="http://schemas.microsoft.com/office/powerpoint/2010/main" val="2160650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process</a:t>
            </a: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3. Requirements prioritization and negotiation </a:t>
            </a:r>
          </a:p>
          <a:p>
            <a:pPr algn="just"/>
            <a:r>
              <a:rPr lang="en-US" dirty="0">
                <a:latin typeface="Times New Roman" panose="02020603050405020304" pitchFamily="18" charset="0"/>
                <a:cs typeface="Times New Roman" panose="02020603050405020304" pitchFamily="18" charset="0"/>
              </a:rPr>
              <a:t>Inevitably, when multiple stakeholders are involved, requirements will conflict. This activity is concerned with prioritizing requirements and finding and resolving requirements conflicts through negotiation. Usually, stakeholders have to meet to resolve differences and agree on compromise requirements. </a:t>
            </a:r>
          </a:p>
          <a:p>
            <a:pPr marL="0" indent="0" algn="just">
              <a:buNone/>
            </a:pPr>
            <a:r>
              <a:rPr lang="en-US" b="1" dirty="0">
                <a:latin typeface="Times New Roman" panose="02020603050405020304" pitchFamily="18" charset="0"/>
                <a:cs typeface="Times New Roman" panose="02020603050405020304" pitchFamily="18" charset="0"/>
              </a:rPr>
              <a:t>4. Requirements documentation </a:t>
            </a:r>
          </a:p>
          <a:p>
            <a:pPr algn="just"/>
            <a:r>
              <a:rPr lang="en-US" dirty="0">
                <a:latin typeface="Times New Roman" panose="02020603050405020304" pitchFamily="18" charset="0"/>
                <a:cs typeface="Times New Roman" panose="02020603050405020304" pitchFamily="18" charset="0"/>
              </a:rPr>
              <a:t>The requirements are documented and input into the next round of the spiral. An early draft of the software requirements documents may be produced at this stage, or the requirements may simply be maintained informally on whiteboards, wikis, or other shared spaces.</a:t>
            </a:r>
          </a:p>
        </p:txBody>
      </p:sp>
      <p:sp>
        <p:nvSpPr>
          <p:cNvPr id="4" name="Slide Number Placeholder 3"/>
          <p:cNvSpPr>
            <a:spLocks noGrp="1"/>
          </p:cNvSpPr>
          <p:nvPr>
            <p:ph type="sldNum" sz="quarter" idx="12"/>
          </p:nvPr>
        </p:nvSpPr>
        <p:spPr/>
        <p:txBody>
          <a:bodyPr/>
          <a:lstStyle/>
          <a:p>
            <a:fld id="{F4FDABE4-2AF6-4D4C-8AE8-BBA493930CF4}" type="slidenum">
              <a:rPr lang="en-US" smtClean="0"/>
              <a:t>28</a:t>
            </a:fld>
            <a:endParaRPr lang="en-US"/>
          </a:p>
        </p:txBody>
      </p:sp>
    </p:spTree>
    <p:extLst>
      <p:ext uri="{BB962C8B-B14F-4D97-AF65-F5344CB8AC3E}">
        <p14:creationId xmlns:p14="http://schemas.microsoft.com/office/powerpoint/2010/main" val="275949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Elicitation Techniques</a:t>
            </a:r>
          </a:p>
        </p:txBody>
      </p:sp>
      <p:sp>
        <p:nvSpPr>
          <p:cNvPr id="3" name="Content Placeholder 2"/>
          <p:cNvSpPr>
            <a:spLocks noGrp="1"/>
          </p:cNvSpPr>
          <p:nvPr>
            <p:ph idx="1"/>
          </p:nvPr>
        </p:nvSpPr>
        <p:spPr/>
        <p:txBody>
          <a:bodyPr>
            <a:normAutofit/>
          </a:bodyPr>
          <a:lstStyle/>
          <a:p>
            <a:pPr marL="0" indent="0" algn="just">
              <a:buNone/>
            </a:pPr>
            <a:r>
              <a:rPr lang="en-US" sz="3200" b="1" dirty="0">
                <a:latin typeface="Times New Roman" panose="02020603050405020304" pitchFamily="18" charset="0"/>
                <a:cs typeface="Times New Roman" panose="02020603050405020304" pitchFamily="18" charset="0"/>
              </a:rPr>
              <a:t>Interviewing </a:t>
            </a:r>
          </a:p>
          <a:p>
            <a:pPr marL="0" indent="0" algn="just">
              <a:buNone/>
            </a:pPr>
            <a:r>
              <a:rPr lang="en-US" dirty="0">
                <a:latin typeface="Times New Roman" panose="02020603050405020304" pitchFamily="18" charset="0"/>
                <a:cs typeface="Times New Roman" panose="02020603050405020304" pitchFamily="18" charset="0"/>
              </a:rPr>
              <a:t>Formal or informal interviews with system stakeholders are part of most requirements engineering processes Interviews may be of two types: </a:t>
            </a:r>
          </a:p>
          <a:p>
            <a:pPr marL="514350" indent="-514350" algn="just">
              <a:buAutoNum type="arabicPeriod"/>
            </a:pPr>
            <a:r>
              <a:rPr lang="en-US" b="1" dirty="0">
                <a:latin typeface="Times New Roman" panose="02020603050405020304" pitchFamily="18" charset="0"/>
                <a:cs typeface="Times New Roman" panose="02020603050405020304" pitchFamily="18" charset="0"/>
              </a:rPr>
              <a:t>Closed interviews </a:t>
            </a:r>
            <a:r>
              <a:rPr lang="en-US" dirty="0">
                <a:latin typeface="Times New Roman" panose="02020603050405020304" pitchFamily="18" charset="0"/>
                <a:cs typeface="Times New Roman" panose="02020603050405020304" pitchFamily="18" charset="0"/>
              </a:rPr>
              <a:t>Where the stakeholders answers a predefined set of questions </a:t>
            </a:r>
          </a:p>
          <a:p>
            <a:pPr marL="514350" indent="-514350" algn="just">
              <a:buAutoNum type="arabicPeriod"/>
            </a:pPr>
            <a:r>
              <a:rPr lang="en-US" b="1" dirty="0">
                <a:latin typeface="Times New Roman" panose="02020603050405020304" pitchFamily="18" charset="0"/>
                <a:cs typeface="Times New Roman" panose="02020603050405020304" pitchFamily="18" charset="0"/>
              </a:rPr>
              <a:t>Open interviews </a:t>
            </a:r>
            <a:r>
              <a:rPr lang="en-US" dirty="0">
                <a:latin typeface="Times New Roman" panose="02020603050405020304" pitchFamily="18" charset="0"/>
                <a:cs typeface="Times New Roman" panose="02020603050405020304" pitchFamily="18" charset="0"/>
              </a:rPr>
              <a:t>In which there is no predefined agenda. The requirements engineering team explores a range of issues with system stakeholders and hence develops a better understanding of their needs </a:t>
            </a:r>
          </a:p>
        </p:txBody>
      </p:sp>
      <p:sp>
        <p:nvSpPr>
          <p:cNvPr id="4" name="Slide Number Placeholder 3"/>
          <p:cNvSpPr>
            <a:spLocks noGrp="1"/>
          </p:cNvSpPr>
          <p:nvPr>
            <p:ph type="sldNum" sz="quarter" idx="12"/>
          </p:nvPr>
        </p:nvSpPr>
        <p:spPr/>
        <p:txBody>
          <a:bodyPr/>
          <a:lstStyle/>
          <a:p>
            <a:fld id="{F4FDABE4-2AF6-4D4C-8AE8-BBA493930CF4}" type="slidenum">
              <a:rPr lang="en-US" smtClean="0"/>
              <a:t>29</a:t>
            </a:fld>
            <a:endParaRPr lang="en-US"/>
          </a:p>
        </p:txBody>
      </p:sp>
    </p:spTree>
    <p:extLst>
      <p:ext uri="{BB962C8B-B14F-4D97-AF65-F5344CB8AC3E}">
        <p14:creationId xmlns:p14="http://schemas.microsoft.com/office/powerpoint/2010/main" val="2943222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9728" y="948170"/>
            <a:ext cx="10515600" cy="4351338"/>
          </a:xfrm>
        </p:spPr>
        <p:txBody>
          <a:bodyPr>
            <a:normAutofit/>
          </a:bodyPr>
          <a:lstStyle/>
          <a:p>
            <a:pPr marL="0" indent="0" algn="just">
              <a:buNone/>
            </a:pPr>
            <a:r>
              <a:rPr lang="en-US" sz="3200" b="1" dirty="0">
                <a:latin typeface="Times New Roman" panose="02020603050405020304" pitchFamily="18" charset="0"/>
                <a:cs typeface="Times New Roman" panose="02020603050405020304" pitchFamily="18" charset="0"/>
              </a:rPr>
              <a:t>To be an effective interviewer, you should bear two things in mind: </a:t>
            </a:r>
          </a:p>
          <a:p>
            <a:pPr marL="0" indent="0" algn="just">
              <a:buNone/>
            </a:pPr>
            <a:r>
              <a:rPr lang="en-US" dirty="0">
                <a:latin typeface="Times New Roman" panose="02020603050405020304" pitchFamily="18" charset="0"/>
                <a:cs typeface="Times New Roman" panose="02020603050405020304" pitchFamily="18" charset="0"/>
              </a:rPr>
              <a:t>1. You should be open-minded, take useful ideas about the requirements, and willing to listen to stakeholders. If the stakeholder comes up with surprising requirements, then you should be willing to change your mind about the system. </a:t>
            </a:r>
          </a:p>
          <a:p>
            <a:pPr marL="0" indent="0" algn="just">
              <a:buNone/>
            </a:pPr>
            <a:r>
              <a:rPr lang="en-US" dirty="0">
                <a:latin typeface="Times New Roman" panose="02020603050405020304" pitchFamily="18" charset="0"/>
                <a:cs typeface="Times New Roman" panose="02020603050405020304" pitchFamily="18" charset="0"/>
              </a:rPr>
              <a:t>2. You should prompt the interviewee to get discussions going by using a springboard question or a requirements proposal, or by working together on a prototype system. Saying to people “tell me what you want” is unlikely to result in useful information. They find it much easier to talk in a defined context rather than in general terms.</a:t>
            </a:r>
          </a:p>
        </p:txBody>
      </p:sp>
      <p:sp>
        <p:nvSpPr>
          <p:cNvPr id="2" name="Slide Number Placeholder 1"/>
          <p:cNvSpPr>
            <a:spLocks noGrp="1"/>
          </p:cNvSpPr>
          <p:nvPr>
            <p:ph type="sldNum" sz="quarter" idx="12"/>
          </p:nvPr>
        </p:nvSpPr>
        <p:spPr/>
        <p:txBody>
          <a:bodyPr/>
          <a:lstStyle/>
          <a:p>
            <a:fld id="{F4FDABE4-2AF6-4D4C-8AE8-BBA493930CF4}" type="slidenum">
              <a:rPr lang="en-US" smtClean="0"/>
              <a:t>30</a:t>
            </a:fld>
            <a:endParaRPr lang="en-US"/>
          </a:p>
        </p:txBody>
      </p:sp>
    </p:spTree>
    <p:extLst>
      <p:ext uri="{BB962C8B-B14F-4D97-AF65-F5344CB8AC3E}">
        <p14:creationId xmlns:p14="http://schemas.microsoft.com/office/powerpoint/2010/main" val="968258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cases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They are a scenario based technique for requirements elicitation </a:t>
            </a:r>
          </a:p>
          <a:p>
            <a:pPr algn="just"/>
            <a:r>
              <a:rPr lang="en-US" dirty="0">
                <a:latin typeface="Times New Roman" panose="02020603050405020304" pitchFamily="18" charset="0"/>
                <a:cs typeface="Times New Roman" panose="02020603050405020304" pitchFamily="18" charset="0"/>
              </a:rPr>
              <a:t>Identifies the type of interaction between the system and its users and the actors involved </a:t>
            </a:r>
          </a:p>
          <a:p>
            <a:pPr algn="just"/>
            <a:r>
              <a:rPr lang="en-US" dirty="0">
                <a:latin typeface="Times New Roman" panose="02020603050405020304" pitchFamily="18" charset="0"/>
                <a:cs typeface="Times New Roman" panose="02020603050405020304" pitchFamily="18" charset="0"/>
              </a:rPr>
              <a:t>In use case, actor in the process is represented as stick figure, each of interaction is represented as a normal ellipse and system boundary is represented by rectangle box</a:t>
            </a:r>
          </a:p>
        </p:txBody>
      </p:sp>
      <p:sp>
        <p:nvSpPr>
          <p:cNvPr id="4" name="Slide Number Placeholder 3"/>
          <p:cNvSpPr>
            <a:spLocks noGrp="1"/>
          </p:cNvSpPr>
          <p:nvPr>
            <p:ph type="sldNum" sz="quarter" idx="12"/>
          </p:nvPr>
        </p:nvSpPr>
        <p:spPr/>
        <p:txBody>
          <a:bodyPr/>
          <a:lstStyle/>
          <a:p>
            <a:fld id="{F4FDABE4-2AF6-4D4C-8AE8-BBA493930CF4}" type="slidenum">
              <a:rPr lang="en-US" smtClean="0"/>
              <a:t>31</a:t>
            </a:fld>
            <a:endParaRPr lang="en-US"/>
          </a:p>
        </p:txBody>
      </p:sp>
    </p:spTree>
    <p:extLst>
      <p:ext uri="{BB962C8B-B14F-4D97-AF65-F5344CB8AC3E}">
        <p14:creationId xmlns:p14="http://schemas.microsoft.com/office/powerpoint/2010/main" val="1745861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Use case:</a:t>
            </a:r>
          </a:p>
        </p:txBody>
      </p:sp>
      <p:sp>
        <p:nvSpPr>
          <p:cNvPr id="4" name="Slide Number Placeholder 3"/>
          <p:cNvSpPr>
            <a:spLocks noGrp="1"/>
          </p:cNvSpPr>
          <p:nvPr>
            <p:ph type="sldNum" sz="quarter" idx="12"/>
          </p:nvPr>
        </p:nvSpPr>
        <p:spPr/>
        <p:txBody>
          <a:bodyPr/>
          <a:lstStyle/>
          <a:p>
            <a:fld id="{F4FDABE4-2AF6-4D4C-8AE8-BBA493930CF4}" type="slidenum">
              <a:rPr lang="en-US" smtClean="0"/>
              <a:t>32</a:t>
            </a:fld>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7996" y="1385455"/>
            <a:ext cx="6085531" cy="5417556"/>
          </a:xfrm>
        </p:spPr>
      </p:pic>
    </p:spTree>
    <p:extLst>
      <p:ext uri="{BB962C8B-B14F-4D97-AF65-F5344CB8AC3E}">
        <p14:creationId xmlns:p14="http://schemas.microsoft.com/office/powerpoint/2010/main" val="17472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Do feasibility study in your project work. And as we have learn about Requirement Elicitation Methods, one of the method is Use case diagram. So, draw Use case diagram of your project work’s system.</a:t>
            </a:r>
          </a:p>
        </p:txBody>
      </p:sp>
      <p:sp>
        <p:nvSpPr>
          <p:cNvPr id="4" name="Slide Number Placeholder 3"/>
          <p:cNvSpPr>
            <a:spLocks noGrp="1"/>
          </p:cNvSpPr>
          <p:nvPr>
            <p:ph type="sldNum" sz="quarter" idx="12"/>
          </p:nvPr>
        </p:nvSpPr>
        <p:spPr/>
        <p:txBody>
          <a:bodyPr/>
          <a:lstStyle/>
          <a:p>
            <a:fld id="{F4FDABE4-2AF6-4D4C-8AE8-BBA493930CF4}" type="slidenum">
              <a:rPr lang="en-US" smtClean="0"/>
              <a:t>33</a:t>
            </a:fld>
            <a:endParaRPr lang="en-US"/>
          </a:p>
        </p:txBody>
      </p:sp>
    </p:spTree>
    <p:extLst>
      <p:ext uri="{BB962C8B-B14F-4D97-AF65-F5344CB8AC3E}">
        <p14:creationId xmlns:p14="http://schemas.microsoft.com/office/powerpoint/2010/main" val="3934073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Ethnography</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It is an observational technique that can be used to understand social and organizational requirements. In this, an analyst immerses him or herself in the working environment where the system will be used and observes the day to day work and notes made of the actual tasks in which participants are involved and building up a picture of how work is done. </a:t>
            </a:r>
          </a:p>
          <a:p>
            <a:pPr algn="just"/>
            <a:r>
              <a:rPr lang="en-US" dirty="0">
                <a:latin typeface="Times New Roman" panose="02020603050405020304" pitchFamily="18" charset="0"/>
                <a:cs typeface="Times New Roman" panose="02020603050405020304" pitchFamily="18" charset="0"/>
              </a:rPr>
              <a:t>In system development, ethnography is particularly effective at discovering two types of requirements: </a:t>
            </a:r>
            <a:r>
              <a:rPr lang="en-US" b="1" dirty="0">
                <a:latin typeface="Times New Roman" panose="02020603050405020304" pitchFamily="18" charset="0"/>
                <a:cs typeface="Times New Roman" panose="02020603050405020304" pitchFamily="18" charset="0"/>
              </a:rPr>
              <a:t>the functions requested from customers and the functions observed from the ethnographic analyst</a:t>
            </a:r>
            <a:r>
              <a:rPr lang="en-US" dirty="0">
                <a:latin typeface="Times New Roman" panose="02020603050405020304" pitchFamily="18" charset="0"/>
                <a:cs typeface="Times New Roman" panose="02020603050405020304" pitchFamily="18" charset="0"/>
              </a:rPr>
              <a:t>. This help to predicts implicit system requirements that not defined by the organization.</a:t>
            </a:r>
          </a:p>
        </p:txBody>
      </p:sp>
      <p:sp>
        <p:nvSpPr>
          <p:cNvPr id="4" name="Slide Number Placeholder 3"/>
          <p:cNvSpPr>
            <a:spLocks noGrp="1"/>
          </p:cNvSpPr>
          <p:nvPr>
            <p:ph type="sldNum" sz="quarter" idx="12"/>
          </p:nvPr>
        </p:nvSpPr>
        <p:spPr/>
        <p:txBody>
          <a:bodyPr/>
          <a:lstStyle/>
          <a:p>
            <a:fld id="{F4FDABE4-2AF6-4D4C-8AE8-BBA493930CF4}" type="slidenum">
              <a:rPr lang="en-US" smtClean="0"/>
              <a:t>34</a:t>
            </a:fld>
            <a:endParaRPr lang="en-US"/>
          </a:p>
        </p:txBody>
      </p:sp>
    </p:spTree>
    <p:extLst>
      <p:ext uri="{BB962C8B-B14F-4D97-AF65-F5344CB8AC3E}">
        <p14:creationId xmlns:p14="http://schemas.microsoft.com/office/powerpoint/2010/main" val="501794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Stories and scenarios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People find it easier to relate to real-life examples than abstract descriptions. They are not good at telling you the system requirements. However, they may be able to describe how they handle particular situations or imagine things that they might do in a new way of working. Stories and scenarios are ways of capturing this kind of information. </a:t>
            </a:r>
          </a:p>
        </p:txBody>
      </p:sp>
      <p:sp>
        <p:nvSpPr>
          <p:cNvPr id="4" name="Slide Number Placeholder 3"/>
          <p:cNvSpPr>
            <a:spLocks noGrp="1"/>
          </p:cNvSpPr>
          <p:nvPr>
            <p:ph type="sldNum" sz="quarter" idx="12"/>
          </p:nvPr>
        </p:nvSpPr>
        <p:spPr/>
        <p:txBody>
          <a:bodyPr/>
          <a:lstStyle/>
          <a:p>
            <a:fld id="{F4FDABE4-2AF6-4D4C-8AE8-BBA493930CF4}" type="slidenum">
              <a:rPr lang="en-US" smtClean="0"/>
              <a:t>35</a:t>
            </a:fld>
            <a:endParaRPr lang="en-US"/>
          </a:p>
        </p:txBody>
      </p:sp>
    </p:spTree>
    <p:extLst>
      <p:ext uri="{BB962C8B-B14F-4D97-AF65-F5344CB8AC3E}">
        <p14:creationId xmlns:p14="http://schemas.microsoft.com/office/powerpoint/2010/main" val="3271143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3165"/>
          </a:xfrm>
        </p:spPr>
        <p:txBody>
          <a:bodyPr>
            <a:normAutofit fontScale="90000"/>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867475" y="1200727"/>
            <a:ext cx="9003725" cy="5520748"/>
          </a:xfrm>
          <a:prstGeom prst="rect">
            <a:avLst/>
          </a:prstGeom>
        </p:spPr>
      </p:pic>
      <p:sp>
        <p:nvSpPr>
          <p:cNvPr id="5" name="Slide Number Placeholder 4"/>
          <p:cNvSpPr>
            <a:spLocks noGrp="1"/>
          </p:cNvSpPr>
          <p:nvPr>
            <p:ph type="sldNum" sz="quarter" idx="12"/>
          </p:nvPr>
        </p:nvSpPr>
        <p:spPr/>
        <p:txBody>
          <a:bodyPr/>
          <a:lstStyle/>
          <a:p>
            <a:fld id="{F4FDABE4-2AF6-4D4C-8AE8-BBA493930CF4}" type="slidenum">
              <a:rPr lang="en-US" smtClean="0"/>
              <a:t>36</a:t>
            </a:fld>
            <a:endParaRPr lang="en-US"/>
          </a:p>
        </p:txBody>
      </p:sp>
    </p:spTree>
    <p:extLst>
      <p:ext uri="{BB962C8B-B14F-4D97-AF65-F5344CB8AC3E}">
        <p14:creationId xmlns:p14="http://schemas.microsoft.com/office/powerpoint/2010/main" val="38338170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A scenario may include:</a:t>
            </a:r>
          </a:p>
          <a:p>
            <a:pPr marL="0" indent="0">
              <a:buNone/>
            </a:pPr>
            <a:r>
              <a:rPr lang="en-US" dirty="0">
                <a:latin typeface="Times New Roman" panose="02020603050405020304" pitchFamily="18" charset="0"/>
                <a:cs typeface="Times New Roman" panose="02020603050405020304" pitchFamily="18" charset="0"/>
              </a:rPr>
              <a:t> 1. A description of what the system and users expect when the scenario starts. </a:t>
            </a:r>
          </a:p>
          <a:p>
            <a:pPr marL="0" indent="0">
              <a:buNone/>
            </a:pPr>
            <a:r>
              <a:rPr lang="en-US" dirty="0">
                <a:latin typeface="Times New Roman" panose="02020603050405020304" pitchFamily="18" charset="0"/>
                <a:cs typeface="Times New Roman" panose="02020603050405020304" pitchFamily="18" charset="0"/>
              </a:rPr>
              <a:t>2. A description of the normal flow of events in the scenario.</a:t>
            </a:r>
          </a:p>
          <a:p>
            <a:pPr marL="0" indent="0">
              <a:buNone/>
            </a:pPr>
            <a:r>
              <a:rPr lang="en-US" dirty="0">
                <a:latin typeface="Times New Roman" panose="02020603050405020304" pitchFamily="18" charset="0"/>
                <a:cs typeface="Times New Roman" panose="02020603050405020304" pitchFamily="18" charset="0"/>
              </a:rPr>
              <a:t>3. A description of what can go wrong and how resulting problems can be handled.</a:t>
            </a:r>
          </a:p>
          <a:p>
            <a:pPr marL="0" indent="0">
              <a:buNone/>
            </a:pPr>
            <a:r>
              <a:rPr lang="en-US" dirty="0">
                <a:latin typeface="Times New Roman" panose="02020603050405020304" pitchFamily="18" charset="0"/>
                <a:cs typeface="Times New Roman" panose="02020603050405020304" pitchFamily="18" charset="0"/>
              </a:rPr>
              <a:t>4. Information about other activities that might be going on at the same time. </a:t>
            </a:r>
          </a:p>
          <a:p>
            <a:pPr marL="0" indent="0">
              <a:buNone/>
            </a:pPr>
            <a:r>
              <a:rPr lang="en-US" dirty="0">
                <a:latin typeface="Times New Roman" panose="02020603050405020304" pitchFamily="18" charset="0"/>
                <a:cs typeface="Times New Roman" panose="02020603050405020304" pitchFamily="18" charset="0"/>
              </a:rPr>
              <a:t>5. A description of the system state when the scenario ends.</a:t>
            </a:r>
          </a:p>
        </p:txBody>
      </p:sp>
      <p:sp>
        <p:nvSpPr>
          <p:cNvPr id="4" name="Slide Number Placeholder 3"/>
          <p:cNvSpPr>
            <a:spLocks noGrp="1"/>
          </p:cNvSpPr>
          <p:nvPr>
            <p:ph type="sldNum" sz="quarter" idx="12"/>
          </p:nvPr>
        </p:nvSpPr>
        <p:spPr/>
        <p:txBody>
          <a:bodyPr/>
          <a:lstStyle/>
          <a:p>
            <a:fld id="{F4FDABE4-2AF6-4D4C-8AE8-BBA493930CF4}" type="slidenum">
              <a:rPr lang="en-US" smtClean="0"/>
              <a:t>37</a:t>
            </a:fld>
            <a:endParaRPr lang="en-US"/>
          </a:p>
        </p:txBody>
      </p:sp>
    </p:spTree>
    <p:extLst>
      <p:ext uri="{BB962C8B-B14F-4D97-AF65-F5344CB8AC3E}">
        <p14:creationId xmlns:p14="http://schemas.microsoft.com/office/powerpoint/2010/main" val="2044165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754909" y="1521402"/>
            <a:ext cx="8848435" cy="5200073"/>
          </a:xfrm>
          <a:prstGeom prst="rect">
            <a:avLst/>
          </a:prstGeom>
        </p:spPr>
      </p:pic>
      <p:sp>
        <p:nvSpPr>
          <p:cNvPr id="5" name="Slide Number Placeholder 4"/>
          <p:cNvSpPr>
            <a:spLocks noGrp="1"/>
          </p:cNvSpPr>
          <p:nvPr>
            <p:ph type="sldNum" sz="quarter" idx="12"/>
          </p:nvPr>
        </p:nvSpPr>
        <p:spPr/>
        <p:txBody>
          <a:bodyPr/>
          <a:lstStyle/>
          <a:p>
            <a:fld id="{F4FDABE4-2AF6-4D4C-8AE8-BBA493930CF4}" type="slidenum">
              <a:rPr lang="en-US" smtClean="0"/>
              <a:t>38</a:t>
            </a:fld>
            <a:endParaRPr lang="en-US"/>
          </a:p>
        </p:txBody>
      </p:sp>
    </p:spTree>
    <p:extLst>
      <p:ext uri="{BB962C8B-B14F-4D97-AF65-F5344CB8AC3E}">
        <p14:creationId xmlns:p14="http://schemas.microsoft.com/office/powerpoint/2010/main" val="1819347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Viewpoints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It is a way of collecting and organizing a set of requirements from a group of stakeholders who have something in common. Each viewpoint therefore includes a set of system requirements. Viewpoints might come from end-users, managers or others.</a:t>
            </a:r>
          </a:p>
          <a:p>
            <a:pPr marL="0" indent="0" algn="just">
              <a:buNone/>
            </a:pPr>
            <a:r>
              <a:rPr lang="en-US" dirty="0">
                <a:latin typeface="Times New Roman" panose="02020603050405020304" pitchFamily="18" charset="0"/>
                <a:cs typeface="Times New Roman" panose="02020603050405020304" pitchFamily="18" charset="0"/>
              </a:rPr>
              <a:t> There are two generic types of viewpoints: -</a:t>
            </a:r>
          </a:p>
          <a:p>
            <a:pPr algn="just"/>
            <a:r>
              <a:rPr lang="en-US" dirty="0">
                <a:latin typeface="Times New Roman" panose="02020603050405020304" pitchFamily="18" charset="0"/>
                <a:cs typeface="Times New Roman" panose="02020603050405020304" pitchFamily="18" charset="0"/>
              </a:rPr>
              <a:t> Interactor Viewpoints </a:t>
            </a:r>
          </a:p>
          <a:p>
            <a:pPr marL="0" indent="0" algn="just">
              <a:buNone/>
            </a:pPr>
            <a:r>
              <a:rPr lang="en-US" dirty="0">
                <a:latin typeface="Times New Roman" panose="02020603050405020304" pitchFamily="18" charset="0"/>
                <a:cs typeface="Times New Roman" panose="02020603050405020304" pitchFamily="18" charset="0"/>
              </a:rPr>
              <a:t>It represents people of other systems that interact directly with the system. Example: In the bank ATM system, bank’s customer and bank’s account database act as this type.</a:t>
            </a:r>
          </a:p>
        </p:txBody>
      </p:sp>
      <p:sp>
        <p:nvSpPr>
          <p:cNvPr id="4" name="Slide Number Placeholder 3"/>
          <p:cNvSpPr>
            <a:spLocks noGrp="1"/>
          </p:cNvSpPr>
          <p:nvPr>
            <p:ph type="sldNum" sz="quarter" idx="12"/>
          </p:nvPr>
        </p:nvSpPr>
        <p:spPr/>
        <p:txBody>
          <a:bodyPr/>
          <a:lstStyle/>
          <a:p>
            <a:fld id="{F4FDABE4-2AF6-4D4C-8AE8-BBA493930CF4}" type="slidenum">
              <a:rPr lang="en-US" smtClean="0"/>
              <a:t>39</a:t>
            </a:fld>
            <a:endParaRPr lang="en-US"/>
          </a:p>
        </p:txBody>
      </p:sp>
    </p:spTree>
    <p:extLst>
      <p:ext uri="{BB962C8B-B14F-4D97-AF65-F5344CB8AC3E}">
        <p14:creationId xmlns:p14="http://schemas.microsoft.com/office/powerpoint/2010/main" val="38480295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6643"/>
            <a:ext cx="10515600" cy="4351338"/>
          </a:xfrm>
        </p:spPr>
        <p:txBody>
          <a:bodyPr/>
          <a:lstStyle/>
          <a:p>
            <a:r>
              <a:rPr lang="en-US" dirty="0">
                <a:latin typeface="Times New Roman" panose="02020603050405020304" pitchFamily="18" charset="0"/>
                <a:cs typeface="Times New Roman" panose="02020603050405020304" pitchFamily="18" charset="0"/>
              </a:rPr>
              <a:t>Indirect Viewpoints </a:t>
            </a:r>
          </a:p>
          <a:p>
            <a:pPr marL="0" indent="0">
              <a:buNone/>
            </a:pPr>
            <a:r>
              <a:rPr lang="en-US" dirty="0">
                <a:latin typeface="Times New Roman" panose="02020603050405020304" pitchFamily="18" charset="0"/>
                <a:cs typeface="Times New Roman" panose="02020603050405020304" pitchFamily="18" charset="0"/>
              </a:rPr>
              <a:t>It represents stakeholders who do not use the system themselves but who influence the requirement in some way. Example: In ATM system, management of bank and bank security staff falls under this category.</a:t>
            </a:r>
          </a:p>
        </p:txBody>
      </p:sp>
      <p:sp>
        <p:nvSpPr>
          <p:cNvPr id="4" name="Slide Number Placeholder 3"/>
          <p:cNvSpPr>
            <a:spLocks noGrp="1"/>
          </p:cNvSpPr>
          <p:nvPr>
            <p:ph type="sldNum" sz="quarter" idx="12"/>
          </p:nvPr>
        </p:nvSpPr>
        <p:spPr/>
        <p:txBody>
          <a:bodyPr/>
          <a:lstStyle/>
          <a:p>
            <a:fld id="{F4FDABE4-2AF6-4D4C-8AE8-BBA493930CF4}" type="slidenum">
              <a:rPr lang="en-US" smtClean="0"/>
              <a:t>40</a:t>
            </a:fld>
            <a:endParaRPr lang="en-US"/>
          </a:p>
        </p:txBody>
      </p:sp>
    </p:spTree>
    <p:extLst>
      <p:ext uri="{BB962C8B-B14F-4D97-AF65-F5344CB8AC3E}">
        <p14:creationId xmlns:p14="http://schemas.microsoft.com/office/powerpoint/2010/main" val="880811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Requirements Specification</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It is the process of writing down the user and system requirements in a requirements document</a:t>
            </a:r>
          </a:p>
          <a:p>
            <a:pPr algn="just"/>
            <a:r>
              <a:rPr lang="en-US" dirty="0">
                <a:latin typeface="Times New Roman" panose="02020603050405020304" pitchFamily="18" charset="0"/>
                <a:cs typeface="Times New Roman" panose="02020603050405020304" pitchFamily="18" charset="0"/>
              </a:rPr>
              <a:t> Ideally, the user and system requirements should be clear, unambiguous, easy to understand, complete, and consistent but in practice this is hard to achieve.</a:t>
            </a:r>
          </a:p>
          <a:p>
            <a:pPr marL="0" indent="0" algn="just">
              <a:buNone/>
            </a:pPr>
            <a:r>
              <a:rPr lang="en-US" dirty="0">
                <a:latin typeface="Times New Roman" panose="02020603050405020304" pitchFamily="18" charset="0"/>
                <a:cs typeface="Times New Roman" panose="02020603050405020304" pitchFamily="18" charset="0"/>
              </a:rPr>
              <a:t>Users of the SRS: </a:t>
            </a:r>
          </a:p>
          <a:p>
            <a:pPr marL="0" indent="0" algn="just">
              <a:buNone/>
            </a:pPr>
            <a:r>
              <a:rPr lang="en-US" dirty="0">
                <a:latin typeface="Times New Roman" panose="02020603050405020304" pitchFamily="18" charset="0"/>
                <a:cs typeface="Times New Roman" panose="02020603050405020304" pitchFamily="18" charset="0"/>
              </a:rPr>
              <a:t>• Development Team </a:t>
            </a:r>
          </a:p>
          <a:p>
            <a:pPr marL="0" indent="0" algn="just">
              <a:buNone/>
            </a:pPr>
            <a:r>
              <a:rPr lang="en-US" dirty="0">
                <a:latin typeface="Times New Roman" panose="02020603050405020304" pitchFamily="18" charset="0"/>
                <a:cs typeface="Times New Roman" panose="02020603050405020304" pitchFamily="18" charset="0"/>
              </a:rPr>
              <a:t>• Maintenance Team </a:t>
            </a:r>
          </a:p>
          <a:p>
            <a:pPr marL="0" indent="0" algn="just">
              <a:buNone/>
            </a:pPr>
            <a:r>
              <a:rPr lang="en-US" dirty="0">
                <a:latin typeface="Times New Roman" panose="02020603050405020304" pitchFamily="18" charset="0"/>
                <a:cs typeface="Times New Roman" panose="02020603050405020304" pitchFamily="18" charset="0"/>
              </a:rPr>
              <a:t>• Clients </a:t>
            </a:r>
          </a:p>
          <a:p>
            <a:pPr marL="0" indent="0" algn="just">
              <a:buNone/>
            </a:pPr>
            <a:r>
              <a:rPr lang="en-US" dirty="0">
                <a:latin typeface="Times New Roman" panose="02020603050405020304" pitchFamily="18" charset="0"/>
                <a:cs typeface="Times New Roman" panose="02020603050405020304" pitchFamily="18" charset="0"/>
              </a:rPr>
              <a:t>• Technical writers</a:t>
            </a:r>
          </a:p>
        </p:txBody>
      </p:sp>
      <p:sp>
        <p:nvSpPr>
          <p:cNvPr id="4" name="Slide Number Placeholder 3"/>
          <p:cNvSpPr>
            <a:spLocks noGrp="1"/>
          </p:cNvSpPr>
          <p:nvPr>
            <p:ph type="sldNum" sz="quarter" idx="12"/>
          </p:nvPr>
        </p:nvSpPr>
        <p:spPr/>
        <p:txBody>
          <a:bodyPr/>
          <a:lstStyle/>
          <a:p>
            <a:fld id="{F4FDABE4-2AF6-4D4C-8AE8-BBA493930CF4}" type="slidenum">
              <a:rPr lang="en-US" smtClean="0"/>
              <a:t>41</a:t>
            </a:fld>
            <a:endParaRPr lang="en-US"/>
          </a:p>
        </p:txBody>
      </p:sp>
    </p:spTree>
    <p:extLst>
      <p:ext uri="{BB962C8B-B14F-4D97-AF65-F5344CB8AC3E}">
        <p14:creationId xmlns:p14="http://schemas.microsoft.com/office/powerpoint/2010/main" val="592134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 of the SRS </a:t>
            </a:r>
          </a:p>
        </p:txBody>
      </p:sp>
      <p:sp>
        <p:nvSpPr>
          <p:cNvPr id="3" name="Content Placeholder 2"/>
          <p:cNvSpPr>
            <a:spLocks noGrp="1"/>
          </p:cNvSpPr>
          <p:nvPr>
            <p:ph idx="1"/>
          </p:nvPr>
        </p:nvSpPr>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Category</a:t>
            </a:r>
            <a:r>
              <a:rPr lang="en-US" dirty="0">
                <a:latin typeface="Times New Roman" panose="02020603050405020304" pitchFamily="18" charset="0"/>
                <a:cs typeface="Times New Roman" panose="02020603050405020304" pitchFamily="18" charset="0"/>
              </a:rPr>
              <a:t>: What kind of your software is e.g.: Desktop application, Web application, Android app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Describe what is the purpose of making this system (as nothing is without any reason)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Scope</a:t>
            </a:r>
            <a:r>
              <a:rPr lang="en-US" dirty="0">
                <a:latin typeface="Times New Roman" panose="02020603050405020304" pitchFamily="18" charset="0"/>
                <a:cs typeface="Times New Roman" panose="02020603050405020304" pitchFamily="18" charset="0"/>
              </a:rPr>
              <a:t>: What is the area it covering, what is its range, to what limits it will help you. </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Introduction</a:t>
            </a:r>
            <a:r>
              <a:rPr lang="en-US" dirty="0">
                <a:latin typeface="Times New Roman" panose="02020603050405020304" pitchFamily="18" charset="0"/>
                <a:cs typeface="Times New Roman" panose="02020603050405020304" pitchFamily="18" charset="0"/>
              </a:rPr>
              <a:t>: Define the existing system and Proposed system. (In the perspective how the proposed one is better than existing. )</a:t>
            </a:r>
          </a:p>
        </p:txBody>
      </p:sp>
      <p:sp>
        <p:nvSpPr>
          <p:cNvPr id="4" name="Slide Number Placeholder 3"/>
          <p:cNvSpPr>
            <a:spLocks noGrp="1"/>
          </p:cNvSpPr>
          <p:nvPr>
            <p:ph type="sldNum" sz="quarter" idx="12"/>
          </p:nvPr>
        </p:nvSpPr>
        <p:spPr/>
        <p:txBody>
          <a:bodyPr/>
          <a:lstStyle/>
          <a:p>
            <a:fld id="{F4FDABE4-2AF6-4D4C-8AE8-BBA493930CF4}" type="slidenum">
              <a:rPr lang="en-US" smtClean="0"/>
              <a:t>42</a:t>
            </a:fld>
            <a:endParaRPr lang="en-US"/>
          </a:p>
        </p:txBody>
      </p:sp>
    </p:spTree>
    <p:extLst>
      <p:ext uri="{BB962C8B-B14F-4D97-AF65-F5344CB8AC3E}">
        <p14:creationId xmlns:p14="http://schemas.microsoft.com/office/powerpoint/2010/main" val="2453644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2825"/>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5. </a:t>
            </a:r>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Define the advantages of the system. (In every perspective). </a:t>
            </a:r>
          </a:p>
          <a:p>
            <a:pPr marL="0" indent="0">
              <a:buNone/>
            </a:pPr>
            <a:r>
              <a:rPr lang="en-US" dirty="0">
                <a:latin typeface="Times New Roman" panose="02020603050405020304" pitchFamily="18" charset="0"/>
                <a:cs typeface="Times New Roman" panose="02020603050405020304" pitchFamily="18" charset="0"/>
              </a:rPr>
              <a:t>6. </a:t>
            </a:r>
            <a:r>
              <a:rPr lang="en-US" b="1" dirty="0">
                <a:latin typeface="Times New Roman" panose="02020603050405020304" pitchFamily="18" charset="0"/>
                <a:cs typeface="Times New Roman" panose="02020603050405020304" pitchFamily="18" charset="0"/>
              </a:rPr>
              <a:t>Functional Requirements of the System </a:t>
            </a:r>
          </a:p>
          <a:p>
            <a:pPr marL="0" indent="0">
              <a:buNone/>
            </a:pPr>
            <a:r>
              <a:rPr lang="en-US" dirty="0">
                <a:latin typeface="Times New Roman" panose="02020603050405020304" pitchFamily="18" charset="0"/>
                <a:cs typeface="Times New Roman" panose="02020603050405020304" pitchFamily="18" charset="0"/>
              </a:rPr>
              <a:t>7. </a:t>
            </a:r>
            <a:r>
              <a:rPr lang="en-US" b="1" dirty="0">
                <a:latin typeface="Times New Roman" panose="02020603050405020304" pitchFamily="18" charset="0"/>
                <a:cs typeface="Times New Roman" panose="02020603050405020304" pitchFamily="18" charset="0"/>
              </a:rPr>
              <a:t>Non-Functional Requirements of the System</a:t>
            </a:r>
          </a:p>
          <a:p>
            <a:pPr marL="0" indent="0">
              <a:buNone/>
            </a:pPr>
            <a:r>
              <a:rPr lang="en-US" dirty="0">
                <a:latin typeface="Times New Roman" panose="02020603050405020304" pitchFamily="18" charset="0"/>
                <a:cs typeface="Times New Roman" panose="02020603050405020304" pitchFamily="18" charset="0"/>
              </a:rPr>
              <a:t>8. </a:t>
            </a:r>
            <a:r>
              <a:rPr lang="en-US" b="1" dirty="0">
                <a:latin typeface="Times New Roman" panose="02020603050405020304" pitchFamily="18" charset="0"/>
                <a:cs typeface="Times New Roman" panose="02020603050405020304" pitchFamily="18" charset="0"/>
              </a:rPr>
              <a:t>Software Tools:</a:t>
            </a:r>
            <a:r>
              <a:rPr lang="en-US" dirty="0">
                <a:latin typeface="Times New Roman" panose="02020603050405020304" pitchFamily="18" charset="0"/>
                <a:cs typeface="Times New Roman" panose="02020603050405020304" pitchFamily="18" charset="0"/>
              </a:rPr>
              <a:t> Mention the software tools which will involve in all this development process. </a:t>
            </a:r>
          </a:p>
          <a:p>
            <a:pPr marL="0" indent="0">
              <a:buNone/>
            </a:pPr>
            <a:r>
              <a:rPr lang="en-US" dirty="0">
                <a:latin typeface="Times New Roman" panose="02020603050405020304" pitchFamily="18" charset="0"/>
                <a:cs typeface="Times New Roman" panose="02020603050405020304" pitchFamily="18" charset="0"/>
              </a:rPr>
              <a:t>9. </a:t>
            </a:r>
            <a:r>
              <a:rPr lang="en-US" b="1" dirty="0">
                <a:latin typeface="Times New Roman" panose="02020603050405020304" pitchFamily="18" charset="0"/>
                <a:cs typeface="Times New Roman" panose="02020603050405020304" pitchFamily="18" charset="0"/>
              </a:rPr>
              <a:t>Deployment:</a:t>
            </a:r>
            <a:r>
              <a:rPr lang="en-US" dirty="0">
                <a:latin typeface="Times New Roman" panose="02020603050405020304" pitchFamily="18" charset="0"/>
                <a:cs typeface="Times New Roman" panose="02020603050405020304" pitchFamily="18" charset="0"/>
              </a:rPr>
              <a:t> What kind of Environment will be needed to deploy the Software. </a:t>
            </a:r>
          </a:p>
          <a:p>
            <a:pPr marL="0" indent="0">
              <a:buNone/>
            </a:pPr>
            <a:r>
              <a:rPr lang="en-US" dirty="0">
                <a:latin typeface="Times New Roman" panose="02020603050405020304" pitchFamily="18" charset="0"/>
                <a:cs typeface="Times New Roman" panose="02020603050405020304" pitchFamily="18" charset="0"/>
              </a:rPr>
              <a:t>E.g. OS, RAM, Processor and etc.</a:t>
            </a:r>
          </a:p>
          <a:p>
            <a:pPr marL="0" indent="0">
              <a:buNone/>
            </a:pPr>
            <a:r>
              <a:rPr lang="en-US"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Hardware Specifications:</a:t>
            </a:r>
            <a:r>
              <a:rPr lang="en-US" dirty="0">
                <a:latin typeface="Times New Roman" panose="02020603050405020304" pitchFamily="18" charset="0"/>
                <a:cs typeface="Times New Roman" panose="02020603050405020304" pitchFamily="18" charset="0"/>
              </a:rPr>
              <a:t> The hardware required to develop this system. </a:t>
            </a:r>
          </a:p>
          <a:p>
            <a:pPr marL="0" indent="0">
              <a:buNone/>
            </a:pPr>
            <a:r>
              <a:rPr lang="en-US" dirty="0">
                <a:latin typeface="Times New Roman" panose="02020603050405020304" pitchFamily="18" charset="0"/>
                <a:cs typeface="Times New Roman" panose="02020603050405020304" pitchFamily="18" charset="0"/>
              </a:rPr>
              <a:t>11. </a:t>
            </a:r>
            <a:r>
              <a:rPr lang="en-US" b="1" dirty="0">
                <a:latin typeface="Times New Roman" panose="02020603050405020304" pitchFamily="18" charset="0"/>
                <a:cs typeface="Times New Roman" panose="02020603050405020304" pitchFamily="18" charset="0"/>
              </a:rPr>
              <a:t>Gantt Chart:</a:t>
            </a:r>
            <a:r>
              <a:rPr lang="en-US" dirty="0">
                <a:latin typeface="Times New Roman" panose="02020603050405020304" pitchFamily="18" charset="0"/>
                <a:cs typeface="Times New Roman" panose="02020603050405020304" pitchFamily="18" charset="0"/>
              </a:rPr>
              <a:t> Chart use to show the schedule of project. </a:t>
            </a:r>
          </a:p>
        </p:txBody>
      </p:sp>
      <p:sp>
        <p:nvSpPr>
          <p:cNvPr id="4" name="Slide Number Placeholder 3"/>
          <p:cNvSpPr>
            <a:spLocks noGrp="1"/>
          </p:cNvSpPr>
          <p:nvPr>
            <p:ph type="sldNum" sz="quarter" idx="12"/>
          </p:nvPr>
        </p:nvSpPr>
        <p:spPr/>
        <p:txBody>
          <a:bodyPr/>
          <a:lstStyle/>
          <a:p>
            <a:fld id="{F4FDABE4-2AF6-4D4C-8AE8-BBA493930CF4}" type="slidenum">
              <a:rPr lang="en-US" smtClean="0"/>
              <a:t>43</a:t>
            </a:fld>
            <a:endParaRPr lang="en-US"/>
          </a:p>
        </p:txBody>
      </p:sp>
    </p:spTree>
    <p:extLst>
      <p:ext uri="{BB962C8B-B14F-4D97-AF65-F5344CB8AC3E}">
        <p14:creationId xmlns:p14="http://schemas.microsoft.com/office/powerpoint/2010/main" val="1749685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Users of requirements document </a:t>
            </a:r>
          </a:p>
        </p:txBody>
      </p:sp>
      <p:pic>
        <p:nvPicPr>
          <p:cNvPr id="5" name="Content Placeholder 4"/>
          <p:cNvPicPr>
            <a:picLocks noGrp="1" noChangeAspect="1"/>
          </p:cNvPicPr>
          <p:nvPr>
            <p:ph idx="1"/>
          </p:nvPr>
        </p:nvPicPr>
        <p:blipFill>
          <a:blip r:embed="rId2"/>
          <a:stretch>
            <a:fillRect/>
          </a:stretch>
        </p:blipFill>
        <p:spPr>
          <a:xfrm>
            <a:off x="2804398" y="1825625"/>
            <a:ext cx="7207820" cy="4695248"/>
          </a:xfrm>
          <a:prstGeom prst="rect">
            <a:avLst/>
          </a:prstGeom>
        </p:spPr>
      </p:pic>
      <p:sp>
        <p:nvSpPr>
          <p:cNvPr id="4" name="Slide Number Placeholder 3"/>
          <p:cNvSpPr>
            <a:spLocks noGrp="1"/>
          </p:cNvSpPr>
          <p:nvPr>
            <p:ph type="sldNum" sz="quarter" idx="12"/>
          </p:nvPr>
        </p:nvSpPr>
        <p:spPr/>
        <p:txBody>
          <a:bodyPr/>
          <a:lstStyle/>
          <a:p>
            <a:fld id="{F4FDABE4-2AF6-4D4C-8AE8-BBA493930CF4}" type="slidenum">
              <a:rPr lang="en-US" smtClean="0"/>
              <a:t>44</a:t>
            </a:fld>
            <a:endParaRPr lang="en-US"/>
          </a:p>
        </p:txBody>
      </p:sp>
    </p:spTree>
    <p:extLst>
      <p:ext uri="{BB962C8B-B14F-4D97-AF65-F5344CB8AC3E}">
        <p14:creationId xmlns:p14="http://schemas.microsoft.com/office/powerpoint/2010/main" val="1329195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Validation</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Process of checking that requirements define the system that the customer really wants </a:t>
            </a:r>
          </a:p>
          <a:p>
            <a:pPr algn="just"/>
            <a:r>
              <a:rPr lang="en-US" dirty="0">
                <a:latin typeface="Times New Roman" panose="02020603050405020304" pitchFamily="18" charset="0"/>
                <a:cs typeface="Times New Roman" panose="02020603050405020304" pitchFamily="18" charset="0"/>
              </a:rPr>
              <a:t>It overlaps with elicitation and analysis, as it is concerned with finding problems with the requirements </a:t>
            </a:r>
          </a:p>
          <a:p>
            <a:pPr algn="just"/>
            <a:r>
              <a:rPr lang="en-US" dirty="0">
                <a:latin typeface="Times New Roman" panose="02020603050405020304" pitchFamily="18" charset="0"/>
                <a:cs typeface="Times New Roman" panose="02020603050405020304" pitchFamily="18" charset="0"/>
              </a:rPr>
              <a:t>It is critically important because errors in a requirements document can lead to extensive rework costs </a:t>
            </a:r>
          </a:p>
          <a:p>
            <a:pPr marL="0" indent="0" algn="just">
              <a:buNone/>
            </a:pPr>
            <a:r>
              <a:rPr lang="en-US" dirty="0">
                <a:latin typeface="Times New Roman" panose="02020603050405020304" pitchFamily="18" charset="0"/>
                <a:cs typeface="Times New Roman" panose="02020603050405020304" pitchFamily="18" charset="0"/>
              </a:rPr>
              <a:t>It checks requirement document for:</a:t>
            </a:r>
          </a:p>
          <a:p>
            <a:pPr algn="just"/>
            <a:r>
              <a:rPr lang="en-US" dirty="0">
                <a:latin typeface="Times New Roman" panose="02020603050405020304" pitchFamily="18" charset="0"/>
                <a:cs typeface="Times New Roman" panose="02020603050405020304" pitchFamily="18" charset="0"/>
              </a:rPr>
              <a:t>Completeness and Consistency</a:t>
            </a:r>
          </a:p>
          <a:p>
            <a:pPr algn="just"/>
            <a:r>
              <a:rPr lang="en-US" dirty="0">
                <a:latin typeface="Times New Roman" panose="02020603050405020304" pitchFamily="18" charset="0"/>
                <a:cs typeface="Times New Roman" panose="02020603050405020304" pitchFamily="18" charset="0"/>
              </a:rPr>
              <a:t>Requirement conflicts</a:t>
            </a:r>
          </a:p>
          <a:p>
            <a:pPr algn="just"/>
            <a:r>
              <a:rPr lang="en-US" dirty="0">
                <a:latin typeface="Times New Roman" panose="02020603050405020304" pitchFamily="18" charset="0"/>
                <a:cs typeface="Times New Roman" panose="02020603050405020304" pitchFamily="18" charset="0"/>
              </a:rPr>
              <a:t>Technical errors</a:t>
            </a:r>
          </a:p>
        </p:txBody>
      </p:sp>
      <p:sp>
        <p:nvSpPr>
          <p:cNvPr id="4" name="Slide Number Placeholder 3"/>
          <p:cNvSpPr>
            <a:spLocks noGrp="1"/>
          </p:cNvSpPr>
          <p:nvPr>
            <p:ph type="sldNum" sz="quarter" idx="12"/>
          </p:nvPr>
        </p:nvSpPr>
        <p:spPr/>
        <p:txBody>
          <a:bodyPr/>
          <a:lstStyle/>
          <a:p>
            <a:fld id="{F4FDABE4-2AF6-4D4C-8AE8-BBA493930CF4}" type="slidenum">
              <a:rPr lang="en-US" smtClean="0"/>
              <a:t>45</a:t>
            </a:fld>
            <a:endParaRPr lang="en-US"/>
          </a:p>
        </p:txBody>
      </p:sp>
    </p:spTree>
    <p:extLst>
      <p:ext uri="{BB962C8B-B14F-4D97-AF65-F5344CB8AC3E}">
        <p14:creationId xmlns:p14="http://schemas.microsoft.com/office/powerpoint/2010/main" val="2061573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462085" y="974447"/>
            <a:ext cx="7783011" cy="3867690"/>
          </a:xfrm>
          <a:prstGeom prst="rect">
            <a:avLst/>
          </a:prstGeom>
        </p:spPr>
      </p:pic>
      <p:sp>
        <p:nvSpPr>
          <p:cNvPr id="4" name="Slide Number Placeholder 3"/>
          <p:cNvSpPr>
            <a:spLocks noGrp="1"/>
          </p:cNvSpPr>
          <p:nvPr>
            <p:ph type="sldNum" sz="quarter" idx="12"/>
          </p:nvPr>
        </p:nvSpPr>
        <p:spPr/>
        <p:txBody>
          <a:bodyPr/>
          <a:lstStyle/>
          <a:p>
            <a:fld id="{F4FDABE4-2AF6-4D4C-8AE8-BBA493930CF4}" type="slidenum">
              <a:rPr lang="en-US" smtClean="0"/>
              <a:t>46</a:t>
            </a:fld>
            <a:endParaRPr lang="en-US"/>
          </a:p>
        </p:txBody>
      </p:sp>
    </p:spTree>
    <p:extLst>
      <p:ext uri="{BB962C8B-B14F-4D97-AF65-F5344CB8AC3E}">
        <p14:creationId xmlns:p14="http://schemas.microsoft.com/office/powerpoint/2010/main" val="2303219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Validation techniques</a:t>
            </a: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1. Requirements reviews </a:t>
            </a:r>
          </a:p>
          <a:p>
            <a:pPr marL="0" indent="0" algn="just">
              <a:buNone/>
            </a:pPr>
            <a:r>
              <a:rPr lang="en-US" dirty="0">
                <a:latin typeface="Times New Roman" panose="02020603050405020304" pitchFamily="18" charset="0"/>
                <a:cs typeface="Times New Roman" panose="02020603050405020304" pitchFamily="18" charset="0"/>
              </a:rPr>
              <a:t>Requirements are analyzed systematically by a team of reviewers from the system customer and the system developer and check for errors, anomalies, and inconsistencies</a:t>
            </a:r>
          </a:p>
          <a:p>
            <a:pPr marL="0" indent="0" algn="just">
              <a:buNone/>
            </a:pPr>
            <a:r>
              <a:rPr lang="en-US" dirty="0">
                <a:latin typeface="Times New Roman" panose="02020603050405020304" pitchFamily="18" charset="0"/>
                <a:cs typeface="Times New Roman" panose="02020603050405020304" pitchFamily="18" charset="0"/>
              </a:rPr>
              <a:t>2. Prototyping</a:t>
            </a:r>
          </a:p>
          <a:p>
            <a:pPr marL="0" indent="0" algn="just">
              <a:buNone/>
            </a:pPr>
            <a:r>
              <a:rPr lang="en-US" dirty="0">
                <a:latin typeface="Times New Roman" panose="02020603050405020304" pitchFamily="18" charset="0"/>
                <a:cs typeface="Times New Roman" panose="02020603050405020304" pitchFamily="18" charset="0"/>
              </a:rPr>
              <a:t> This involves developing an executable model of the system and using this with end-users and customers to see if it meets their needs expectation </a:t>
            </a:r>
          </a:p>
          <a:p>
            <a:pPr marL="0" indent="0" algn="just">
              <a:buNone/>
            </a:pPr>
            <a:r>
              <a:rPr lang="en-US" dirty="0">
                <a:latin typeface="Times New Roman" panose="02020603050405020304" pitchFamily="18" charset="0"/>
                <a:cs typeface="Times New Roman" panose="02020603050405020304" pitchFamily="18" charset="0"/>
              </a:rPr>
              <a:t>3. Test-case generation</a:t>
            </a:r>
          </a:p>
          <a:p>
            <a:pPr marL="0" indent="0" algn="just">
              <a:buNone/>
            </a:pPr>
            <a:r>
              <a:rPr lang="en-US" dirty="0">
                <a:latin typeface="Times New Roman" panose="02020603050405020304" pitchFamily="18" charset="0"/>
                <a:cs typeface="Times New Roman" panose="02020603050405020304" pitchFamily="18" charset="0"/>
              </a:rPr>
              <a:t> Requirement mentioned in SRS document should be testable, the conducted tests reveal the error present in the requirement. It is generally believed that if the test is difficult or impossible to design than, this usually means that requirement will be difficult to implement and it should be reconsidered.</a:t>
            </a:r>
          </a:p>
        </p:txBody>
      </p:sp>
      <p:sp>
        <p:nvSpPr>
          <p:cNvPr id="4" name="Slide Number Placeholder 3"/>
          <p:cNvSpPr>
            <a:spLocks noGrp="1"/>
          </p:cNvSpPr>
          <p:nvPr>
            <p:ph type="sldNum" sz="quarter" idx="12"/>
          </p:nvPr>
        </p:nvSpPr>
        <p:spPr/>
        <p:txBody>
          <a:bodyPr/>
          <a:lstStyle/>
          <a:p>
            <a:fld id="{F4FDABE4-2AF6-4D4C-8AE8-BBA493930CF4}" type="slidenum">
              <a:rPr lang="en-US" smtClean="0"/>
              <a:t>47</a:t>
            </a:fld>
            <a:endParaRPr lang="en-US"/>
          </a:p>
        </p:txBody>
      </p:sp>
    </p:spTree>
    <p:extLst>
      <p:ext uri="{BB962C8B-B14F-4D97-AF65-F5344CB8AC3E}">
        <p14:creationId xmlns:p14="http://schemas.microsoft.com/office/powerpoint/2010/main" val="166091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2E28-F819-BCAC-5930-5023B7A2A33F}"/>
              </a:ext>
            </a:extLst>
          </p:cNvPr>
          <p:cNvSpPr>
            <a:spLocks noGrp="1"/>
          </p:cNvSpPr>
          <p:nvPr>
            <p:ph type="title"/>
          </p:nvPr>
        </p:nvSpPr>
        <p:spPr/>
        <p:txBody>
          <a:bodyPr/>
          <a:lstStyle/>
          <a:p>
            <a:r>
              <a:rPr lang="en-US" b="1" dirty="0"/>
              <a:t>Requirement Change</a:t>
            </a:r>
          </a:p>
        </p:txBody>
      </p:sp>
      <p:sp>
        <p:nvSpPr>
          <p:cNvPr id="3" name="Content Placeholder 2">
            <a:extLst>
              <a:ext uri="{FF2B5EF4-FFF2-40B4-BE49-F238E27FC236}">
                <a16:creationId xmlns:a16="http://schemas.microsoft.com/office/drawing/2014/main" id="{4BAA1CA9-6DA4-8397-2CAA-1A89FBFA4025}"/>
              </a:ext>
            </a:extLst>
          </p:cNvPr>
          <p:cNvSpPr>
            <a:spLocks noGrp="1"/>
          </p:cNvSpPr>
          <p:nvPr>
            <p:ph idx="1"/>
          </p:nvPr>
        </p:nvSpPr>
        <p:spPr/>
        <p:txBody>
          <a:bodyPr>
            <a:norm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A requirement change refers to any modification, addition, or deletion of a requirement in a project or system development. Requirements are specifications that define what a system or product is expected to achieve and how it should function. Changes to these requirements can occur for various reasons throughout the project lifecycle. Some common reasons for requirement changes include:</a:t>
            </a:r>
          </a:p>
          <a:p>
            <a:pPr algn="l">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Clarification:</a:t>
            </a:r>
            <a:r>
              <a:rPr lang="en-US" b="0" i="0" dirty="0">
                <a:solidFill>
                  <a:srgbClr val="0D0D0D"/>
                </a:solidFill>
                <a:effectLst/>
                <a:latin typeface="Times New Roman" panose="02020603050405020304" pitchFamily="18" charset="0"/>
                <a:cs typeface="Times New Roman" panose="02020603050405020304" pitchFamily="18" charset="0"/>
              </a:rPr>
              <a:t> Stakeholders may gain a clearer understanding of their needs or the project scope over time, leading to the need for changes to existing requirements.</a:t>
            </a:r>
          </a:p>
          <a:p>
            <a:pPr algn="l">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Emergent Requirements:</a:t>
            </a:r>
            <a:r>
              <a:rPr lang="en-US" b="0" i="0" dirty="0">
                <a:solidFill>
                  <a:srgbClr val="0D0D0D"/>
                </a:solidFill>
                <a:effectLst/>
                <a:latin typeface="Times New Roman" panose="02020603050405020304" pitchFamily="18" charset="0"/>
                <a:cs typeface="Times New Roman" panose="02020603050405020304" pitchFamily="18" charset="0"/>
              </a:rPr>
              <a:t> New requirements may emerge as the project progresses, either due to technological advancements, changes in the business environment, or other unforeseen factors.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ACE80B5-08C3-18E0-849D-A5DF109F2A26}"/>
              </a:ext>
            </a:extLst>
          </p:cNvPr>
          <p:cNvSpPr>
            <a:spLocks noGrp="1"/>
          </p:cNvSpPr>
          <p:nvPr>
            <p:ph type="sldNum" sz="quarter" idx="12"/>
          </p:nvPr>
        </p:nvSpPr>
        <p:spPr/>
        <p:txBody>
          <a:bodyPr/>
          <a:lstStyle/>
          <a:p>
            <a:fld id="{F4FDABE4-2AF6-4D4C-8AE8-BBA493930CF4}" type="slidenum">
              <a:rPr lang="en-US" smtClean="0"/>
              <a:t>48</a:t>
            </a:fld>
            <a:endParaRPr lang="en-US"/>
          </a:p>
        </p:txBody>
      </p:sp>
    </p:spTree>
    <p:extLst>
      <p:ext uri="{BB962C8B-B14F-4D97-AF65-F5344CB8AC3E}">
        <p14:creationId xmlns:p14="http://schemas.microsoft.com/office/powerpoint/2010/main" val="1242025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37D8-2B69-14E9-B0F5-94647501CFC2}"/>
              </a:ext>
            </a:extLst>
          </p:cNvPr>
          <p:cNvSpPr>
            <a:spLocks noGrp="1"/>
          </p:cNvSpPr>
          <p:nvPr>
            <p:ph type="title"/>
          </p:nvPr>
        </p:nvSpPr>
        <p:spPr/>
        <p:txBody>
          <a:bodyPr/>
          <a:lstStyle/>
          <a:p>
            <a:r>
              <a:rPr lang="en-US" b="1" dirty="0"/>
              <a:t>Requirement Change</a:t>
            </a:r>
            <a:endParaRPr lang="en-US" dirty="0"/>
          </a:p>
        </p:txBody>
      </p:sp>
      <p:sp>
        <p:nvSpPr>
          <p:cNvPr id="3" name="Content Placeholder 2">
            <a:extLst>
              <a:ext uri="{FF2B5EF4-FFF2-40B4-BE49-F238E27FC236}">
                <a16:creationId xmlns:a16="http://schemas.microsoft.com/office/drawing/2014/main" id="{C483346F-0C34-C88B-07D8-C30137C86A5E}"/>
              </a:ext>
            </a:extLst>
          </p:cNvPr>
          <p:cNvSpPr>
            <a:spLocks noGrp="1"/>
          </p:cNvSpPr>
          <p:nvPr>
            <p:ph idx="1"/>
          </p:nvPr>
        </p:nvSpPr>
        <p:spPr/>
        <p:txBody>
          <a:bodyPr>
            <a:normAutofit/>
          </a:bodyPr>
          <a:lstStyle/>
          <a:p>
            <a:pPr marL="514350" indent="-514350" algn="just">
              <a:buFont typeface="+mj-lt"/>
              <a:buAutoNum type="arabicPeriod" startAt="3"/>
            </a:pPr>
            <a:r>
              <a:rPr lang="en-US" b="1" i="0" dirty="0">
                <a:solidFill>
                  <a:srgbClr val="0D0D0D"/>
                </a:solidFill>
                <a:effectLst/>
                <a:latin typeface="Times New Roman" panose="02020603050405020304" pitchFamily="18" charset="0"/>
                <a:cs typeface="Times New Roman" panose="02020603050405020304" pitchFamily="18" charset="0"/>
              </a:rPr>
              <a:t>Errors or Ambiguities:</a:t>
            </a:r>
            <a:r>
              <a:rPr lang="en-US" b="0" i="0" dirty="0">
                <a:solidFill>
                  <a:srgbClr val="0D0D0D"/>
                </a:solidFill>
                <a:effectLst/>
                <a:latin typeface="Times New Roman" panose="02020603050405020304" pitchFamily="18" charset="0"/>
                <a:cs typeface="Times New Roman" panose="02020603050405020304" pitchFamily="18" charset="0"/>
              </a:rPr>
              <a:t> Mistakes, misunderstandings, or ambiguities in the original requirements may be identified during the development process, necessitating corrections.</a:t>
            </a:r>
          </a:p>
          <a:p>
            <a:pPr marL="514350" indent="-514350" algn="just">
              <a:buFont typeface="+mj-lt"/>
              <a:buAutoNum type="arabicPeriod" startAt="3"/>
            </a:pPr>
            <a:r>
              <a:rPr lang="en-US" b="1" i="0" dirty="0">
                <a:solidFill>
                  <a:srgbClr val="0D0D0D"/>
                </a:solidFill>
                <a:effectLst/>
                <a:latin typeface="Times New Roman" panose="02020603050405020304" pitchFamily="18" charset="0"/>
                <a:cs typeface="Times New Roman" panose="02020603050405020304" pitchFamily="18" charset="0"/>
              </a:rPr>
              <a:t>External Influences:</a:t>
            </a:r>
            <a:r>
              <a:rPr lang="en-US" b="0" i="0" dirty="0">
                <a:solidFill>
                  <a:srgbClr val="0D0D0D"/>
                </a:solidFill>
                <a:effectLst/>
                <a:latin typeface="Times New Roman" panose="02020603050405020304" pitchFamily="18" charset="0"/>
                <a:cs typeface="Times New Roman" panose="02020603050405020304" pitchFamily="18" charset="0"/>
              </a:rPr>
              <a:t> Changes in laws, regulations, or industry standards may require adjustments to the project's requirements to ensure compliance.</a:t>
            </a:r>
          </a:p>
          <a:p>
            <a:pPr marL="514350" indent="-514350" algn="just">
              <a:buFont typeface="+mj-lt"/>
              <a:buAutoNum type="arabicPeriod" startAt="3"/>
            </a:pPr>
            <a:r>
              <a:rPr lang="en-US" b="1" i="0" dirty="0">
                <a:solidFill>
                  <a:srgbClr val="0D0D0D"/>
                </a:solidFill>
                <a:effectLst/>
                <a:latin typeface="Times New Roman" panose="02020603050405020304" pitchFamily="18" charset="0"/>
                <a:cs typeface="Times New Roman" panose="02020603050405020304" pitchFamily="18" charset="0"/>
              </a:rPr>
              <a:t>Market Conditions:</a:t>
            </a:r>
            <a:r>
              <a:rPr lang="en-US" b="0" i="0" dirty="0">
                <a:solidFill>
                  <a:srgbClr val="0D0D0D"/>
                </a:solidFill>
                <a:effectLst/>
                <a:latin typeface="Times New Roman" panose="02020603050405020304" pitchFamily="18" charset="0"/>
                <a:cs typeface="Times New Roman" panose="02020603050405020304" pitchFamily="18" charset="0"/>
              </a:rPr>
              <a:t> Shifts in market conditions, customer preferences, or competitive landscapes may prompt adjustments to the project's goals and requirements.</a:t>
            </a:r>
          </a:p>
          <a:p>
            <a:pPr marL="514350" indent="-514350" algn="just">
              <a:buFont typeface="+mj-lt"/>
              <a:buAutoNum type="arabicPeriod" startAt="3"/>
            </a:pPr>
            <a:r>
              <a:rPr lang="en-US" b="1" i="0" dirty="0">
                <a:solidFill>
                  <a:srgbClr val="0D0D0D"/>
                </a:solidFill>
                <a:effectLst/>
                <a:latin typeface="Times New Roman" panose="02020603050405020304" pitchFamily="18" charset="0"/>
                <a:cs typeface="Times New Roman" panose="02020603050405020304" pitchFamily="18" charset="0"/>
              </a:rPr>
              <a:t>Budget and Resource Constraints:</a:t>
            </a:r>
            <a:r>
              <a:rPr lang="en-US" b="0" i="0" dirty="0">
                <a:solidFill>
                  <a:srgbClr val="0D0D0D"/>
                </a:solidFill>
                <a:effectLst/>
                <a:latin typeface="Times New Roman" panose="02020603050405020304" pitchFamily="18" charset="0"/>
                <a:cs typeface="Times New Roman" panose="02020603050405020304" pitchFamily="18" charset="0"/>
              </a:rPr>
              <a:t> Changes in available resources, budget constraints, or unexpected issues may lead to modifications in the project's requirements.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13C41D-BDB1-35D9-7F37-3D34EB40CBE6}"/>
              </a:ext>
            </a:extLst>
          </p:cNvPr>
          <p:cNvSpPr>
            <a:spLocks noGrp="1"/>
          </p:cNvSpPr>
          <p:nvPr>
            <p:ph type="sldNum" sz="quarter" idx="12"/>
          </p:nvPr>
        </p:nvSpPr>
        <p:spPr/>
        <p:txBody>
          <a:bodyPr/>
          <a:lstStyle/>
          <a:p>
            <a:fld id="{F4FDABE4-2AF6-4D4C-8AE8-BBA493930CF4}" type="slidenum">
              <a:rPr lang="en-US" smtClean="0"/>
              <a:t>49</a:t>
            </a:fld>
            <a:endParaRPr lang="en-US"/>
          </a:p>
        </p:txBody>
      </p:sp>
    </p:spTree>
    <p:extLst>
      <p:ext uri="{BB962C8B-B14F-4D97-AF65-F5344CB8AC3E}">
        <p14:creationId xmlns:p14="http://schemas.microsoft.com/office/powerpoint/2010/main" val="683238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a:t>
            </a:r>
            <a:r>
              <a:rPr lang="en-US"/>
              <a:t>unit 4</a:t>
            </a:r>
            <a:endParaRPr lang="en-US" dirty="0"/>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50</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651</TotalTime>
  <Words>3796</Words>
  <Application>Microsoft Office PowerPoint</Application>
  <PresentationFormat>Widescreen</PresentationFormat>
  <Paragraphs>307</Paragraphs>
  <Slides>50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Rockwell</vt:lpstr>
      <vt:lpstr>Rockwell Condensed</vt:lpstr>
      <vt:lpstr>Times New Roman</vt:lpstr>
      <vt:lpstr>Wingdings</vt:lpstr>
      <vt:lpstr>Wood Type</vt:lpstr>
      <vt:lpstr>Unit 4  Requirement engineering </vt:lpstr>
      <vt:lpstr>Syllabus</vt:lpstr>
      <vt:lpstr>User requirement</vt:lpstr>
      <vt:lpstr>system requirement</vt:lpstr>
      <vt:lpstr>Functional Requirement</vt:lpstr>
      <vt:lpstr>What should be included in the Functional Requirements Document?</vt:lpstr>
      <vt:lpstr>Benefits of Functional Requirement</vt:lpstr>
      <vt:lpstr>Non-Functional Requirement</vt:lpstr>
      <vt:lpstr>Types of Non-functional Requirement</vt:lpstr>
      <vt:lpstr>Advantages of Non-Functional Requirement </vt:lpstr>
      <vt:lpstr>PowerPoint Presentation</vt:lpstr>
      <vt:lpstr>Domain Requirement</vt:lpstr>
      <vt:lpstr>Requirement Engineering </vt:lpstr>
      <vt:lpstr>Requirement Engineering Process</vt:lpstr>
      <vt:lpstr>PowerPoint Presentation</vt:lpstr>
      <vt:lpstr>1. Feasibility Study:</vt:lpstr>
      <vt:lpstr>Types of Feasibility Study : </vt:lpstr>
      <vt:lpstr>Technical Feasibility </vt:lpstr>
      <vt:lpstr>Operational Feasibility</vt:lpstr>
      <vt:lpstr>Economic Feasibility</vt:lpstr>
      <vt:lpstr>Legal Feasibility </vt:lpstr>
      <vt:lpstr>Schedule Feasibility </vt:lpstr>
      <vt:lpstr>2. Requirement Elicitation and analysis</vt:lpstr>
      <vt:lpstr>Eliciting and understanding requirements from system stakeholders is a difficult process for several reasons: </vt:lpstr>
      <vt:lpstr>PowerPoint Presentation</vt:lpstr>
      <vt:lpstr>Requirement Elicitation process</vt:lpstr>
      <vt:lpstr>Requirement Elicitation process</vt:lpstr>
      <vt:lpstr>Requirement Elicitation process</vt:lpstr>
      <vt:lpstr>Requirements Elicitation Techniques</vt:lpstr>
      <vt:lpstr>PowerPoint Presentation</vt:lpstr>
      <vt:lpstr>Use cases </vt:lpstr>
      <vt:lpstr>Example of Use case:</vt:lpstr>
      <vt:lpstr>Question 2</vt:lpstr>
      <vt:lpstr>Ethnography</vt:lpstr>
      <vt:lpstr>Stories and scenarios</vt:lpstr>
      <vt:lpstr>Example:</vt:lpstr>
      <vt:lpstr>Example:</vt:lpstr>
      <vt:lpstr>Example:</vt:lpstr>
      <vt:lpstr>Viewpoints </vt:lpstr>
      <vt:lpstr>PowerPoint Presentation</vt:lpstr>
      <vt:lpstr>Software Requirements Specification</vt:lpstr>
      <vt:lpstr>Contents of the SRS </vt:lpstr>
      <vt:lpstr>PowerPoint Presentation</vt:lpstr>
      <vt:lpstr>Users of requirements document </vt:lpstr>
      <vt:lpstr>Requirements Validation</vt:lpstr>
      <vt:lpstr>PowerPoint Presentation</vt:lpstr>
      <vt:lpstr>Requirement Validation techniques</vt:lpstr>
      <vt:lpstr>Requirement Change</vt:lpstr>
      <vt:lpstr>Requirement Change</vt:lpstr>
      <vt:lpstr>End of unit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94</cp:revision>
  <dcterms:created xsi:type="dcterms:W3CDTF">2026-06-22T07:06:56Z</dcterms:created>
  <dcterms:modified xsi:type="dcterms:W3CDTF">2026-07-22T10:39:11Z</dcterms:modified>
</cp:coreProperties>
</file>