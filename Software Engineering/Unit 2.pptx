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5" r:id="rId1"/>
  </p:sldMasterIdLst>
  <p:notesMasterIdLst>
    <p:notesMasterId r:id="rId56"/>
  </p:notesMasterIdLst>
  <p:sldIdLst>
    <p:sldId id="256" r:id="rId2"/>
    <p:sldId id="257" r:id="rId3"/>
    <p:sldId id="299" r:id="rId4"/>
    <p:sldId id="335" r:id="rId5"/>
    <p:sldId id="336" r:id="rId6"/>
    <p:sldId id="338" r:id="rId7"/>
    <p:sldId id="337" r:id="rId8"/>
    <p:sldId id="363" r:id="rId9"/>
    <p:sldId id="339" r:id="rId10"/>
    <p:sldId id="340" r:id="rId11"/>
    <p:sldId id="342" r:id="rId12"/>
    <p:sldId id="343" r:id="rId13"/>
    <p:sldId id="258" r:id="rId14"/>
    <p:sldId id="344" r:id="rId15"/>
    <p:sldId id="276" r:id="rId16"/>
    <p:sldId id="273" r:id="rId17"/>
    <p:sldId id="274" r:id="rId18"/>
    <p:sldId id="275" r:id="rId19"/>
    <p:sldId id="345" r:id="rId20"/>
    <p:sldId id="346" r:id="rId21"/>
    <p:sldId id="347" r:id="rId22"/>
    <p:sldId id="348" r:id="rId23"/>
    <p:sldId id="349" r:id="rId24"/>
    <p:sldId id="358" r:id="rId25"/>
    <p:sldId id="350" r:id="rId26"/>
    <p:sldId id="352" r:id="rId27"/>
    <p:sldId id="353" r:id="rId28"/>
    <p:sldId id="354" r:id="rId29"/>
    <p:sldId id="351" r:id="rId30"/>
    <p:sldId id="355" r:id="rId31"/>
    <p:sldId id="356" r:id="rId32"/>
    <p:sldId id="277" r:id="rId33"/>
    <p:sldId id="359" r:id="rId34"/>
    <p:sldId id="333" r:id="rId35"/>
    <p:sldId id="360" r:id="rId36"/>
    <p:sldId id="361" r:id="rId37"/>
    <p:sldId id="261" r:id="rId38"/>
    <p:sldId id="262" r:id="rId39"/>
    <p:sldId id="288" r:id="rId40"/>
    <p:sldId id="289" r:id="rId41"/>
    <p:sldId id="279" r:id="rId42"/>
    <p:sldId id="282" r:id="rId43"/>
    <p:sldId id="283" r:id="rId44"/>
    <p:sldId id="284" r:id="rId45"/>
    <p:sldId id="285" r:id="rId46"/>
    <p:sldId id="362" r:id="rId47"/>
    <p:sldId id="263" r:id="rId48"/>
    <p:sldId id="291" r:id="rId49"/>
    <p:sldId id="290" r:id="rId50"/>
    <p:sldId id="292" r:id="rId51"/>
    <p:sldId id="327" r:id="rId52"/>
    <p:sldId id="328" r:id="rId53"/>
    <p:sldId id="364" r:id="rId54"/>
    <p:sldId id="298" r:id="rId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6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97D4E7-AF78-4024-8B7F-588FCC024BE4}" type="datetimeFigureOut">
              <a:rPr lang="en-US" smtClean="0"/>
              <a:t>8/19/2026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209B62-998C-482D-8B65-5C14F38A5F5A}" type="slidenum">
              <a:rPr lang="en-US" smtClean="0"/>
              <a:t>‹#›</a:t>
            </a:fld>
            <a:endParaRPr lang="en-US"/>
          </a:p>
        </p:txBody>
      </p:sp>
    </p:spTree>
    <p:extLst>
      <p:ext uri="{BB962C8B-B14F-4D97-AF65-F5344CB8AC3E}">
        <p14:creationId xmlns:p14="http://schemas.microsoft.com/office/powerpoint/2010/main" val="37425458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3AF8440-25C8-4BDD-802F-F065B4C22725}" type="datetime1">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255C45AA-988C-4610-8E25-9C545FF2A435}" type="slidenum">
              <a:rPr lang="en-US" smtClean="0"/>
              <a:t>‹#›</a:t>
            </a:fld>
            <a:endParaRPr lang="en-US"/>
          </a:p>
        </p:txBody>
      </p:sp>
    </p:spTree>
    <p:extLst>
      <p:ext uri="{BB962C8B-B14F-4D97-AF65-F5344CB8AC3E}">
        <p14:creationId xmlns:p14="http://schemas.microsoft.com/office/powerpoint/2010/main" val="825034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C04780-67B5-4292-A76C-D8224243D2D6}" type="datetime1">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327487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ADDC84F6-FB08-4965-8982-71C1BCA90CB9}" type="datetime1">
              <a:rPr lang="en-US" smtClean="0"/>
              <a:t>8/19/2026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255C45AA-988C-4610-8E25-9C545FF2A435}" type="slidenum">
              <a:rPr lang="en-US" smtClean="0"/>
              <a:t>‹#›</a:t>
            </a:fld>
            <a:endParaRPr lang="en-US"/>
          </a:p>
        </p:txBody>
      </p:sp>
    </p:spTree>
    <p:extLst>
      <p:ext uri="{BB962C8B-B14F-4D97-AF65-F5344CB8AC3E}">
        <p14:creationId xmlns:p14="http://schemas.microsoft.com/office/powerpoint/2010/main" val="1910801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E052F8B-51CB-47C2-A3BD-6506DBDDAF70}" type="datetime1">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341565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CBC8244-28D7-4379-ABA1-8ED6C9D1B1AB}" type="datetime1">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968647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2ABF6E6-0ECB-4D7A-B474-15E5BC0D61A4}" type="datetime1">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1268905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B6F8E0-B3F5-4CFE-A644-ACA598098A48}" type="datetime1">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831332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DD6BC95-C7C2-4845-BB2B-0965183911C7}" type="datetime1">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2685557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95F89F-600F-4D4A-96E8-7D94E719EC44}" type="datetime1">
              <a:rPr lang="en-US" smtClean="0"/>
              <a:t>8/19/2026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4292410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621281-C55E-4919-A199-3CE994680F68}" type="datetime1">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798607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73A0EF-4A56-4750-BF03-77661016A435}" type="datetime1">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861803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57DA8A51-93D5-47B0-92A5-6FF6E8F86CDD}" type="datetime1">
              <a:rPr lang="en-US" smtClean="0"/>
              <a:t>8/19/2026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255C45AA-988C-4610-8E25-9C545FF2A435}" type="slidenum">
              <a:rPr lang="en-US" smtClean="0"/>
              <a:t>‹#›</a:t>
            </a:fld>
            <a:endParaRPr lang="en-US"/>
          </a:p>
        </p:txBody>
      </p:sp>
    </p:spTree>
    <p:extLst>
      <p:ext uri="{BB962C8B-B14F-4D97-AF65-F5344CB8AC3E}">
        <p14:creationId xmlns:p14="http://schemas.microsoft.com/office/powerpoint/2010/main" val="110445423"/>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71DA0D-6E59-4383-9DF9-A8C233DC83C8}"/>
              </a:ext>
            </a:extLst>
          </p:cNvPr>
          <p:cNvSpPr>
            <a:spLocks noGrp="1"/>
          </p:cNvSpPr>
          <p:nvPr>
            <p:ph type="ctrTitle"/>
          </p:nvPr>
        </p:nvSpPr>
        <p:spPr/>
        <p:txBody>
          <a:bodyPr/>
          <a:lstStyle/>
          <a:p>
            <a:pPr>
              <a:lnSpc>
                <a:spcPct val="50000"/>
              </a:lnSpc>
            </a:pPr>
            <a:r>
              <a:rPr lang="en-US" sz="4800" dirty="0"/>
              <a:t>Unit 2</a:t>
            </a:r>
            <a:br>
              <a:rPr lang="en-US" sz="4800" dirty="0"/>
            </a:br>
            <a:r>
              <a:rPr lang="en-US" dirty="0"/>
              <a:t/>
            </a:r>
            <a:br>
              <a:rPr lang="en-US" dirty="0"/>
            </a:br>
            <a:r>
              <a:rPr lang="en-US" dirty="0"/>
              <a:t>Software processes</a:t>
            </a:r>
            <a:br>
              <a:rPr lang="en-US" dirty="0"/>
            </a:br>
            <a:endParaRPr lang="en-US" dirty="0"/>
          </a:p>
        </p:txBody>
      </p:sp>
      <p:sp>
        <p:nvSpPr>
          <p:cNvPr id="8" name="Subtitle 7">
            <a:extLst>
              <a:ext uri="{FF2B5EF4-FFF2-40B4-BE49-F238E27FC236}">
                <a16:creationId xmlns:a16="http://schemas.microsoft.com/office/drawing/2014/main" xmlns="" id="{FD94B0D4-AD5E-4142-BB4C-606A9BFB8C8B}"/>
              </a:ext>
            </a:extLst>
          </p:cNvPr>
          <p:cNvSpPr>
            <a:spLocks noGrp="1"/>
          </p:cNvSpPr>
          <p:nvPr>
            <p:ph type="subTitle" idx="1"/>
          </p:nvPr>
        </p:nvSpPr>
        <p:spPr/>
        <p:txBody>
          <a:bodyPr/>
          <a:lstStyle/>
          <a:p>
            <a:r>
              <a:rPr lang="en-US" dirty="0"/>
              <a:t>Software Engineering</a:t>
            </a:r>
          </a:p>
          <a:p>
            <a:r>
              <a:rPr lang="en-US" dirty="0"/>
              <a:t>CSIT 6</a:t>
            </a:r>
            <a:r>
              <a:rPr lang="en-US" baseline="30000" dirty="0"/>
              <a:t>th</a:t>
            </a:r>
            <a:r>
              <a:rPr lang="en-US" dirty="0"/>
              <a:t> Semester</a:t>
            </a:r>
          </a:p>
        </p:txBody>
      </p:sp>
      <p:sp>
        <p:nvSpPr>
          <p:cNvPr id="3" name="Slide Number Placeholder 2">
            <a:extLst>
              <a:ext uri="{FF2B5EF4-FFF2-40B4-BE49-F238E27FC236}">
                <a16:creationId xmlns:a16="http://schemas.microsoft.com/office/drawing/2014/main" xmlns="" id="{FFDEB2F7-20B3-440A-8079-38C00AD68DE4}"/>
              </a:ext>
            </a:extLst>
          </p:cNvPr>
          <p:cNvSpPr>
            <a:spLocks noGrp="1"/>
          </p:cNvSpPr>
          <p:nvPr>
            <p:ph type="sldNum" sz="quarter" idx="12"/>
          </p:nvPr>
        </p:nvSpPr>
        <p:spPr/>
        <p:txBody>
          <a:bodyPr/>
          <a:lstStyle/>
          <a:p>
            <a:fld id="{255C45AA-988C-4610-8E25-9C545FF2A435}" type="slidenum">
              <a:rPr lang="en-US" smtClean="0"/>
              <a:t>1</a:t>
            </a:fld>
            <a:endParaRPr lang="en-US"/>
          </a:p>
        </p:txBody>
      </p:sp>
    </p:spTree>
    <p:extLst>
      <p:ext uri="{BB962C8B-B14F-4D97-AF65-F5344CB8AC3E}">
        <p14:creationId xmlns:p14="http://schemas.microsoft.com/office/powerpoint/2010/main" val="4082152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F085FA-53FE-49DA-95EE-BF8D71FB079D}"/>
              </a:ext>
            </a:extLst>
          </p:cNvPr>
          <p:cNvSpPr>
            <a:spLocks noGrp="1"/>
          </p:cNvSpPr>
          <p:nvPr>
            <p:ph type="title"/>
          </p:nvPr>
        </p:nvSpPr>
        <p:spPr/>
        <p:txBody>
          <a:bodyPr/>
          <a:lstStyle/>
          <a:p>
            <a:r>
              <a:rPr lang="en-US" dirty="0"/>
              <a:t>Syllabus</a:t>
            </a:r>
          </a:p>
        </p:txBody>
      </p:sp>
      <p:sp>
        <p:nvSpPr>
          <p:cNvPr id="3" name="Content Placeholder 2">
            <a:extLst>
              <a:ext uri="{FF2B5EF4-FFF2-40B4-BE49-F238E27FC236}">
                <a16:creationId xmlns:a16="http://schemas.microsoft.com/office/drawing/2014/main" xmlns="" id="{34883A51-3C9B-4315-8D30-E190E9B94F5A}"/>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Software Process 5 hours</a:t>
            </a:r>
          </a:p>
          <a:p>
            <a:r>
              <a:rPr lang="en-US" dirty="0">
                <a:latin typeface="Times New Roman" panose="02020603050405020304" pitchFamily="18" charset="0"/>
                <a:cs typeface="Times New Roman" panose="02020603050405020304" pitchFamily="18" charset="0"/>
              </a:rPr>
              <a:t>Software Process Models (Waterfall Model; Incremental Development; Integration and Configuration)</a:t>
            </a:r>
          </a:p>
          <a:p>
            <a:r>
              <a:rPr lang="en-US" dirty="0">
                <a:latin typeface="Times New Roman" panose="02020603050405020304" pitchFamily="18" charset="0"/>
                <a:cs typeface="Times New Roman" panose="02020603050405020304" pitchFamily="18" charset="0"/>
              </a:rPr>
              <a:t>Software Process Activities (Software Specification, Software Design and Implementation; Software Validation; Software Evolution)</a:t>
            </a:r>
          </a:p>
          <a:p>
            <a:r>
              <a:rPr lang="en-US" dirty="0">
                <a:latin typeface="Times New Roman" panose="02020603050405020304" pitchFamily="18" charset="0"/>
                <a:cs typeface="Times New Roman" panose="02020603050405020304" pitchFamily="18" charset="0"/>
              </a:rPr>
              <a:t>Coping with Change (Prototyping, Incremental Delivery)</a:t>
            </a:r>
          </a:p>
          <a:p>
            <a:r>
              <a:rPr lang="en-US" dirty="0">
                <a:latin typeface="Times New Roman" panose="02020603050405020304" pitchFamily="18" charset="0"/>
                <a:cs typeface="Times New Roman" panose="02020603050405020304" pitchFamily="18" charset="0"/>
              </a:rPr>
              <a:t>Process Improvement</a:t>
            </a:r>
          </a:p>
        </p:txBody>
      </p:sp>
      <p:sp>
        <p:nvSpPr>
          <p:cNvPr id="4" name="Slide Number Placeholder 3">
            <a:extLst>
              <a:ext uri="{FF2B5EF4-FFF2-40B4-BE49-F238E27FC236}">
                <a16:creationId xmlns:a16="http://schemas.microsoft.com/office/drawing/2014/main" xmlns="" id="{036424F6-F85E-43EF-AA1D-06E216A6406E}"/>
              </a:ext>
            </a:extLst>
          </p:cNvPr>
          <p:cNvSpPr>
            <a:spLocks noGrp="1"/>
          </p:cNvSpPr>
          <p:nvPr>
            <p:ph type="sldNum" sz="quarter" idx="12"/>
          </p:nvPr>
        </p:nvSpPr>
        <p:spPr/>
        <p:txBody>
          <a:bodyPr/>
          <a:lstStyle/>
          <a:p>
            <a:fld id="{255C45AA-988C-4610-8E25-9C545FF2A435}" type="slidenum">
              <a:rPr lang="en-US" smtClean="0"/>
              <a:t>2</a:t>
            </a:fld>
            <a:endParaRPr lang="en-US"/>
          </a:p>
        </p:txBody>
      </p:sp>
    </p:spTree>
    <p:extLst>
      <p:ext uri="{BB962C8B-B14F-4D97-AF65-F5344CB8AC3E}">
        <p14:creationId xmlns:p14="http://schemas.microsoft.com/office/powerpoint/2010/main" val="361983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Software Processes</a:t>
            </a:r>
          </a:p>
        </p:txBody>
      </p:sp>
      <p:sp>
        <p:nvSpPr>
          <p:cNvPr id="3" name="Content Placeholder 2"/>
          <p:cNvSpPr>
            <a:spLocks noGrp="1"/>
          </p:cNvSpPr>
          <p:nvPr>
            <p:ph idx="1"/>
          </p:nvPr>
        </p:nvSpPr>
        <p:spPr>
          <a:xfrm>
            <a:off x="932468" y="1776908"/>
            <a:ext cx="10515600" cy="5190309"/>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It is the set of related activities that leads to cost effective and timeliness production  of software from </a:t>
            </a:r>
            <a:r>
              <a:rPr lang="en-US">
                <a:latin typeface="Times New Roman" panose="02020603050405020304" pitchFamily="18" charset="0"/>
                <a:cs typeface="Times New Roman" panose="02020603050405020304" pitchFamily="18" charset="0"/>
              </a:rPr>
              <a:t>scratch or </a:t>
            </a:r>
            <a:r>
              <a:rPr lang="en-US" dirty="0">
                <a:latin typeface="Times New Roman" panose="02020603050405020304" pitchFamily="18" charset="0"/>
                <a:cs typeface="Times New Roman" panose="02020603050405020304" pitchFamily="18" charset="0"/>
              </a:rPr>
              <a:t>modifying existing software in some programming language. This processes are included in different activities.</a:t>
            </a:r>
          </a:p>
          <a:p>
            <a:pPr marL="0" indent="0" algn="just">
              <a:buNone/>
            </a:pPr>
            <a:r>
              <a:rPr lang="en-US" dirty="0">
                <a:latin typeface="Times New Roman" panose="02020603050405020304" pitchFamily="18" charset="0"/>
                <a:cs typeface="Times New Roman" panose="02020603050405020304" pitchFamily="18" charset="0"/>
              </a:rPr>
              <a:t>These activities are:</a:t>
            </a:r>
          </a:p>
          <a:p>
            <a:pPr lvl="0" algn="just"/>
            <a:r>
              <a:rPr lang="en-US" b="1" dirty="0">
                <a:latin typeface="Times New Roman" panose="02020603050405020304" pitchFamily="18" charset="0"/>
                <a:cs typeface="Times New Roman" panose="02020603050405020304" pitchFamily="18" charset="0"/>
              </a:rPr>
              <a:t>Software specifications:</a:t>
            </a:r>
            <a:r>
              <a:rPr lang="en-US" dirty="0">
                <a:latin typeface="Times New Roman" panose="02020603050405020304" pitchFamily="18" charset="0"/>
                <a:cs typeface="Times New Roman" panose="02020603050405020304" pitchFamily="18" charset="0"/>
              </a:rPr>
              <a:t> The functionality of the software and constraints on its operation must be defined.</a:t>
            </a:r>
          </a:p>
          <a:p>
            <a:pPr lvl="0" algn="just"/>
            <a:r>
              <a:rPr lang="en-US" b="1" dirty="0">
                <a:latin typeface="Times New Roman" panose="02020603050405020304" pitchFamily="18" charset="0"/>
                <a:cs typeface="Times New Roman" panose="02020603050405020304" pitchFamily="18" charset="0"/>
              </a:rPr>
              <a:t>Software development:</a:t>
            </a:r>
            <a:r>
              <a:rPr lang="en-US" dirty="0">
                <a:latin typeface="Times New Roman" panose="02020603050405020304" pitchFamily="18" charset="0"/>
                <a:cs typeface="Times New Roman" panose="02020603050405020304" pitchFamily="18" charset="0"/>
              </a:rPr>
              <a:t> The software to meet the requirement must be produced.</a:t>
            </a:r>
          </a:p>
          <a:p>
            <a:pPr lvl="0" algn="just"/>
            <a:r>
              <a:rPr lang="en-US" b="1" dirty="0">
                <a:latin typeface="Times New Roman" panose="02020603050405020304" pitchFamily="18" charset="0"/>
                <a:cs typeface="Times New Roman" panose="02020603050405020304" pitchFamily="18" charset="0"/>
              </a:rPr>
              <a:t>Software validation:</a:t>
            </a:r>
            <a:r>
              <a:rPr lang="en-US" dirty="0">
                <a:latin typeface="Times New Roman" panose="02020603050405020304" pitchFamily="18" charset="0"/>
                <a:cs typeface="Times New Roman" panose="02020603050405020304" pitchFamily="18" charset="0"/>
              </a:rPr>
              <a:t> The software must be validated to ensure that it does what the customer wants.</a:t>
            </a:r>
          </a:p>
          <a:p>
            <a:pPr lvl="0" algn="just"/>
            <a:r>
              <a:rPr lang="en-US" b="1" dirty="0">
                <a:latin typeface="Times New Roman" panose="02020603050405020304" pitchFamily="18" charset="0"/>
                <a:cs typeface="Times New Roman" panose="02020603050405020304" pitchFamily="18" charset="0"/>
              </a:rPr>
              <a:t>Software evolution:</a:t>
            </a:r>
            <a:r>
              <a:rPr lang="en-US" dirty="0">
                <a:latin typeface="Times New Roman" panose="02020603050405020304" pitchFamily="18" charset="0"/>
                <a:cs typeface="Times New Roman" panose="02020603050405020304" pitchFamily="18" charset="0"/>
              </a:rPr>
              <a:t> The software must evolve to meet changing client needs.</a:t>
            </a:r>
          </a:p>
        </p:txBody>
      </p:sp>
      <p:sp>
        <p:nvSpPr>
          <p:cNvPr id="4" name="Slide Number Placeholder 3"/>
          <p:cNvSpPr>
            <a:spLocks noGrp="1"/>
          </p:cNvSpPr>
          <p:nvPr>
            <p:ph type="sldNum" sz="quarter" idx="12"/>
          </p:nvPr>
        </p:nvSpPr>
        <p:spPr/>
        <p:txBody>
          <a:bodyPr/>
          <a:lstStyle/>
          <a:p>
            <a:fld id="{81ACFABA-A45C-40AA-ABD1-FC8F80DAD626}" type="slidenum">
              <a:rPr lang="en-US" smtClean="0"/>
              <a:t>3</a:t>
            </a:fld>
            <a:endParaRPr lang="en-US"/>
          </a:p>
        </p:txBody>
      </p:sp>
    </p:spTree>
    <p:extLst>
      <p:ext uri="{BB962C8B-B14F-4D97-AF65-F5344CB8AC3E}">
        <p14:creationId xmlns:p14="http://schemas.microsoft.com/office/powerpoint/2010/main" val="2348436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2A492D-EDA9-4DF6-A9A6-250B432C9841}"/>
              </a:ext>
            </a:extLst>
          </p:cNvPr>
          <p:cNvSpPr>
            <a:spLocks noGrp="1"/>
          </p:cNvSpPr>
          <p:nvPr>
            <p:ph type="title"/>
          </p:nvPr>
        </p:nvSpPr>
        <p:spPr/>
        <p:txBody>
          <a:bodyPr/>
          <a:lstStyle/>
          <a:p>
            <a:r>
              <a:rPr lang="en-US" b="1" dirty="0"/>
              <a:t>1.Software Specification</a:t>
            </a:r>
          </a:p>
        </p:txBody>
      </p:sp>
      <p:sp>
        <p:nvSpPr>
          <p:cNvPr id="4" name="Slide Number Placeholder 3">
            <a:extLst>
              <a:ext uri="{FF2B5EF4-FFF2-40B4-BE49-F238E27FC236}">
                <a16:creationId xmlns:a16="http://schemas.microsoft.com/office/drawing/2014/main" xmlns="" id="{0000F7D8-322C-4D98-9FEF-691129F14C31}"/>
              </a:ext>
            </a:extLst>
          </p:cNvPr>
          <p:cNvSpPr>
            <a:spLocks noGrp="1"/>
          </p:cNvSpPr>
          <p:nvPr>
            <p:ph type="sldNum" sz="quarter" idx="12"/>
          </p:nvPr>
        </p:nvSpPr>
        <p:spPr/>
        <p:txBody>
          <a:bodyPr/>
          <a:lstStyle/>
          <a:p>
            <a:fld id="{81ACFABA-A45C-40AA-ABD1-FC8F80DAD626}" type="slidenum">
              <a:rPr lang="en-US" smtClean="0"/>
              <a:t>4</a:t>
            </a:fld>
            <a:endParaRPr lang="en-US"/>
          </a:p>
        </p:txBody>
      </p:sp>
      <p:pic>
        <p:nvPicPr>
          <p:cNvPr id="1026" name="Picture 2">
            <a:extLst>
              <a:ext uri="{FF2B5EF4-FFF2-40B4-BE49-F238E27FC236}">
                <a16:creationId xmlns:a16="http://schemas.microsoft.com/office/drawing/2014/main" xmlns="" id="{B5BBA59A-84EB-42C1-ADE9-E63E1B4C25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6514" y="2093976"/>
            <a:ext cx="6179144" cy="3235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3107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2A492D-EDA9-4DF6-A9A6-250B432C9841}"/>
              </a:ext>
            </a:extLst>
          </p:cNvPr>
          <p:cNvSpPr>
            <a:spLocks noGrp="1"/>
          </p:cNvSpPr>
          <p:nvPr>
            <p:ph type="title"/>
          </p:nvPr>
        </p:nvSpPr>
        <p:spPr>
          <a:xfrm>
            <a:off x="1066800" y="145267"/>
            <a:ext cx="10058400" cy="1609344"/>
          </a:xfrm>
        </p:spPr>
        <p:txBody>
          <a:bodyPr/>
          <a:lstStyle/>
          <a:p>
            <a:r>
              <a:rPr lang="en-US" b="1" dirty="0"/>
              <a:t>1.Software Specification</a:t>
            </a:r>
          </a:p>
        </p:txBody>
      </p:sp>
      <p:sp>
        <p:nvSpPr>
          <p:cNvPr id="3" name="Content Placeholder 2">
            <a:extLst>
              <a:ext uri="{FF2B5EF4-FFF2-40B4-BE49-F238E27FC236}">
                <a16:creationId xmlns:a16="http://schemas.microsoft.com/office/drawing/2014/main" xmlns="" id="{C1FA6432-4D4C-4DC5-B9D5-EEDFEBB10E96}"/>
              </a:ext>
            </a:extLst>
          </p:cNvPr>
          <p:cNvSpPr>
            <a:spLocks noGrp="1"/>
          </p:cNvSpPr>
          <p:nvPr>
            <p:ph idx="1"/>
          </p:nvPr>
        </p:nvSpPr>
        <p:spPr>
          <a:xfrm>
            <a:off x="838200" y="1498862"/>
            <a:ext cx="11218682" cy="4994013"/>
          </a:xfrm>
        </p:spPr>
        <p:txBody>
          <a:bodyPr>
            <a:normAutofit/>
          </a:bodyPr>
          <a:lstStyle/>
          <a:p>
            <a:r>
              <a:rPr lang="en-US" b="1" u="none" strike="noStrike" dirty="0">
                <a:effectLst/>
                <a:latin typeface="Times New Roman" panose="02020603050405020304" pitchFamily="18" charset="0"/>
                <a:cs typeface="Times New Roman" panose="02020603050405020304" pitchFamily="18" charset="0"/>
              </a:rPr>
              <a:t>Key Activities in the Process:</a:t>
            </a:r>
          </a:p>
          <a:p>
            <a:pPr>
              <a:buFont typeface="Arial" panose="020B0604020202020204" pitchFamily="34" charset="0"/>
              <a:buChar char="•"/>
            </a:pPr>
            <a:r>
              <a:rPr lang="en-US" b="1" u="none" strike="noStrike" dirty="0">
                <a:effectLst/>
                <a:latin typeface="Times New Roman" panose="02020603050405020304" pitchFamily="18" charset="0"/>
                <a:cs typeface="Times New Roman" panose="02020603050405020304" pitchFamily="18" charset="0"/>
              </a:rPr>
              <a:t>Feasibility Study:</a:t>
            </a:r>
            <a:r>
              <a:rPr lang="en-US" b="0" u="none" strike="noStrike" dirty="0">
                <a:effectLst/>
                <a:latin typeface="Times New Roman" panose="02020603050405020304" pitchFamily="18" charset="0"/>
                <a:cs typeface="Times New Roman" panose="02020603050405020304" pitchFamily="18" charset="0"/>
              </a:rPr>
              <a:t> An initial assessment to determine if the proposed system is cost-effective and technically achievable. This results in a </a:t>
            </a:r>
            <a:r>
              <a:rPr lang="en-US" b="1" u="none" strike="noStrike" dirty="0">
                <a:effectLst/>
                <a:latin typeface="Times New Roman" panose="02020603050405020304" pitchFamily="18" charset="0"/>
                <a:cs typeface="Times New Roman" panose="02020603050405020304" pitchFamily="18" charset="0"/>
              </a:rPr>
              <a:t>Feasibility Report</a:t>
            </a:r>
            <a:r>
              <a:rPr lang="en-US" b="0" u="none" strike="noStrike" dirty="0">
                <a:effectLst/>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b="1" u="none" strike="noStrike" dirty="0">
                <a:effectLst/>
                <a:latin typeface="Times New Roman" panose="02020603050405020304" pitchFamily="18" charset="0"/>
                <a:cs typeface="Times New Roman" panose="02020603050405020304" pitchFamily="18" charset="0"/>
              </a:rPr>
              <a:t>Requirements Elicitation and Analysis:</a:t>
            </a:r>
            <a:r>
              <a:rPr lang="en-US" b="0" u="none" strike="noStrike" dirty="0">
                <a:effectLst/>
                <a:latin typeface="Times New Roman" panose="02020603050405020304" pitchFamily="18" charset="0"/>
                <a:cs typeface="Times New Roman" panose="02020603050405020304" pitchFamily="18" charset="0"/>
              </a:rPr>
              <a:t> The process of collaborating with stakeholders to discover what the system should do. This stage often involves creating </a:t>
            </a:r>
            <a:r>
              <a:rPr lang="en-US" b="1" u="none" strike="noStrike" dirty="0">
                <a:effectLst/>
                <a:latin typeface="Times New Roman" panose="02020603050405020304" pitchFamily="18" charset="0"/>
                <a:cs typeface="Times New Roman" panose="02020603050405020304" pitchFamily="18" charset="0"/>
              </a:rPr>
              <a:t>System Models</a:t>
            </a:r>
            <a:r>
              <a:rPr lang="en-US" b="0" u="none" strike="noStrike" dirty="0">
                <a:effectLst/>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b="1" u="none" strike="noStrike" dirty="0">
                <a:effectLst/>
                <a:latin typeface="Times New Roman" panose="02020603050405020304" pitchFamily="18" charset="0"/>
                <a:cs typeface="Times New Roman" panose="02020603050405020304" pitchFamily="18" charset="0"/>
              </a:rPr>
              <a:t>Requirements Specification:</a:t>
            </a:r>
            <a:r>
              <a:rPr lang="en-US" b="0" u="none" strike="noStrike" dirty="0">
                <a:effectLst/>
                <a:latin typeface="Times New Roman" panose="02020603050405020304" pitchFamily="18" charset="0"/>
                <a:cs typeface="Times New Roman" panose="02020603050405020304" pitchFamily="18" charset="0"/>
              </a:rPr>
              <a:t> Translating the gathered information into a formal document. This defines both </a:t>
            </a:r>
            <a:r>
              <a:rPr lang="en-US" b="1" u="none" strike="noStrike" dirty="0">
                <a:effectLst/>
                <a:latin typeface="Times New Roman" panose="02020603050405020304" pitchFamily="18" charset="0"/>
                <a:cs typeface="Times New Roman" panose="02020603050405020304" pitchFamily="18" charset="0"/>
              </a:rPr>
              <a:t>User Requirements</a:t>
            </a:r>
            <a:r>
              <a:rPr lang="en-US" b="0" u="none" strike="noStrike" dirty="0">
                <a:effectLst/>
                <a:latin typeface="Times New Roman" panose="02020603050405020304" pitchFamily="18" charset="0"/>
                <a:cs typeface="Times New Roman" panose="02020603050405020304" pitchFamily="18" charset="0"/>
              </a:rPr>
              <a:t> (high-level) and </a:t>
            </a:r>
            <a:r>
              <a:rPr lang="en-US" b="1" u="none" strike="noStrike" dirty="0">
                <a:effectLst/>
                <a:latin typeface="Times New Roman" panose="02020603050405020304" pitchFamily="18" charset="0"/>
                <a:cs typeface="Times New Roman" panose="02020603050405020304" pitchFamily="18" charset="0"/>
              </a:rPr>
              <a:t>System Requirements</a:t>
            </a:r>
            <a:r>
              <a:rPr lang="en-US" b="0" u="none" strike="noStrike" dirty="0">
                <a:effectLst/>
                <a:latin typeface="Times New Roman" panose="02020603050405020304" pitchFamily="18" charset="0"/>
                <a:cs typeface="Times New Roman" panose="02020603050405020304" pitchFamily="18" charset="0"/>
              </a:rPr>
              <a:t> (detailed functional/non-functional specs).</a:t>
            </a:r>
          </a:p>
          <a:p>
            <a:pPr>
              <a:buFont typeface="Arial" panose="020B0604020202020204" pitchFamily="34" charset="0"/>
              <a:buChar char="•"/>
            </a:pPr>
            <a:r>
              <a:rPr lang="en-US" b="1" u="none" strike="noStrike" dirty="0">
                <a:effectLst/>
                <a:latin typeface="Times New Roman" panose="02020603050405020304" pitchFamily="18" charset="0"/>
                <a:cs typeface="Times New Roman" panose="02020603050405020304" pitchFamily="18" charset="0"/>
              </a:rPr>
              <a:t>Requirements Validation:</a:t>
            </a:r>
            <a:r>
              <a:rPr lang="en-US" b="0" u="none" strike="noStrike" dirty="0">
                <a:effectLst/>
                <a:latin typeface="Times New Roman" panose="02020603050405020304" pitchFamily="18" charset="0"/>
                <a:cs typeface="Times New Roman" panose="02020603050405020304" pitchFamily="18" charset="0"/>
              </a:rPr>
              <a:t> Checking the requirements to ensure they define the system that the customer really wants. If errors are found, the process loops back to specification or elicitation.</a:t>
            </a:r>
          </a:p>
          <a:p>
            <a:pPr>
              <a:buFont typeface="Arial" panose="020B0604020202020204" pitchFamily="34" charset="0"/>
              <a:buChar char="•"/>
            </a:pPr>
            <a:r>
              <a:rPr lang="en-US" b="1" u="none" strike="noStrike" dirty="0">
                <a:effectLst/>
                <a:latin typeface="Times New Roman" panose="02020603050405020304" pitchFamily="18" charset="0"/>
                <a:cs typeface="Times New Roman" panose="02020603050405020304" pitchFamily="18" charset="0"/>
              </a:rPr>
              <a:t>Requirements Document:</a:t>
            </a:r>
            <a:r>
              <a:rPr lang="en-US" b="0" u="none" strike="noStrike" dirty="0">
                <a:effectLst/>
                <a:latin typeface="Times New Roman" panose="02020603050405020304" pitchFamily="18" charset="0"/>
                <a:cs typeface="Times New Roman" panose="02020603050405020304" pitchFamily="18" charset="0"/>
              </a:rPr>
              <a:t> The final output (often called a Software Requirements Specification or SRS) that serves as the official agreement between developers and customers.</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0000F7D8-322C-4D98-9FEF-691129F14C31}"/>
              </a:ext>
            </a:extLst>
          </p:cNvPr>
          <p:cNvSpPr>
            <a:spLocks noGrp="1"/>
          </p:cNvSpPr>
          <p:nvPr>
            <p:ph type="sldNum" sz="quarter" idx="12"/>
          </p:nvPr>
        </p:nvSpPr>
        <p:spPr/>
        <p:txBody>
          <a:bodyPr/>
          <a:lstStyle/>
          <a:p>
            <a:fld id="{81ACFABA-A45C-40AA-ABD1-FC8F80DAD626}" type="slidenum">
              <a:rPr lang="en-US" smtClean="0"/>
              <a:t>5</a:t>
            </a:fld>
            <a:endParaRPr lang="en-US"/>
          </a:p>
        </p:txBody>
      </p:sp>
      <p:pic>
        <p:nvPicPr>
          <p:cNvPr id="5" name="Picture 2">
            <a:extLst>
              <a:ext uri="{FF2B5EF4-FFF2-40B4-BE49-F238E27FC236}">
                <a16:creationId xmlns:a16="http://schemas.microsoft.com/office/drawing/2014/main" xmlns="" id="{EE682E07-F87F-4649-940B-E7760355B2D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420374" y="319439"/>
            <a:ext cx="2407955" cy="1260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4203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2A492D-EDA9-4DF6-A9A6-250B432C9841}"/>
              </a:ext>
            </a:extLst>
          </p:cNvPr>
          <p:cNvSpPr>
            <a:spLocks noGrp="1"/>
          </p:cNvSpPr>
          <p:nvPr>
            <p:ph type="title"/>
          </p:nvPr>
        </p:nvSpPr>
        <p:spPr/>
        <p:txBody>
          <a:bodyPr/>
          <a:lstStyle/>
          <a:p>
            <a:r>
              <a:rPr lang="en-US" b="1" dirty="0"/>
              <a:t>2. Software Development and Implementation</a:t>
            </a:r>
          </a:p>
        </p:txBody>
      </p:sp>
      <p:sp>
        <p:nvSpPr>
          <p:cNvPr id="4" name="Slide Number Placeholder 3">
            <a:extLst>
              <a:ext uri="{FF2B5EF4-FFF2-40B4-BE49-F238E27FC236}">
                <a16:creationId xmlns:a16="http://schemas.microsoft.com/office/drawing/2014/main" xmlns="" id="{0000F7D8-322C-4D98-9FEF-691129F14C31}"/>
              </a:ext>
            </a:extLst>
          </p:cNvPr>
          <p:cNvSpPr>
            <a:spLocks noGrp="1"/>
          </p:cNvSpPr>
          <p:nvPr>
            <p:ph type="sldNum" sz="quarter" idx="12"/>
          </p:nvPr>
        </p:nvSpPr>
        <p:spPr/>
        <p:txBody>
          <a:bodyPr/>
          <a:lstStyle/>
          <a:p>
            <a:fld id="{81ACFABA-A45C-40AA-ABD1-FC8F80DAD626}" type="slidenum">
              <a:rPr lang="en-US" smtClean="0"/>
              <a:t>6</a:t>
            </a:fld>
            <a:endParaRPr lang="en-US"/>
          </a:p>
        </p:txBody>
      </p:sp>
      <p:sp>
        <p:nvSpPr>
          <p:cNvPr id="3" name="Content Placeholder 2">
            <a:extLst>
              <a:ext uri="{FF2B5EF4-FFF2-40B4-BE49-F238E27FC236}">
                <a16:creationId xmlns:a16="http://schemas.microsoft.com/office/drawing/2014/main" xmlns="" id="{BEAE81BC-F106-4397-8032-EAA7F4BF3BF3}"/>
              </a:ext>
            </a:extLst>
          </p:cNvPr>
          <p:cNvSpPr>
            <a:spLocks noGrp="1"/>
          </p:cNvSpPr>
          <p:nvPr>
            <p:ph idx="1"/>
          </p:nvPr>
        </p:nvSpPr>
        <p:spPr/>
        <p:txBody>
          <a:bodyPr>
            <a:normAutofit/>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Software design is a creative activity in which you identify software components and their relationships based on customer’s relationships. Implementation is the process of realizing the design as a program. </a:t>
            </a:r>
          </a:p>
          <a:p>
            <a:r>
              <a:rPr lang="en-US" dirty="0">
                <a:latin typeface="Times New Roman" panose="02020603050405020304" pitchFamily="18" charset="0"/>
                <a:cs typeface="Times New Roman" panose="02020603050405020304" pitchFamily="18" charset="0"/>
              </a:rPr>
              <a:t>It is description of the structure of the software to be implemented the data which is part of system, the interfaces between system component, sometimes algorithm used, logical structure of database etc.</a:t>
            </a:r>
          </a:p>
          <a:p>
            <a:r>
              <a:rPr lang="en-US" dirty="0">
                <a:latin typeface="Times New Roman" panose="02020603050405020304" pitchFamily="18" charset="0"/>
                <a:cs typeface="Times New Roman" panose="02020603050405020304" pitchFamily="18" charset="0"/>
              </a:rPr>
              <a:t> The implementation of software development is the process of converting system specification and design into an executable system.</a:t>
            </a:r>
          </a:p>
        </p:txBody>
      </p:sp>
    </p:spTree>
    <p:extLst>
      <p:ext uri="{BB962C8B-B14F-4D97-AF65-F5344CB8AC3E}">
        <p14:creationId xmlns:p14="http://schemas.microsoft.com/office/powerpoint/2010/main" val="1725515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2A492D-EDA9-4DF6-A9A6-250B432C9841}"/>
              </a:ext>
            </a:extLst>
          </p:cNvPr>
          <p:cNvSpPr>
            <a:spLocks noGrp="1"/>
          </p:cNvSpPr>
          <p:nvPr>
            <p:ph type="title"/>
          </p:nvPr>
        </p:nvSpPr>
        <p:spPr/>
        <p:txBody>
          <a:bodyPr/>
          <a:lstStyle/>
          <a:p>
            <a:r>
              <a:rPr lang="en-US" b="1" dirty="0"/>
              <a:t>2. Software Development </a:t>
            </a:r>
          </a:p>
        </p:txBody>
      </p:sp>
      <p:sp>
        <p:nvSpPr>
          <p:cNvPr id="4" name="Slide Number Placeholder 3">
            <a:extLst>
              <a:ext uri="{FF2B5EF4-FFF2-40B4-BE49-F238E27FC236}">
                <a16:creationId xmlns:a16="http://schemas.microsoft.com/office/drawing/2014/main" xmlns="" id="{0000F7D8-322C-4D98-9FEF-691129F14C31}"/>
              </a:ext>
            </a:extLst>
          </p:cNvPr>
          <p:cNvSpPr>
            <a:spLocks noGrp="1"/>
          </p:cNvSpPr>
          <p:nvPr>
            <p:ph type="sldNum" sz="quarter" idx="12"/>
          </p:nvPr>
        </p:nvSpPr>
        <p:spPr/>
        <p:txBody>
          <a:bodyPr/>
          <a:lstStyle/>
          <a:p>
            <a:fld id="{81ACFABA-A45C-40AA-ABD1-FC8F80DAD626}" type="slidenum">
              <a:rPr lang="en-US" smtClean="0"/>
              <a:t>7</a:t>
            </a:fld>
            <a:endParaRPr lang="en-US"/>
          </a:p>
        </p:txBody>
      </p:sp>
      <p:pic>
        <p:nvPicPr>
          <p:cNvPr id="2050" name="Picture 2">
            <a:extLst>
              <a:ext uri="{FF2B5EF4-FFF2-40B4-BE49-F238E27FC236}">
                <a16:creationId xmlns:a16="http://schemas.microsoft.com/office/drawing/2014/main" xmlns="" id="{B6D9D012-2152-4310-B722-6BA7062834B5}"/>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7354" b="18442"/>
          <a:stretch/>
        </p:blipFill>
        <p:spPr bwMode="auto">
          <a:xfrm>
            <a:off x="1980719" y="1866507"/>
            <a:ext cx="6920664" cy="3855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5416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2A492D-EDA9-4DF6-A9A6-250B432C9841}"/>
              </a:ext>
            </a:extLst>
          </p:cNvPr>
          <p:cNvSpPr>
            <a:spLocks noGrp="1"/>
          </p:cNvSpPr>
          <p:nvPr>
            <p:ph type="title"/>
          </p:nvPr>
        </p:nvSpPr>
        <p:spPr/>
        <p:txBody>
          <a:bodyPr/>
          <a:lstStyle/>
          <a:p>
            <a:r>
              <a:rPr lang="en-US" b="1" dirty="0"/>
              <a:t>2. Software Development </a:t>
            </a:r>
          </a:p>
        </p:txBody>
      </p:sp>
      <p:sp>
        <p:nvSpPr>
          <p:cNvPr id="4" name="Slide Number Placeholder 3">
            <a:extLst>
              <a:ext uri="{FF2B5EF4-FFF2-40B4-BE49-F238E27FC236}">
                <a16:creationId xmlns:a16="http://schemas.microsoft.com/office/drawing/2014/main" xmlns="" id="{0000F7D8-322C-4D98-9FEF-691129F14C31}"/>
              </a:ext>
            </a:extLst>
          </p:cNvPr>
          <p:cNvSpPr>
            <a:spLocks noGrp="1"/>
          </p:cNvSpPr>
          <p:nvPr>
            <p:ph type="sldNum" sz="quarter" idx="12"/>
          </p:nvPr>
        </p:nvSpPr>
        <p:spPr/>
        <p:txBody>
          <a:bodyPr/>
          <a:lstStyle/>
          <a:p>
            <a:fld id="{81ACFABA-A45C-40AA-ABD1-FC8F80DAD626}" type="slidenum">
              <a:rPr lang="en-US" smtClean="0"/>
              <a:t>8</a:t>
            </a:fld>
            <a:endParaRPr lang="en-US"/>
          </a:p>
        </p:txBody>
      </p:sp>
      <p:sp>
        <p:nvSpPr>
          <p:cNvPr id="3" name="Content Placeholder 2">
            <a:extLst>
              <a:ext uri="{FF2B5EF4-FFF2-40B4-BE49-F238E27FC236}">
                <a16:creationId xmlns:a16="http://schemas.microsoft.com/office/drawing/2014/main" xmlns="" id="{C5B89254-034F-4609-8532-8517AB4A65D9}"/>
              </a:ext>
            </a:extLst>
          </p:cNvPr>
          <p:cNvSpPr>
            <a:spLocks noGrp="1"/>
          </p:cNvSpPr>
          <p:nvPr>
            <p:ph idx="1"/>
          </p:nvPr>
        </p:nvSpPr>
        <p:spPr>
          <a:xfrm>
            <a:off x="84841" y="2121408"/>
            <a:ext cx="12107159" cy="4050792"/>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Breakdown of Stages</a:t>
            </a:r>
          </a:p>
          <a:p>
            <a:r>
              <a:rPr lang="en-US" b="1" dirty="0">
                <a:latin typeface="Times New Roman" panose="02020603050405020304" pitchFamily="18" charset="0"/>
                <a:cs typeface="Times New Roman" panose="02020603050405020304" pitchFamily="18" charset="0"/>
              </a:rPr>
              <a:t>Activity		Description of Product</a:t>
            </a:r>
          </a:p>
          <a:p>
            <a:pPr marL="227013" indent="-227013">
              <a:buFont typeface="+mj-lt"/>
              <a:buAutoNum type="arabicPeriod"/>
            </a:pPr>
            <a:r>
              <a:rPr lang="en-US" b="1" dirty="0">
                <a:latin typeface="Times New Roman" panose="02020603050405020304" pitchFamily="18" charset="0"/>
                <a:cs typeface="Times New Roman" panose="02020603050405020304" pitchFamily="18" charset="0"/>
              </a:rPr>
              <a:t>Architectural design</a:t>
            </a:r>
            <a:r>
              <a:rPr lang="en-US" dirty="0">
                <a:latin typeface="Times New Roman" panose="02020603050405020304" pitchFamily="18" charset="0"/>
                <a:cs typeface="Times New Roman" panose="02020603050405020304" pitchFamily="18" charset="0"/>
              </a:rPr>
              <a:t>	Defines the broad System architecture, identifying major components and their relationships.</a:t>
            </a:r>
          </a:p>
          <a:p>
            <a:pPr marL="227013" indent="-227013">
              <a:buFont typeface="+mj-lt"/>
              <a:buAutoNum type="arabicPeriod"/>
            </a:pPr>
            <a:r>
              <a:rPr lang="en-US" b="1" dirty="0">
                <a:latin typeface="Times New Roman" panose="02020603050405020304" pitchFamily="18" charset="0"/>
                <a:cs typeface="Times New Roman" panose="02020603050405020304" pitchFamily="18" charset="0"/>
              </a:rPr>
              <a:t>Abstract specification</a:t>
            </a:r>
            <a:r>
              <a:rPr lang="en-US" dirty="0">
                <a:latin typeface="Times New Roman" panose="02020603050405020304" pitchFamily="18" charset="0"/>
                <a:cs typeface="Times New Roman" panose="02020603050405020304" pitchFamily="18" charset="0"/>
              </a:rPr>
              <a:t>	Produces a Software specification that describes what each sub-system must do without 				detailing how.</a:t>
            </a:r>
          </a:p>
          <a:p>
            <a:pPr marL="227013" indent="-227013">
              <a:buFont typeface="+mj-lt"/>
              <a:buAutoNum type="arabicPeriod"/>
            </a:pPr>
            <a:r>
              <a:rPr lang="en-US" b="1" dirty="0">
                <a:latin typeface="Times New Roman" panose="02020603050405020304" pitchFamily="18" charset="0"/>
                <a:cs typeface="Times New Roman" panose="02020603050405020304" pitchFamily="18" charset="0"/>
              </a:rPr>
              <a:t>Interface design</a:t>
            </a:r>
            <a:r>
              <a:rPr lang="en-US" dirty="0">
                <a:latin typeface="Times New Roman" panose="02020603050405020304" pitchFamily="18" charset="0"/>
                <a:cs typeface="Times New Roman" panose="02020603050405020304" pitchFamily="18" charset="0"/>
              </a:rPr>
              <a:t>	Results in an Interface specification defining how different parts of the system interact with 				each other or external systems.</a:t>
            </a:r>
          </a:p>
          <a:p>
            <a:pPr marL="227013" indent="-227013">
              <a:buFont typeface="+mj-lt"/>
              <a:buAutoNum type="arabicPeriod"/>
            </a:pPr>
            <a:r>
              <a:rPr lang="en-US" b="1" dirty="0">
                <a:latin typeface="Times New Roman" panose="02020603050405020304" pitchFamily="18" charset="0"/>
                <a:cs typeface="Times New Roman" panose="02020603050405020304" pitchFamily="18" charset="0"/>
              </a:rPr>
              <a:t>Component design</a:t>
            </a:r>
            <a:r>
              <a:rPr lang="en-US" dirty="0">
                <a:latin typeface="Times New Roman" panose="02020603050405020304" pitchFamily="18" charset="0"/>
                <a:cs typeface="Times New Roman" panose="02020603050405020304" pitchFamily="18" charset="0"/>
              </a:rPr>
              <a:t>	Creates a Component specification detailing the functional requirements for individual 				software units.</a:t>
            </a:r>
          </a:p>
          <a:p>
            <a:pPr marL="227013" indent="-227013">
              <a:buFont typeface="+mj-lt"/>
              <a:buAutoNum type="arabicPeriod"/>
            </a:pPr>
            <a:r>
              <a:rPr lang="en-US" b="1" dirty="0">
                <a:latin typeface="Times New Roman" panose="02020603050405020304" pitchFamily="18" charset="0"/>
                <a:cs typeface="Times New Roman" panose="02020603050405020304" pitchFamily="18" charset="0"/>
              </a:rPr>
              <a:t>Data structure design</a:t>
            </a:r>
            <a:r>
              <a:rPr lang="en-US" dirty="0">
                <a:latin typeface="Times New Roman" panose="02020603050405020304" pitchFamily="18" charset="0"/>
                <a:cs typeface="Times New Roman" panose="02020603050405020304" pitchFamily="18" charset="0"/>
              </a:rPr>
              <a:t>	Leads to a Data structure specification, detailing how data will be organized and managed.</a:t>
            </a:r>
          </a:p>
          <a:p>
            <a:pPr marL="227013" indent="-227013">
              <a:buFont typeface="+mj-lt"/>
              <a:buAutoNum type="arabicPeriod"/>
            </a:pPr>
            <a:r>
              <a:rPr lang="en-US" b="1" dirty="0">
                <a:latin typeface="Times New Roman" panose="02020603050405020304" pitchFamily="18" charset="0"/>
                <a:cs typeface="Times New Roman" panose="02020603050405020304" pitchFamily="18" charset="0"/>
              </a:rPr>
              <a:t>Algorithm design</a:t>
            </a:r>
            <a:r>
              <a:rPr lang="en-US" dirty="0">
                <a:latin typeface="Times New Roman" panose="02020603050405020304" pitchFamily="18" charset="0"/>
                <a:cs typeface="Times New Roman" panose="02020603050405020304" pitchFamily="18" charset="0"/>
              </a:rPr>
              <a:t>	Produces the final Algorithm specification, providing the logic and step-by-step procedures for 			the software to execute.</a:t>
            </a:r>
          </a:p>
        </p:txBody>
      </p:sp>
    </p:spTree>
    <p:extLst>
      <p:ext uri="{BB962C8B-B14F-4D97-AF65-F5344CB8AC3E}">
        <p14:creationId xmlns:p14="http://schemas.microsoft.com/office/powerpoint/2010/main" val="3488733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8770D4-CF58-43D1-84F0-D9DD90558DD9}"/>
              </a:ext>
            </a:extLst>
          </p:cNvPr>
          <p:cNvSpPr>
            <a:spLocks noGrp="1"/>
          </p:cNvSpPr>
          <p:nvPr>
            <p:ph type="title"/>
          </p:nvPr>
        </p:nvSpPr>
        <p:spPr/>
        <p:txBody>
          <a:bodyPr/>
          <a:lstStyle/>
          <a:p>
            <a:r>
              <a:rPr lang="en-US" b="1" dirty="0"/>
              <a:t>3. Software validation</a:t>
            </a:r>
          </a:p>
        </p:txBody>
      </p:sp>
      <p:sp>
        <p:nvSpPr>
          <p:cNvPr id="3" name="Content Placeholder 2">
            <a:extLst>
              <a:ext uri="{FF2B5EF4-FFF2-40B4-BE49-F238E27FC236}">
                <a16:creationId xmlns:a16="http://schemas.microsoft.com/office/drawing/2014/main" xmlns="" id="{918929B2-9C8A-4685-A790-C62CC81FAE26}"/>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It is the process of evaluating software product, to ensure that the software meets the pre defined and specified business requirements as well as the end user demands and expectations.</a:t>
            </a:r>
          </a:p>
          <a:p>
            <a:r>
              <a:rPr lang="en-US" dirty="0">
                <a:latin typeface="Times New Roman" panose="02020603050405020304" pitchFamily="18" charset="0"/>
                <a:cs typeface="Times New Roman" panose="02020603050405020304" pitchFamily="18" charset="0"/>
              </a:rPr>
              <a:t>It involves checking process such as inspection and reviews at each stage of software process from user requirement to software development. </a:t>
            </a:r>
          </a:p>
          <a:p>
            <a:r>
              <a:rPr lang="en-US" dirty="0">
                <a:latin typeface="Times New Roman" panose="02020603050405020304" pitchFamily="18" charset="0"/>
                <a:cs typeface="Times New Roman" panose="02020603050405020304" pitchFamily="18" charset="0"/>
              </a:rPr>
              <a:t>It involves checking review processes and system testing. System testing involving executing the system with cases that are derived from the specification of the real data to be processed by the system.</a:t>
            </a:r>
          </a:p>
        </p:txBody>
      </p:sp>
      <p:sp>
        <p:nvSpPr>
          <p:cNvPr id="4" name="Slide Number Placeholder 3">
            <a:extLst>
              <a:ext uri="{FF2B5EF4-FFF2-40B4-BE49-F238E27FC236}">
                <a16:creationId xmlns:a16="http://schemas.microsoft.com/office/drawing/2014/main" xmlns="" id="{CE0F3A01-83B3-40EE-8952-5BB3D1D99635}"/>
              </a:ext>
            </a:extLst>
          </p:cNvPr>
          <p:cNvSpPr>
            <a:spLocks noGrp="1"/>
          </p:cNvSpPr>
          <p:nvPr>
            <p:ph type="sldNum" sz="quarter" idx="12"/>
          </p:nvPr>
        </p:nvSpPr>
        <p:spPr/>
        <p:txBody>
          <a:bodyPr/>
          <a:lstStyle/>
          <a:p>
            <a:fld id="{81ACFABA-A45C-40AA-ABD1-FC8F80DAD626}" type="slidenum">
              <a:rPr lang="en-US" smtClean="0"/>
              <a:t>9</a:t>
            </a:fld>
            <a:endParaRPr lang="en-US"/>
          </a:p>
        </p:txBody>
      </p:sp>
    </p:spTree>
    <p:extLst>
      <p:ext uri="{BB962C8B-B14F-4D97-AF65-F5344CB8AC3E}">
        <p14:creationId xmlns:p14="http://schemas.microsoft.com/office/powerpoint/2010/main" val="2698396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8770D4-CF58-43D1-84F0-D9DD90558DD9}"/>
              </a:ext>
            </a:extLst>
          </p:cNvPr>
          <p:cNvSpPr>
            <a:spLocks noGrp="1"/>
          </p:cNvSpPr>
          <p:nvPr>
            <p:ph type="title"/>
          </p:nvPr>
        </p:nvSpPr>
        <p:spPr/>
        <p:txBody>
          <a:bodyPr/>
          <a:lstStyle/>
          <a:p>
            <a:r>
              <a:rPr lang="en-US" b="1" dirty="0"/>
              <a:t>3. Software validation</a:t>
            </a:r>
          </a:p>
        </p:txBody>
      </p:sp>
      <p:sp>
        <p:nvSpPr>
          <p:cNvPr id="3" name="Content Placeholder 2">
            <a:extLst>
              <a:ext uri="{FF2B5EF4-FFF2-40B4-BE49-F238E27FC236}">
                <a16:creationId xmlns:a16="http://schemas.microsoft.com/office/drawing/2014/main" xmlns="" id="{918929B2-9C8A-4685-A790-C62CC81FAE26}"/>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Component or unit testing</a:t>
            </a:r>
          </a:p>
          <a:p>
            <a:pPr lvl="1"/>
            <a:r>
              <a:rPr lang="en-US" dirty="0">
                <a:latin typeface="Times New Roman" panose="02020603050405020304" pitchFamily="18" charset="0"/>
                <a:cs typeface="Times New Roman" panose="02020603050405020304" pitchFamily="18" charset="0"/>
              </a:rPr>
              <a:t>Individual components are tested independently to ensure that they operate correctly.</a:t>
            </a:r>
          </a:p>
          <a:p>
            <a:pPr lvl="1"/>
            <a:r>
              <a:rPr lang="en-US" dirty="0">
                <a:latin typeface="Times New Roman" panose="02020603050405020304" pitchFamily="18" charset="0"/>
                <a:cs typeface="Times New Roman" panose="02020603050405020304" pitchFamily="18" charset="0"/>
              </a:rPr>
              <a:t>Components may be function or objects or coherent groupings of these entities.</a:t>
            </a:r>
          </a:p>
          <a:p>
            <a:r>
              <a:rPr lang="en-US" b="1" dirty="0">
                <a:latin typeface="Times New Roman" panose="02020603050405020304" pitchFamily="18" charset="0"/>
                <a:cs typeface="Times New Roman" panose="02020603050405020304" pitchFamily="18" charset="0"/>
              </a:rPr>
              <a:t>System testing</a:t>
            </a:r>
          </a:p>
          <a:p>
            <a:pPr lvl="1"/>
            <a:r>
              <a:rPr lang="en-US" dirty="0">
                <a:latin typeface="Times New Roman" panose="02020603050405020304" pitchFamily="18" charset="0"/>
                <a:cs typeface="Times New Roman" panose="02020603050405020304" pitchFamily="18" charset="0"/>
              </a:rPr>
              <a:t>Testing of the system as a whole . Testing of emergent properties is particularly important.</a:t>
            </a:r>
          </a:p>
          <a:p>
            <a:pPr lvl="1"/>
            <a:r>
              <a:rPr lang="en-US" dirty="0">
                <a:latin typeface="Times New Roman" panose="02020603050405020304" pitchFamily="18" charset="0"/>
                <a:cs typeface="Times New Roman" panose="02020603050405020304" pitchFamily="18" charset="0"/>
              </a:rPr>
              <a:t>It is also concerned with validating that the system meets its functional and non functional requirement and testing the emergent system properties.</a:t>
            </a:r>
          </a:p>
          <a:p>
            <a:r>
              <a:rPr lang="en-US" b="1" dirty="0">
                <a:latin typeface="Times New Roman" panose="02020603050405020304" pitchFamily="18" charset="0"/>
                <a:cs typeface="Times New Roman" panose="02020603050405020304" pitchFamily="18" charset="0"/>
              </a:rPr>
              <a:t>Acceptance Testing</a:t>
            </a:r>
          </a:p>
          <a:p>
            <a:pPr lvl="1"/>
            <a:r>
              <a:rPr lang="en-US" dirty="0">
                <a:latin typeface="Times New Roman" panose="02020603050405020304" pitchFamily="18" charset="0"/>
                <a:cs typeface="Times New Roman" panose="02020603050405020304" pitchFamily="18" charset="0"/>
              </a:rPr>
              <a:t>Acceptance testing revel error in the system requirement definition because the real data exercise the system in different ways from the test data</a:t>
            </a:r>
          </a:p>
          <a:p>
            <a:pPr lvl="1"/>
            <a:r>
              <a:rPr lang="en-US" dirty="0">
                <a:latin typeface="Times New Roman" panose="02020603050405020304" pitchFamily="18" charset="0"/>
                <a:cs typeface="Times New Roman" panose="02020603050405020304" pitchFamily="18" charset="0"/>
              </a:rPr>
              <a:t>Testing with customer data to check that the system meets the customer’s need.</a:t>
            </a:r>
          </a:p>
          <a:p>
            <a:pPr marL="457200" lvl="1" inden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CE0F3A01-83B3-40EE-8952-5BB3D1D99635}"/>
              </a:ext>
            </a:extLst>
          </p:cNvPr>
          <p:cNvSpPr>
            <a:spLocks noGrp="1"/>
          </p:cNvSpPr>
          <p:nvPr>
            <p:ph type="sldNum" sz="quarter" idx="12"/>
          </p:nvPr>
        </p:nvSpPr>
        <p:spPr/>
        <p:txBody>
          <a:bodyPr/>
          <a:lstStyle/>
          <a:p>
            <a:fld id="{81ACFABA-A45C-40AA-ABD1-FC8F80DAD626}" type="slidenum">
              <a:rPr lang="en-US" smtClean="0"/>
              <a:t>10</a:t>
            </a:fld>
            <a:endParaRPr lang="en-US"/>
          </a:p>
        </p:txBody>
      </p:sp>
    </p:spTree>
    <p:extLst>
      <p:ext uri="{BB962C8B-B14F-4D97-AF65-F5344CB8AC3E}">
        <p14:creationId xmlns:p14="http://schemas.microsoft.com/office/powerpoint/2010/main" val="1131207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8770D4-CF58-43D1-84F0-D9DD90558DD9}"/>
              </a:ext>
            </a:extLst>
          </p:cNvPr>
          <p:cNvSpPr>
            <a:spLocks noGrp="1"/>
          </p:cNvSpPr>
          <p:nvPr>
            <p:ph type="title"/>
          </p:nvPr>
        </p:nvSpPr>
        <p:spPr/>
        <p:txBody>
          <a:bodyPr/>
          <a:lstStyle/>
          <a:p>
            <a:r>
              <a:rPr lang="en-US" b="1" dirty="0"/>
              <a:t>4. Software evolution</a:t>
            </a:r>
          </a:p>
        </p:txBody>
      </p:sp>
      <p:sp>
        <p:nvSpPr>
          <p:cNvPr id="3" name="Content Placeholder 2">
            <a:extLst>
              <a:ext uri="{FF2B5EF4-FFF2-40B4-BE49-F238E27FC236}">
                <a16:creationId xmlns:a16="http://schemas.microsoft.com/office/drawing/2014/main" xmlns="" id="{918929B2-9C8A-4685-A790-C62CC81FAE26}"/>
              </a:ext>
            </a:extLst>
          </p:cNvPr>
          <p:cNvSpPr>
            <a:spLocks noGrp="1"/>
          </p:cNvSpPr>
          <p:nvPr>
            <p:ph idx="1"/>
          </p:nvPr>
        </p:nvSpPr>
        <p:spPr>
          <a:xfrm>
            <a:off x="838200" y="1853905"/>
            <a:ext cx="10515600" cy="4351338"/>
          </a:xfrm>
        </p:spPr>
        <p:txBody>
          <a:bodyPr>
            <a:normAutofit/>
          </a:bodyPr>
          <a:lstStyle/>
          <a:p>
            <a:r>
              <a:rPr lang="en-US" dirty="0">
                <a:latin typeface="Times New Roman" panose="02020603050405020304" pitchFamily="18" charset="0"/>
                <a:cs typeface="Times New Roman" panose="02020603050405020304" pitchFamily="18" charset="0"/>
              </a:rPr>
              <a:t>Software evolution is referred to as the process of developing , maintaining and updating software for various reasons. Software changes are inevitable because there are many factors that change during the life cycle of a piece of software. </a:t>
            </a:r>
          </a:p>
          <a:p>
            <a:r>
              <a:rPr lang="en-US" dirty="0">
                <a:latin typeface="Times New Roman" panose="02020603050405020304" pitchFamily="18" charset="0"/>
                <a:cs typeface="Times New Roman" panose="02020603050405020304" pitchFamily="18" charset="0"/>
              </a:rPr>
              <a:t>The evolution process includes fundamental activities of change analysis, release planning,  system implementation and releasing a system to customers. These factors are: </a:t>
            </a:r>
          </a:p>
          <a:p>
            <a:r>
              <a:rPr lang="en-US" dirty="0">
                <a:latin typeface="Times New Roman" panose="02020603050405020304" pitchFamily="18" charset="0"/>
                <a:cs typeface="Times New Roman" panose="02020603050405020304" pitchFamily="18" charset="0"/>
              </a:rPr>
              <a:t>Requirement changes</a:t>
            </a:r>
          </a:p>
          <a:p>
            <a:r>
              <a:rPr lang="en-US" dirty="0">
                <a:latin typeface="Times New Roman" panose="02020603050405020304" pitchFamily="18" charset="0"/>
                <a:cs typeface="Times New Roman" panose="02020603050405020304" pitchFamily="18" charset="0"/>
              </a:rPr>
              <a:t>Environment changes</a:t>
            </a:r>
          </a:p>
          <a:p>
            <a:r>
              <a:rPr lang="en-US" dirty="0">
                <a:latin typeface="Times New Roman" panose="02020603050405020304" pitchFamily="18" charset="0"/>
                <a:cs typeface="Times New Roman" panose="02020603050405020304" pitchFamily="18" charset="0"/>
              </a:rPr>
              <a:t>Errors or security breaches</a:t>
            </a:r>
          </a:p>
          <a:p>
            <a:r>
              <a:rPr lang="en-US" dirty="0">
                <a:latin typeface="Times New Roman" panose="02020603050405020304" pitchFamily="18" charset="0"/>
                <a:cs typeface="Times New Roman" panose="02020603050405020304" pitchFamily="18" charset="0"/>
              </a:rPr>
              <a:t>New equipment added or removed</a:t>
            </a:r>
          </a:p>
          <a:p>
            <a:r>
              <a:rPr lang="en-US" dirty="0">
                <a:latin typeface="Times New Roman" panose="02020603050405020304" pitchFamily="18" charset="0"/>
                <a:cs typeface="Times New Roman" panose="02020603050405020304" pitchFamily="18" charset="0"/>
              </a:rPr>
              <a:t>Improvements to the system</a:t>
            </a:r>
          </a:p>
        </p:txBody>
      </p:sp>
      <p:sp>
        <p:nvSpPr>
          <p:cNvPr id="4" name="Slide Number Placeholder 3">
            <a:extLst>
              <a:ext uri="{FF2B5EF4-FFF2-40B4-BE49-F238E27FC236}">
                <a16:creationId xmlns:a16="http://schemas.microsoft.com/office/drawing/2014/main" xmlns="" id="{CE0F3A01-83B3-40EE-8952-5BB3D1D99635}"/>
              </a:ext>
            </a:extLst>
          </p:cNvPr>
          <p:cNvSpPr>
            <a:spLocks noGrp="1"/>
          </p:cNvSpPr>
          <p:nvPr>
            <p:ph type="sldNum" sz="quarter" idx="12"/>
          </p:nvPr>
        </p:nvSpPr>
        <p:spPr/>
        <p:txBody>
          <a:bodyPr/>
          <a:lstStyle/>
          <a:p>
            <a:fld id="{81ACFABA-A45C-40AA-ABD1-FC8F80DAD626}" type="slidenum">
              <a:rPr lang="en-US" smtClean="0"/>
              <a:t>11</a:t>
            </a:fld>
            <a:endParaRPr lang="en-US"/>
          </a:p>
        </p:txBody>
      </p:sp>
    </p:spTree>
    <p:extLst>
      <p:ext uri="{BB962C8B-B14F-4D97-AF65-F5344CB8AC3E}">
        <p14:creationId xmlns:p14="http://schemas.microsoft.com/office/powerpoint/2010/main" val="3713447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8770D4-CF58-43D1-84F0-D9DD90558DD9}"/>
              </a:ext>
            </a:extLst>
          </p:cNvPr>
          <p:cNvSpPr>
            <a:spLocks noGrp="1"/>
          </p:cNvSpPr>
          <p:nvPr>
            <p:ph type="title"/>
          </p:nvPr>
        </p:nvSpPr>
        <p:spPr/>
        <p:txBody>
          <a:bodyPr/>
          <a:lstStyle/>
          <a:p>
            <a:r>
              <a:rPr lang="en-US" b="1" dirty="0"/>
              <a:t>3. Software evolution</a:t>
            </a:r>
          </a:p>
        </p:txBody>
      </p:sp>
      <p:pic>
        <p:nvPicPr>
          <p:cNvPr id="6" name="Content Placeholder 5">
            <a:extLst>
              <a:ext uri="{FF2B5EF4-FFF2-40B4-BE49-F238E27FC236}">
                <a16:creationId xmlns:a16="http://schemas.microsoft.com/office/drawing/2014/main" xmlns="" id="{67CFA910-5ED5-494D-B327-E95567E12673}"/>
              </a:ext>
            </a:extLst>
          </p:cNvPr>
          <p:cNvPicPr>
            <a:picLocks noGrp="1" noChangeAspect="1"/>
          </p:cNvPicPr>
          <p:nvPr>
            <p:ph idx="1"/>
          </p:nvPr>
        </p:nvPicPr>
        <p:blipFill>
          <a:blip r:embed="rId2"/>
          <a:stretch>
            <a:fillRect/>
          </a:stretch>
        </p:blipFill>
        <p:spPr>
          <a:xfrm rot="-120000">
            <a:off x="1833319" y="1892969"/>
            <a:ext cx="8790689" cy="3306779"/>
          </a:xfrm>
        </p:spPr>
      </p:pic>
      <p:sp>
        <p:nvSpPr>
          <p:cNvPr id="4" name="Slide Number Placeholder 3">
            <a:extLst>
              <a:ext uri="{FF2B5EF4-FFF2-40B4-BE49-F238E27FC236}">
                <a16:creationId xmlns:a16="http://schemas.microsoft.com/office/drawing/2014/main" xmlns="" id="{CE0F3A01-83B3-40EE-8952-5BB3D1D99635}"/>
              </a:ext>
            </a:extLst>
          </p:cNvPr>
          <p:cNvSpPr>
            <a:spLocks noGrp="1"/>
          </p:cNvSpPr>
          <p:nvPr>
            <p:ph type="sldNum" sz="quarter" idx="12"/>
          </p:nvPr>
        </p:nvSpPr>
        <p:spPr/>
        <p:txBody>
          <a:bodyPr/>
          <a:lstStyle/>
          <a:p>
            <a:fld id="{81ACFABA-A45C-40AA-ABD1-FC8F80DAD626}" type="slidenum">
              <a:rPr lang="en-US" smtClean="0"/>
              <a:t>12</a:t>
            </a:fld>
            <a:endParaRPr lang="en-US"/>
          </a:p>
        </p:txBody>
      </p:sp>
    </p:spTree>
    <p:extLst>
      <p:ext uri="{BB962C8B-B14F-4D97-AF65-F5344CB8AC3E}">
        <p14:creationId xmlns:p14="http://schemas.microsoft.com/office/powerpoint/2010/main" val="423551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Software Process Models</a:t>
            </a:r>
          </a:p>
        </p:txBody>
      </p:sp>
      <p:pic>
        <p:nvPicPr>
          <p:cNvPr id="1026" name="Picture 2" descr="SDLC Models - javatpoin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46433" y="1821281"/>
            <a:ext cx="8251332" cy="4646895"/>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81ACFABA-A45C-40AA-ABD1-FC8F80DAD626}" type="slidenum">
              <a:rPr lang="en-US" smtClean="0"/>
              <a:t>13</a:t>
            </a:fld>
            <a:endParaRPr lang="en-US"/>
          </a:p>
        </p:txBody>
      </p:sp>
    </p:spTree>
    <p:extLst>
      <p:ext uri="{BB962C8B-B14F-4D97-AF65-F5344CB8AC3E}">
        <p14:creationId xmlns:p14="http://schemas.microsoft.com/office/powerpoint/2010/main" val="4816277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a:t>Waterfall model:</a:t>
            </a:r>
          </a:p>
        </p:txBody>
      </p:sp>
      <p:sp>
        <p:nvSpPr>
          <p:cNvPr id="3" name="Content Placeholder 2"/>
          <p:cNvSpPr>
            <a:spLocks noGrp="1"/>
          </p:cNvSpPr>
          <p:nvPr>
            <p:ph idx="1"/>
          </p:nvPr>
        </p:nvSpPr>
        <p:spPr>
          <a:xfrm>
            <a:off x="838200" y="1375954"/>
            <a:ext cx="10515600" cy="3639105"/>
          </a:xfrm>
        </p:spPr>
        <p:txBody>
          <a:bodyPr>
            <a:normAutofit/>
          </a:bodyPr>
          <a:lstStyle/>
          <a:p>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waterfall model, documented in 1970 by Royce was the first public documented life cycle model. </a:t>
            </a:r>
          </a:p>
          <a:p>
            <a:pPr algn="just"/>
            <a:r>
              <a:rPr lang="en-US" dirty="0">
                <a:latin typeface="Times New Roman" panose="02020603050405020304" pitchFamily="18" charset="0"/>
                <a:cs typeface="Times New Roman" panose="02020603050405020304" pitchFamily="18" charset="0"/>
              </a:rPr>
              <a:t>The Waterfall Model was the first Process Model to be introduced. It is also referred to as a linear-sequential life cycle model. It is very simple to understand and use.</a:t>
            </a:r>
          </a:p>
          <a:p>
            <a:pPr algn="just"/>
            <a:r>
              <a:rPr lang="en-US" dirty="0">
                <a:latin typeface="Times New Roman" panose="02020603050405020304" pitchFamily="18" charset="0"/>
                <a:cs typeface="Times New Roman" panose="02020603050405020304" pitchFamily="18" charset="0"/>
              </a:rPr>
              <a:t> In a waterfall model, each phase must be completed before the next phase can begin and there is no overlapping in the phases.</a:t>
            </a:r>
          </a:p>
        </p:txBody>
      </p:sp>
      <p:sp>
        <p:nvSpPr>
          <p:cNvPr id="4" name="Slide Number Placeholder 3"/>
          <p:cNvSpPr>
            <a:spLocks noGrp="1"/>
          </p:cNvSpPr>
          <p:nvPr>
            <p:ph type="sldNum" sz="quarter" idx="12"/>
          </p:nvPr>
        </p:nvSpPr>
        <p:spPr/>
        <p:txBody>
          <a:bodyPr/>
          <a:lstStyle/>
          <a:p>
            <a:fld id="{81ACFABA-A45C-40AA-ABD1-FC8F80DAD626}" type="slidenum">
              <a:rPr lang="en-US" smtClean="0"/>
              <a:t>14</a:t>
            </a:fld>
            <a:endParaRPr lang="en-US"/>
          </a:p>
        </p:txBody>
      </p:sp>
    </p:spTree>
    <p:extLst>
      <p:ext uri="{BB962C8B-B14F-4D97-AF65-F5344CB8AC3E}">
        <p14:creationId xmlns:p14="http://schemas.microsoft.com/office/powerpoint/2010/main" val="390972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JIRA Waterfall Model - Javatpoi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104" name="Picture 8" descr="JIRA Waterfall Model - Javatpoin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91326" y="924025"/>
            <a:ext cx="7372952" cy="4982269"/>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81ACFABA-A45C-40AA-ABD1-FC8F80DAD626}" type="slidenum">
              <a:rPr lang="en-US" smtClean="0"/>
              <a:t>15</a:t>
            </a:fld>
            <a:endParaRPr lang="en-US"/>
          </a:p>
        </p:txBody>
      </p:sp>
    </p:spTree>
    <p:extLst>
      <p:ext uri="{BB962C8B-B14F-4D97-AF65-F5344CB8AC3E}">
        <p14:creationId xmlns:p14="http://schemas.microsoft.com/office/powerpoint/2010/main" val="5084296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6181" y="484632"/>
            <a:ext cx="11076495" cy="1609344"/>
          </a:xfrm>
        </p:spPr>
        <p:txBody>
          <a:bodyPr/>
          <a:lstStyle/>
          <a:p>
            <a:r>
              <a:rPr lang="en-US" b="1" dirty="0"/>
              <a:t>Waterfall Model - Application</a:t>
            </a:r>
          </a:p>
        </p:txBody>
      </p:sp>
      <p:sp>
        <p:nvSpPr>
          <p:cNvPr id="3" name="Content Placeholder 2"/>
          <p:cNvSpPr>
            <a:spLocks noGrp="1"/>
          </p:cNvSpPr>
          <p:nvPr>
            <p:ph idx="1"/>
          </p:nvPr>
        </p:nvSpPr>
        <p:spPr/>
        <p:txBody>
          <a:bodyPr>
            <a:normAutofit/>
          </a:bodyPr>
          <a:lstStyle/>
          <a:p>
            <a:pPr marL="0" indent="0">
              <a:buNone/>
            </a:pPr>
            <a:r>
              <a:rPr lang="en-US" dirty="0">
                <a:latin typeface="Times New Roman" panose="02020603050405020304" pitchFamily="18" charset="0"/>
                <a:cs typeface="Times New Roman" panose="02020603050405020304" pitchFamily="18" charset="0"/>
              </a:rPr>
              <a:t>Every software developed is different and requires a suitable SDLC approach to be followed based on the internal and external factors. Some situations where the use of Waterfall model is most appropriate are −</a:t>
            </a:r>
          </a:p>
          <a:p>
            <a:pPr lvl="0"/>
            <a:r>
              <a:rPr lang="en-US" dirty="0">
                <a:latin typeface="Times New Roman" panose="02020603050405020304" pitchFamily="18" charset="0"/>
                <a:cs typeface="Times New Roman" panose="02020603050405020304" pitchFamily="18" charset="0"/>
              </a:rPr>
              <a:t>Requirements are very well documented, clear and fixed.</a:t>
            </a:r>
          </a:p>
          <a:p>
            <a:pPr lvl="0"/>
            <a:r>
              <a:rPr lang="en-US" dirty="0">
                <a:latin typeface="Times New Roman" panose="02020603050405020304" pitchFamily="18" charset="0"/>
                <a:cs typeface="Times New Roman" panose="02020603050405020304" pitchFamily="18" charset="0"/>
              </a:rPr>
              <a:t>Product definition is stable.</a:t>
            </a:r>
          </a:p>
          <a:p>
            <a:pPr lvl="0"/>
            <a:r>
              <a:rPr lang="en-US" dirty="0">
                <a:latin typeface="Times New Roman" panose="02020603050405020304" pitchFamily="18" charset="0"/>
                <a:cs typeface="Times New Roman" panose="02020603050405020304" pitchFamily="18" charset="0"/>
              </a:rPr>
              <a:t>Technology is understood and is not dynamic.</a:t>
            </a:r>
          </a:p>
          <a:p>
            <a:pPr lvl="0"/>
            <a:r>
              <a:rPr lang="en-US" dirty="0">
                <a:latin typeface="Times New Roman" panose="02020603050405020304" pitchFamily="18" charset="0"/>
                <a:cs typeface="Times New Roman" panose="02020603050405020304" pitchFamily="18" charset="0"/>
              </a:rPr>
              <a:t>There are no ambiguous requirements(No confusion).</a:t>
            </a:r>
          </a:p>
          <a:p>
            <a:pPr lvl="0"/>
            <a:r>
              <a:rPr lang="en-US" dirty="0">
                <a:latin typeface="Times New Roman" panose="02020603050405020304" pitchFamily="18" charset="0"/>
                <a:cs typeface="Times New Roman" panose="02020603050405020304" pitchFamily="18" charset="0"/>
              </a:rPr>
              <a:t>Enough resources with required expertise are available to support the product.</a:t>
            </a:r>
          </a:p>
          <a:p>
            <a:pPr lvl="0"/>
            <a:r>
              <a:rPr lang="en-US" dirty="0">
                <a:latin typeface="Times New Roman" panose="02020603050405020304" pitchFamily="18" charset="0"/>
                <a:cs typeface="Times New Roman" panose="02020603050405020304" pitchFamily="18" charset="0"/>
              </a:rPr>
              <a:t>The project is short and low cost.</a:t>
            </a:r>
          </a:p>
        </p:txBody>
      </p:sp>
      <p:sp>
        <p:nvSpPr>
          <p:cNvPr id="4" name="Slide Number Placeholder 3"/>
          <p:cNvSpPr>
            <a:spLocks noGrp="1"/>
          </p:cNvSpPr>
          <p:nvPr>
            <p:ph type="sldNum" sz="quarter" idx="12"/>
          </p:nvPr>
        </p:nvSpPr>
        <p:spPr/>
        <p:txBody>
          <a:bodyPr/>
          <a:lstStyle/>
          <a:p>
            <a:fld id="{81ACFABA-A45C-40AA-ABD1-FC8F80DAD626}" type="slidenum">
              <a:rPr lang="en-US" smtClean="0"/>
              <a:t>16</a:t>
            </a:fld>
            <a:endParaRPr lang="en-US"/>
          </a:p>
        </p:txBody>
      </p:sp>
    </p:spTree>
    <p:extLst>
      <p:ext uri="{BB962C8B-B14F-4D97-AF65-F5344CB8AC3E}">
        <p14:creationId xmlns:p14="http://schemas.microsoft.com/office/powerpoint/2010/main" val="26840955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Waterfall Model - Advantages</a:t>
            </a:r>
          </a:p>
        </p:txBody>
      </p:sp>
      <p:sp>
        <p:nvSpPr>
          <p:cNvPr id="3" name="Content Placeholder 2"/>
          <p:cNvSpPr>
            <a:spLocks noGrp="1"/>
          </p:cNvSpPr>
          <p:nvPr>
            <p:ph idx="1"/>
          </p:nvPr>
        </p:nvSpPr>
        <p:spPr/>
        <p:txBody>
          <a:bodyPr>
            <a:normAutofit lnSpcReduction="10000"/>
          </a:bodyPr>
          <a:lstStyle/>
          <a:p>
            <a:pPr marL="0" indent="0">
              <a:buNone/>
            </a:pPr>
            <a:r>
              <a:rPr lang="en-US" dirty="0">
                <a:latin typeface="Times New Roman" panose="02020603050405020304" pitchFamily="18" charset="0"/>
                <a:cs typeface="Times New Roman" panose="02020603050405020304" pitchFamily="18" charset="0"/>
              </a:rPr>
              <a:t>Some of the major advantages of the Waterfall Model are as follows −</a:t>
            </a:r>
          </a:p>
          <a:p>
            <a:pPr lvl="0"/>
            <a:r>
              <a:rPr lang="en-US" dirty="0">
                <a:latin typeface="Times New Roman" panose="02020603050405020304" pitchFamily="18" charset="0"/>
                <a:cs typeface="Times New Roman" panose="02020603050405020304" pitchFamily="18" charset="0"/>
              </a:rPr>
              <a:t>Simple and easy to understand and use</a:t>
            </a:r>
          </a:p>
          <a:p>
            <a:pPr lvl="0"/>
            <a:r>
              <a:rPr lang="en-US" dirty="0">
                <a:latin typeface="Times New Roman" panose="02020603050405020304" pitchFamily="18" charset="0"/>
                <a:cs typeface="Times New Roman" panose="02020603050405020304" pitchFamily="18" charset="0"/>
              </a:rPr>
              <a:t>Easy to manage due to the rigidity of the model. Each phase has specific deliverables and a review process.</a:t>
            </a:r>
          </a:p>
          <a:p>
            <a:pPr lvl="0"/>
            <a:r>
              <a:rPr lang="en-US" dirty="0">
                <a:latin typeface="Times New Roman" panose="02020603050405020304" pitchFamily="18" charset="0"/>
                <a:cs typeface="Times New Roman" panose="02020603050405020304" pitchFamily="18" charset="0"/>
              </a:rPr>
              <a:t>Phases are processed and completed one at a time.</a:t>
            </a:r>
          </a:p>
          <a:p>
            <a:pPr lvl="0"/>
            <a:r>
              <a:rPr lang="en-US" dirty="0">
                <a:latin typeface="Times New Roman" panose="02020603050405020304" pitchFamily="18" charset="0"/>
                <a:cs typeface="Times New Roman" panose="02020603050405020304" pitchFamily="18" charset="0"/>
              </a:rPr>
              <a:t>Works well for smaller projects where requirements are very well understood.</a:t>
            </a:r>
          </a:p>
          <a:p>
            <a:pPr lvl="0"/>
            <a:r>
              <a:rPr lang="en-US" dirty="0">
                <a:latin typeface="Times New Roman" panose="02020603050405020304" pitchFamily="18" charset="0"/>
                <a:cs typeface="Times New Roman" panose="02020603050405020304" pitchFamily="18" charset="0"/>
              </a:rPr>
              <a:t>Clearly defined stages.</a:t>
            </a:r>
          </a:p>
          <a:p>
            <a:pPr lvl="0"/>
            <a:r>
              <a:rPr lang="en-US" dirty="0">
                <a:latin typeface="Times New Roman" panose="02020603050405020304" pitchFamily="18" charset="0"/>
                <a:cs typeface="Times New Roman" panose="02020603050405020304" pitchFamily="18" charset="0"/>
              </a:rPr>
              <a:t>Well understood requirement.</a:t>
            </a:r>
          </a:p>
          <a:p>
            <a:pPr lvl="0"/>
            <a:r>
              <a:rPr lang="en-US" dirty="0">
                <a:latin typeface="Times New Roman" panose="02020603050405020304" pitchFamily="18" charset="0"/>
                <a:cs typeface="Times New Roman" panose="02020603050405020304" pitchFamily="18" charset="0"/>
              </a:rPr>
              <a:t>Easy to arrange tasks.</a:t>
            </a:r>
          </a:p>
          <a:p>
            <a:pPr lvl="0"/>
            <a:r>
              <a:rPr lang="en-US" dirty="0">
                <a:latin typeface="Times New Roman" panose="02020603050405020304" pitchFamily="18" charset="0"/>
                <a:cs typeface="Times New Roman" panose="02020603050405020304" pitchFamily="18" charset="0"/>
              </a:rPr>
              <a:t>Process and results are well documented.</a:t>
            </a:r>
          </a:p>
          <a:p>
            <a:pPr lvl="0"/>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81ACFABA-A45C-40AA-ABD1-FC8F80DAD626}" type="slidenum">
              <a:rPr lang="en-US" smtClean="0"/>
              <a:t>17</a:t>
            </a:fld>
            <a:endParaRPr lang="en-US"/>
          </a:p>
        </p:txBody>
      </p:sp>
    </p:spTree>
    <p:extLst>
      <p:ext uri="{BB962C8B-B14F-4D97-AF65-F5344CB8AC3E}">
        <p14:creationId xmlns:p14="http://schemas.microsoft.com/office/powerpoint/2010/main" val="2979037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1597" y="484632"/>
            <a:ext cx="11170762" cy="1609344"/>
          </a:xfrm>
        </p:spPr>
        <p:txBody>
          <a:bodyPr/>
          <a:lstStyle/>
          <a:p>
            <a:r>
              <a:rPr lang="en-US" b="1" dirty="0"/>
              <a:t>Waterfall Model - Disadvantages</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a:latin typeface="Times New Roman" panose="02020603050405020304" pitchFamily="18" charset="0"/>
                <a:cs typeface="Times New Roman" panose="02020603050405020304" pitchFamily="18" charset="0"/>
              </a:rPr>
              <a:t>The major disadvantages of the Waterfall Model are as follows −</a:t>
            </a:r>
          </a:p>
          <a:p>
            <a:pPr lvl="0" algn="just"/>
            <a:r>
              <a:rPr lang="en-US" dirty="0">
                <a:latin typeface="Times New Roman" panose="02020603050405020304" pitchFamily="18" charset="0"/>
                <a:cs typeface="Times New Roman" panose="02020603050405020304" pitchFamily="18" charset="0"/>
              </a:rPr>
              <a:t>No working software is produced until late during the life cycle.</a:t>
            </a:r>
          </a:p>
          <a:p>
            <a:pPr lvl="0" algn="just"/>
            <a:r>
              <a:rPr lang="en-US" dirty="0">
                <a:latin typeface="Times New Roman" panose="02020603050405020304" pitchFamily="18" charset="0"/>
                <a:cs typeface="Times New Roman" panose="02020603050405020304" pitchFamily="18" charset="0"/>
              </a:rPr>
              <a:t>High amounts of risk and uncertainty.</a:t>
            </a:r>
          </a:p>
          <a:p>
            <a:pPr lvl="0" algn="just"/>
            <a:r>
              <a:rPr lang="en-US" dirty="0">
                <a:latin typeface="Times New Roman" panose="02020603050405020304" pitchFamily="18" charset="0"/>
                <a:cs typeface="Times New Roman" panose="02020603050405020304" pitchFamily="18" charset="0"/>
              </a:rPr>
              <a:t>Not a good model for complex and object-oriented projects.</a:t>
            </a:r>
          </a:p>
          <a:p>
            <a:pPr lvl="0" algn="just"/>
            <a:r>
              <a:rPr lang="en-US" dirty="0">
                <a:latin typeface="Times New Roman" panose="02020603050405020304" pitchFamily="18" charset="0"/>
                <a:cs typeface="Times New Roman" panose="02020603050405020304" pitchFamily="18" charset="0"/>
              </a:rPr>
              <a:t>Poor model for long and ongoing projects.</a:t>
            </a:r>
          </a:p>
          <a:p>
            <a:pPr lvl="0" algn="just"/>
            <a:r>
              <a:rPr lang="en-US" dirty="0">
                <a:latin typeface="Times New Roman" panose="02020603050405020304" pitchFamily="18" charset="0"/>
                <a:cs typeface="Times New Roman" panose="02020603050405020304" pitchFamily="18" charset="0"/>
              </a:rPr>
              <a:t>Not suitable for the projects where requirements are at a moderate to high risk of changing. So, risk and uncertainty is high with this process model.</a:t>
            </a:r>
          </a:p>
          <a:p>
            <a:pPr lvl="0" algn="just"/>
            <a:r>
              <a:rPr lang="en-US" dirty="0">
                <a:latin typeface="Times New Roman" panose="02020603050405020304" pitchFamily="18" charset="0"/>
                <a:cs typeface="Times New Roman" panose="02020603050405020304" pitchFamily="18" charset="0"/>
              </a:rPr>
              <a:t>It is difficult to measure progress within stages.</a:t>
            </a:r>
          </a:p>
          <a:p>
            <a:pPr lvl="0" algn="just"/>
            <a:r>
              <a:rPr lang="en-US" dirty="0">
                <a:latin typeface="Times New Roman" panose="02020603050405020304" pitchFamily="18" charset="0"/>
                <a:cs typeface="Times New Roman" panose="02020603050405020304" pitchFamily="18" charset="0"/>
              </a:rPr>
              <a:t>Cannot accommodate changing requirements.</a:t>
            </a:r>
          </a:p>
          <a:p>
            <a:pPr lvl="0" algn="just"/>
            <a:r>
              <a:rPr lang="en-US" dirty="0">
                <a:latin typeface="Times New Roman" panose="02020603050405020304" pitchFamily="18" charset="0"/>
                <a:cs typeface="Times New Roman" panose="02020603050405020304" pitchFamily="18" charset="0"/>
              </a:rPr>
              <a:t>Adjusting scope during the life cycle can end a project.</a:t>
            </a:r>
          </a:p>
          <a:p>
            <a:pPr lvl="0" algn="just"/>
            <a:r>
              <a:rPr lang="en-US" dirty="0">
                <a:latin typeface="Times New Roman" panose="02020603050405020304" pitchFamily="18" charset="0"/>
                <a:cs typeface="Times New Roman" panose="02020603050405020304" pitchFamily="18" charset="0"/>
              </a:rPr>
              <a:t>Integration is done at the very end, which doesn't allow identifying any technological or challenges early.</a:t>
            </a:r>
          </a:p>
        </p:txBody>
      </p:sp>
      <p:sp>
        <p:nvSpPr>
          <p:cNvPr id="4" name="Slide Number Placeholder 3"/>
          <p:cNvSpPr>
            <a:spLocks noGrp="1"/>
          </p:cNvSpPr>
          <p:nvPr>
            <p:ph type="sldNum" sz="quarter" idx="12"/>
          </p:nvPr>
        </p:nvSpPr>
        <p:spPr/>
        <p:txBody>
          <a:bodyPr/>
          <a:lstStyle/>
          <a:p>
            <a:fld id="{81ACFABA-A45C-40AA-ABD1-FC8F80DAD626}" type="slidenum">
              <a:rPr lang="en-US" smtClean="0"/>
              <a:t>18</a:t>
            </a:fld>
            <a:endParaRPr lang="en-US"/>
          </a:p>
        </p:txBody>
      </p:sp>
    </p:spTree>
    <p:extLst>
      <p:ext uri="{BB962C8B-B14F-4D97-AF65-F5344CB8AC3E}">
        <p14:creationId xmlns:p14="http://schemas.microsoft.com/office/powerpoint/2010/main" val="31469663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22A6B5-628E-4AA2-8B4B-DDB31933BA96}"/>
              </a:ext>
            </a:extLst>
          </p:cNvPr>
          <p:cNvSpPr>
            <a:spLocks noGrp="1"/>
          </p:cNvSpPr>
          <p:nvPr>
            <p:ph type="title"/>
          </p:nvPr>
        </p:nvSpPr>
        <p:spPr/>
        <p:txBody>
          <a:bodyPr/>
          <a:lstStyle/>
          <a:p>
            <a:r>
              <a:rPr lang="en-US" b="1" dirty="0"/>
              <a:t>Iterative model</a:t>
            </a:r>
          </a:p>
        </p:txBody>
      </p:sp>
      <p:sp>
        <p:nvSpPr>
          <p:cNvPr id="4" name="Slide Number Placeholder 3">
            <a:extLst>
              <a:ext uri="{FF2B5EF4-FFF2-40B4-BE49-F238E27FC236}">
                <a16:creationId xmlns:a16="http://schemas.microsoft.com/office/drawing/2014/main" xmlns="" id="{66C8E389-98E5-4A56-B52F-C87DCA2DA6D3}"/>
              </a:ext>
            </a:extLst>
          </p:cNvPr>
          <p:cNvSpPr>
            <a:spLocks noGrp="1"/>
          </p:cNvSpPr>
          <p:nvPr>
            <p:ph type="sldNum" sz="quarter" idx="12"/>
          </p:nvPr>
        </p:nvSpPr>
        <p:spPr/>
        <p:txBody>
          <a:bodyPr/>
          <a:lstStyle/>
          <a:p>
            <a:fld id="{81ACFABA-A45C-40AA-ABD1-FC8F80DAD626}" type="slidenum">
              <a:rPr lang="en-US" smtClean="0"/>
              <a:t>19</a:t>
            </a:fld>
            <a:endParaRPr lang="en-US"/>
          </a:p>
        </p:txBody>
      </p:sp>
      <p:pic>
        <p:nvPicPr>
          <p:cNvPr id="1028" name="Picture 4" descr="Iterative Model in SDLC - Software Engineering Tutorial">
            <a:extLst>
              <a:ext uri="{FF2B5EF4-FFF2-40B4-BE49-F238E27FC236}">
                <a16:creationId xmlns:a16="http://schemas.microsoft.com/office/drawing/2014/main" xmlns="" id="{653C21A9-9333-4BED-B5D0-19F5B82810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1825" y="1594555"/>
            <a:ext cx="5143500" cy="3838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16893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83E66C-5897-4874-BE52-6EC1306ABE87}"/>
              </a:ext>
            </a:extLst>
          </p:cNvPr>
          <p:cNvSpPr>
            <a:spLocks noGrp="1"/>
          </p:cNvSpPr>
          <p:nvPr>
            <p:ph type="title"/>
          </p:nvPr>
        </p:nvSpPr>
        <p:spPr/>
        <p:txBody>
          <a:bodyPr/>
          <a:lstStyle/>
          <a:p>
            <a:r>
              <a:rPr lang="en-US" b="1" dirty="0"/>
              <a:t>Iterative model</a:t>
            </a:r>
          </a:p>
        </p:txBody>
      </p:sp>
      <p:sp>
        <p:nvSpPr>
          <p:cNvPr id="3" name="Content Placeholder 2">
            <a:extLst>
              <a:ext uri="{FF2B5EF4-FFF2-40B4-BE49-F238E27FC236}">
                <a16:creationId xmlns:a16="http://schemas.microsoft.com/office/drawing/2014/main" xmlns="" id="{A6793B08-323A-4DC3-AEC7-B93C63286096}"/>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An iterative life cycle model does not attempt to start with a full specification of requirements. Instead, development begins by specifying and implementing just part of the software, which can then be reviewed in order to identify further requirements. This process is then repeated, producing a new version of the software for each cycle of the model.</a:t>
            </a:r>
          </a:p>
        </p:txBody>
      </p:sp>
      <p:sp>
        <p:nvSpPr>
          <p:cNvPr id="4" name="Slide Number Placeholder 3">
            <a:extLst>
              <a:ext uri="{FF2B5EF4-FFF2-40B4-BE49-F238E27FC236}">
                <a16:creationId xmlns:a16="http://schemas.microsoft.com/office/drawing/2014/main" xmlns="" id="{822B9244-DC53-4765-886E-1AC0230B9CDB}"/>
              </a:ext>
            </a:extLst>
          </p:cNvPr>
          <p:cNvSpPr>
            <a:spLocks noGrp="1"/>
          </p:cNvSpPr>
          <p:nvPr>
            <p:ph type="sldNum" sz="quarter" idx="12"/>
          </p:nvPr>
        </p:nvSpPr>
        <p:spPr/>
        <p:txBody>
          <a:bodyPr/>
          <a:lstStyle/>
          <a:p>
            <a:fld id="{81ACFABA-A45C-40AA-ABD1-FC8F80DAD626}" type="slidenum">
              <a:rPr lang="en-US" smtClean="0"/>
              <a:t>20</a:t>
            </a:fld>
            <a:endParaRPr lang="en-US"/>
          </a:p>
        </p:txBody>
      </p:sp>
    </p:spTree>
    <p:extLst>
      <p:ext uri="{BB962C8B-B14F-4D97-AF65-F5344CB8AC3E}">
        <p14:creationId xmlns:p14="http://schemas.microsoft.com/office/powerpoint/2010/main" val="19742151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83E66C-5897-4874-BE52-6EC1306ABE87}"/>
              </a:ext>
            </a:extLst>
          </p:cNvPr>
          <p:cNvSpPr>
            <a:spLocks noGrp="1"/>
          </p:cNvSpPr>
          <p:nvPr>
            <p:ph type="title"/>
          </p:nvPr>
        </p:nvSpPr>
        <p:spPr/>
        <p:txBody>
          <a:bodyPr/>
          <a:lstStyle/>
          <a:p>
            <a:r>
              <a:rPr lang="en-US" b="1" dirty="0"/>
              <a:t>Iterative model</a:t>
            </a:r>
          </a:p>
        </p:txBody>
      </p:sp>
      <p:sp>
        <p:nvSpPr>
          <p:cNvPr id="3" name="Content Placeholder 2">
            <a:extLst>
              <a:ext uri="{FF2B5EF4-FFF2-40B4-BE49-F238E27FC236}">
                <a16:creationId xmlns:a16="http://schemas.microsoft.com/office/drawing/2014/main" xmlns="" id="{A6793B08-323A-4DC3-AEC7-B93C63286096}"/>
              </a:ext>
            </a:extLst>
          </p:cNvPr>
          <p:cNvSpPr>
            <a:spLocks noGrp="1"/>
          </p:cNvSpPr>
          <p:nvPr>
            <p:ph idx="1"/>
          </p:nvPr>
        </p:nvSpPr>
        <p:spPr/>
        <p:txBody>
          <a:bodyPr>
            <a:normAutofit/>
          </a:bodyPr>
          <a:lstStyle/>
          <a:p>
            <a:pPr algn="l"/>
            <a:r>
              <a:rPr lang="en-US" b="1" i="0" dirty="0">
                <a:solidFill>
                  <a:srgbClr val="000000"/>
                </a:solidFill>
                <a:effectLst/>
                <a:latin typeface="Times New Roman" panose="02020603050405020304" pitchFamily="18" charset="0"/>
                <a:cs typeface="Times New Roman" panose="02020603050405020304" pitchFamily="18" charset="0"/>
              </a:rPr>
              <a:t>When to use Iterative Model</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When requirements are defined clearly and easy to understand.</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When the software application is large.</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When there is a requirement of changes in future.</a:t>
            </a:r>
          </a:p>
          <a:p>
            <a:pPr algn="just"/>
            <a:r>
              <a:rPr lang="en-US" b="0" i="0" dirty="0">
                <a:solidFill>
                  <a:srgbClr val="000000"/>
                </a:solidFill>
                <a:effectLst/>
                <a:latin typeface="Times New Roman" panose="02020603050405020304" pitchFamily="18" charset="0"/>
                <a:cs typeface="Times New Roman" panose="02020603050405020304" pitchFamily="18" charset="0"/>
              </a:rPr>
              <a:t>Agile works really well when the product vision or features are not well defined. Agile allows product owners to adjust requirements and priorities along the way to take advantage of opportunities and ultimately deliver a better product to all of the project stakeholders.</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822B9244-DC53-4765-886E-1AC0230B9CDB}"/>
              </a:ext>
            </a:extLst>
          </p:cNvPr>
          <p:cNvSpPr>
            <a:spLocks noGrp="1"/>
          </p:cNvSpPr>
          <p:nvPr>
            <p:ph type="sldNum" sz="quarter" idx="12"/>
          </p:nvPr>
        </p:nvSpPr>
        <p:spPr/>
        <p:txBody>
          <a:bodyPr/>
          <a:lstStyle/>
          <a:p>
            <a:fld id="{81ACFABA-A45C-40AA-ABD1-FC8F80DAD626}" type="slidenum">
              <a:rPr lang="en-US" smtClean="0"/>
              <a:t>21</a:t>
            </a:fld>
            <a:endParaRPr lang="en-US"/>
          </a:p>
        </p:txBody>
      </p:sp>
    </p:spTree>
    <p:extLst>
      <p:ext uri="{BB962C8B-B14F-4D97-AF65-F5344CB8AC3E}">
        <p14:creationId xmlns:p14="http://schemas.microsoft.com/office/powerpoint/2010/main" val="38226432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83E66C-5897-4874-BE52-6EC1306ABE87}"/>
              </a:ext>
            </a:extLst>
          </p:cNvPr>
          <p:cNvSpPr>
            <a:spLocks noGrp="1"/>
          </p:cNvSpPr>
          <p:nvPr>
            <p:ph type="title"/>
          </p:nvPr>
        </p:nvSpPr>
        <p:spPr/>
        <p:txBody>
          <a:bodyPr/>
          <a:lstStyle/>
          <a:p>
            <a:r>
              <a:rPr lang="en-US" b="1" dirty="0"/>
              <a:t>Iterative model</a:t>
            </a:r>
          </a:p>
        </p:txBody>
      </p:sp>
      <p:sp>
        <p:nvSpPr>
          <p:cNvPr id="3" name="Content Placeholder 2">
            <a:extLst>
              <a:ext uri="{FF2B5EF4-FFF2-40B4-BE49-F238E27FC236}">
                <a16:creationId xmlns:a16="http://schemas.microsoft.com/office/drawing/2014/main" xmlns="" id="{A6793B08-323A-4DC3-AEC7-B93C63286096}"/>
              </a:ext>
            </a:extLst>
          </p:cNvPr>
          <p:cNvSpPr>
            <a:spLocks noGrp="1"/>
          </p:cNvSpPr>
          <p:nvPr>
            <p:ph idx="1"/>
          </p:nvPr>
        </p:nvSpPr>
        <p:spPr/>
        <p:txBody>
          <a:bodyPr>
            <a:normAutofit lnSpcReduction="10000"/>
          </a:bodyPr>
          <a:lstStyle/>
          <a:p>
            <a:pPr algn="l"/>
            <a:r>
              <a:rPr lang="en-US" b="1" i="0" dirty="0">
                <a:solidFill>
                  <a:srgbClr val="000000"/>
                </a:solidFill>
                <a:effectLst/>
                <a:latin typeface="Times New Roman" panose="02020603050405020304" pitchFamily="18" charset="0"/>
                <a:cs typeface="Times New Roman" panose="02020603050405020304" pitchFamily="18" charset="0"/>
              </a:rPr>
              <a:t>Advantages of Iterative Model</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Generates working software quickly and early during the software life cycle.</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More flexible - less costly to change scope and requirements.</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Easier to test and debug during a smaller iteration.</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Easier to manage risk because risky pieces are identified and handled during its iteration.</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Each iteration is an easily managed milestone.</a:t>
            </a:r>
          </a:p>
          <a:p>
            <a:pPr algn="l"/>
            <a:r>
              <a:rPr lang="en-US" b="1" i="0" dirty="0">
                <a:solidFill>
                  <a:srgbClr val="000000"/>
                </a:solidFill>
                <a:effectLst/>
                <a:latin typeface="Times New Roman" panose="02020603050405020304" pitchFamily="18" charset="0"/>
                <a:cs typeface="Times New Roman" panose="02020603050405020304" pitchFamily="18" charset="0"/>
              </a:rPr>
              <a:t>Disadvantages of Iterative Model</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Each phase of an iteration is rigid and do not overlap each other.</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Problems may arise pertaining to system architecture because not all requirements are gathered up front for the entire software life cycle.</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822B9244-DC53-4765-886E-1AC0230B9CDB}"/>
              </a:ext>
            </a:extLst>
          </p:cNvPr>
          <p:cNvSpPr>
            <a:spLocks noGrp="1"/>
          </p:cNvSpPr>
          <p:nvPr>
            <p:ph type="sldNum" sz="quarter" idx="12"/>
          </p:nvPr>
        </p:nvSpPr>
        <p:spPr/>
        <p:txBody>
          <a:bodyPr/>
          <a:lstStyle/>
          <a:p>
            <a:fld id="{81ACFABA-A45C-40AA-ABD1-FC8F80DAD626}" type="slidenum">
              <a:rPr lang="en-US" smtClean="0"/>
              <a:t>22</a:t>
            </a:fld>
            <a:endParaRPr lang="en-US"/>
          </a:p>
        </p:txBody>
      </p:sp>
    </p:spTree>
    <p:extLst>
      <p:ext uri="{BB962C8B-B14F-4D97-AF65-F5344CB8AC3E}">
        <p14:creationId xmlns:p14="http://schemas.microsoft.com/office/powerpoint/2010/main" val="3448807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C7FBC9-AD32-4546-8343-38A76F755003}"/>
              </a:ext>
            </a:extLst>
          </p:cNvPr>
          <p:cNvSpPr>
            <a:spLocks noGrp="1"/>
          </p:cNvSpPr>
          <p:nvPr>
            <p:ph type="title"/>
          </p:nvPr>
        </p:nvSpPr>
        <p:spPr/>
        <p:txBody>
          <a:bodyPr/>
          <a:lstStyle/>
          <a:p>
            <a:r>
              <a:rPr lang="en-US" b="1" dirty="0"/>
              <a:t>Incremental Development Model</a:t>
            </a:r>
          </a:p>
        </p:txBody>
      </p:sp>
      <p:sp>
        <p:nvSpPr>
          <p:cNvPr id="3" name="Content Placeholder 2">
            <a:extLst>
              <a:ext uri="{FF2B5EF4-FFF2-40B4-BE49-F238E27FC236}">
                <a16:creationId xmlns:a16="http://schemas.microsoft.com/office/drawing/2014/main" xmlns="" id="{6E5666CC-B01D-4035-8C20-7464F9441FBF}"/>
              </a:ext>
            </a:extLst>
          </p:cNvPr>
          <p:cNvSpPr>
            <a:spLocks noGrp="1"/>
          </p:cNvSpPr>
          <p:nvPr>
            <p:ph idx="1"/>
          </p:nvPr>
        </p:nvSpPr>
        <p:spPr/>
        <p:txBody>
          <a:bodyPr>
            <a:normAutofit/>
          </a:bodyPr>
          <a:lstStyle/>
          <a:p>
            <a:r>
              <a:rPr lang="en-US" b="0" i="0" dirty="0">
                <a:solidFill>
                  <a:srgbClr val="000000"/>
                </a:solidFill>
                <a:effectLst/>
                <a:latin typeface="Times New Roman" panose="02020603050405020304" pitchFamily="18" charset="0"/>
                <a:cs typeface="Times New Roman" panose="02020603050405020304" pitchFamily="18" charset="0"/>
              </a:rPr>
              <a:t>Incremental Model is a process of software development where requirements are broken down into multiple standalone modules of software development cycle. Incremental development is done in steps from analysis design, implementation, testing/verification, maintenance.</a:t>
            </a:r>
          </a:p>
          <a:p>
            <a:pPr algn="l"/>
            <a:r>
              <a:rPr lang="en-US" b="1" i="0" dirty="0">
                <a:solidFill>
                  <a:srgbClr val="000000"/>
                </a:solidFill>
                <a:effectLst/>
                <a:latin typeface="Times New Roman" panose="02020603050405020304" pitchFamily="18" charset="0"/>
                <a:cs typeface="Times New Roman" panose="02020603050405020304" pitchFamily="18" charset="0"/>
              </a:rPr>
              <a:t>Characteristics of an Incremental module includes</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System development is broken down into many mini development projects</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Partial systems are successively built to produce a final total system</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Highest priority requirement is tackled first</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Once the requirement is developed, requirement for that increment are frozen</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5AC8E5A5-A9BB-46CC-9334-1BCB0E0F0B1D}"/>
              </a:ext>
            </a:extLst>
          </p:cNvPr>
          <p:cNvSpPr>
            <a:spLocks noGrp="1"/>
          </p:cNvSpPr>
          <p:nvPr>
            <p:ph type="sldNum" sz="quarter" idx="12"/>
          </p:nvPr>
        </p:nvSpPr>
        <p:spPr/>
        <p:txBody>
          <a:bodyPr/>
          <a:lstStyle/>
          <a:p>
            <a:fld id="{81ACFABA-A45C-40AA-ABD1-FC8F80DAD626}" type="slidenum">
              <a:rPr lang="en-US" smtClean="0"/>
              <a:t>23</a:t>
            </a:fld>
            <a:endParaRPr lang="en-US"/>
          </a:p>
        </p:txBody>
      </p:sp>
    </p:spTree>
    <p:extLst>
      <p:ext uri="{BB962C8B-B14F-4D97-AF65-F5344CB8AC3E}">
        <p14:creationId xmlns:p14="http://schemas.microsoft.com/office/powerpoint/2010/main" val="20430354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C7FBC9-AD32-4546-8343-38A76F755003}"/>
              </a:ext>
            </a:extLst>
          </p:cNvPr>
          <p:cNvSpPr>
            <a:spLocks noGrp="1"/>
          </p:cNvSpPr>
          <p:nvPr>
            <p:ph type="title"/>
          </p:nvPr>
        </p:nvSpPr>
        <p:spPr/>
        <p:txBody>
          <a:bodyPr/>
          <a:lstStyle/>
          <a:p>
            <a:r>
              <a:rPr lang="en-US" b="1" dirty="0"/>
              <a:t>Incremental Development Model</a:t>
            </a:r>
          </a:p>
        </p:txBody>
      </p:sp>
      <p:sp>
        <p:nvSpPr>
          <p:cNvPr id="4" name="Slide Number Placeholder 3">
            <a:extLst>
              <a:ext uri="{FF2B5EF4-FFF2-40B4-BE49-F238E27FC236}">
                <a16:creationId xmlns:a16="http://schemas.microsoft.com/office/drawing/2014/main" xmlns="" id="{5AC8E5A5-A9BB-46CC-9334-1BCB0E0F0B1D}"/>
              </a:ext>
            </a:extLst>
          </p:cNvPr>
          <p:cNvSpPr>
            <a:spLocks noGrp="1"/>
          </p:cNvSpPr>
          <p:nvPr>
            <p:ph type="sldNum" sz="quarter" idx="12"/>
          </p:nvPr>
        </p:nvSpPr>
        <p:spPr/>
        <p:txBody>
          <a:bodyPr/>
          <a:lstStyle/>
          <a:p>
            <a:fld id="{81ACFABA-A45C-40AA-ABD1-FC8F80DAD626}" type="slidenum">
              <a:rPr lang="en-US" smtClean="0"/>
              <a:t>24</a:t>
            </a:fld>
            <a:endParaRPr lang="en-US"/>
          </a:p>
        </p:txBody>
      </p:sp>
      <p:pic>
        <p:nvPicPr>
          <p:cNvPr id="8" name="Picture 7">
            <a:extLst>
              <a:ext uri="{FF2B5EF4-FFF2-40B4-BE49-F238E27FC236}">
                <a16:creationId xmlns:a16="http://schemas.microsoft.com/office/drawing/2014/main" xmlns="" id="{A923E91F-EEFA-4E65-AE9C-E5B49A2E2FF0}"/>
              </a:ext>
            </a:extLst>
          </p:cNvPr>
          <p:cNvPicPr>
            <a:picLocks noChangeAspect="1"/>
          </p:cNvPicPr>
          <p:nvPr/>
        </p:nvPicPr>
        <p:blipFill>
          <a:blip r:embed="rId2"/>
          <a:stretch>
            <a:fillRect/>
          </a:stretch>
        </p:blipFill>
        <p:spPr>
          <a:xfrm>
            <a:off x="1179941" y="2053239"/>
            <a:ext cx="9832117" cy="4402107"/>
          </a:xfrm>
          <a:prstGeom prst="rect">
            <a:avLst/>
          </a:prstGeom>
        </p:spPr>
      </p:pic>
    </p:spTree>
    <p:extLst>
      <p:ext uri="{BB962C8B-B14F-4D97-AF65-F5344CB8AC3E}">
        <p14:creationId xmlns:p14="http://schemas.microsoft.com/office/powerpoint/2010/main" val="21296385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C7FBC9-AD32-4546-8343-38A76F755003}"/>
              </a:ext>
            </a:extLst>
          </p:cNvPr>
          <p:cNvSpPr>
            <a:spLocks noGrp="1"/>
          </p:cNvSpPr>
          <p:nvPr>
            <p:ph type="title"/>
          </p:nvPr>
        </p:nvSpPr>
        <p:spPr/>
        <p:txBody>
          <a:bodyPr/>
          <a:lstStyle/>
          <a:p>
            <a:r>
              <a:rPr lang="en-US" b="1" dirty="0"/>
              <a:t>Incremental Development model</a:t>
            </a:r>
          </a:p>
        </p:txBody>
      </p:sp>
      <p:sp>
        <p:nvSpPr>
          <p:cNvPr id="3" name="Content Placeholder 2">
            <a:extLst>
              <a:ext uri="{FF2B5EF4-FFF2-40B4-BE49-F238E27FC236}">
                <a16:creationId xmlns:a16="http://schemas.microsoft.com/office/drawing/2014/main" xmlns="" id="{6E5666CC-B01D-4035-8C20-7464F9441FBF}"/>
              </a:ext>
            </a:extLst>
          </p:cNvPr>
          <p:cNvSpPr>
            <a:spLocks noGrp="1"/>
          </p:cNvSpPr>
          <p:nvPr>
            <p:ph idx="1"/>
          </p:nvPr>
        </p:nvSpPr>
        <p:spPr/>
        <p:txBody>
          <a:bodyPr>
            <a:normAutofit/>
          </a:bodyPr>
          <a:lstStyle/>
          <a:p>
            <a:r>
              <a:rPr lang="en-US" b="0" i="0" dirty="0">
                <a:solidFill>
                  <a:srgbClr val="000000"/>
                </a:solidFill>
                <a:effectLst/>
                <a:latin typeface="Times New Roman" panose="02020603050405020304" pitchFamily="18" charset="0"/>
                <a:cs typeface="Times New Roman" panose="02020603050405020304" pitchFamily="18" charset="0"/>
              </a:rPr>
              <a:t>Incremental Model is a process of software development where requirements are broken down into multiple standalone modules of software development cycle. Incremental development is done in steps from analysis design, implementation, testing/verification, maintenance.</a:t>
            </a:r>
          </a:p>
          <a:p>
            <a:pPr algn="l"/>
            <a:r>
              <a:rPr lang="en-US" b="1" i="0" dirty="0">
                <a:solidFill>
                  <a:srgbClr val="000000"/>
                </a:solidFill>
                <a:effectLst/>
                <a:latin typeface="Times New Roman" panose="02020603050405020304" pitchFamily="18" charset="0"/>
                <a:cs typeface="Times New Roman" panose="02020603050405020304" pitchFamily="18" charset="0"/>
              </a:rPr>
              <a:t>Characteristics of an Incremental module includes</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System development is broken down into many mini development projects</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Partial systems are successively built to produce a final total system</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Highest priority requirement is tackled first</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Once the requirement is developed, requirement for that increment are frozen</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5AC8E5A5-A9BB-46CC-9334-1BCB0E0F0B1D}"/>
              </a:ext>
            </a:extLst>
          </p:cNvPr>
          <p:cNvSpPr>
            <a:spLocks noGrp="1"/>
          </p:cNvSpPr>
          <p:nvPr>
            <p:ph type="sldNum" sz="quarter" idx="12"/>
          </p:nvPr>
        </p:nvSpPr>
        <p:spPr/>
        <p:txBody>
          <a:bodyPr/>
          <a:lstStyle/>
          <a:p>
            <a:fld id="{81ACFABA-A45C-40AA-ABD1-FC8F80DAD626}" type="slidenum">
              <a:rPr lang="en-US" smtClean="0"/>
              <a:t>25</a:t>
            </a:fld>
            <a:endParaRPr lang="en-US"/>
          </a:p>
        </p:txBody>
      </p:sp>
    </p:spTree>
    <p:extLst>
      <p:ext uri="{BB962C8B-B14F-4D97-AF65-F5344CB8AC3E}">
        <p14:creationId xmlns:p14="http://schemas.microsoft.com/office/powerpoint/2010/main" val="20400874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C7FBC9-AD32-4546-8343-38A76F755003}"/>
              </a:ext>
            </a:extLst>
          </p:cNvPr>
          <p:cNvSpPr>
            <a:spLocks noGrp="1"/>
          </p:cNvSpPr>
          <p:nvPr>
            <p:ph type="title"/>
          </p:nvPr>
        </p:nvSpPr>
        <p:spPr/>
        <p:txBody>
          <a:bodyPr/>
          <a:lstStyle/>
          <a:p>
            <a:r>
              <a:rPr lang="en-US" b="1" dirty="0"/>
              <a:t>Incremental Model</a:t>
            </a:r>
          </a:p>
        </p:txBody>
      </p:sp>
      <p:sp>
        <p:nvSpPr>
          <p:cNvPr id="3" name="Content Placeholder 2">
            <a:extLst>
              <a:ext uri="{FF2B5EF4-FFF2-40B4-BE49-F238E27FC236}">
                <a16:creationId xmlns:a16="http://schemas.microsoft.com/office/drawing/2014/main" xmlns="" id="{6E5666CC-B01D-4035-8C20-7464F9441FBF}"/>
              </a:ext>
            </a:extLst>
          </p:cNvPr>
          <p:cNvSpPr>
            <a:spLocks noGrp="1"/>
          </p:cNvSpPr>
          <p:nvPr>
            <p:ph idx="1"/>
          </p:nvPr>
        </p:nvSpPr>
        <p:spPr>
          <a:xfrm>
            <a:off x="1069848" y="1715677"/>
            <a:ext cx="10058400" cy="4922231"/>
          </a:xfrm>
        </p:spPr>
        <p:txBody>
          <a:bodyPr>
            <a:normAutofit fontScale="85000" lnSpcReduction="20000"/>
          </a:bodyPr>
          <a:lstStyle/>
          <a:p>
            <a:pPr algn="l"/>
            <a:r>
              <a:rPr lang="en-US" b="1" i="0" dirty="0">
                <a:solidFill>
                  <a:srgbClr val="000000"/>
                </a:solidFill>
                <a:effectLst/>
                <a:latin typeface="Times New Roman" panose="02020603050405020304" pitchFamily="18" charset="0"/>
                <a:cs typeface="Times New Roman" panose="02020603050405020304" pitchFamily="18" charset="0"/>
              </a:rPr>
              <a:t>Advantages of Incremental Model</a:t>
            </a:r>
          </a:p>
          <a:p>
            <a:pPr algn="just"/>
            <a:r>
              <a:rPr lang="en-US" b="0" i="0" dirty="0">
                <a:solidFill>
                  <a:srgbClr val="000000"/>
                </a:solidFill>
                <a:effectLst/>
                <a:latin typeface="Times New Roman" panose="02020603050405020304" pitchFamily="18" charset="0"/>
                <a:cs typeface="Times New Roman" panose="02020603050405020304" pitchFamily="18" charset="0"/>
              </a:rPr>
              <a:t>Below are some advantages of the Incremental Model.</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The software will be generated quickly during the software life cycle</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It is flexible and less expensive to change requirements and scope</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Throughout the development stages changes can be done</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This model is less costly compared to others</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A customer can respond to each building</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Errors are easy to be identified</a:t>
            </a:r>
          </a:p>
          <a:p>
            <a:pPr algn="l"/>
            <a:r>
              <a:rPr lang="en-US" b="1" i="0" dirty="0">
                <a:solidFill>
                  <a:srgbClr val="000000"/>
                </a:solidFill>
                <a:effectLst/>
                <a:latin typeface="Times New Roman" panose="02020603050405020304" pitchFamily="18" charset="0"/>
                <a:cs typeface="Times New Roman" panose="02020603050405020304" pitchFamily="18" charset="0"/>
              </a:rPr>
              <a:t>Disadvantages of Incremental Model</a:t>
            </a:r>
          </a:p>
          <a:p>
            <a:pPr algn="just"/>
            <a:r>
              <a:rPr lang="en-US" b="0" i="0" dirty="0">
                <a:solidFill>
                  <a:srgbClr val="000000"/>
                </a:solidFill>
                <a:effectLst/>
                <a:latin typeface="Times New Roman" panose="02020603050405020304" pitchFamily="18" charset="0"/>
                <a:cs typeface="Times New Roman" panose="02020603050405020304" pitchFamily="18" charset="0"/>
              </a:rPr>
              <a:t>Below are some main disadvantages of the Incremental model.</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It requires a good planning designing</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Problems might cause due to system architecture as such not all requirements collected up front for the entire software lifecycle</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Each iteration phase is rigid and does not overlap each other</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Rectifying a problem in one unit requires correction in all the units and consumes a lot of time</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5AC8E5A5-A9BB-46CC-9334-1BCB0E0F0B1D}"/>
              </a:ext>
            </a:extLst>
          </p:cNvPr>
          <p:cNvSpPr>
            <a:spLocks noGrp="1"/>
          </p:cNvSpPr>
          <p:nvPr>
            <p:ph type="sldNum" sz="quarter" idx="12"/>
          </p:nvPr>
        </p:nvSpPr>
        <p:spPr/>
        <p:txBody>
          <a:bodyPr/>
          <a:lstStyle/>
          <a:p>
            <a:fld id="{81ACFABA-A45C-40AA-ABD1-FC8F80DAD626}" type="slidenum">
              <a:rPr lang="en-US" smtClean="0"/>
              <a:t>26</a:t>
            </a:fld>
            <a:endParaRPr lang="en-US"/>
          </a:p>
        </p:txBody>
      </p:sp>
    </p:spTree>
    <p:extLst>
      <p:ext uri="{BB962C8B-B14F-4D97-AF65-F5344CB8AC3E}">
        <p14:creationId xmlns:p14="http://schemas.microsoft.com/office/powerpoint/2010/main" val="13398162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C7FBC9-AD32-4546-8343-38A76F755003}"/>
              </a:ext>
            </a:extLst>
          </p:cNvPr>
          <p:cNvSpPr>
            <a:spLocks noGrp="1"/>
          </p:cNvSpPr>
          <p:nvPr>
            <p:ph type="title"/>
          </p:nvPr>
        </p:nvSpPr>
        <p:spPr/>
        <p:txBody>
          <a:bodyPr/>
          <a:lstStyle/>
          <a:p>
            <a:r>
              <a:rPr lang="en-US" dirty="0"/>
              <a:t>Difference between Iterative and Incremental model</a:t>
            </a:r>
          </a:p>
        </p:txBody>
      </p:sp>
      <p:sp>
        <p:nvSpPr>
          <p:cNvPr id="4" name="Slide Number Placeholder 3">
            <a:extLst>
              <a:ext uri="{FF2B5EF4-FFF2-40B4-BE49-F238E27FC236}">
                <a16:creationId xmlns:a16="http://schemas.microsoft.com/office/drawing/2014/main" xmlns="" id="{5AC8E5A5-A9BB-46CC-9334-1BCB0E0F0B1D}"/>
              </a:ext>
            </a:extLst>
          </p:cNvPr>
          <p:cNvSpPr>
            <a:spLocks noGrp="1"/>
          </p:cNvSpPr>
          <p:nvPr>
            <p:ph type="sldNum" sz="quarter" idx="12"/>
          </p:nvPr>
        </p:nvSpPr>
        <p:spPr/>
        <p:txBody>
          <a:bodyPr/>
          <a:lstStyle/>
          <a:p>
            <a:fld id="{81ACFABA-A45C-40AA-ABD1-FC8F80DAD626}" type="slidenum">
              <a:rPr lang="en-US" smtClean="0"/>
              <a:t>27</a:t>
            </a:fld>
            <a:endParaRPr lang="en-US"/>
          </a:p>
        </p:txBody>
      </p:sp>
      <p:pic>
        <p:nvPicPr>
          <p:cNvPr id="4098" name="Picture 2" descr="Table 1. Comparison of Iterative waterfall and Incremental Model : An  Analytic Method to Study the Comparative Efficiency of Different Software  Model : Science and Education Publishing">
            <a:extLst>
              <a:ext uri="{FF2B5EF4-FFF2-40B4-BE49-F238E27FC236}">
                <a16:creationId xmlns:a16="http://schemas.microsoft.com/office/drawing/2014/main" xmlns="" id="{E1C267F1-2FC8-4C9F-88CD-24E1E3D4F7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748" y="2187993"/>
            <a:ext cx="5243751" cy="400367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What is Iterative, Incremental Delivery? The Hunt for the Perfect Example.  | Scrum.org">
            <a:extLst>
              <a:ext uri="{FF2B5EF4-FFF2-40B4-BE49-F238E27FC236}">
                <a16:creationId xmlns:a16="http://schemas.microsoft.com/office/drawing/2014/main" xmlns="" id="{460E3342-F87D-486F-B661-3B51D27D88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717" y="2256557"/>
            <a:ext cx="4730558" cy="35339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77064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F09D4E-A2DD-40B5-BFCD-BE9DD7DCD4F9}"/>
              </a:ext>
            </a:extLst>
          </p:cNvPr>
          <p:cNvSpPr>
            <a:spLocks noGrp="1"/>
          </p:cNvSpPr>
          <p:nvPr>
            <p:ph type="title"/>
          </p:nvPr>
        </p:nvSpPr>
        <p:spPr/>
        <p:txBody>
          <a:bodyPr/>
          <a:lstStyle/>
          <a:p>
            <a:r>
              <a:rPr lang="en-US" b="1" dirty="0"/>
              <a:t>Integration and Configuration model</a:t>
            </a:r>
          </a:p>
        </p:txBody>
      </p:sp>
      <p:sp>
        <p:nvSpPr>
          <p:cNvPr id="4" name="Slide Number Placeholder 3">
            <a:extLst>
              <a:ext uri="{FF2B5EF4-FFF2-40B4-BE49-F238E27FC236}">
                <a16:creationId xmlns:a16="http://schemas.microsoft.com/office/drawing/2014/main" xmlns="" id="{649A0571-81F8-4059-A445-C6F0190E8B8C}"/>
              </a:ext>
            </a:extLst>
          </p:cNvPr>
          <p:cNvSpPr>
            <a:spLocks noGrp="1"/>
          </p:cNvSpPr>
          <p:nvPr>
            <p:ph type="sldNum" sz="quarter" idx="12"/>
          </p:nvPr>
        </p:nvSpPr>
        <p:spPr/>
        <p:txBody>
          <a:bodyPr/>
          <a:lstStyle/>
          <a:p>
            <a:fld id="{81ACFABA-A45C-40AA-ABD1-FC8F80DAD626}" type="slidenum">
              <a:rPr lang="en-US" smtClean="0"/>
              <a:t>28</a:t>
            </a:fld>
            <a:endParaRPr lang="en-US"/>
          </a:p>
        </p:txBody>
      </p:sp>
      <p:pic>
        <p:nvPicPr>
          <p:cNvPr id="5122" name="Picture 2" descr="Solved Consider the integration and configuration process | Chegg.com">
            <a:extLst>
              <a:ext uri="{FF2B5EF4-FFF2-40B4-BE49-F238E27FC236}">
                <a16:creationId xmlns:a16="http://schemas.microsoft.com/office/drawing/2014/main" xmlns="" id="{65063750-96BE-4FA6-BCB5-86BBE09FF66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417039"/>
            <a:ext cx="10515600" cy="34513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96003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C7FBC9-AD32-4546-8343-38A76F755003}"/>
              </a:ext>
            </a:extLst>
          </p:cNvPr>
          <p:cNvSpPr>
            <a:spLocks noGrp="1"/>
          </p:cNvSpPr>
          <p:nvPr>
            <p:ph type="title"/>
          </p:nvPr>
        </p:nvSpPr>
        <p:spPr/>
        <p:txBody>
          <a:bodyPr/>
          <a:lstStyle/>
          <a:p>
            <a:r>
              <a:rPr lang="en-US" b="1" dirty="0"/>
              <a:t>Incremental Development Model</a:t>
            </a:r>
          </a:p>
        </p:txBody>
      </p:sp>
      <p:sp>
        <p:nvSpPr>
          <p:cNvPr id="3" name="Content Placeholder 2">
            <a:extLst>
              <a:ext uri="{FF2B5EF4-FFF2-40B4-BE49-F238E27FC236}">
                <a16:creationId xmlns:a16="http://schemas.microsoft.com/office/drawing/2014/main" xmlns="" id="{6E5666CC-B01D-4035-8C20-7464F9441FBF}"/>
              </a:ext>
            </a:extLst>
          </p:cNvPr>
          <p:cNvSpPr>
            <a:spLocks noGrp="1"/>
          </p:cNvSpPr>
          <p:nvPr>
            <p:ph idx="1"/>
          </p:nvPr>
        </p:nvSpPr>
        <p:spPr/>
        <p:txBody>
          <a:bodyPr>
            <a:normAutofit/>
          </a:bodyPr>
          <a:lstStyle/>
          <a:p>
            <a:pPr algn="l"/>
            <a:r>
              <a:rPr lang="en-US" b="1" i="0" dirty="0">
                <a:solidFill>
                  <a:srgbClr val="000000"/>
                </a:solidFill>
                <a:effectLst/>
                <a:latin typeface="Times New Roman" panose="02020603050405020304" pitchFamily="18" charset="0"/>
                <a:cs typeface="Times New Roman" panose="02020603050405020304" pitchFamily="18" charset="0"/>
              </a:rPr>
              <a:t>When to use Incremental models?</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Requirements of the system are clearly understood</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When demand for an early release of a product arises</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When software engineering team are not very well skilled or trained</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When high-risk features and goals are involved</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Such methodology is more in use for web application and product based companies</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5AC8E5A5-A9BB-46CC-9334-1BCB0E0F0B1D}"/>
              </a:ext>
            </a:extLst>
          </p:cNvPr>
          <p:cNvSpPr>
            <a:spLocks noGrp="1"/>
          </p:cNvSpPr>
          <p:nvPr>
            <p:ph type="sldNum" sz="quarter" idx="12"/>
          </p:nvPr>
        </p:nvSpPr>
        <p:spPr/>
        <p:txBody>
          <a:bodyPr/>
          <a:lstStyle/>
          <a:p>
            <a:fld id="{81ACFABA-A45C-40AA-ABD1-FC8F80DAD626}" type="slidenum">
              <a:rPr lang="en-US" smtClean="0"/>
              <a:t>29</a:t>
            </a:fld>
            <a:endParaRPr lang="en-US"/>
          </a:p>
        </p:txBody>
      </p:sp>
    </p:spTree>
    <p:extLst>
      <p:ext uri="{BB962C8B-B14F-4D97-AF65-F5344CB8AC3E}">
        <p14:creationId xmlns:p14="http://schemas.microsoft.com/office/powerpoint/2010/main" val="31215271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591B6B-8796-4BA0-9C73-533914EB9D57}"/>
              </a:ext>
            </a:extLst>
          </p:cNvPr>
          <p:cNvSpPr>
            <a:spLocks noGrp="1"/>
          </p:cNvSpPr>
          <p:nvPr>
            <p:ph type="title"/>
          </p:nvPr>
        </p:nvSpPr>
        <p:spPr>
          <a:xfrm>
            <a:off x="1069848" y="484632"/>
            <a:ext cx="10657096" cy="1609344"/>
          </a:xfrm>
        </p:spPr>
        <p:txBody>
          <a:bodyPr/>
          <a:lstStyle/>
          <a:p>
            <a:r>
              <a:rPr lang="en-US" b="1" dirty="0"/>
              <a:t>Integration and Configuration</a:t>
            </a:r>
          </a:p>
        </p:txBody>
      </p:sp>
      <p:sp>
        <p:nvSpPr>
          <p:cNvPr id="3" name="Content Placeholder 2">
            <a:extLst>
              <a:ext uri="{FF2B5EF4-FFF2-40B4-BE49-F238E27FC236}">
                <a16:creationId xmlns:a16="http://schemas.microsoft.com/office/drawing/2014/main" xmlns="" id="{AF4F4098-023F-4E67-A756-E0FEC4C7E43A}"/>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Concept of this model is to reuse parts of existing system and integrate these parts and configure according to requirements.</a:t>
            </a:r>
          </a:p>
          <a:p>
            <a:pPr lvl="1"/>
            <a:r>
              <a:rPr lang="en-US" dirty="0">
                <a:latin typeface="Times New Roman" panose="02020603050405020304" pitchFamily="18" charset="0"/>
                <a:cs typeface="Times New Roman" panose="02020603050405020304" pitchFamily="18" charset="0"/>
              </a:rPr>
              <a:t>Requirement specification: The expected features and functionality of system to be developed is explored.</a:t>
            </a:r>
          </a:p>
          <a:p>
            <a:pPr lvl="1"/>
            <a:r>
              <a:rPr lang="en-US" dirty="0">
                <a:latin typeface="Times New Roman" panose="02020603050405020304" pitchFamily="18" charset="0"/>
                <a:cs typeface="Times New Roman" panose="02020603050405020304" pitchFamily="18" charset="0"/>
              </a:rPr>
              <a:t>Software discovery: Is there any available systems that nearly satisfies the requirement specified by the client.</a:t>
            </a:r>
          </a:p>
          <a:p>
            <a:pPr lvl="1"/>
            <a:r>
              <a:rPr lang="en-US" dirty="0">
                <a:latin typeface="Times New Roman" panose="02020603050405020304" pitchFamily="18" charset="0"/>
                <a:cs typeface="Times New Roman" panose="02020603050405020304" pitchFamily="18" charset="0"/>
              </a:rPr>
              <a:t>Software evaluation: The discovered software are evaluated in detail.</a:t>
            </a:r>
          </a:p>
          <a:p>
            <a:pPr lvl="1"/>
            <a:r>
              <a:rPr lang="en-US" dirty="0">
                <a:latin typeface="Times New Roman" panose="02020603050405020304" pitchFamily="18" charset="0"/>
                <a:cs typeface="Times New Roman" panose="02020603050405020304" pitchFamily="18" charset="0"/>
              </a:rPr>
              <a:t>Requirement refinement: Trying to adjust the requirement according to the available system . If trade off is failed then parts of system is reused.</a:t>
            </a:r>
          </a:p>
          <a:p>
            <a:pPr lvl="1"/>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Adopt components with new developed components and integrate system</a:t>
            </a:r>
          </a:p>
        </p:txBody>
      </p:sp>
      <p:sp>
        <p:nvSpPr>
          <p:cNvPr id="4" name="Slide Number Placeholder 3">
            <a:extLst>
              <a:ext uri="{FF2B5EF4-FFF2-40B4-BE49-F238E27FC236}">
                <a16:creationId xmlns:a16="http://schemas.microsoft.com/office/drawing/2014/main" xmlns="" id="{6909E85F-FDBE-4168-A8D0-EB11B9EBEE99}"/>
              </a:ext>
            </a:extLst>
          </p:cNvPr>
          <p:cNvSpPr>
            <a:spLocks noGrp="1"/>
          </p:cNvSpPr>
          <p:nvPr>
            <p:ph type="sldNum" sz="quarter" idx="12"/>
          </p:nvPr>
        </p:nvSpPr>
        <p:spPr/>
        <p:txBody>
          <a:bodyPr/>
          <a:lstStyle/>
          <a:p>
            <a:fld id="{81ACFABA-A45C-40AA-ABD1-FC8F80DAD626}" type="slidenum">
              <a:rPr lang="en-US" smtClean="0"/>
              <a:t>30</a:t>
            </a:fld>
            <a:endParaRPr lang="en-US"/>
          </a:p>
        </p:txBody>
      </p:sp>
    </p:spTree>
    <p:extLst>
      <p:ext uri="{BB962C8B-B14F-4D97-AF65-F5344CB8AC3E}">
        <p14:creationId xmlns:p14="http://schemas.microsoft.com/office/powerpoint/2010/main" val="36238460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591B6B-8796-4BA0-9C73-533914EB9D57}"/>
              </a:ext>
            </a:extLst>
          </p:cNvPr>
          <p:cNvSpPr>
            <a:spLocks noGrp="1"/>
          </p:cNvSpPr>
          <p:nvPr>
            <p:ph type="title"/>
          </p:nvPr>
        </p:nvSpPr>
        <p:spPr>
          <a:xfrm>
            <a:off x="1069847" y="484632"/>
            <a:ext cx="10543975" cy="1609344"/>
          </a:xfrm>
        </p:spPr>
        <p:txBody>
          <a:bodyPr/>
          <a:lstStyle/>
          <a:p>
            <a:r>
              <a:rPr lang="en-US" b="1" dirty="0"/>
              <a:t>Integration and Configuration</a:t>
            </a:r>
          </a:p>
        </p:txBody>
      </p:sp>
      <p:sp>
        <p:nvSpPr>
          <p:cNvPr id="4" name="Slide Number Placeholder 3">
            <a:extLst>
              <a:ext uri="{FF2B5EF4-FFF2-40B4-BE49-F238E27FC236}">
                <a16:creationId xmlns:a16="http://schemas.microsoft.com/office/drawing/2014/main" xmlns="" id="{6909E85F-FDBE-4168-A8D0-EB11B9EBEE99}"/>
              </a:ext>
            </a:extLst>
          </p:cNvPr>
          <p:cNvSpPr>
            <a:spLocks noGrp="1"/>
          </p:cNvSpPr>
          <p:nvPr>
            <p:ph type="sldNum" sz="quarter" idx="12"/>
          </p:nvPr>
        </p:nvSpPr>
        <p:spPr/>
        <p:txBody>
          <a:bodyPr/>
          <a:lstStyle/>
          <a:p>
            <a:fld id="{81ACFABA-A45C-40AA-ABD1-FC8F80DAD626}" type="slidenum">
              <a:rPr lang="en-US" smtClean="0"/>
              <a:t>31</a:t>
            </a:fld>
            <a:endParaRPr lang="en-US"/>
          </a:p>
        </p:txBody>
      </p:sp>
      <p:pic>
        <p:nvPicPr>
          <p:cNvPr id="8" name="Picture 7">
            <a:extLst>
              <a:ext uri="{FF2B5EF4-FFF2-40B4-BE49-F238E27FC236}">
                <a16:creationId xmlns:a16="http://schemas.microsoft.com/office/drawing/2014/main" xmlns="" id="{5BE6BF0E-847E-4B54-A03B-DBBEE9617EFD}"/>
              </a:ext>
            </a:extLst>
          </p:cNvPr>
          <p:cNvPicPr>
            <a:picLocks noChangeAspect="1"/>
          </p:cNvPicPr>
          <p:nvPr/>
        </p:nvPicPr>
        <p:blipFill>
          <a:blip r:embed="rId2"/>
          <a:stretch>
            <a:fillRect/>
          </a:stretch>
        </p:blipFill>
        <p:spPr>
          <a:xfrm>
            <a:off x="2009205" y="2093976"/>
            <a:ext cx="6848534" cy="4262374"/>
          </a:xfrm>
          <a:prstGeom prst="rect">
            <a:avLst/>
          </a:prstGeom>
        </p:spPr>
      </p:pic>
    </p:spTree>
    <p:extLst>
      <p:ext uri="{BB962C8B-B14F-4D97-AF65-F5344CB8AC3E}">
        <p14:creationId xmlns:p14="http://schemas.microsoft.com/office/powerpoint/2010/main" val="1038504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 1:</a:t>
            </a:r>
          </a:p>
        </p:txBody>
      </p:sp>
      <p:sp>
        <p:nvSpPr>
          <p:cNvPr id="3" name="Content Placeholder 2"/>
          <p:cNvSpPr>
            <a:spLocks noGrp="1"/>
          </p:cNvSpPr>
          <p:nvPr>
            <p:ph idx="1"/>
          </p:nvPr>
        </p:nvSpPr>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If you have to build a small project, would you use waterfall model? Give reason for your answer. And also mention some challenges while using this model.</a:t>
            </a:r>
          </a:p>
        </p:txBody>
      </p:sp>
      <p:sp>
        <p:nvSpPr>
          <p:cNvPr id="4" name="Slide Number Placeholder 3"/>
          <p:cNvSpPr>
            <a:spLocks noGrp="1"/>
          </p:cNvSpPr>
          <p:nvPr>
            <p:ph type="sldNum" sz="quarter" idx="12"/>
          </p:nvPr>
        </p:nvSpPr>
        <p:spPr/>
        <p:txBody>
          <a:bodyPr/>
          <a:lstStyle/>
          <a:p>
            <a:fld id="{81ACFABA-A45C-40AA-ABD1-FC8F80DAD626}" type="slidenum">
              <a:rPr lang="en-US" smtClean="0"/>
              <a:t>32</a:t>
            </a:fld>
            <a:endParaRPr lang="en-US"/>
          </a:p>
        </p:txBody>
      </p:sp>
    </p:spTree>
    <p:extLst>
      <p:ext uri="{BB962C8B-B14F-4D97-AF65-F5344CB8AC3E}">
        <p14:creationId xmlns:p14="http://schemas.microsoft.com/office/powerpoint/2010/main" val="8667893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B0C6FD-0B61-4D67-8CF9-9F5B10B2F346}"/>
              </a:ext>
            </a:extLst>
          </p:cNvPr>
          <p:cNvSpPr>
            <a:spLocks noGrp="1"/>
          </p:cNvSpPr>
          <p:nvPr>
            <p:ph type="title"/>
          </p:nvPr>
        </p:nvSpPr>
        <p:spPr/>
        <p:txBody>
          <a:bodyPr/>
          <a:lstStyle/>
          <a:p>
            <a:r>
              <a:rPr lang="en-US" b="1" dirty="0"/>
              <a:t>Coping with change</a:t>
            </a:r>
          </a:p>
        </p:txBody>
      </p:sp>
      <p:sp>
        <p:nvSpPr>
          <p:cNvPr id="3" name="Content Placeholder 2">
            <a:extLst>
              <a:ext uri="{FF2B5EF4-FFF2-40B4-BE49-F238E27FC236}">
                <a16:creationId xmlns:a16="http://schemas.microsoft.com/office/drawing/2014/main" xmlns="" id="{5E9318EA-5606-4929-8F46-68C33BEB475A}"/>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Change is sure to happen in all large software projects.</a:t>
            </a:r>
          </a:p>
          <a:p>
            <a:r>
              <a:rPr lang="en-US" dirty="0">
                <a:latin typeface="Times New Roman" panose="02020603050405020304" pitchFamily="18" charset="0"/>
                <a:cs typeface="Times New Roman" panose="02020603050405020304" pitchFamily="18" charset="0"/>
              </a:rPr>
              <a:t>The system requirements change as business respond to external pressures, competition, and changed management priorities. Change adds to the costs of software development because it usually means that work that has been completed hast to be redone.</a:t>
            </a:r>
          </a:p>
          <a:p>
            <a:r>
              <a:rPr lang="en-US" dirty="0">
                <a:latin typeface="Times New Roman" panose="02020603050405020304" pitchFamily="18" charset="0"/>
                <a:cs typeface="Times New Roman" panose="02020603050405020304" pitchFamily="18" charset="0"/>
              </a:rPr>
              <a:t>Following are the two ways of coping with change and changing system requirements:</a:t>
            </a:r>
          </a:p>
          <a:p>
            <a:pPr lvl="1"/>
            <a:r>
              <a:rPr lang="en-US" dirty="0">
                <a:latin typeface="Times New Roman" panose="02020603050405020304" pitchFamily="18" charset="0"/>
                <a:cs typeface="Times New Roman" panose="02020603050405020304" pitchFamily="18" charset="0"/>
              </a:rPr>
              <a:t>Prototyping</a:t>
            </a:r>
          </a:p>
          <a:p>
            <a:pPr lvl="1"/>
            <a:r>
              <a:rPr lang="en-US" dirty="0">
                <a:latin typeface="Times New Roman" panose="02020603050405020304" pitchFamily="18" charset="0"/>
                <a:cs typeface="Times New Roman" panose="02020603050405020304" pitchFamily="18" charset="0"/>
              </a:rPr>
              <a:t>Incremental Delivery</a:t>
            </a:r>
          </a:p>
        </p:txBody>
      </p:sp>
      <p:sp>
        <p:nvSpPr>
          <p:cNvPr id="4" name="Slide Number Placeholder 3">
            <a:extLst>
              <a:ext uri="{FF2B5EF4-FFF2-40B4-BE49-F238E27FC236}">
                <a16:creationId xmlns:a16="http://schemas.microsoft.com/office/drawing/2014/main" xmlns="" id="{6132FAC3-AD56-4D84-B165-AE213BBDA028}"/>
              </a:ext>
            </a:extLst>
          </p:cNvPr>
          <p:cNvSpPr>
            <a:spLocks noGrp="1"/>
          </p:cNvSpPr>
          <p:nvPr>
            <p:ph type="sldNum" sz="quarter" idx="12"/>
          </p:nvPr>
        </p:nvSpPr>
        <p:spPr/>
        <p:txBody>
          <a:bodyPr/>
          <a:lstStyle/>
          <a:p>
            <a:fld id="{81ACFABA-A45C-40AA-ABD1-FC8F80DAD626}" type="slidenum">
              <a:rPr lang="en-US" smtClean="0"/>
              <a:t>33</a:t>
            </a:fld>
            <a:endParaRPr lang="en-US"/>
          </a:p>
        </p:txBody>
      </p:sp>
    </p:spTree>
    <p:extLst>
      <p:ext uri="{BB962C8B-B14F-4D97-AF65-F5344CB8AC3E}">
        <p14:creationId xmlns:p14="http://schemas.microsoft.com/office/powerpoint/2010/main" val="15859282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DBC1C9-9584-9539-9335-AE36BC5F0B45}"/>
              </a:ext>
            </a:extLst>
          </p:cNvPr>
          <p:cNvSpPr>
            <a:spLocks noGrp="1"/>
          </p:cNvSpPr>
          <p:nvPr>
            <p:ph type="title"/>
          </p:nvPr>
        </p:nvSpPr>
        <p:spPr/>
        <p:txBody>
          <a:bodyPr/>
          <a:lstStyle/>
          <a:p>
            <a:r>
              <a:rPr lang="en-US" b="1" i="0" dirty="0">
                <a:solidFill>
                  <a:schemeClr val="tx1"/>
                </a:solidFill>
                <a:effectLst/>
              </a:rPr>
              <a:t>Prototyping Model </a:t>
            </a:r>
            <a:endParaRPr lang="en-US" b="1" dirty="0">
              <a:solidFill>
                <a:schemeClr val="tx1"/>
              </a:solidFill>
            </a:endParaRPr>
          </a:p>
        </p:txBody>
      </p:sp>
      <p:sp>
        <p:nvSpPr>
          <p:cNvPr id="3" name="Content Placeholder 2">
            <a:extLst>
              <a:ext uri="{FF2B5EF4-FFF2-40B4-BE49-F238E27FC236}">
                <a16:creationId xmlns:a16="http://schemas.microsoft.com/office/drawing/2014/main" xmlns="" id="{EE0975AA-9418-615A-7DD1-CC9A0713A00B}"/>
              </a:ext>
            </a:extLst>
          </p:cNvPr>
          <p:cNvSpPr>
            <a:spLocks noGrp="1"/>
          </p:cNvSpPr>
          <p:nvPr>
            <p:ph idx="1"/>
          </p:nvPr>
        </p:nvSpPr>
        <p:spPr/>
        <p:txBody>
          <a:bodyPr/>
          <a:lstStyle/>
          <a:p>
            <a:pPr algn="just"/>
            <a:r>
              <a:rPr lang="en-US" b="0" i="0" dirty="0">
                <a:solidFill>
                  <a:srgbClr val="273239"/>
                </a:solidFill>
                <a:effectLst/>
                <a:latin typeface="Times New Roman" panose="02020603050405020304" pitchFamily="18" charset="0"/>
                <a:cs typeface="Times New Roman" panose="02020603050405020304" pitchFamily="18" charset="0"/>
              </a:rPr>
              <a:t>Prototyping is defined as the process of developing a working replication of a product or system that has to be engineered. It offers a small-scale facsimile of the end product and is used for obtaining customer feedback. </a:t>
            </a:r>
          </a:p>
          <a:p>
            <a:pPr algn="just"/>
            <a:r>
              <a:rPr lang="en-US" b="0" i="0" dirty="0">
                <a:solidFill>
                  <a:srgbClr val="273239"/>
                </a:solidFill>
                <a:effectLst/>
                <a:latin typeface="Times New Roman" panose="02020603050405020304" pitchFamily="18" charset="0"/>
                <a:cs typeface="Times New Roman" panose="02020603050405020304" pitchFamily="18" charset="0"/>
              </a:rPr>
              <a:t>This model is used when the customers do not know the exact project requirements beforehand. In this model, a prototype of the end product is first developed, tested, and refined as per customer feedback repeatedly till a final acceptable prototype is achieved which forms the basis for developing the final product. </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97C7BB14-9BFD-2708-7286-C5C3BD017B73}"/>
              </a:ext>
            </a:extLst>
          </p:cNvPr>
          <p:cNvSpPr>
            <a:spLocks noGrp="1"/>
          </p:cNvSpPr>
          <p:nvPr>
            <p:ph type="sldNum" sz="quarter" idx="12"/>
          </p:nvPr>
        </p:nvSpPr>
        <p:spPr/>
        <p:txBody>
          <a:bodyPr/>
          <a:lstStyle/>
          <a:p>
            <a:fld id="{81ACFABA-A45C-40AA-ABD1-FC8F80DAD626}" type="slidenum">
              <a:rPr lang="en-US" smtClean="0"/>
              <a:t>34</a:t>
            </a:fld>
            <a:endParaRPr lang="en-US"/>
          </a:p>
        </p:txBody>
      </p:sp>
    </p:spTree>
    <p:extLst>
      <p:ext uri="{BB962C8B-B14F-4D97-AF65-F5344CB8AC3E}">
        <p14:creationId xmlns:p14="http://schemas.microsoft.com/office/powerpoint/2010/main" val="26361101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DBC1C9-9584-9539-9335-AE36BC5F0B45}"/>
              </a:ext>
            </a:extLst>
          </p:cNvPr>
          <p:cNvSpPr>
            <a:spLocks noGrp="1"/>
          </p:cNvSpPr>
          <p:nvPr>
            <p:ph type="title"/>
          </p:nvPr>
        </p:nvSpPr>
        <p:spPr/>
        <p:txBody>
          <a:bodyPr/>
          <a:lstStyle/>
          <a:p>
            <a:r>
              <a:rPr lang="en-US" b="1" i="0" dirty="0">
                <a:solidFill>
                  <a:srgbClr val="273239"/>
                </a:solidFill>
                <a:effectLst/>
                <a:latin typeface="Source Sans 3"/>
              </a:rPr>
              <a:t>Prototyping Model </a:t>
            </a:r>
            <a:endParaRPr lang="en-US" dirty="0"/>
          </a:p>
        </p:txBody>
      </p:sp>
      <p:sp>
        <p:nvSpPr>
          <p:cNvPr id="4" name="Slide Number Placeholder 3">
            <a:extLst>
              <a:ext uri="{FF2B5EF4-FFF2-40B4-BE49-F238E27FC236}">
                <a16:creationId xmlns:a16="http://schemas.microsoft.com/office/drawing/2014/main" xmlns="" id="{97C7BB14-9BFD-2708-7286-C5C3BD017B73}"/>
              </a:ext>
            </a:extLst>
          </p:cNvPr>
          <p:cNvSpPr>
            <a:spLocks noGrp="1"/>
          </p:cNvSpPr>
          <p:nvPr>
            <p:ph type="sldNum" sz="quarter" idx="12"/>
          </p:nvPr>
        </p:nvSpPr>
        <p:spPr/>
        <p:txBody>
          <a:bodyPr/>
          <a:lstStyle/>
          <a:p>
            <a:fld id="{81ACFABA-A45C-40AA-ABD1-FC8F80DAD626}" type="slidenum">
              <a:rPr lang="en-US" smtClean="0"/>
              <a:t>35</a:t>
            </a:fld>
            <a:endParaRPr lang="en-US"/>
          </a:p>
        </p:txBody>
      </p:sp>
      <p:pic>
        <p:nvPicPr>
          <p:cNvPr id="8" name="Picture 7">
            <a:extLst>
              <a:ext uri="{FF2B5EF4-FFF2-40B4-BE49-F238E27FC236}">
                <a16:creationId xmlns:a16="http://schemas.microsoft.com/office/drawing/2014/main" xmlns="" id="{AF905C89-CDCF-4764-AC8C-8A23B1058D1D}"/>
              </a:ext>
            </a:extLst>
          </p:cNvPr>
          <p:cNvPicPr>
            <a:picLocks noChangeAspect="1"/>
          </p:cNvPicPr>
          <p:nvPr/>
        </p:nvPicPr>
        <p:blipFill>
          <a:blip r:embed="rId2"/>
          <a:stretch>
            <a:fillRect/>
          </a:stretch>
        </p:blipFill>
        <p:spPr>
          <a:xfrm>
            <a:off x="3171066" y="1514194"/>
            <a:ext cx="5439534" cy="4734586"/>
          </a:xfrm>
          <a:prstGeom prst="rect">
            <a:avLst/>
          </a:prstGeom>
        </p:spPr>
      </p:pic>
    </p:spTree>
    <p:extLst>
      <p:ext uri="{BB962C8B-B14F-4D97-AF65-F5344CB8AC3E}">
        <p14:creationId xmlns:p14="http://schemas.microsoft.com/office/powerpoint/2010/main" val="26681992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2CFA9FB-4B63-475D-BAB1-FFE54B2DA2F4}"/>
              </a:ext>
            </a:extLst>
          </p:cNvPr>
          <p:cNvSpPr>
            <a:spLocks noGrp="1"/>
          </p:cNvSpPr>
          <p:nvPr>
            <p:ph type="title"/>
          </p:nvPr>
        </p:nvSpPr>
        <p:spPr/>
        <p:txBody>
          <a:bodyPr/>
          <a:lstStyle/>
          <a:p>
            <a:r>
              <a:rPr lang="en-US" dirty="0"/>
              <a:t>Assignment</a:t>
            </a:r>
          </a:p>
        </p:txBody>
      </p:sp>
      <p:sp>
        <p:nvSpPr>
          <p:cNvPr id="3" name="Content Placeholder 2">
            <a:extLst>
              <a:ext uri="{FF2B5EF4-FFF2-40B4-BE49-F238E27FC236}">
                <a16:creationId xmlns:a16="http://schemas.microsoft.com/office/drawing/2014/main" xmlns="" id="{11DE56CB-A27E-45EC-BB60-130C1A00CD24}"/>
              </a:ext>
            </a:extLst>
          </p:cNvPr>
          <p:cNvSpPr>
            <a:spLocks noGrp="1"/>
          </p:cNvSpPr>
          <p:nvPr>
            <p:ph idx="1"/>
          </p:nvPr>
        </p:nvSpPr>
        <p:spPr/>
        <p:txBody>
          <a:bodyPr/>
          <a:lstStyle/>
          <a:p>
            <a:r>
              <a:rPr lang="en-US" dirty="0"/>
              <a:t>What do you mean by throwaway prototyping and evolutionary prototyping?</a:t>
            </a:r>
          </a:p>
          <a:p>
            <a:r>
              <a:rPr lang="en-US" dirty="0"/>
              <a:t>Differentiate between incremental delivery and evolutionary model</a:t>
            </a:r>
          </a:p>
        </p:txBody>
      </p:sp>
      <p:sp>
        <p:nvSpPr>
          <p:cNvPr id="4" name="Slide Number Placeholder 3">
            <a:extLst>
              <a:ext uri="{FF2B5EF4-FFF2-40B4-BE49-F238E27FC236}">
                <a16:creationId xmlns:a16="http://schemas.microsoft.com/office/drawing/2014/main" xmlns="" id="{BCD2BBA8-85DA-49E4-98AA-E9D9A05F8767}"/>
              </a:ext>
            </a:extLst>
          </p:cNvPr>
          <p:cNvSpPr>
            <a:spLocks noGrp="1"/>
          </p:cNvSpPr>
          <p:nvPr>
            <p:ph type="sldNum" sz="quarter" idx="12"/>
          </p:nvPr>
        </p:nvSpPr>
        <p:spPr/>
        <p:txBody>
          <a:bodyPr/>
          <a:lstStyle/>
          <a:p>
            <a:fld id="{81ACFABA-A45C-40AA-ABD1-FC8F80DAD626}" type="slidenum">
              <a:rPr lang="en-US" smtClean="0"/>
              <a:t>36</a:t>
            </a:fld>
            <a:endParaRPr lang="en-US"/>
          </a:p>
        </p:txBody>
      </p:sp>
    </p:spTree>
    <p:extLst>
      <p:ext uri="{BB962C8B-B14F-4D97-AF65-F5344CB8AC3E}">
        <p14:creationId xmlns:p14="http://schemas.microsoft.com/office/powerpoint/2010/main" val="4802445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fontAlgn="base"/>
            <a:r>
              <a:rPr lang="en-US" b="1" dirty="0"/>
              <a:t>Incremental delivery:</a:t>
            </a:r>
          </a:p>
        </p:txBody>
      </p:sp>
      <p:sp>
        <p:nvSpPr>
          <p:cNvPr id="3" name="Content Placeholder 2"/>
          <p:cNvSpPr>
            <a:spLocks noGrp="1"/>
          </p:cNvSpPr>
          <p:nvPr>
            <p:ph idx="1"/>
          </p:nvPr>
        </p:nvSpPr>
        <p:spPr>
          <a:xfrm>
            <a:off x="838200" y="1825625"/>
            <a:ext cx="10515600" cy="1831975"/>
          </a:xfrm>
        </p:spPr>
        <p:txBody>
          <a:bodyPr>
            <a:normAutofit/>
          </a:bodyPr>
          <a:lstStyle/>
          <a:p>
            <a:pPr algn="just"/>
            <a:r>
              <a:rPr lang="en-US" dirty="0">
                <a:latin typeface="Times New Roman" panose="02020603050405020304" pitchFamily="18" charset="0"/>
                <a:cs typeface="Times New Roman" panose="02020603050405020304" pitchFamily="18" charset="0"/>
              </a:rPr>
              <a:t>Incremental Model is a process of software development where requirements are broken down into multiple standalone modules of software development cycle. Incremental development is done in steps from analysis design, implementation, testing/verification, maintenance.</a:t>
            </a:r>
          </a:p>
        </p:txBody>
      </p:sp>
      <p:pic>
        <p:nvPicPr>
          <p:cNvPr id="4" name="Picture 3" descr="What is Incremental model in SDLC? Advantages &amp; Disadvantages"/>
          <p:cNvPicPr/>
          <p:nvPr/>
        </p:nvPicPr>
        <p:blipFill>
          <a:blip r:embed="rId2">
            <a:extLst>
              <a:ext uri="{28A0092B-C50C-407E-A947-70E740481C1C}">
                <a14:useLocalDpi xmlns:a14="http://schemas.microsoft.com/office/drawing/2010/main" val="0"/>
              </a:ext>
            </a:extLst>
          </a:blip>
          <a:srcRect/>
          <a:stretch>
            <a:fillRect/>
          </a:stretch>
        </p:blipFill>
        <p:spPr bwMode="auto">
          <a:xfrm>
            <a:off x="3723685" y="3792537"/>
            <a:ext cx="3835354" cy="2612571"/>
          </a:xfrm>
          <a:prstGeom prst="rect">
            <a:avLst/>
          </a:prstGeom>
          <a:noFill/>
          <a:ln>
            <a:noFill/>
          </a:ln>
        </p:spPr>
      </p:pic>
      <p:sp>
        <p:nvSpPr>
          <p:cNvPr id="5" name="Slide Number Placeholder 4"/>
          <p:cNvSpPr>
            <a:spLocks noGrp="1"/>
          </p:cNvSpPr>
          <p:nvPr>
            <p:ph type="sldNum" sz="quarter" idx="12"/>
          </p:nvPr>
        </p:nvSpPr>
        <p:spPr/>
        <p:txBody>
          <a:bodyPr/>
          <a:lstStyle/>
          <a:p>
            <a:fld id="{81ACFABA-A45C-40AA-ABD1-FC8F80DAD626}" type="slidenum">
              <a:rPr lang="en-US" smtClean="0"/>
              <a:t>37</a:t>
            </a:fld>
            <a:endParaRPr lang="en-US"/>
          </a:p>
        </p:txBody>
      </p:sp>
    </p:spTree>
    <p:extLst>
      <p:ext uri="{BB962C8B-B14F-4D97-AF65-F5344CB8AC3E}">
        <p14:creationId xmlns:p14="http://schemas.microsoft.com/office/powerpoint/2010/main" val="151293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8863" y="684802"/>
            <a:ext cx="10515600" cy="1596844"/>
          </a:xfrm>
        </p:spPr>
        <p:txBody>
          <a:bodyPr>
            <a:normAutofit/>
          </a:bodyPr>
          <a:lstStyle/>
          <a:p>
            <a:r>
              <a:rPr lang="en-US" dirty="0">
                <a:latin typeface="Times New Roman" panose="02020603050405020304" pitchFamily="18" charset="0"/>
                <a:cs typeface="Times New Roman" panose="02020603050405020304" pitchFamily="18" charset="0"/>
              </a:rPr>
              <a:t>Each iteration passes through the </a:t>
            </a:r>
            <a:r>
              <a:rPr lang="en-US" b="1" dirty="0">
                <a:latin typeface="Times New Roman" panose="02020603050405020304" pitchFamily="18" charset="0"/>
                <a:cs typeface="Times New Roman" panose="02020603050405020304" pitchFamily="18" charset="0"/>
              </a:rPr>
              <a:t>requirements, design, coding and testing phases</a:t>
            </a:r>
            <a:r>
              <a:rPr lang="en-US" dirty="0">
                <a:latin typeface="Times New Roman" panose="02020603050405020304" pitchFamily="18" charset="0"/>
                <a:cs typeface="Times New Roman" panose="02020603050405020304" pitchFamily="18" charset="0"/>
              </a:rPr>
              <a:t>. And each subsequent release of the system adds function to the previous release until all designed functionality has been implemented.</a:t>
            </a:r>
          </a:p>
          <a:p>
            <a:endParaRPr lang="en-US" dirty="0">
              <a:latin typeface="Times New Roman" panose="02020603050405020304" pitchFamily="18" charset="0"/>
              <a:cs typeface="Times New Roman" panose="02020603050405020304" pitchFamily="18" charset="0"/>
            </a:endParaRPr>
          </a:p>
        </p:txBody>
      </p:sp>
      <p:pic>
        <p:nvPicPr>
          <p:cNvPr id="4" name="Picture 3" descr="What is Incremental model in SDLC? Advantages &amp; Disadvantages"/>
          <p:cNvPicPr/>
          <p:nvPr/>
        </p:nvPicPr>
        <p:blipFill>
          <a:blip r:embed="rId2">
            <a:extLst>
              <a:ext uri="{28A0092B-C50C-407E-A947-70E740481C1C}">
                <a14:useLocalDpi xmlns:a14="http://schemas.microsoft.com/office/drawing/2010/main" val="0"/>
              </a:ext>
            </a:extLst>
          </a:blip>
          <a:srcRect/>
          <a:stretch>
            <a:fillRect/>
          </a:stretch>
        </p:blipFill>
        <p:spPr bwMode="auto">
          <a:xfrm>
            <a:off x="3283131" y="2281646"/>
            <a:ext cx="6267767" cy="3625714"/>
          </a:xfrm>
          <a:prstGeom prst="rect">
            <a:avLst/>
          </a:prstGeom>
          <a:noFill/>
          <a:ln>
            <a:noFill/>
          </a:ln>
        </p:spPr>
      </p:pic>
      <p:sp>
        <p:nvSpPr>
          <p:cNvPr id="2" name="Slide Number Placeholder 1"/>
          <p:cNvSpPr>
            <a:spLocks noGrp="1"/>
          </p:cNvSpPr>
          <p:nvPr>
            <p:ph type="sldNum" sz="quarter" idx="12"/>
          </p:nvPr>
        </p:nvSpPr>
        <p:spPr/>
        <p:txBody>
          <a:bodyPr/>
          <a:lstStyle/>
          <a:p>
            <a:fld id="{81ACFABA-A45C-40AA-ABD1-FC8F80DAD626}" type="slidenum">
              <a:rPr lang="en-US" smtClean="0"/>
              <a:t>38</a:t>
            </a:fld>
            <a:endParaRPr lang="en-US"/>
          </a:p>
        </p:txBody>
      </p:sp>
    </p:spTree>
    <p:extLst>
      <p:ext uri="{BB962C8B-B14F-4D97-AF65-F5344CB8AC3E}">
        <p14:creationId xmlns:p14="http://schemas.microsoft.com/office/powerpoint/2010/main" val="4796785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Advantages of Incremental Model</a:t>
            </a:r>
          </a:p>
        </p:txBody>
      </p:sp>
      <p:sp>
        <p:nvSpPr>
          <p:cNvPr id="3" name="Content Placeholder 2"/>
          <p:cNvSpPr>
            <a:spLocks noGrp="1"/>
          </p:cNvSpPr>
          <p:nvPr>
            <p:ph idx="1"/>
          </p:nvPr>
        </p:nvSpPr>
        <p:spPr/>
        <p:txBody>
          <a:bodyPr/>
          <a:lstStyle/>
          <a:p>
            <a:pPr fontAlgn="base"/>
            <a:r>
              <a:rPr lang="en-US" dirty="0">
                <a:latin typeface="Times New Roman" panose="02020603050405020304" pitchFamily="18" charset="0"/>
                <a:cs typeface="Times New Roman" panose="02020603050405020304" pitchFamily="18" charset="0"/>
              </a:rPr>
              <a:t>Generates working software quickly and early during the software life cycle.</a:t>
            </a:r>
          </a:p>
          <a:p>
            <a:pPr fontAlgn="base"/>
            <a:r>
              <a:rPr lang="en-US" dirty="0">
                <a:latin typeface="Times New Roman" panose="02020603050405020304" pitchFamily="18" charset="0"/>
                <a:cs typeface="Times New Roman" panose="02020603050405020304" pitchFamily="18" charset="0"/>
              </a:rPr>
              <a:t>More flexible – less costly to change scope and requirements.</a:t>
            </a:r>
          </a:p>
          <a:p>
            <a:pPr fontAlgn="base"/>
            <a:r>
              <a:rPr lang="en-US" dirty="0">
                <a:latin typeface="Times New Roman" panose="02020603050405020304" pitchFamily="18" charset="0"/>
                <a:cs typeface="Times New Roman" panose="02020603050405020304" pitchFamily="18" charset="0"/>
              </a:rPr>
              <a:t>Easier to test and debug during a smaller iteration.</a:t>
            </a:r>
          </a:p>
          <a:p>
            <a:pPr fontAlgn="base"/>
            <a:r>
              <a:rPr lang="en-US" dirty="0">
                <a:latin typeface="Times New Roman" panose="02020603050405020304" pitchFamily="18" charset="0"/>
                <a:cs typeface="Times New Roman" panose="02020603050405020304" pitchFamily="18" charset="0"/>
              </a:rPr>
              <a:t>Easier to manage risk because risky pieces are identified and handled during its iteration.</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81ACFABA-A45C-40AA-ABD1-FC8F80DAD626}" type="slidenum">
              <a:rPr lang="en-US" smtClean="0"/>
              <a:t>39</a:t>
            </a:fld>
            <a:endParaRPr lang="en-US"/>
          </a:p>
        </p:txBody>
      </p:sp>
    </p:spTree>
    <p:extLst>
      <p:ext uri="{BB962C8B-B14F-4D97-AF65-F5344CB8AC3E}">
        <p14:creationId xmlns:p14="http://schemas.microsoft.com/office/powerpoint/2010/main" val="23700522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Disadvantages of Incremental Model</a:t>
            </a:r>
          </a:p>
        </p:txBody>
      </p:sp>
      <p:sp>
        <p:nvSpPr>
          <p:cNvPr id="3" name="Content Placeholder 2"/>
          <p:cNvSpPr>
            <a:spLocks noGrp="1"/>
          </p:cNvSpPr>
          <p:nvPr>
            <p:ph idx="1"/>
          </p:nvPr>
        </p:nvSpPr>
        <p:spPr/>
        <p:txBody>
          <a:bodyPr/>
          <a:lstStyle/>
          <a:p>
            <a:pPr marL="0" indent="0" fontAlgn="base">
              <a:buNone/>
            </a:pPr>
            <a:r>
              <a:rPr lang="en-US" dirty="0">
                <a:latin typeface="Times New Roman" panose="02020603050405020304" pitchFamily="18" charset="0"/>
                <a:cs typeface="Times New Roman" panose="02020603050405020304" pitchFamily="18" charset="0"/>
              </a:rPr>
              <a:t>Each phase of an iteration is rigid and do not overlap each other.</a:t>
            </a:r>
          </a:p>
          <a:p>
            <a:pPr marL="0" indent="0" fontAlgn="base">
              <a:buNone/>
            </a:pPr>
            <a:endParaRPr lang="en-US" dirty="0">
              <a:latin typeface="Times New Roman" panose="02020603050405020304" pitchFamily="18" charset="0"/>
              <a:cs typeface="Times New Roman" panose="02020603050405020304" pitchFamily="18" charset="0"/>
            </a:endParaRPr>
          </a:p>
          <a:p>
            <a:pPr marL="0" indent="0" algn="just">
              <a:lnSpc>
                <a:spcPct val="107000"/>
              </a:lnSpc>
              <a:spcBef>
                <a:spcPts val="0"/>
              </a:spcBef>
              <a:spcAft>
                <a:spcPts val="800"/>
              </a:spcAft>
              <a:buSzPts val="1000"/>
              <a:buNone/>
              <a:tabLst>
                <a:tab pos="457200" algn="l"/>
              </a:tabLst>
              <a:defRPr/>
            </a:pPr>
            <a:r>
              <a:rPr lang="en-US" dirty="0">
                <a:latin typeface="Times New Roman" panose="02020603050405020304" pitchFamily="18" charset="0"/>
                <a:cs typeface="Times New Roman" panose="02020603050405020304" pitchFamily="18" charset="0"/>
              </a:rPr>
              <a:t>Rectifying a problem in one unit requires correction in all the units and consumes a lot of time.</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fontAlgn="base"/>
            <a:endParaRPr lang="en-US" dirty="0">
              <a:latin typeface="Times New Roman" panose="02020603050405020304" pitchFamily="18" charset="0"/>
              <a:cs typeface="Times New Roman" panose="02020603050405020304" pitchFamily="18" charset="0"/>
            </a:endParaRPr>
          </a:p>
          <a:p>
            <a:pPr fontAlgn="base"/>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81ACFABA-A45C-40AA-ABD1-FC8F80DAD626}" type="slidenum">
              <a:rPr lang="en-US" smtClean="0"/>
              <a:t>40</a:t>
            </a:fld>
            <a:endParaRPr lang="en-US"/>
          </a:p>
        </p:txBody>
      </p:sp>
    </p:spTree>
    <p:extLst>
      <p:ext uri="{BB962C8B-B14F-4D97-AF65-F5344CB8AC3E}">
        <p14:creationId xmlns:p14="http://schemas.microsoft.com/office/powerpoint/2010/main" val="8124069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7" y="484632"/>
            <a:ext cx="10666523" cy="1609344"/>
          </a:xfrm>
        </p:spPr>
        <p:txBody>
          <a:bodyPr>
            <a:normAutofit fontScale="90000"/>
          </a:bodyPr>
          <a:lstStyle/>
          <a:p>
            <a:r>
              <a:rPr lang="en-US" b="1" dirty="0"/>
              <a:t>Component Based Software Engineering (CBSE) / Reuse Oriented Software Engineering</a:t>
            </a:r>
          </a:p>
        </p:txBody>
      </p:sp>
      <p:sp>
        <p:nvSpPr>
          <p:cNvPr id="4" name="Rectangle 3"/>
          <p:cNvSpPr/>
          <p:nvPr/>
        </p:nvSpPr>
        <p:spPr>
          <a:xfrm>
            <a:off x="984985" y="2575535"/>
            <a:ext cx="10222030" cy="3215689"/>
          </a:xfrm>
          <a:prstGeom prst="rect">
            <a:avLst/>
          </a:prstGeom>
        </p:spPr>
        <p:txBody>
          <a:bodyPr wrap="square">
            <a:spAutoFit/>
          </a:bodyPr>
          <a:lstStyle/>
          <a:p>
            <a:pPr marL="342900" indent="-34290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Component Based Software Engineering (CBSE)</a:t>
            </a:r>
            <a:r>
              <a:rPr lang="en-US" dirty="0">
                <a:latin typeface="Times New Roman" panose="02020603050405020304" pitchFamily="18" charset="0"/>
                <a:cs typeface="Times New Roman" panose="02020603050405020304" pitchFamily="18" charset="0"/>
              </a:rPr>
              <a:t> is a process that focuses on the design and development of computer-based systems with the use of reusable software components.</a:t>
            </a:r>
          </a:p>
          <a:p>
            <a:pPr algn="just"/>
            <a:endParaRPr lang="en-US"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component-based software life cycle (CSLC) is the life cycle process for a software component with an emphasis on business rules, business process modelling, design, construction, continuous testing, deployment, evolution, and  reuse and maintenance. In general, analysis and design phases for component-based process models take more time than traditional ones take.</a:t>
            </a:r>
          </a:p>
          <a:p>
            <a:pPr marL="342900" indent="-34290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Reusability within this life cycle is smoother and more effective than within the traditional models because it integrates at its core the concern for reuse and its mechanisms.</a:t>
            </a:r>
          </a:p>
          <a:p>
            <a:pPr marR="30480" algn="just">
              <a:lnSpc>
                <a:spcPct val="107000"/>
              </a:lnSpc>
              <a:spcBef>
                <a:spcPts val="600"/>
              </a:spcBef>
              <a:spcAft>
                <a:spcPts val="720"/>
              </a:spcAft>
            </a:pP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81ACFABA-A45C-40AA-ABD1-FC8F80DAD626}" type="slidenum">
              <a:rPr lang="en-US" smtClean="0"/>
              <a:t>41</a:t>
            </a:fld>
            <a:endParaRPr lang="en-US"/>
          </a:p>
        </p:txBody>
      </p:sp>
    </p:spTree>
    <p:extLst>
      <p:ext uri="{BB962C8B-B14F-4D97-AF65-F5344CB8AC3E}">
        <p14:creationId xmlns:p14="http://schemas.microsoft.com/office/powerpoint/2010/main" val="24086658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4" name="Picture 2" descr="Concept of Component-based software engineering | Download Scientific  Diagra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53929" y="1809548"/>
            <a:ext cx="8085220" cy="4177365"/>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81ACFABA-A45C-40AA-ABD1-FC8F80DAD626}" type="slidenum">
              <a:rPr lang="en-US" smtClean="0"/>
              <a:t>42</a:t>
            </a:fld>
            <a:endParaRPr lang="en-US"/>
          </a:p>
        </p:txBody>
      </p:sp>
    </p:spTree>
    <p:extLst>
      <p:ext uri="{BB962C8B-B14F-4D97-AF65-F5344CB8AC3E}">
        <p14:creationId xmlns:p14="http://schemas.microsoft.com/office/powerpoint/2010/main" val="41275301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Stages of CBSE:</a:t>
            </a:r>
          </a:p>
        </p:txBody>
      </p:sp>
      <p:pic>
        <p:nvPicPr>
          <p:cNvPr id="4" name="Content Placeholder 3" descr="Software Engineering Fundamentals: Component Based Software Engineeri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88683" y="1690688"/>
            <a:ext cx="8441356" cy="4543125"/>
          </a:xfrm>
          <a:prstGeom prst="rect">
            <a:avLst/>
          </a:prstGeom>
          <a:noFill/>
          <a:ln>
            <a:noFill/>
          </a:ln>
        </p:spPr>
      </p:pic>
      <p:sp>
        <p:nvSpPr>
          <p:cNvPr id="3" name="Slide Number Placeholder 2"/>
          <p:cNvSpPr>
            <a:spLocks noGrp="1"/>
          </p:cNvSpPr>
          <p:nvPr>
            <p:ph type="sldNum" sz="quarter" idx="12"/>
          </p:nvPr>
        </p:nvSpPr>
        <p:spPr/>
        <p:txBody>
          <a:bodyPr/>
          <a:lstStyle/>
          <a:p>
            <a:fld id="{81ACFABA-A45C-40AA-ABD1-FC8F80DAD626}" type="slidenum">
              <a:rPr lang="en-US" smtClean="0"/>
              <a:t>43</a:t>
            </a:fld>
            <a:endParaRPr lang="en-US"/>
          </a:p>
        </p:txBody>
      </p:sp>
    </p:spTree>
    <p:extLst>
      <p:ext uri="{BB962C8B-B14F-4D97-AF65-F5344CB8AC3E}">
        <p14:creationId xmlns:p14="http://schemas.microsoft.com/office/powerpoint/2010/main" val="25643838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Objective of CBSE:</a:t>
            </a:r>
          </a:p>
        </p:txBody>
      </p:sp>
      <p:sp>
        <p:nvSpPr>
          <p:cNvPr id="3" name="Content Placeholder 2"/>
          <p:cNvSpPr>
            <a:spLocks noGrp="1"/>
          </p:cNvSpPr>
          <p:nvPr>
            <p:ph idx="1"/>
          </p:nvPr>
        </p:nvSpPr>
        <p:spPr/>
        <p:txBody>
          <a:bodyPr>
            <a:normAutofit/>
          </a:bodyPr>
          <a:lstStyle/>
          <a:p>
            <a:pPr lvl="0"/>
            <a:r>
              <a:rPr lang="en-US" dirty="0">
                <a:latin typeface="Times New Roman" panose="02020603050405020304" pitchFamily="18" charset="0"/>
                <a:cs typeface="Times New Roman" panose="02020603050405020304" pitchFamily="18" charset="0"/>
              </a:rPr>
              <a:t>To have a useful replaceable property' i.e. easy to assemble and easy to disassemble.</a:t>
            </a:r>
          </a:p>
          <a:p>
            <a:pPr lvl="0"/>
            <a:r>
              <a:rPr lang="en-US" b="1" dirty="0">
                <a:latin typeface="Times New Roman" panose="02020603050405020304" pitchFamily="18" charset="0"/>
                <a:cs typeface="Times New Roman" panose="02020603050405020304" pitchFamily="18" charset="0"/>
              </a:rPr>
              <a:t>Increase Reusability: </a:t>
            </a:r>
            <a:r>
              <a:rPr lang="en-US" dirty="0">
                <a:latin typeface="Times New Roman" panose="02020603050405020304" pitchFamily="18" charset="0"/>
                <a:cs typeface="Times New Roman" panose="02020603050405020304" pitchFamily="18" charset="0"/>
              </a:rPr>
              <a:t>Develop once and reuse several instances of the same over the period.</a:t>
            </a:r>
          </a:p>
          <a:p>
            <a:pPr lvl="0"/>
            <a:r>
              <a:rPr lang="en-US" b="1" dirty="0">
                <a:latin typeface="Times New Roman" panose="02020603050405020304" pitchFamily="18" charset="0"/>
                <a:cs typeface="Times New Roman" panose="02020603050405020304" pitchFamily="18" charset="0"/>
              </a:rPr>
              <a:t>Enhancing Development Flexibility: </a:t>
            </a:r>
            <a:r>
              <a:rPr lang="en-US" dirty="0">
                <a:latin typeface="Times New Roman" panose="02020603050405020304" pitchFamily="18" charset="0"/>
                <a:cs typeface="Times New Roman" panose="02020603050405020304" pitchFamily="18" charset="0"/>
              </a:rPr>
              <a:t>Components are an independent software element that can be designed and developed independently enhancing the development flexibility.</a:t>
            </a:r>
          </a:p>
          <a:p>
            <a:pPr lvl="0"/>
            <a:r>
              <a:rPr lang="en-US" b="1" dirty="0">
                <a:latin typeface="Times New Roman" panose="02020603050405020304" pitchFamily="18" charset="0"/>
                <a:cs typeface="Times New Roman" panose="02020603050405020304" pitchFamily="18" charset="0"/>
              </a:rPr>
              <a:t>Reduced System Development Time: </a:t>
            </a:r>
            <a:r>
              <a:rPr lang="en-US" dirty="0">
                <a:latin typeface="Times New Roman" panose="02020603050405020304" pitchFamily="18" charset="0"/>
                <a:cs typeface="Times New Roman" panose="02020603050405020304" pitchFamily="18" charset="0"/>
              </a:rPr>
              <a:t>Reusing pre developed existing components instead of new fresh development will reduce total development time.</a:t>
            </a:r>
          </a:p>
        </p:txBody>
      </p:sp>
      <p:sp>
        <p:nvSpPr>
          <p:cNvPr id="4" name="Slide Number Placeholder 3"/>
          <p:cNvSpPr>
            <a:spLocks noGrp="1"/>
          </p:cNvSpPr>
          <p:nvPr>
            <p:ph type="sldNum" sz="quarter" idx="12"/>
          </p:nvPr>
        </p:nvSpPr>
        <p:spPr/>
        <p:txBody>
          <a:bodyPr/>
          <a:lstStyle/>
          <a:p>
            <a:fld id="{81ACFABA-A45C-40AA-ABD1-FC8F80DAD626}" type="slidenum">
              <a:rPr lang="en-US" smtClean="0"/>
              <a:t>44</a:t>
            </a:fld>
            <a:endParaRPr lang="en-US"/>
          </a:p>
        </p:txBody>
      </p:sp>
    </p:spTree>
    <p:extLst>
      <p:ext uri="{BB962C8B-B14F-4D97-AF65-F5344CB8AC3E}">
        <p14:creationId xmlns:p14="http://schemas.microsoft.com/office/powerpoint/2010/main" val="31516040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04973"/>
            <a:ext cx="10515600" cy="5271990"/>
          </a:xfrm>
        </p:spPr>
        <p:txBody>
          <a:bodyPr>
            <a:normAutofit/>
          </a:bodyPr>
          <a:lstStyle/>
          <a:p>
            <a:pPr lvl="0" algn="just"/>
            <a:r>
              <a:rPr lang="en-US" b="1" dirty="0">
                <a:latin typeface="Times New Roman" panose="02020603050405020304" pitchFamily="18" charset="0"/>
                <a:cs typeface="Times New Roman" panose="02020603050405020304" pitchFamily="18" charset="0"/>
              </a:rPr>
              <a:t>Reduced System Development Cost: </a:t>
            </a:r>
            <a:r>
              <a:rPr lang="en-US" dirty="0">
                <a:latin typeface="Times New Roman" panose="02020603050405020304" pitchFamily="18" charset="0"/>
                <a:cs typeface="Times New Roman" panose="02020603050405020304" pitchFamily="18" charset="0"/>
              </a:rPr>
              <a:t>Reduced development time will result in significant reduction in total development cost.</a:t>
            </a:r>
          </a:p>
          <a:p>
            <a:pPr lvl="0" algn="just"/>
            <a:r>
              <a:rPr lang="en-US" b="1" dirty="0">
                <a:latin typeface="Times New Roman" panose="02020603050405020304" pitchFamily="18" charset="0"/>
                <a:cs typeface="Times New Roman" panose="02020603050405020304" pitchFamily="18" charset="0"/>
              </a:rPr>
              <a:t>Improve Software Quality: </a:t>
            </a:r>
            <a:r>
              <a:rPr lang="en-US" dirty="0">
                <a:latin typeface="Times New Roman" panose="02020603050405020304" pitchFamily="18" charset="0"/>
                <a:cs typeface="Times New Roman" panose="02020603050405020304" pitchFamily="18" charset="0"/>
              </a:rPr>
              <a:t>Ideally, a component is pre- tested for errors and quality parameters. Hence, using such pre-tested, high quality software components improves the quality of complete software systems.</a:t>
            </a:r>
          </a:p>
          <a:p>
            <a:pPr lvl="0" algn="just"/>
            <a:r>
              <a:rPr lang="en-US" b="1" dirty="0">
                <a:latin typeface="Times New Roman" panose="02020603050405020304" pitchFamily="18" charset="0"/>
                <a:cs typeface="Times New Roman" panose="02020603050405020304" pitchFamily="18" charset="0"/>
              </a:rPr>
              <a:t>Reducing Project Risk: </a:t>
            </a:r>
            <a:r>
              <a:rPr lang="en-US" dirty="0">
                <a:latin typeface="Times New Roman" panose="02020603050405020304" pitchFamily="18" charset="0"/>
                <a:cs typeface="Times New Roman" panose="02020603050405020304" pitchFamily="18" charset="0"/>
              </a:rPr>
              <a:t>From management perspective, if an asset's costs can be optimized through a large number of uses, it would then be possible for the management to expend more effort and allocate more budgets to improve the quality of software components. This in turn reduces the level of risk faced by the development effort and will undeniably improve the likelihood of success.</a:t>
            </a:r>
          </a:p>
        </p:txBody>
      </p:sp>
      <p:sp>
        <p:nvSpPr>
          <p:cNvPr id="2" name="Slide Number Placeholder 1"/>
          <p:cNvSpPr>
            <a:spLocks noGrp="1"/>
          </p:cNvSpPr>
          <p:nvPr>
            <p:ph type="sldNum" sz="quarter" idx="12"/>
          </p:nvPr>
        </p:nvSpPr>
        <p:spPr/>
        <p:txBody>
          <a:bodyPr/>
          <a:lstStyle/>
          <a:p>
            <a:fld id="{81ACFABA-A45C-40AA-ABD1-FC8F80DAD626}" type="slidenum">
              <a:rPr lang="en-US" smtClean="0"/>
              <a:t>45</a:t>
            </a:fld>
            <a:endParaRPr lang="en-US"/>
          </a:p>
        </p:txBody>
      </p:sp>
    </p:spTree>
    <p:extLst>
      <p:ext uri="{BB962C8B-B14F-4D97-AF65-F5344CB8AC3E}">
        <p14:creationId xmlns:p14="http://schemas.microsoft.com/office/powerpoint/2010/main" val="18033986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DDE9293-229C-4EC5-89E5-90A45D8872B1}"/>
              </a:ext>
            </a:extLst>
          </p:cNvPr>
          <p:cNvSpPr>
            <a:spLocks noGrp="1"/>
          </p:cNvSpPr>
          <p:nvPr>
            <p:ph type="title"/>
          </p:nvPr>
        </p:nvSpPr>
        <p:spPr/>
        <p:txBody>
          <a:bodyPr/>
          <a:lstStyle/>
          <a:p>
            <a:r>
              <a:rPr lang="en-US" b="1" dirty="0"/>
              <a:t>Process Improvement</a:t>
            </a:r>
          </a:p>
        </p:txBody>
      </p:sp>
      <p:sp>
        <p:nvSpPr>
          <p:cNvPr id="3" name="Content Placeholder 2">
            <a:extLst>
              <a:ext uri="{FF2B5EF4-FFF2-40B4-BE49-F238E27FC236}">
                <a16:creationId xmlns:a16="http://schemas.microsoft.com/office/drawing/2014/main" xmlns="" id="{550077E8-7229-4732-B4C2-30CE402D6DBC}"/>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Process improvement means understanding existing processes and changing these processes to increase product quality and/or reduce cost and development time. Two quite different approaches to process improvement and change are used</a:t>
            </a:r>
          </a:p>
          <a:p>
            <a:pPr lvl="1"/>
            <a:r>
              <a:rPr lang="en-US" b="1" dirty="0">
                <a:latin typeface="Times New Roman" panose="02020603050405020304" pitchFamily="18" charset="0"/>
                <a:cs typeface="Times New Roman" panose="02020603050405020304" pitchFamily="18" charset="0"/>
              </a:rPr>
              <a:t>Process maturity approach:</a:t>
            </a:r>
            <a:r>
              <a:rPr lang="en-US" dirty="0">
                <a:latin typeface="Times New Roman" panose="02020603050405020304" pitchFamily="18" charset="0"/>
                <a:cs typeface="Times New Roman" panose="02020603050405020304" pitchFamily="18" charset="0"/>
              </a:rPr>
              <a:t> It has focused on improving process and project management and introducing good software engineering practice into an organization. The level of process maturity reflects the extent to which good technical and management practice has been adopted in organizational software development process.</a:t>
            </a:r>
          </a:p>
          <a:p>
            <a:pPr lvl="1"/>
            <a:r>
              <a:rPr lang="en-US" b="1" dirty="0">
                <a:latin typeface="Times New Roman" panose="02020603050405020304" pitchFamily="18" charset="0"/>
                <a:cs typeface="Times New Roman" panose="02020603050405020304" pitchFamily="18" charset="0"/>
              </a:rPr>
              <a:t>Agile approach:</a:t>
            </a:r>
            <a:r>
              <a:rPr lang="en-US" dirty="0">
                <a:latin typeface="Times New Roman" panose="02020603050405020304" pitchFamily="18" charset="0"/>
                <a:cs typeface="Times New Roman" panose="02020603050405020304" pitchFamily="18" charset="0"/>
              </a:rPr>
              <a:t> It has focused on iterative development and the reduction of over heads in the software process. The primary characteristic of agile methods are rapid delivery of functionality and responsiveness to changing customer requirements.</a:t>
            </a:r>
          </a:p>
        </p:txBody>
      </p:sp>
      <p:sp>
        <p:nvSpPr>
          <p:cNvPr id="4" name="Slide Number Placeholder 3">
            <a:extLst>
              <a:ext uri="{FF2B5EF4-FFF2-40B4-BE49-F238E27FC236}">
                <a16:creationId xmlns:a16="http://schemas.microsoft.com/office/drawing/2014/main" xmlns="" id="{85310635-960B-449F-8EEC-E9028612AFC9}"/>
              </a:ext>
            </a:extLst>
          </p:cNvPr>
          <p:cNvSpPr>
            <a:spLocks noGrp="1"/>
          </p:cNvSpPr>
          <p:nvPr>
            <p:ph type="sldNum" sz="quarter" idx="12"/>
          </p:nvPr>
        </p:nvSpPr>
        <p:spPr/>
        <p:txBody>
          <a:bodyPr/>
          <a:lstStyle/>
          <a:p>
            <a:fld id="{81ACFABA-A45C-40AA-ABD1-FC8F80DAD626}" type="slidenum">
              <a:rPr lang="en-US" smtClean="0"/>
              <a:t>46</a:t>
            </a:fld>
            <a:endParaRPr lang="en-US"/>
          </a:p>
        </p:txBody>
      </p:sp>
    </p:spTree>
    <p:extLst>
      <p:ext uri="{BB962C8B-B14F-4D97-AF65-F5344CB8AC3E}">
        <p14:creationId xmlns:p14="http://schemas.microsoft.com/office/powerpoint/2010/main" val="24274498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a:t>Spiral model:</a:t>
            </a:r>
          </a:p>
        </p:txBody>
      </p:sp>
      <p:sp>
        <p:nvSpPr>
          <p:cNvPr id="3" name="Content Placeholder 2"/>
          <p:cNvSpPr>
            <a:spLocks noGrp="1"/>
          </p:cNvSpPr>
          <p:nvPr>
            <p:ph idx="1"/>
          </p:nvPr>
        </p:nvSpPr>
        <p:spPr>
          <a:xfrm>
            <a:off x="838200" y="1825624"/>
            <a:ext cx="10515600" cy="3236569"/>
          </a:xfrm>
        </p:spPr>
        <p:txBody>
          <a:bodyPr>
            <a:normAutofit/>
          </a:bodyPr>
          <a:lstStyle/>
          <a:p>
            <a:pPr algn="just"/>
            <a:r>
              <a:rPr lang="en-US" dirty="0">
                <a:latin typeface="Times New Roman" panose="02020603050405020304" pitchFamily="18" charset="0"/>
                <a:cs typeface="Times New Roman" panose="02020603050405020304" pitchFamily="18" charset="0"/>
              </a:rPr>
              <a:t>Spiral model is one of the most important Software Development Life Cycle models, which provides support for Risk Handling. In its diagrammatic representation, it looks like a spiral with many loops. </a:t>
            </a:r>
          </a:p>
          <a:p>
            <a:pPr algn="just"/>
            <a:r>
              <a:rPr lang="en-US" dirty="0">
                <a:latin typeface="Times New Roman" panose="02020603050405020304" pitchFamily="18" charset="0"/>
                <a:cs typeface="Times New Roman" panose="02020603050405020304" pitchFamily="18" charset="0"/>
              </a:rPr>
              <a:t>The spiral model is a systems development lifecycle (SDLC) method used for risk management that combines the iterative development process model with elements of the Waterfall model. </a:t>
            </a:r>
          </a:p>
          <a:p>
            <a:pPr algn="just"/>
            <a:r>
              <a:rPr lang="en-US" dirty="0">
                <a:latin typeface="Times New Roman" panose="02020603050405020304" pitchFamily="18" charset="0"/>
                <a:cs typeface="Times New Roman" panose="02020603050405020304" pitchFamily="18" charset="0"/>
              </a:rPr>
              <a:t>The spiral model is used by software engineers and is favored for large, expensive and complicated projects.</a:t>
            </a:r>
          </a:p>
        </p:txBody>
      </p:sp>
      <p:sp>
        <p:nvSpPr>
          <p:cNvPr id="4" name="Slide Number Placeholder 3"/>
          <p:cNvSpPr>
            <a:spLocks noGrp="1"/>
          </p:cNvSpPr>
          <p:nvPr>
            <p:ph type="sldNum" sz="quarter" idx="12"/>
          </p:nvPr>
        </p:nvSpPr>
        <p:spPr/>
        <p:txBody>
          <a:bodyPr/>
          <a:lstStyle/>
          <a:p>
            <a:fld id="{81ACFABA-A45C-40AA-ABD1-FC8F80DAD626}" type="slidenum">
              <a:rPr lang="en-US" smtClean="0"/>
              <a:t>47</a:t>
            </a:fld>
            <a:endParaRPr lang="en-US"/>
          </a:p>
        </p:txBody>
      </p:sp>
    </p:spTree>
    <p:extLst>
      <p:ext uri="{BB962C8B-B14F-4D97-AF65-F5344CB8AC3E}">
        <p14:creationId xmlns:p14="http://schemas.microsoft.com/office/powerpoint/2010/main" val="16327096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http://www.netnic.org/wp-content/uploads/2020/01/spiral-model-sdlc.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28085" y="791152"/>
            <a:ext cx="6525513" cy="5314084"/>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81ACFABA-A45C-40AA-ABD1-FC8F80DAD626}" type="slidenum">
              <a:rPr lang="en-US" smtClean="0"/>
              <a:t>48</a:t>
            </a:fld>
            <a:endParaRPr lang="en-US"/>
          </a:p>
        </p:txBody>
      </p:sp>
    </p:spTree>
    <p:extLst>
      <p:ext uri="{BB962C8B-B14F-4D97-AF65-F5344CB8AC3E}">
        <p14:creationId xmlns:p14="http://schemas.microsoft.com/office/powerpoint/2010/main" val="38776677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 of Spiral Model:</a:t>
            </a:r>
            <a:r>
              <a:rPr lang="en-US" dirty="0"/>
              <a:t> </a:t>
            </a:r>
          </a:p>
        </p:txBody>
      </p:sp>
      <p:sp>
        <p:nvSpPr>
          <p:cNvPr id="3" name="Content Placeholder 2"/>
          <p:cNvSpPr>
            <a:spLocks noGrp="1"/>
          </p:cNvSpPr>
          <p:nvPr>
            <p:ph idx="1"/>
          </p:nvPr>
        </p:nvSpPr>
        <p:spPr/>
        <p:txBody>
          <a:bodyPr>
            <a:normAutofit/>
          </a:bodyPr>
          <a:lstStyle/>
          <a:p>
            <a:pPr lvl="0" algn="just" fontAlgn="base"/>
            <a:r>
              <a:rPr lang="en-US" b="1" dirty="0">
                <a:latin typeface="Times New Roman" panose="02020603050405020304" pitchFamily="18" charset="0"/>
                <a:cs typeface="Times New Roman" panose="02020603050405020304" pitchFamily="18" charset="0"/>
              </a:rPr>
              <a:t>Risk Handling:</a:t>
            </a:r>
            <a:r>
              <a:rPr lang="en-US" dirty="0">
                <a:latin typeface="Times New Roman" panose="02020603050405020304" pitchFamily="18" charset="0"/>
                <a:cs typeface="Times New Roman" panose="02020603050405020304" pitchFamily="18" charset="0"/>
              </a:rPr>
              <a:t> The projects with many unknown risks that occur as the development proceeds, in that case, Spiral Model is the best development model to follow due to the risk analysis and risk handling at every phase. </a:t>
            </a:r>
          </a:p>
          <a:p>
            <a:pPr lvl="0" algn="just" fontAlgn="base"/>
            <a:r>
              <a:rPr lang="en-US" b="1" dirty="0">
                <a:latin typeface="Times New Roman" panose="02020603050405020304" pitchFamily="18" charset="0"/>
                <a:cs typeface="Times New Roman" panose="02020603050405020304" pitchFamily="18" charset="0"/>
              </a:rPr>
              <a:t>Good for large projects: </a:t>
            </a:r>
            <a:r>
              <a:rPr lang="en-US" dirty="0">
                <a:latin typeface="Times New Roman" panose="02020603050405020304" pitchFamily="18" charset="0"/>
                <a:cs typeface="Times New Roman" panose="02020603050405020304" pitchFamily="18" charset="0"/>
              </a:rPr>
              <a:t>It is recommended to use the Spiral Model in large and complex projects. </a:t>
            </a:r>
          </a:p>
          <a:p>
            <a:pPr lvl="0" algn="just" fontAlgn="base"/>
            <a:r>
              <a:rPr lang="en-US" b="1" dirty="0">
                <a:latin typeface="Times New Roman" panose="02020603050405020304" pitchFamily="18" charset="0"/>
                <a:cs typeface="Times New Roman" panose="02020603050405020304" pitchFamily="18" charset="0"/>
              </a:rPr>
              <a:t>Flexibility in Requirements: </a:t>
            </a:r>
            <a:r>
              <a:rPr lang="en-US" dirty="0">
                <a:latin typeface="Times New Roman" panose="02020603050405020304" pitchFamily="18" charset="0"/>
                <a:cs typeface="Times New Roman" panose="02020603050405020304" pitchFamily="18" charset="0"/>
              </a:rPr>
              <a:t>Change requests in the Requirements at later phase can be incorporated accurately by using this model. </a:t>
            </a:r>
          </a:p>
          <a:p>
            <a:pPr lvl="0" algn="just" fontAlgn="base"/>
            <a:r>
              <a:rPr lang="en-US" b="1" dirty="0">
                <a:latin typeface="Times New Roman" panose="02020603050405020304" pitchFamily="18" charset="0"/>
                <a:cs typeface="Times New Roman" panose="02020603050405020304" pitchFamily="18" charset="0"/>
              </a:rPr>
              <a:t>Customer Satisfaction: </a:t>
            </a:r>
            <a:r>
              <a:rPr lang="en-US" dirty="0">
                <a:latin typeface="Times New Roman" panose="02020603050405020304" pitchFamily="18" charset="0"/>
                <a:cs typeface="Times New Roman" panose="02020603050405020304" pitchFamily="18" charset="0"/>
              </a:rPr>
              <a:t>Customer can see the development of the product at the early phase of the software development and thus, they habituated with the system by using it before completion of the total product. </a:t>
            </a:r>
          </a:p>
        </p:txBody>
      </p:sp>
      <p:sp>
        <p:nvSpPr>
          <p:cNvPr id="4" name="Slide Number Placeholder 3"/>
          <p:cNvSpPr>
            <a:spLocks noGrp="1"/>
          </p:cNvSpPr>
          <p:nvPr>
            <p:ph type="sldNum" sz="quarter" idx="12"/>
          </p:nvPr>
        </p:nvSpPr>
        <p:spPr/>
        <p:txBody>
          <a:bodyPr/>
          <a:lstStyle/>
          <a:p>
            <a:fld id="{81ACFABA-A45C-40AA-ABD1-FC8F80DAD626}" type="slidenum">
              <a:rPr lang="en-US" smtClean="0"/>
              <a:t>49</a:t>
            </a:fld>
            <a:endParaRPr lang="en-US"/>
          </a:p>
        </p:txBody>
      </p:sp>
    </p:spTree>
    <p:extLst>
      <p:ext uri="{BB962C8B-B14F-4D97-AF65-F5344CB8AC3E}">
        <p14:creationId xmlns:p14="http://schemas.microsoft.com/office/powerpoint/2010/main" val="5534299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Disadvantages of Spiral Model:</a:t>
            </a:r>
            <a:r>
              <a:rPr lang="en-US" dirty="0"/>
              <a:t> </a:t>
            </a:r>
          </a:p>
        </p:txBody>
      </p:sp>
      <p:sp>
        <p:nvSpPr>
          <p:cNvPr id="3" name="Content Placeholder 2"/>
          <p:cNvSpPr>
            <a:spLocks noGrp="1"/>
          </p:cNvSpPr>
          <p:nvPr>
            <p:ph idx="1"/>
          </p:nvPr>
        </p:nvSpPr>
        <p:spPr/>
        <p:txBody>
          <a:bodyPr/>
          <a:lstStyle/>
          <a:p>
            <a:pPr lvl="0" algn="just" fontAlgn="base"/>
            <a:r>
              <a:rPr lang="en-US" b="1" dirty="0">
                <a:latin typeface="Times New Roman" panose="02020603050405020304" pitchFamily="18" charset="0"/>
                <a:cs typeface="Times New Roman" panose="02020603050405020304" pitchFamily="18" charset="0"/>
              </a:rPr>
              <a:t>Complex: </a:t>
            </a:r>
            <a:r>
              <a:rPr lang="en-US" dirty="0">
                <a:latin typeface="Times New Roman" panose="02020603050405020304" pitchFamily="18" charset="0"/>
                <a:cs typeface="Times New Roman" panose="02020603050405020304" pitchFamily="18" charset="0"/>
              </a:rPr>
              <a:t>The Spiral Model is much more complex than other SDLC models. </a:t>
            </a:r>
          </a:p>
          <a:p>
            <a:pPr lvl="0" algn="just" fontAlgn="base"/>
            <a:r>
              <a:rPr lang="en-US" b="1" dirty="0">
                <a:latin typeface="Times New Roman" panose="02020603050405020304" pitchFamily="18" charset="0"/>
                <a:cs typeface="Times New Roman" panose="02020603050405020304" pitchFamily="18" charset="0"/>
              </a:rPr>
              <a:t>Expensive:</a:t>
            </a:r>
            <a:r>
              <a:rPr lang="en-US" dirty="0">
                <a:latin typeface="Times New Roman" panose="02020603050405020304" pitchFamily="18" charset="0"/>
                <a:cs typeface="Times New Roman" panose="02020603050405020304" pitchFamily="18" charset="0"/>
              </a:rPr>
              <a:t> Spiral Model is not suitable for small projects as it is expensive. </a:t>
            </a:r>
          </a:p>
          <a:p>
            <a:pPr lvl="0" algn="just" fontAlgn="base"/>
            <a:r>
              <a:rPr lang="en-US" b="1" dirty="0">
                <a:latin typeface="Times New Roman" panose="02020603050405020304" pitchFamily="18" charset="0"/>
                <a:cs typeface="Times New Roman" panose="02020603050405020304" pitchFamily="18" charset="0"/>
              </a:rPr>
              <a:t>Too much dependability on Risk Analysis: </a:t>
            </a:r>
            <a:r>
              <a:rPr lang="en-US" dirty="0">
                <a:latin typeface="Times New Roman" panose="02020603050405020304" pitchFamily="18" charset="0"/>
                <a:cs typeface="Times New Roman" panose="02020603050405020304" pitchFamily="18" charset="0"/>
              </a:rPr>
              <a:t>The successful completion of the project is very much dependent on Risk Analysis. Without very highly experienced experts, it is going to be a failure to develop a project using this model. </a:t>
            </a:r>
          </a:p>
          <a:p>
            <a:pPr lvl="0" algn="just" fontAlgn="base"/>
            <a:r>
              <a:rPr lang="en-US" b="1" dirty="0">
                <a:latin typeface="Times New Roman" panose="02020603050405020304" pitchFamily="18" charset="0"/>
                <a:cs typeface="Times New Roman" panose="02020603050405020304" pitchFamily="18" charset="0"/>
              </a:rPr>
              <a:t>Difficulty in time management:</a:t>
            </a:r>
            <a:r>
              <a:rPr lang="en-US" dirty="0">
                <a:latin typeface="Times New Roman" panose="02020603050405020304" pitchFamily="18" charset="0"/>
                <a:cs typeface="Times New Roman" panose="02020603050405020304" pitchFamily="18" charset="0"/>
              </a:rPr>
              <a:t> As the number of phases is unknown at the start of the project, so time estimation is very difficult. </a:t>
            </a:r>
          </a:p>
        </p:txBody>
      </p:sp>
      <p:sp>
        <p:nvSpPr>
          <p:cNvPr id="4" name="Slide Number Placeholder 3"/>
          <p:cNvSpPr>
            <a:spLocks noGrp="1"/>
          </p:cNvSpPr>
          <p:nvPr>
            <p:ph type="sldNum" sz="quarter" idx="12"/>
          </p:nvPr>
        </p:nvSpPr>
        <p:spPr/>
        <p:txBody>
          <a:bodyPr/>
          <a:lstStyle/>
          <a:p>
            <a:fld id="{81ACFABA-A45C-40AA-ABD1-FC8F80DAD626}" type="slidenum">
              <a:rPr lang="en-US" smtClean="0"/>
              <a:t>50</a:t>
            </a:fld>
            <a:endParaRPr lang="en-US"/>
          </a:p>
        </p:txBody>
      </p:sp>
    </p:spTree>
    <p:extLst>
      <p:ext uri="{BB962C8B-B14F-4D97-AF65-F5344CB8AC3E}">
        <p14:creationId xmlns:p14="http://schemas.microsoft.com/office/powerpoint/2010/main" val="36928908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7550A12-5A68-23AA-5C99-9A6CD042AE3A}"/>
              </a:ext>
            </a:extLst>
          </p:cNvPr>
          <p:cNvSpPr>
            <a:spLocks noGrp="1"/>
          </p:cNvSpPr>
          <p:nvPr>
            <p:ph type="title"/>
          </p:nvPr>
        </p:nvSpPr>
        <p:spPr/>
        <p:txBody>
          <a:bodyPr/>
          <a:lstStyle/>
          <a:p>
            <a:r>
              <a:rPr lang="en-US" b="1" dirty="0"/>
              <a:t>V Model</a:t>
            </a:r>
          </a:p>
        </p:txBody>
      </p:sp>
      <p:sp>
        <p:nvSpPr>
          <p:cNvPr id="3" name="Content Placeholder 2">
            <a:extLst>
              <a:ext uri="{FF2B5EF4-FFF2-40B4-BE49-F238E27FC236}">
                <a16:creationId xmlns:a16="http://schemas.microsoft.com/office/drawing/2014/main" xmlns="" id="{D7903FCC-80B8-F5F0-F1BB-CCD23C84FFE8}"/>
              </a:ext>
            </a:extLst>
          </p:cNvPr>
          <p:cNvSpPr>
            <a:spLocks noGrp="1"/>
          </p:cNvSpPr>
          <p:nvPr>
            <p:ph idx="1"/>
          </p:nvPr>
        </p:nvSpPr>
        <p:spPr/>
        <p:txBody>
          <a:bodyPr/>
          <a:lstStyle/>
          <a:p>
            <a:pPr algn="just"/>
            <a:r>
              <a:rPr lang="en-US" b="0" i="0" dirty="0">
                <a:effectLst/>
                <a:latin typeface="Times New Roman" panose="02020603050405020304" pitchFamily="18" charset="0"/>
                <a:cs typeface="Times New Roman" panose="02020603050405020304" pitchFamily="18" charset="0"/>
              </a:rPr>
              <a:t>The V-model is a type of </a:t>
            </a:r>
            <a:r>
              <a:rPr lang="en-US" dirty="0">
                <a:latin typeface="Times New Roman" panose="02020603050405020304" pitchFamily="18" charset="0"/>
                <a:cs typeface="Times New Roman" panose="02020603050405020304" pitchFamily="18" charset="0"/>
              </a:rPr>
              <a:t>SDLC model </a:t>
            </a:r>
            <a:r>
              <a:rPr lang="en-US" b="0" i="0" dirty="0">
                <a:effectLst/>
                <a:latin typeface="Times New Roman" panose="02020603050405020304" pitchFamily="18" charset="0"/>
                <a:cs typeface="Times New Roman" panose="02020603050405020304" pitchFamily="18" charset="0"/>
              </a:rPr>
              <a:t>where the process executes in a sequential manner in a V-shape. It is also known as the Verification and Validation model. It is based on the association of a testing phase for each corresponding development stage. </a:t>
            </a:r>
          </a:p>
          <a:p>
            <a:pPr algn="just"/>
            <a:r>
              <a:rPr lang="en-US" b="0" i="0" dirty="0">
                <a:effectLst/>
                <a:latin typeface="Times New Roman" panose="02020603050405020304" pitchFamily="18" charset="0"/>
                <a:cs typeface="Times New Roman" panose="02020603050405020304" pitchFamily="18" charset="0"/>
              </a:rPr>
              <a:t>The development of each step is directly associated with the testing phase. The next phase starts only after completion of the previous phase i.e., for each development activity, there is a testing activity corresponding to it.</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xmlns="" id="{3E3F265A-18BD-CEBC-FB05-286A0F47DE3A}"/>
              </a:ext>
            </a:extLst>
          </p:cNvPr>
          <p:cNvSpPr>
            <a:spLocks noGrp="1"/>
          </p:cNvSpPr>
          <p:nvPr>
            <p:ph type="sldNum" sz="quarter" idx="12"/>
          </p:nvPr>
        </p:nvSpPr>
        <p:spPr/>
        <p:txBody>
          <a:bodyPr/>
          <a:lstStyle/>
          <a:p>
            <a:fld id="{81ACFABA-A45C-40AA-ABD1-FC8F80DAD626}" type="slidenum">
              <a:rPr lang="en-US" smtClean="0"/>
              <a:t>51</a:t>
            </a:fld>
            <a:endParaRPr lang="en-US"/>
          </a:p>
        </p:txBody>
      </p:sp>
    </p:spTree>
    <p:extLst>
      <p:ext uri="{BB962C8B-B14F-4D97-AF65-F5344CB8AC3E}">
        <p14:creationId xmlns:p14="http://schemas.microsoft.com/office/powerpoint/2010/main" val="30209757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95272B-CC80-EDB2-EEBC-C52E9FA4A93C}"/>
              </a:ext>
            </a:extLst>
          </p:cNvPr>
          <p:cNvSpPr>
            <a:spLocks noGrp="1"/>
          </p:cNvSpPr>
          <p:nvPr>
            <p:ph type="title"/>
          </p:nvPr>
        </p:nvSpPr>
        <p:spPr/>
        <p:txBody>
          <a:bodyPr/>
          <a:lstStyle/>
          <a:p>
            <a:r>
              <a:rPr lang="en-US" b="1" dirty="0"/>
              <a:t>V Model</a:t>
            </a:r>
          </a:p>
        </p:txBody>
      </p:sp>
      <p:pic>
        <p:nvPicPr>
          <p:cNvPr id="7" name="Content Placeholder 6">
            <a:extLst>
              <a:ext uri="{FF2B5EF4-FFF2-40B4-BE49-F238E27FC236}">
                <a16:creationId xmlns:a16="http://schemas.microsoft.com/office/drawing/2014/main" xmlns="" id="{F04AE620-BC72-289B-B589-1CE42285A9C2}"/>
              </a:ext>
            </a:extLst>
          </p:cNvPr>
          <p:cNvPicPr>
            <a:picLocks noGrp="1" noChangeAspect="1"/>
          </p:cNvPicPr>
          <p:nvPr>
            <p:ph idx="1"/>
          </p:nvPr>
        </p:nvPicPr>
        <p:blipFill>
          <a:blip r:embed="rId2"/>
          <a:stretch>
            <a:fillRect/>
          </a:stretch>
        </p:blipFill>
        <p:spPr>
          <a:xfrm>
            <a:off x="3293060" y="1825625"/>
            <a:ext cx="5605880" cy="4351338"/>
          </a:xfrm>
        </p:spPr>
      </p:pic>
      <p:sp>
        <p:nvSpPr>
          <p:cNvPr id="4" name="Slide Number Placeholder 3">
            <a:extLst>
              <a:ext uri="{FF2B5EF4-FFF2-40B4-BE49-F238E27FC236}">
                <a16:creationId xmlns:a16="http://schemas.microsoft.com/office/drawing/2014/main" xmlns="" id="{5BD1A2E7-DD54-A656-98DA-A6476C252651}"/>
              </a:ext>
            </a:extLst>
          </p:cNvPr>
          <p:cNvSpPr>
            <a:spLocks noGrp="1"/>
          </p:cNvSpPr>
          <p:nvPr>
            <p:ph type="sldNum" sz="quarter" idx="12"/>
          </p:nvPr>
        </p:nvSpPr>
        <p:spPr/>
        <p:txBody>
          <a:bodyPr/>
          <a:lstStyle/>
          <a:p>
            <a:fld id="{81ACFABA-A45C-40AA-ABD1-FC8F80DAD626}" type="slidenum">
              <a:rPr lang="en-US" smtClean="0"/>
              <a:t>52</a:t>
            </a:fld>
            <a:endParaRPr lang="en-US"/>
          </a:p>
        </p:txBody>
      </p:sp>
    </p:spTree>
    <p:extLst>
      <p:ext uri="{BB962C8B-B14F-4D97-AF65-F5344CB8AC3E}">
        <p14:creationId xmlns:p14="http://schemas.microsoft.com/office/powerpoint/2010/main" val="19855952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xmlns="" id="{8BEBD517-BA53-44F4-903A-C28B741A9189}"/>
              </a:ext>
            </a:extLst>
          </p:cNvPr>
          <p:cNvPicPr>
            <a:picLocks noGrp="1" noChangeAspect="1"/>
          </p:cNvPicPr>
          <p:nvPr>
            <p:ph idx="1"/>
          </p:nvPr>
        </p:nvPicPr>
        <p:blipFill>
          <a:blip r:embed="rId2"/>
          <a:stretch>
            <a:fillRect/>
          </a:stretch>
        </p:blipFill>
        <p:spPr bwMode="auto">
          <a:xfrm>
            <a:off x="440026" y="944866"/>
            <a:ext cx="11448309" cy="4645229"/>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xmlns="" id="{90D3691C-CFEE-4C5A-B2E8-7930C97EAF94}"/>
              </a:ext>
            </a:extLst>
          </p:cNvPr>
          <p:cNvSpPr>
            <a:spLocks noGrp="1"/>
          </p:cNvSpPr>
          <p:nvPr>
            <p:ph type="sldNum" sz="quarter" idx="12"/>
          </p:nvPr>
        </p:nvSpPr>
        <p:spPr/>
        <p:txBody>
          <a:bodyPr/>
          <a:lstStyle/>
          <a:p>
            <a:fld id="{255C45AA-988C-4610-8E25-9C545FF2A435}" type="slidenum">
              <a:rPr lang="en-US" smtClean="0"/>
              <a:t>53</a:t>
            </a:fld>
            <a:endParaRPr lang="en-US"/>
          </a:p>
        </p:txBody>
      </p:sp>
    </p:spTree>
    <p:extLst>
      <p:ext uri="{BB962C8B-B14F-4D97-AF65-F5344CB8AC3E}">
        <p14:creationId xmlns:p14="http://schemas.microsoft.com/office/powerpoint/2010/main" val="40029049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F2CE061C-DC39-4F16-BA73-3D452D51FA47}"/>
              </a:ext>
            </a:extLst>
          </p:cNvPr>
          <p:cNvSpPr>
            <a:spLocks noGrp="1"/>
          </p:cNvSpPr>
          <p:nvPr>
            <p:ph type="title"/>
          </p:nvPr>
        </p:nvSpPr>
        <p:spPr/>
        <p:txBody>
          <a:bodyPr/>
          <a:lstStyle/>
          <a:p>
            <a:r>
              <a:rPr lang="en-US" dirty="0"/>
              <a:t>End of unit 2</a:t>
            </a:r>
          </a:p>
        </p:txBody>
      </p:sp>
      <p:sp>
        <p:nvSpPr>
          <p:cNvPr id="2" name="Slide Number Placeholder 1">
            <a:extLst>
              <a:ext uri="{FF2B5EF4-FFF2-40B4-BE49-F238E27FC236}">
                <a16:creationId xmlns:a16="http://schemas.microsoft.com/office/drawing/2014/main" xmlns="" id="{5A279218-E13A-4371-BF0E-A428CD770888}"/>
              </a:ext>
            </a:extLst>
          </p:cNvPr>
          <p:cNvSpPr>
            <a:spLocks noGrp="1"/>
          </p:cNvSpPr>
          <p:nvPr>
            <p:ph type="sldNum" sz="quarter" idx="12"/>
          </p:nvPr>
        </p:nvSpPr>
        <p:spPr/>
        <p:txBody>
          <a:bodyPr/>
          <a:lstStyle/>
          <a:p>
            <a:fld id="{255C45AA-988C-4610-8E25-9C545FF2A435}" type="slidenum">
              <a:rPr lang="en-US" smtClean="0"/>
              <a:t>54</a:t>
            </a:fld>
            <a:endParaRPr lang="en-US"/>
          </a:p>
        </p:txBody>
      </p:sp>
    </p:spTree>
    <p:extLst>
      <p:ext uri="{BB962C8B-B14F-4D97-AF65-F5344CB8AC3E}">
        <p14:creationId xmlns:p14="http://schemas.microsoft.com/office/powerpoint/2010/main" val="33554693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1546</TotalTime>
  <Words>2439</Words>
  <Application>Microsoft Office PowerPoint</Application>
  <PresentationFormat>Widescreen</PresentationFormat>
  <Paragraphs>284</Paragraphs>
  <Slides>54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54</vt:i4>
      </vt:variant>
    </vt:vector>
  </HeadingPairs>
  <TitlesOfParts>
    <vt:vector size="62" baseType="lpstr">
      <vt:lpstr>Arial</vt:lpstr>
      <vt:lpstr>Calibri</vt:lpstr>
      <vt:lpstr>Rockwell</vt:lpstr>
      <vt:lpstr>Rockwell Condensed</vt:lpstr>
      <vt:lpstr>Source Sans 3</vt:lpstr>
      <vt:lpstr>Times New Roman</vt:lpstr>
      <vt:lpstr>Wingdings</vt:lpstr>
      <vt:lpstr>Wood Type</vt:lpstr>
      <vt:lpstr>Unit 2  Software processes </vt:lpstr>
      <vt:lpstr>Syllabus</vt:lpstr>
      <vt:lpstr>Software Processes</vt:lpstr>
      <vt:lpstr>1.Software Specification</vt:lpstr>
      <vt:lpstr>1.Software Specification</vt:lpstr>
      <vt:lpstr>2. Software Development and Implementation</vt:lpstr>
      <vt:lpstr>2. Software Development </vt:lpstr>
      <vt:lpstr>2. Software Development </vt:lpstr>
      <vt:lpstr>3. Software validation</vt:lpstr>
      <vt:lpstr>3. Software validation</vt:lpstr>
      <vt:lpstr>4. Software evolution</vt:lpstr>
      <vt:lpstr>3. Software evolution</vt:lpstr>
      <vt:lpstr>The Software Process Models</vt:lpstr>
      <vt:lpstr>Waterfall model:</vt:lpstr>
      <vt:lpstr>PowerPoint Presentation</vt:lpstr>
      <vt:lpstr>Waterfall Model - Application</vt:lpstr>
      <vt:lpstr>Waterfall Model - Advantages</vt:lpstr>
      <vt:lpstr>Waterfall Model - Disadvantages</vt:lpstr>
      <vt:lpstr>Iterative model</vt:lpstr>
      <vt:lpstr>Iterative model</vt:lpstr>
      <vt:lpstr>Iterative model</vt:lpstr>
      <vt:lpstr>Iterative model</vt:lpstr>
      <vt:lpstr>Incremental Development Model</vt:lpstr>
      <vt:lpstr>Incremental Development Model</vt:lpstr>
      <vt:lpstr>Incremental Development model</vt:lpstr>
      <vt:lpstr>Incremental Model</vt:lpstr>
      <vt:lpstr>Difference between Iterative and Incremental model</vt:lpstr>
      <vt:lpstr>Integration and Configuration model</vt:lpstr>
      <vt:lpstr>Incremental Development Model</vt:lpstr>
      <vt:lpstr>Integration and Configuration</vt:lpstr>
      <vt:lpstr>Integration and Configuration</vt:lpstr>
      <vt:lpstr>Question 1:</vt:lpstr>
      <vt:lpstr>Coping with change</vt:lpstr>
      <vt:lpstr>Prototyping Model </vt:lpstr>
      <vt:lpstr>Prototyping Model </vt:lpstr>
      <vt:lpstr>Assignment</vt:lpstr>
      <vt:lpstr>Incremental delivery:</vt:lpstr>
      <vt:lpstr>PowerPoint Presentation</vt:lpstr>
      <vt:lpstr>Advantages of Incremental Model</vt:lpstr>
      <vt:lpstr>Disadvantages of Incremental Model</vt:lpstr>
      <vt:lpstr>Component Based Software Engineering (CBSE) / Reuse Oriented Software Engineering</vt:lpstr>
      <vt:lpstr>Example:</vt:lpstr>
      <vt:lpstr>Stages of CBSE:</vt:lpstr>
      <vt:lpstr>Objective of CBSE:</vt:lpstr>
      <vt:lpstr>PowerPoint Presentation</vt:lpstr>
      <vt:lpstr>Process Improvement</vt:lpstr>
      <vt:lpstr>Spiral model:</vt:lpstr>
      <vt:lpstr>PowerPoint Presentation</vt:lpstr>
      <vt:lpstr>Advantages of Spiral Model: </vt:lpstr>
      <vt:lpstr>Disadvantages of Spiral Model: </vt:lpstr>
      <vt:lpstr>V Model</vt:lpstr>
      <vt:lpstr>V Model</vt:lpstr>
      <vt:lpstr>PowerPoint Presentation</vt:lpstr>
      <vt:lpstr>End of unit 2</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dc:title>
  <dc:creator>Yachu</dc:creator>
  <cp:lastModifiedBy>Microsoft account</cp:lastModifiedBy>
  <cp:revision>50</cp:revision>
  <dcterms:created xsi:type="dcterms:W3CDTF">2026-06-22T07:06:56Z</dcterms:created>
  <dcterms:modified xsi:type="dcterms:W3CDTF">2026-08-19T14:36:33Z</dcterms:modified>
</cp:coreProperties>
</file>