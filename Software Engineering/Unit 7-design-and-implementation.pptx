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52"/>
  </p:notesMasterIdLst>
  <p:sldIdLst>
    <p:sldId id="256" r:id="rId2"/>
    <p:sldId id="257" r:id="rId3"/>
    <p:sldId id="299" r:id="rId4"/>
    <p:sldId id="260" r:id="rId5"/>
    <p:sldId id="261" r:id="rId6"/>
    <p:sldId id="262" r:id="rId7"/>
    <p:sldId id="263" r:id="rId8"/>
    <p:sldId id="264" r:id="rId9"/>
    <p:sldId id="265" r:id="rId10"/>
    <p:sldId id="266" r:id="rId11"/>
    <p:sldId id="267" r:id="rId12"/>
    <p:sldId id="268" r:id="rId13"/>
    <p:sldId id="269" r:id="rId14"/>
    <p:sldId id="270" r:id="rId15"/>
    <p:sldId id="271" r:id="rId16"/>
    <p:sldId id="258" r:id="rId17"/>
    <p:sldId id="304" r:id="rId18"/>
    <p:sldId id="259" r:id="rId19"/>
    <p:sldId id="274" r:id="rId20"/>
    <p:sldId id="275" r:id="rId21"/>
    <p:sldId id="273" r:id="rId22"/>
    <p:sldId id="276" r:id="rId23"/>
    <p:sldId id="303" r:id="rId24"/>
    <p:sldId id="277" r:id="rId25"/>
    <p:sldId id="305" r:id="rId26"/>
    <p:sldId id="278" r:id="rId27"/>
    <p:sldId id="296" r:id="rId28"/>
    <p:sldId id="306" r:id="rId29"/>
    <p:sldId id="272" r:id="rId30"/>
    <p:sldId id="279" r:id="rId31"/>
    <p:sldId id="281" r:id="rId32"/>
    <p:sldId id="297" r:id="rId33"/>
    <p:sldId id="307" r:id="rId34"/>
    <p:sldId id="300" r:id="rId35"/>
    <p:sldId id="308" r:id="rId36"/>
    <p:sldId id="301" r:id="rId37"/>
    <p:sldId id="309" r:id="rId38"/>
    <p:sldId id="285" r:id="rId39"/>
    <p:sldId id="286" r:id="rId40"/>
    <p:sldId id="287" r:id="rId41"/>
    <p:sldId id="288" r:id="rId42"/>
    <p:sldId id="289" r:id="rId43"/>
    <p:sldId id="290" r:id="rId44"/>
    <p:sldId id="291" r:id="rId45"/>
    <p:sldId id="302" r:id="rId46"/>
    <p:sldId id="292" r:id="rId47"/>
    <p:sldId id="294" r:id="rId48"/>
    <p:sldId id="295" r:id="rId49"/>
    <p:sldId id="293" r:id="rId50"/>
    <p:sldId id="298"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6B1576-DB5A-4005-800E-9F4E1A9C0144}">
          <p14:sldIdLst>
            <p14:sldId id="256"/>
            <p14:sldId id="257"/>
            <p14:sldId id="299"/>
          </p14:sldIdLst>
        </p14:section>
        <p14:section name="optional" id="{F3493592-1596-4DD1-B0CD-60CC2E47CB5D}">
          <p14:sldIdLst>
            <p14:sldId id="260"/>
            <p14:sldId id="261"/>
            <p14:sldId id="262"/>
            <p14:sldId id="263"/>
            <p14:sldId id="264"/>
            <p14:sldId id="265"/>
            <p14:sldId id="266"/>
            <p14:sldId id="267"/>
            <p14:sldId id="268"/>
            <p14:sldId id="269"/>
            <p14:sldId id="270"/>
            <p14:sldId id="271"/>
          </p14:sldIdLst>
        </p14:section>
        <p14:section name="ood using uml" id="{8DCBAD2A-4483-430E-BC0D-FB4B76F92B57}">
          <p14:sldIdLst>
            <p14:sldId id="258"/>
            <p14:sldId id="304"/>
            <p14:sldId id="259"/>
            <p14:sldId id="274"/>
            <p14:sldId id="275"/>
            <p14:sldId id="273"/>
            <p14:sldId id="276"/>
            <p14:sldId id="303"/>
            <p14:sldId id="277"/>
            <p14:sldId id="305"/>
            <p14:sldId id="278"/>
            <p14:sldId id="296"/>
            <p14:sldId id="306"/>
            <p14:sldId id="272"/>
            <p14:sldId id="279"/>
            <p14:sldId id="281"/>
            <p14:sldId id="297"/>
            <p14:sldId id="307"/>
            <p14:sldId id="300"/>
            <p14:sldId id="308"/>
            <p14:sldId id="301"/>
            <p14:sldId id="309"/>
            <p14:sldId id="285"/>
            <p14:sldId id="286"/>
            <p14:sldId id="287"/>
            <p14:sldId id="288"/>
            <p14:sldId id="289"/>
            <p14:sldId id="290"/>
            <p14:sldId id="291"/>
            <p14:sldId id="302"/>
            <p14:sldId id="292"/>
            <p14:sldId id="294"/>
            <p14:sldId id="295"/>
            <p14:sldId id="293"/>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 Databases:</a:t>
            </a:r>
          </a:p>
          <a:p>
            <a:pPr>
              <a:buFont typeface="Arial" panose="020B0604020202020204" pitchFamily="34" charset="0"/>
              <a:buChar char="•"/>
            </a:pPr>
            <a:r>
              <a:rPr lang="en-US" b="1" dirty="0"/>
              <a:t>Physical Abstraction</a:t>
            </a:r>
            <a:r>
              <a:rPr lang="en-US" dirty="0"/>
              <a:t>: Disk blocks storing raw records.</a:t>
            </a:r>
          </a:p>
          <a:p>
            <a:pPr>
              <a:buFont typeface="Arial" panose="020B0604020202020204" pitchFamily="34" charset="0"/>
              <a:buChar char="•"/>
            </a:pPr>
            <a:r>
              <a:rPr lang="en-US" b="1" dirty="0"/>
              <a:t>Logical Abstraction</a:t>
            </a:r>
            <a:r>
              <a:rPr lang="en-US" dirty="0"/>
              <a:t>: Tables and schemas that organize data logically.</a:t>
            </a:r>
          </a:p>
          <a:p>
            <a:pPr>
              <a:buFont typeface="Arial" panose="020B0604020202020204" pitchFamily="34" charset="0"/>
              <a:buChar char="•"/>
            </a:pPr>
            <a:r>
              <a:rPr lang="en-US" b="1" dirty="0"/>
              <a:t>View Abstraction</a:t>
            </a:r>
            <a:r>
              <a:rPr lang="en-US" dirty="0"/>
              <a:t>: Application interfaces or custom views for specific user needs.</a:t>
            </a:r>
          </a:p>
          <a:p>
            <a:r>
              <a:rPr lang="en-US" b="1" dirty="0"/>
              <a:t>In Programming:</a:t>
            </a:r>
          </a:p>
          <a:p>
            <a:pPr>
              <a:buFont typeface="Arial" panose="020B0604020202020204" pitchFamily="34" charset="0"/>
              <a:buChar char="•"/>
            </a:pPr>
            <a:r>
              <a:rPr lang="en-US" b="1" dirty="0"/>
              <a:t>Low-Level (Physical)</a:t>
            </a:r>
            <a:r>
              <a:rPr lang="en-US" dirty="0"/>
              <a:t>: Bitwise data manipulation, memory pointers.</a:t>
            </a:r>
          </a:p>
          <a:p>
            <a:pPr>
              <a:buFont typeface="Arial" panose="020B0604020202020204" pitchFamily="34" charset="0"/>
              <a:buChar char="•"/>
            </a:pPr>
            <a:r>
              <a:rPr lang="en-US" b="1" dirty="0"/>
              <a:t>Intermediate Level</a:t>
            </a:r>
            <a:r>
              <a:rPr lang="en-US" dirty="0"/>
              <a:t>: Abstract data types like arrays, lists, trees.</a:t>
            </a:r>
          </a:p>
          <a:p>
            <a:pPr>
              <a:buFont typeface="Arial" panose="020B0604020202020204" pitchFamily="34" charset="0"/>
              <a:buChar char="•"/>
            </a:pPr>
            <a:r>
              <a:rPr lang="en-US" b="1" dirty="0"/>
              <a:t>High-Level</a:t>
            </a:r>
            <a:r>
              <a:rPr lang="en-US" dirty="0"/>
              <a:t>: APIs, frameworks, and objects representing the data.</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6</a:t>
            </a:fld>
            <a:endParaRPr lang="en-US"/>
          </a:p>
        </p:txBody>
      </p:sp>
    </p:spTree>
    <p:extLst>
      <p:ext uri="{BB962C8B-B14F-4D97-AF65-F5344CB8AC3E}">
        <p14:creationId xmlns:p14="http://schemas.microsoft.com/office/powerpoint/2010/main" val="1444899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was refined to use Python's built-in sum() function, which abstracts away the implementation details.</a:t>
            </a:r>
          </a:p>
          <a:p>
            <a:r>
              <a:rPr lang="en-US" dirty="0"/>
              <a:t>By normalizing, we eliminated redundancy and ensured better maintainability.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Missing values were filled (e.g., average income), and incomplete records were corrected.</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10</a:t>
            </a:fld>
            <a:endParaRPr lang="en-US"/>
          </a:p>
        </p:txBody>
      </p:sp>
    </p:spTree>
    <p:extLst>
      <p:ext uri="{BB962C8B-B14F-4D97-AF65-F5344CB8AC3E}">
        <p14:creationId xmlns:p14="http://schemas.microsoft.com/office/powerpoint/2010/main" val="727339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Encapsulation</a:t>
            </a:r>
            <a:r>
              <a:rPr lang="en-US" dirty="0"/>
              <a:t>: Combining data and methods into a single unit (e.g., a class) while restricting direct access to internal </a:t>
            </a:r>
            <a:r>
              <a:rPr lang="en-US" dirty="0" err="1"/>
              <a:t>components.</a:t>
            </a:r>
            <a:r>
              <a:rPr lang="en-US" b="1" dirty="0" err="1"/>
              <a:t>Abstraction</a:t>
            </a:r>
            <a:r>
              <a:rPr lang="en-US" dirty="0"/>
              <a:t>: Providing a simplified interface that hides implementation </a:t>
            </a:r>
            <a:r>
              <a:rPr lang="en-US" dirty="0" err="1"/>
              <a:t>details.</a:t>
            </a:r>
            <a:r>
              <a:rPr lang="en-US" b="1" dirty="0" err="1"/>
              <a:t>Controlled</a:t>
            </a:r>
            <a:r>
              <a:rPr lang="en-US" b="1" dirty="0"/>
              <a:t> Access</a:t>
            </a:r>
            <a:r>
              <a:rPr lang="en-US" dirty="0"/>
              <a:t>: Using access modifiers like private, protected, or public in object-oriented programming to limit access to data and methods.</a:t>
            </a:r>
          </a:p>
          <a:p>
            <a:endParaRPr lang="en-US" dirty="0"/>
          </a:p>
          <a:p>
            <a:r>
              <a:rPr lang="en-US" b="1" dirty="0" err="1"/>
              <a:t>Focus</a:t>
            </a:r>
            <a:r>
              <a:rPr lang="en-US" dirty="0" err="1"/>
              <a:t>Describes</a:t>
            </a:r>
            <a:r>
              <a:rPr lang="en-US" dirty="0"/>
              <a:t> </a:t>
            </a:r>
            <a:r>
              <a:rPr lang="en-US" i="1" dirty="0"/>
              <a:t>what</a:t>
            </a:r>
            <a:r>
              <a:rPr lang="en-US" dirty="0"/>
              <a:t> data and operations are relevant.</a:t>
            </a:r>
          </a:p>
          <a:p>
            <a:r>
              <a:rPr lang="en-US" dirty="0"/>
              <a:t>Conceals </a:t>
            </a:r>
            <a:r>
              <a:rPr lang="en-US" i="1" dirty="0"/>
              <a:t>how</a:t>
            </a:r>
            <a:r>
              <a:rPr lang="en-US" dirty="0"/>
              <a:t> data and operations are implemented.</a:t>
            </a:r>
          </a:p>
          <a:p>
            <a:r>
              <a:rPr lang="en-US" b="1" dirty="0" err="1"/>
              <a:t>Purpose</a:t>
            </a:r>
            <a:r>
              <a:rPr lang="en-US" dirty="0" err="1"/>
              <a:t>Simplifies</a:t>
            </a:r>
            <a:r>
              <a:rPr lang="en-US" dirty="0"/>
              <a:t> complexity by providing a clean </a:t>
            </a:r>
            <a:r>
              <a:rPr lang="en-US" dirty="0" err="1"/>
              <a:t>interface.Ensures</a:t>
            </a:r>
            <a:r>
              <a:rPr lang="en-US" dirty="0"/>
              <a:t> security, prevents misuse, and reduces dependencies.</a:t>
            </a:r>
          </a:p>
          <a:p>
            <a:r>
              <a:rPr lang="en-US" b="1" dirty="0" err="1"/>
              <a:t>Scope</a:t>
            </a:r>
            <a:r>
              <a:rPr lang="en-US" dirty="0" err="1"/>
              <a:t>Deals</a:t>
            </a:r>
            <a:r>
              <a:rPr lang="en-US" dirty="0"/>
              <a:t> with </a:t>
            </a:r>
            <a:r>
              <a:rPr lang="en-US" i="1" dirty="0"/>
              <a:t>interfaces</a:t>
            </a:r>
            <a:r>
              <a:rPr lang="en-US" dirty="0"/>
              <a:t> (e.g., abstract classes, ADTs).Deals with </a:t>
            </a:r>
            <a:r>
              <a:rPr lang="en-US" i="1" dirty="0"/>
              <a:t>implementation details</a:t>
            </a:r>
            <a:r>
              <a:rPr lang="en-US" dirty="0"/>
              <a:t> (e.g., private variables).</a:t>
            </a:r>
          </a:p>
          <a:p>
            <a:r>
              <a:rPr lang="en-US" b="1" dirty="0" err="1"/>
              <a:t>Implementation</a:t>
            </a:r>
            <a:r>
              <a:rPr lang="en-US" dirty="0" err="1"/>
              <a:t>Achieved</a:t>
            </a:r>
            <a:r>
              <a:rPr lang="en-US" dirty="0"/>
              <a:t> through classes, abstract classes, interfaces, </a:t>
            </a:r>
            <a:r>
              <a:rPr lang="en-US" dirty="0" err="1"/>
              <a:t>etc.Achieved</a:t>
            </a:r>
            <a:r>
              <a:rPr lang="en-US" dirty="0"/>
              <a:t> through access modifiers (private, protected, etc.).</a:t>
            </a:r>
          </a:p>
          <a:p>
            <a:r>
              <a:rPr lang="en-US" b="1" dirty="0"/>
              <a:t>Example </a:t>
            </a:r>
            <a:r>
              <a:rPr lang="en-US" b="1" dirty="0" err="1"/>
              <a:t>Use</a:t>
            </a:r>
            <a:r>
              <a:rPr lang="en-US" dirty="0" err="1"/>
              <a:t>Abstract</a:t>
            </a:r>
            <a:r>
              <a:rPr lang="en-US" dirty="0"/>
              <a:t> data types, APIs, or class </a:t>
            </a:r>
            <a:r>
              <a:rPr lang="en-US" dirty="0" err="1"/>
              <a:t>interfaces.Restricting</a:t>
            </a:r>
            <a:r>
              <a:rPr lang="en-US" dirty="0"/>
              <a:t> access to internal logic or variables in a class.</a:t>
            </a:r>
          </a:p>
        </p:txBody>
      </p:sp>
      <p:sp>
        <p:nvSpPr>
          <p:cNvPr id="4" name="Slide Number Placeholder 3"/>
          <p:cNvSpPr>
            <a:spLocks noGrp="1"/>
          </p:cNvSpPr>
          <p:nvPr>
            <p:ph type="sldNum" sz="quarter" idx="5"/>
          </p:nvPr>
        </p:nvSpPr>
        <p:spPr/>
        <p:txBody>
          <a:bodyPr/>
          <a:lstStyle/>
          <a:p>
            <a:fld id="{E02754E6-00EA-4FAF-9852-1DAADD6512EE}" type="slidenum">
              <a:rPr lang="en-US" smtClean="0"/>
              <a:t>11</a:t>
            </a:fld>
            <a:endParaRPr lang="en-US"/>
          </a:p>
        </p:txBody>
      </p:sp>
    </p:spTree>
    <p:extLst>
      <p:ext uri="{BB962C8B-B14F-4D97-AF65-F5344CB8AC3E}">
        <p14:creationId xmlns:p14="http://schemas.microsoft.com/office/powerpoint/2010/main" val="1665958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Code Duplication</a:t>
            </a:r>
            <a:r>
              <a:rPr lang="en-US" dirty="0"/>
              <a:t>: The percentage validation logic is repeated in both </a:t>
            </a:r>
            <a:r>
              <a:rPr lang="en-US" dirty="0" err="1"/>
              <a:t>functions.</a:t>
            </a:r>
            <a:r>
              <a:rPr lang="en-US" b="1" dirty="0" err="1"/>
              <a:t>Maintainability</a:t>
            </a:r>
            <a:r>
              <a:rPr lang="en-US" b="1" dirty="0"/>
              <a:t> Issue</a:t>
            </a:r>
            <a:r>
              <a:rPr lang="en-US" dirty="0"/>
              <a:t>: Any change to the percentage validation logic would require updating both functions.</a:t>
            </a:r>
          </a:p>
        </p:txBody>
      </p:sp>
      <p:sp>
        <p:nvSpPr>
          <p:cNvPr id="4" name="Slide Number Placeholder 3"/>
          <p:cNvSpPr>
            <a:spLocks noGrp="1"/>
          </p:cNvSpPr>
          <p:nvPr>
            <p:ph type="sldNum" sz="quarter" idx="5"/>
          </p:nvPr>
        </p:nvSpPr>
        <p:spPr/>
        <p:txBody>
          <a:bodyPr/>
          <a:lstStyle/>
          <a:p>
            <a:fld id="{E02754E6-00EA-4FAF-9852-1DAADD6512EE}" type="slidenum">
              <a:rPr lang="en-US" smtClean="0"/>
              <a:t>12</a:t>
            </a:fld>
            <a:endParaRPr lang="en-US"/>
          </a:p>
        </p:txBody>
      </p:sp>
    </p:spTree>
    <p:extLst>
      <p:ext uri="{BB962C8B-B14F-4D97-AF65-F5344CB8AC3E}">
        <p14:creationId xmlns:p14="http://schemas.microsoft.com/office/powerpoint/2010/main" val="2839248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a:t>
            </a:r>
          </a:p>
          <a:p>
            <a:r>
              <a:rPr lang="en-US" dirty="0"/>
              <a:t>You want to create objects without specifying their exact class, allowing the code to remain flexible and scalable.</a:t>
            </a:r>
          </a:p>
          <a:p>
            <a:r>
              <a:rPr lang="en-US" b="1" dirty="0"/>
              <a:t>Solution:</a:t>
            </a:r>
          </a:p>
          <a:p>
            <a:r>
              <a:rPr lang="en-US" dirty="0"/>
              <a:t>Use the Factory Method Pattern, which provides an interface for creating objects in a superclass but allows subclasses to alter the type of objects that will be created.</a:t>
            </a:r>
          </a:p>
          <a:p>
            <a:endParaRPr lang="en-US" dirty="0"/>
          </a:p>
          <a:p>
            <a:r>
              <a:rPr lang="en-US" b="1" dirty="0"/>
              <a:t>Problem:</a:t>
            </a:r>
          </a:p>
          <a:p>
            <a:r>
              <a:rPr lang="en-US" dirty="0"/>
              <a:t>You need to ensure that only one instance of a class exists throughout the lifecycle of an application (e.g., a configuration manager or database connection).</a:t>
            </a:r>
          </a:p>
          <a:p>
            <a:r>
              <a:rPr lang="en-US" b="1" dirty="0"/>
              <a:t>Solution:</a:t>
            </a:r>
          </a:p>
          <a:p>
            <a:r>
              <a:rPr lang="en-US" dirty="0"/>
              <a:t>Use the Singleton Pattern, which restricts instantiation of a class to a single object.</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14</a:t>
            </a:fld>
            <a:endParaRPr lang="en-US"/>
          </a:p>
        </p:txBody>
      </p:sp>
    </p:spTree>
    <p:extLst>
      <p:ext uri="{BB962C8B-B14F-4D97-AF65-F5344CB8AC3E}">
        <p14:creationId xmlns:p14="http://schemas.microsoft.com/office/powerpoint/2010/main" val="2881168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Singleton Pattern (Creational)</a:t>
            </a:r>
          </a:p>
          <a:p>
            <a:r>
              <a:rPr lang="en-US" b="1" dirty="0"/>
              <a:t>Purpose:</a:t>
            </a:r>
            <a:r>
              <a:rPr lang="en-US" dirty="0"/>
              <a:t> Ensures a class has only </a:t>
            </a:r>
            <a:r>
              <a:rPr lang="en-US" b="1" dirty="0"/>
              <a:t>one instance</a:t>
            </a:r>
            <a:r>
              <a:rPr lang="en-US" dirty="0"/>
              <a:t> and provides a global access point to it.</a:t>
            </a:r>
          </a:p>
          <a:p>
            <a:r>
              <a:rPr lang="en-US" b="1" dirty="0"/>
              <a:t>Example: Database Connection</a:t>
            </a:r>
            <a:br>
              <a:rPr lang="en-US" dirty="0"/>
            </a:br>
            <a:r>
              <a:rPr lang="en-US" dirty="0"/>
              <a:t>A database connection should be </a:t>
            </a:r>
            <a:r>
              <a:rPr lang="en-US" b="1" dirty="0"/>
              <a:t>one shared instance</a:t>
            </a:r>
            <a:r>
              <a:rPr lang="en-US" dirty="0"/>
              <a:t> instead of creating multiple connections.</a:t>
            </a:r>
          </a:p>
          <a:p>
            <a:endParaRPr lang="en-US" dirty="0"/>
          </a:p>
          <a:p>
            <a:r>
              <a:rPr lang="en-US" b="1" dirty="0"/>
              <a:t>Factory pattern Purpose:</a:t>
            </a:r>
            <a:r>
              <a:rPr lang="en-US" dirty="0"/>
              <a:t> Provides an interface for creating objects but lets </a:t>
            </a:r>
            <a:r>
              <a:rPr lang="en-US" b="1" dirty="0"/>
              <a:t>subclasses decide</a:t>
            </a:r>
            <a:r>
              <a:rPr lang="en-US" dirty="0"/>
              <a:t> which class to instantiate.</a:t>
            </a:r>
          </a:p>
          <a:p>
            <a:r>
              <a:rPr lang="en-US" b="1" dirty="0"/>
              <a:t>Example: Shape Factory: IN MS WORD SHAPE VANNE XA RE TESMA HAMLE AFNO MANPARNE SHAPE BANAUXAU</a:t>
            </a:r>
            <a:br>
              <a:rPr lang="en-US" dirty="0"/>
            </a:br>
            <a:r>
              <a:rPr lang="en-US" dirty="0"/>
              <a:t>Instead of manually creating objects, a factory method creates them dynamically.</a:t>
            </a:r>
          </a:p>
          <a:p>
            <a:endParaRPr lang="en-US" dirty="0"/>
          </a:p>
          <a:p>
            <a:r>
              <a:rPr lang="en-US" b="1" dirty="0"/>
              <a:t>Abstract factory</a:t>
            </a:r>
          </a:p>
          <a:p>
            <a:r>
              <a:rPr lang="en-US" b="1" dirty="0"/>
              <a:t>Purpose:</a:t>
            </a:r>
            <a:r>
              <a:rPr lang="en-US" dirty="0"/>
              <a:t> Provides an interface for creating families of related objects </a:t>
            </a:r>
            <a:r>
              <a:rPr lang="en-US" b="1" dirty="0"/>
              <a:t>without specifying their concrete classes</a:t>
            </a:r>
            <a:r>
              <a:rPr lang="en-US" dirty="0"/>
              <a:t>.</a:t>
            </a:r>
          </a:p>
          <a:p>
            <a:r>
              <a:rPr lang="en-US" b="1" dirty="0"/>
              <a:t>Real-World Example: GUI Library (Windows, Mac, Linux) IF HAMLAI FLEXIBLE CHAINXA RA RIGIDLY WINDOWS KO LAGI MATRA CHALXA VANERA BASDAINAM</a:t>
            </a:r>
            <a:endParaRPr lang="en-US" dirty="0"/>
          </a:p>
          <a:p>
            <a:pPr>
              <a:buFont typeface="Arial" panose="020B0604020202020204" pitchFamily="34" charset="0"/>
              <a:buChar char="•"/>
            </a:pPr>
            <a:r>
              <a:rPr lang="en-US" dirty="0"/>
              <a:t>A UI toolkit should generate buttons and checkboxes that match the OS style (Windows, Mac, Linux).</a:t>
            </a:r>
          </a:p>
          <a:p>
            <a:endParaRPr lang="en-US" dirty="0"/>
          </a:p>
          <a:p>
            <a:r>
              <a:rPr lang="en-US" b="1" dirty="0"/>
              <a:t>Builder Pattern</a:t>
            </a:r>
          </a:p>
          <a:p>
            <a:r>
              <a:rPr lang="en-US" b="1" dirty="0"/>
              <a:t>Purpose:</a:t>
            </a:r>
            <a:r>
              <a:rPr lang="en-US" dirty="0"/>
              <a:t> Separates the </a:t>
            </a:r>
            <a:r>
              <a:rPr lang="en-US" b="1" dirty="0"/>
              <a:t>construction of a complex object</a:t>
            </a:r>
            <a:r>
              <a:rPr lang="en-US" dirty="0"/>
              <a:t> from its representation, step by step.</a:t>
            </a:r>
          </a:p>
          <a:p>
            <a:r>
              <a:rPr lang="en-US" b="1" dirty="0"/>
              <a:t>Real-World Example: Burger Ordering System KUNAI PANI EUTA KAAM HUNALAI MULTIPLE STEPS COMPLETE HUNU PARXA</a:t>
            </a:r>
            <a:endParaRPr lang="en-US" dirty="0"/>
          </a:p>
          <a:p>
            <a:pPr>
              <a:buFont typeface="Arial" panose="020B0604020202020204" pitchFamily="34" charset="0"/>
              <a:buChar char="•"/>
            </a:pPr>
            <a:r>
              <a:rPr lang="en-US" dirty="0"/>
              <a:t>A restaurant offers customized burgers with different ingredients (bun, cheese, sauce, etc.).</a:t>
            </a:r>
          </a:p>
          <a:p>
            <a:endParaRPr lang="en-US" dirty="0"/>
          </a:p>
          <a:p>
            <a:r>
              <a:rPr lang="en-US" b="1" dirty="0"/>
              <a:t>Prototype Pattern</a:t>
            </a:r>
          </a:p>
          <a:p>
            <a:r>
              <a:rPr lang="en-US" b="1" dirty="0"/>
              <a:t>Purpose:</a:t>
            </a:r>
            <a:r>
              <a:rPr lang="en-US" dirty="0"/>
              <a:t> Allows </a:t>
            </a:r>
            <a:r>
              <a:rPr lang="en-US" b="1" dirty="0"/>
              <a:t>cloning objects</a:t>
            </a:r>
            <a:r>
              <a:rPr lang="en-US" dirty="0"/>
              <a:t> instead of creating new ones from scratch, improving performance.</a:t>
            </a:r>
          </a:p>
          <a:p>
            <a:r>
              <a:rPr lang="en-US" b="1" dirty="0"/>
              <a:t>Real-World Example: Document Templates HAMLE SAVE AS GARXAM OR COPY GARXAM IN PHOTOSHOP OR WORD MA </a:t>
            </a:r>
            <a:endParaRPr lang="en-US" dirty="0"/>
          </a:p>
          <a:p>
            <a:pPr>
              <a:buFont typeface="Arial" panose="020B0604020202020204" pitchFamily="34" charset="0"/>
              <a:buChar char="•"/>
            </a:pPr>
            <a:r>
              <a:rPr lang="en-US" dirty="0"/>
              <a:t>A text editor allows users to create new documents from predefined templates (resume, invoice, etc.).</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32</a:t>
            </a:fld>
            <a:endParaRPr lang="en-US"/>
          </a:p>
        </p:txBody>
      </p:sp>
    </p:spTree>
    <p:extLst>
      <p:ext uri="{BB962C8B-B14F-4D97-AF65-F5344CB8AC3E}">
        <p14:creationId xmlns:p14="http://schemas.microsoft.com/office/powerpoint/2010/main" val="2966670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Singleton Pattern (Creational)</a:t>
            </a:r>
          </a:p>
          <a:p>
            <a:r>
              <a:rPr lang="en-US" b="1" dirty="0"/>
              <a:t>Purpose:</a:t>
            </a:r>
            <a:r>
              <a:rPr lang="en-US" dirty="0"/>
              <a:t> Ensures a class has only </a:t>
            </a:r>
            <a:r>
              <a:rPr lang="en-US" b="1" dirty="0"/>
              <a:t>one instance</a:t>
            </a:r>
            <a:r>
              <a:rPr lang="en-US" dirty="0"/>
              <a:t> and provides a global access point to it.</a:t>
            </a:r>
          </a:p>
          <a:p>
            <a:r>
              <a:rPr lang="en-US" b="1" dirty="0"/>
              <a:t>Example: Database Connection</a:t>
            </a:r>
            <a:br>
              <a:rPr lang="en-US" dirty="0"/>
            </a:br>
            <a:r>
              <a:rPr lang="en-US" dirty="0"/>
              <a:t>A database connection should be </a:t>
            </a:r>
            <a:r>
              <a:rPr lang="en-US" b="1" dirty="0"/>
              <a:t>one shared instance</a:t>
            </a:r>
            <a:r>
              <a:rPr lang="en-US" dirty="0"/>
              <a:t> instead of creating multiple connections.</a:t>
            </a:r>
          </a:p>
          <a:p>
            <a:endParaRPr lang="en-US" dirty="0"/>
          </a:p>
          <a:p>
            <a:r>
              <a:rPr lang="en-US" b="1" dirty="0"/>
              <a:t>Factory pattern Purpose:</a:t>
            </a:r>
            <a:r>
              <a:rPr lang="en-US" dirty="0"/>
              <a:t> Provides an interface for creating objects but lets </a:t>
            </a:r>
            <a:r>
              <a:rPr lang="en-US" b="1" dirty="0"/>
              <a:t>subclasses decide</a:t>
            </a:r>
            <a:r>
              <a:rPr lang="en-US" dirty="0"/>
              <a:t> which class to instantiate.</a:t>
            </a:r>
          </a:p>
          <a:p>
            <a:r>
              <a:rPr lang="en-US" b="1" dirty="0"/>
              <a:t>Example: Shape Factory: IN MS WORD SHAPE VANNE XA RE TESMA HAMLE AFNO MANPARNE SHAPE BANAUXAU</a:t>
            </a:r>
            <a:br>
              <a:rPr lang="en-US" dirty="0"/>
            </a:br>
            <a:r>
              <a:rPr lang="en-US" dirty="0"/>
              <a:t>Instead of manually creating objects, a factory method creates them dynamically.</a:t>
            </a:r>
          </a:p>
          <a:p>
            <a:endParaRPr lang="en-US" dirty="0"/>
          </a:p>
          <a:p>
            <a:r>
              <a:rPr lang="en-US" b="1" dirty="0"/>
              <a:t>Abstract factory</a:t>
            </a:r>
          </a:p>
          <a:p>
            <a:r>
              <a:rPr lang="en-US" b="1" dirty="0"/>
              <a:t>Purpose:</a:t>
            </a:r>
            <a:r>
              <a:rPr lang="en-US" dirty="0"/>
              <a:t> Provides an interface for creating families of related objects </a:t>
            </a:r>
            <a:r>
              <a:rPr lang="en-US" b="1" dirty="0"/>
              <a:t>without specifying their concrete classes</a:t>
            </a:r>
            <a:r>
              <a:rPr lang="en-US" dirty="0"/>
              <a:t>.</a:t>
            </a:r>
          </a:p>
          <a:p>
            <a:r>
              <a:rPr lang="en-US" b="1" dirty="0"/>
              <a:t>Real-World Example: GUI Library (Windows, Mac, Linux) IF HAMLAI FLEXIBLE CHAINXA RA RIGIDLY WINDOWS KO LAGI MATRA CHALXA VANERA BASDAINAM</a:t>
            </a:r>
            <a:endParaRPr lang="en-US" dirty="0"/>
          </a:p>
          <a:p>
            <a:pPr>
              <a:buFont typeface="Arial" panose="020B0604020202020204" pitchFamily="34" charset="0"/>
              <a:buChar char="•"/>
            </a:pPr>
            <a:r>
              <a:rPr lang="en-US" dirty="0"/>
              <a:t>A UI toolkit should generate buttons and checkboxes that match the OS style (Windows, Mac, Linux).</a:t>
            </a:r>
          </a:p>
          <a:p>
            <a:endParaRPr lang="en-US" dirty="0"/>
          </a:p>
          <a:p>
            <a:r>
              <a:rPr lang="en-US" b="1" dirty="0"/>
              <a:t>Builder Pattern</a:t>
            </a:r>
          </a:p>
          <a:p>
            <a:r>
              <a:rPr lang="en-US" b="1" dirty="0"/>
              <a:t>Purpose:</a:t>
            </a:r>
            <a:r>
              <a:rPr lang="en-US" dirty="0"/>
              <a:t> Separates the </a:t>
            </a:r>
            <a:r>
              <a:rPr lang="en-US" b="1" dirty="0"/>
              <a:t>construction of a complex object</a:t>
            </a:r>
            <a:r>
              <a:rPr lang="en-US" dirty="0"/>
              <a:t> from its representation, step by step.</a:t>
            </a:r>
          </a:p>
          <a:p>
            <a:r>
              <a:rPr lang="en-US" b="1" dirty="0"/>
              <a:t>Real-World Example: Burger Ordering System KUNAI PANI EUTA KAAM HUNALAI MULTIPLE STEPS COMPLETE HUNU PARXA</a:t>
            </a:r>
            <a:endParaRPr lang="en-US" dirty="0"/>
          </a:p>
          <a:p>
            <a:pPr>
              <a:buFont typeface="Arial" panose="020B0604020202020204" pitchFamily="34" charset="0"/>
              <a:buChar char="•"/>
            </a:pPr>
            <a:r>
              <a:rPr lang="en-US" dirty="0"/>
              <a:t>A restaurant offers customized burgers with different ingredients (bun, cheese, sauce, etc.).</a:t>
            </a:r>
          </a:p>
          <a:p>
            <a:endParaRPr lang="en-US" dirty="0"/>
          </a:p>
          <a:p>
            <a:r>
              <a:rPr lang="en-US" b="1" dirty="0"/>
              <a:t>Prototype Pattern</a:t>
            </a:r>
          </a:p>
          <a:p>
            <a:r>
              <a:rPr lang="en-US" b="1" dirty="0"/>
              <a:t>Purpose:</a:t>
            </a:r>
            <a:r>
              <a:rPr lang="en-US" dirty="0"/>
              <a:t> Allows </a:t>
            </a:r>
            <a:r>
              <a:rPr lang="en-US" b="1" dirty="0"/>
              <a:t>cloning objects</a:t>
            </a:r>
            <a:r>
              <a:rPr lang="en-US" dirty="0"/>
              <a:t> instead of creating new ones from scratch, improving performance.</a:t>
            </a:r>
          </a:p>
          <a:p>
            <a:r>
              <a:rPr lang="en-US" b="1" dirty="0"/>
              <a:t>Real-World Example: Document Templates HAMLE SAVE AS GARXAM OR COPY GARXAM IN PHOTOSHOP OR WORD MA </a:t>
            </a:r>
            <a:endParaRPr lang="en-US" dirty="0"/>
          </a:p>
          <a:p>
            <a:pPr>
              <a:buFont typeface="Arial" panose="020B0604020202020204" pitchFamily="34" charset="0"/>
              <a:buChar char="•"/>
            </a:pPr>
            <a:r>
              <a:rPr lang="en-US" dirty="0"/>
              <a:t>A text editor allows users to create new documents from predefined templates (resume, invoice, etc.).</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33</a:t>
            </a:fld>
            <a:endParaRPr lang="en-US"/>
          </a:p>
        </p:txBody>
      </p:sp>
    </p:spTree>
    <p:extLst>
      <p:ext uri="{BB962C8B-B14F-4D97-AF65-F5344CB8AC3E}">
        <p14:creationId xmlns:p14="http://schemas.microsoft.com/office/powerpoint/2010/main" val="1319881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Adapter Pattern (Translator)</a:t>
            </a:r>
          </a:p>
          <a:p>
            <a:r>
              <a:rPr lang="en-US" b="1" dirty="0"/>
              <a:t>Purpose:</a:t>
            </a:r>
            <a:r>
              <a:rPr lang="en-US" dirty="0"/>
              <a:t> Converts one interface into another that a client expects.</a:t>
            </a:r>
          </a:p>
          <a:p>
            <a:r>
              <a:rPr lang="en-US" b="1" dirty="0"/>
              <a:t>Think of it as a translator</a:t>
            </a:r>
            <a:r>
              <a:rPr lang="en-US" dirty="0"/>
              <a:t> – If a person speaks English and another speaks French, a translator (adapter) helps them communicate. </a:t>
            </a:r>
            <a:r>
              <a:rPr lang="en-US" b="1" dirty="0"/>
              <a:t>HAMRO HDMI CABLE TO USB CABLE DATA TRANSFER VAIRAKO XA RE</a:t>
            </a:r>
          </a:p>
          <a:p>
            <a:endParaRPr lang="en-US" b="1" dirty="0"/>
          </a:p>
          <a:p>
            <a:r>
              <a:rPr lang="en-US" b="1" dirty="0"/>
              <a:t>Bridge Pattern (Decoupler)2 OTA MACHINE INDEPENDENT HO BUT INTERACTION NI GARXA</a:t>
            </a:r>
          </a:p>
          <a:p>
            <a:r>
              <a:rPr lang="en-US" b="1" dirty="0"/>
              <a:t>Purpose:</a:t>
            </a:r>
            <a:r>
              <a:rPr lang="en-US" dirty="0"/>
              <a:t> Decouples abstraction from implementation so they can change independently.</a:t>
            </a:r>
            <a:br>
              <a:rPr lang="en-US" dirty="0"/>
            </a:br>
            <a:r>
              <a:rPr lang="en-US" dirty="0"/>
              <a:t>🔹 </a:t>
            </a:r>
            <a:r>
              <a:rPr lang="en-US" b="1" dirty="0"/>
              <a:t>Think of it as a remote control</a:t>
            </a:r>
            <a:r>
              <a:rPr lang="en-US" dirty="0"/>
              <a:t> – The same remote (interface) can control different TVs (implementations).</a:t>
            </a:r>
          </a:p>
          <a:p>
            <a:endParaRPr lang="en-US" dirty="0"/>
          </a:p>
          <a:p>
            <a:r>
              <a:rPr lang="en-US" b="1" dirty="0"/>
              <a:t>Composite Pattern (Tree Structure) GROUP OF OBJECTS LAI OVERALL EUTA KO HISAB MA KAAM GARXA </a:t>
            </a:r>
          </a:p>
          <a:p>
            <a:r>
              <a:rPr lang="en-US" b="1" dirty="0"/>
              <a:t>Purpose:</a:t>
            </a:r>
            <a:r>
              <a:rPr lang="en-US" dirty="0"/>
              <a:t> Treats a group of objects the same way as a single object (Hierarchical structure).</a:t>
            </a:r>
            <a:br>
              <a:rPr lang="en-US" dirty="0"/>
            </a:br>
            <a:r>
              <a:rPr lang="en-US" dirty="0"/>
              <a:t>🔹 </a:t>
            </a:r>
            <a:r>
              <a:rPr lang="en-US" b="1" dirty="0"/>
              <a:t>Think of it as a file system</a:t>
            </a:r>
            <a:r>
              <a:rPr lang="en-US" dirty="0"/>
              <a:t> – A folder contains files and other folders, and they are all treated the same way.</a:t>
            </a:r>
          </a:p>
          <a:p>
            <a:endParaRPr lang="en-US" dirty="0"/>
          </a:p>
          <a:p>
            <a:r>
              <a:rPr lang="en-US" b="1" dirty="0"/>
              <a:t>Decorator Pattern (Adding Features) HAMLE EUTA OBJECT LAI MULTIPLE TARIKA LE REPRESENT GARNA MILNE</a:t>
            </a:r>
          </a:p>
          <a:p>
            <a:r>
              <a:rPr lang="en-US" b="1" dirty="0"/>
              <a:t>Purpose:</a:t>
            </a:r>
            <a:r>
              <a:rPr lang="en-US" dirty="0"/>
              <a:t> Dynamically adds new behavior to objects without modifying their structure.</a:t>
            </a:r>
            <a:br>
              <a:rPr lang="en-US" dirty="0"/>
            </a:br>
            <a:r>
              <a:rPr lang="en-US" dirty="0"/>
              <a:t>🔹 </a:t>
            </a:r>
            <a:r>
              <a:rPr lang="en-US" b="1" dirty="0"/>
              <a:t>Think of it as a pizza</a:t>
            </a:r>
            <a:r>
              <a:rPr lang="en-US" dirty="0"/>
              <a:t> – You can add toppings (cheese, olives, pepperoni) without changing the base pizza.</a:t>
            </a:r>
          </a:p>
          <a:p>
            <a:r>
              <a:rPr lang="en-US" b="1" dirty="0"/>
              <a:t>Real-World Example:</a:t>
            </a:r>
            <a:endParaRPr lang="en-US" dirty="0"/>
          </a:p>
          <a:p>
            <a:pPr>
              <a:buFont typeface="Arial" panose="020B0604020202020204" pitchFamily="34" charset="0"/>
              <a:buChar char="•"/>
            </a:pPr>
            <a:r>
              <a:rPr lang="en-US" dirty="0"/>
              <a:t>Adding </a:t>
            </a:r>
            <a:r>
              <a:rPr lang="en-US" b="1" dirty="0"/>
              <a:t>extra features</a:t>
            </a:r>
            <a:r>
              <a:rPr lang="en-US" dirty="0"/>
              <a:t> to a </a:t>
            </a:r>
            <a:r>
              <a:rPr lang="en-US" b="1" dirty="0"/>
              <a:t>car</a:t>
            </a:r>
            <a:r>
              <a:rPr lang="en-US" dirty="0"/>
              <a:t> (like sunroof, GPS, leather seats).</a:t>
            </a:r>
          </a:p>
          <a:p>
            <a:pPr>
              <a:buFont typeface="Arial" panose="020B0604020202020204" pitchFamily="34" charset="0"/>
              <a:buChar char="•"/>
            </a:pPr>
            <a:r>
              <a:rPr lang="en-US" dirty="0"/>
              <a:t>Wrapping </a:t>
            </a:r>
            <a:r>
              <a:rPr lang="en-US" b="1" dirty="0"/>
              <a:t>text with bold, italic, or underline</a:t>
            </a:r>
            <a:r>
              <a:rPr lang="en-US" dirty="0"/>
              <a:t> in a text editor.</a:t>
            </a:r>
          </a:p>
          <a:p>
            <a:pPr>
              <a:buFont typeface="Arial" panose="020B0604020202020204" pitchFamily="34" charset="0"/>
              <a:buChar char="•"/>
            </a:pPr>
            <a:endParaRPr lang="en-US" dirty="0"/>
          </a:p>
          <a:p>
            <a:r>
              <a:rPr lang="en-US" b="1" dirty="0"/>
              <a:t>Facade Pattern (Simplified Interface)</a:t>
            </a:r>
          </a:p>
          <a:p>
            <a:r>
              <a:rPr lang="en-US" b="1" dirty="0"/>
              <a:t>Purpose:</a:t>
            </a:r>
            <a:r>
              <a:rPr lang="en-US" dirty="0"/>
              <a:t> Provides a simple interface to a complex system.</a:t>
            </a:r>
            <a:br>
              <a:rPr lang="en-US" dirty="0"/>
            </a:br>
            <a:r>
              <a:rPr lang="en-US" dirty="0"/>
              <a:t>🔹 </a:t>
            </a:r>
            <a:r>
              <a:rPr lang="en-US" b="1" dirty="0"/>
              <a:t>Think of it as a car dashboard</a:t>
            </a:r>
            <a:r>
              <a:rPr lang="en-US" dirty="0"/>
              <a:t> – You don’t need to understand the engine, just press the "Start" button.</a:t>
            </a:r>
          </a:p>
          <a:p>
            <a:pPr>
              <a:buFont typeface="Arial" panose="020B0604020202020204" pitchFamily="34" charset="0"/>
              <a:buChar char="•"/>
            </a:pPr>
            <a:endParaRPr lang="en-US" dirty="0"/>
          </a:p>
          <a:p>
            <a:r>
              <a:rPr lang="en-US" b="1" dirty="0"/>
              <a:t>Flyweight Pattern (Memory Optimization) GOOGLE MAP LE TRAFFIC JAM XA XAINA VANERA DEKHAUNE USING GPS TRACKER NOT BECAUSE SATTELITE BATA CAMERA KO THROUGH HERERAKO..</a:t>
            </a:r>
          </a:p>
          <a:p>
            <a:r>
              <a:rPr lang="en-US" b="1" dirty="0"/>
              <a:t>Purpose:</a:t>
            </a:r>
            <a:r>
              <a:rPr lang="en-US" dirty="0"/>
              <a:t> Shares common objects instead of creating new ones, reducing memory usage.</a:t>
            </a:r>
            <a:br>
              <a:rPr lang="en-US" dirty="0"/>
            </a:br>
            <a:r>
              <a:rPr lang="en-US" dirty="0"/>
              <a:t>🔹 </a:t>
            </a:r>
            <a:r>
              <a:rPr lang="en-US" b="1" dirty="0"/>
              <a:t>Think of it as a chess game</a:t>
            </a:r>
            <a:r>
              <a:rPr lang="en-US" dirty="0"/>
              <a:t> – Instead of creating a new object for every "pawn", we reuse existing ones.</a:t>
            </a:r>
          </a:p>
          <a:p>
            <a:endParaRPr lang="en-US" dirty="0"/>
          </a:p>
          <a:p>
            <a:r>
              <a:rPr lang="en-US" b="1" dirty="0"/>
              <a:t>Proxy Pattern (Controlled Access) KUNAI EUTA COMPONENT LE ACCESS GARNE ..</a:t>
            </a:r>
          </a:p>
          <a:p>
            <a:r>
              <a:rPr lang="en-US" b="1" dirty="0"/>
              <a:t>Purpose:</a:t>
            </a:r>
            <a:r>
              <a:rPr lang="en-US" dirty="0"/>
              <a:t> Provides a placeholder for another object to control access to it.</a:t>
            </a:r>
            <a:br>
              <a:rPr lang="en-US" dirty="0"/>
            </a:br>
            <a:r>
              <a:rPr lang="en-US" dirty="0"/>
              <a:t>🔹 </a:t>
            </a:r>
            <a:r>
              <a:rPr lang="en-US" b="1" dirty="0"/>
              <a:t>Think of it as a security guard</a:t>
            </a:r>
            <a:r>
              <a:rPr lang="en-US" dirty="0"/>
              <a:t> – Controls access to a VIP area.</a:t>
            </a:r>
          </a:p>
          <a:p>
            <a:r>
              <a:rPr lang="en-US" b="1" dirty="0"/>
              <a:t>Real-World Example:</a:t>
            </a:r>
            <a:endParaRPr lang="en-US" dirty="0"/>
          </a:p>
          <a:p>
            <a:pPr>
              <a:buFont typeface="Arial" panose="020B0604020202020204" pitchFamily="34" charset="0"/>
              <a:buChar char="•"/>
            </a:pPr>
            <a:r>
              <a:rPr lang="en-US" b="1" dirty="0"/>
              <a:t>Bank ATMs</a:t>
            </a:r>
            <a:r>
              <a:rPr lang="en-US" dirty="0"/>
              <a:t> act as proxies to actual bank accounts.</a:t>
            </a:r>
          </a:p>
          <a:p>
            <a:pPr>
              <a:buFont typeface="Arial" panose="020B0604020202020204" pitchFamily="34" charset="0"/>
              <a:buChar char="•"/>
            </a:pPr>
            <a:r>
              <a:rPr lang="en-US" b="1" dirty="0"/>
              <a:t>Netflix proxies</a:t>
            </a:r>
            <a:r>
              <a:rPr lang="en-US" dirty="0"/>
              <a:t> manage access to content based on user location.</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34</a:t>
            </a:fld>
            <a:endParaRPr lang="en-US"/>
          </a:p>
        </p:txBody>
      </p:sp>
    </p:spTree>
    <p:extLst>
      <p:ext uri="{BB962C8B-B14F-4D97-AF65-F5344CB8AC3E}">
        <p14:creationId xmlns:p14="http://schemas.microsoft.com/office/powerpoint/2010/main" val="1692897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Adapter Pattern (Translator)</a:t>
            </a:r>
          </a:p>
          <a:p>
            <a:r>
              <a:rPr lang="en-US" b="1" dirty="0"/>
              <a:t>Purpose:</a:t>
            </a:r>
            <a:r>
              <a:rPr lang="en-US" dirty="0"/>
              <a:t> Converts one interface into another that a client expects.</a:t>
            </a:r>
          </a:p>
          <a:p>
            <a:r>
              <a:rPr lang="en-US" b="1" dirty="0"/>
              <a:t>Think of it as a translator</a:t>
            </a:r>
            <a:r>
              <a:rPr lang="en-US" dirty="0"/>
              <a:t> – If a person speaks English and another speaks French, a translator (adapter) helps them communicate. </a:t>
            </a:r>
            <a:r>
              <a:rPr lang="en-US" b="1" dirty="0"/>
              <a:t>HAMRO HDMI CABLE TO USB CABLE DATA TRANSFER VAIRAKO XA RE</a:t>
            </a:r>
          </a:p>
          <a:p>
            <a:endParaRPr lang="en-US" b="1" dirty="0"/>
          </a:p>
          <a:p>
            <a:r>
              <a:rPr lang="en-US" b="1" dirty="0"/>
              <a:t>Bridge Pattern (Decoupler)2 OTA MACHINE INDEPENDENT HO BUT INTERACTION NI GARXA</a:t>
            </a:r>
          </a:p>
          <a:p>
            <a:r>
              <a:rPr lang="en-US" b="1" dirty="0"/>
              <a:t>Purpose:</a:t>
            </a:r>
            <a:r>
              <a:rPr lang="en-US" dirty="0"/>
              <a:t> Decouples abstraction from implementation so they can change independently.</a:t>
            </a:r>
            <a:br>
              <a:rPr lang="en-US" dirty="0"/>
            </a:br>
            <a:r>
              <a:rPr lang="en-US" dirty="0"/>
              <a:t>🔹 </a:t>
            </a:r>
            <a:r>
              <a:rPr lang="en-US" b="1" dirty="0"/>
              <a:t>Think of it as a remote control</a:t>
            </a:r>
            <a:r>
              <a:rPr lang="en-US" dirty="0"/>
              <a:t> – The same remote (interface) can control different TVs (implementations).</a:t>
            </a:r>
          </a:p>
          <a:p>
            <a:endParaRPr lang="en-US" dirty="0"/>
          </a:p>
          <a:p>
            <a:r>
              <a:rPr lang="en-US" b="1" dirty="0"/>
              <a:t>Composite Pattern (Tree Structure) GROUP OF OBJECTS LAI OVERALL EUTA KO HISAB MA KAAM GARXA </a:t>
            </a:r>
          </a:p>
          <a:p>
            <a:r>
              <a:rPr lang="en-US" b="1" dirty="0"/>
              <a:t>Purpose:</a:t>
            </a:r>
            <a:r>
              <a:rPr lang="en-US" dirty="0"/>
              <a:t> Treats a group of objects the same way as a single object (Hierarchical structure).</a:t>
            </a:r>
            <a:br>
              <a:rPr lang="en-US" dirty="0"/>
            </a:br>
            <a:r>
              <a:rPr lang="en-US" dirty="0"/>
              <a:t>🔹 </a:t>
            </a:r>
            <a:r>
              <a:rPr lang="en-US" b="1" dirty="0"/>
              <a:t>Think of it as a file system</a:t>
            </a:r>
            <a:r>
              <a:rPr lang="en-US" dirty="0"/>
              <a:t> – A folder contains files and other folders, and they are all treated the same way.</a:t>
            </a:r>
          </a:p>
          <a:p>
            <a:endParaRPr lang="en-US" dirty="0"/>
          </a:p>
          <a:p>
            <a:r>
              <a:rPr lang="en-US" b="1" dirty="0"/>
              <a:t>Decorator Pattern (Adding Features) HAMLE EUTA OBJECT LAI MULTIPLE TARIKA LE REPRESENT GARNA MILNE</a:t>
            </a:r>
          </a:p>
          <a:p>
            <a:r>
              <a:rPr lang="en-US" b="1" dirty="0"/>
              <a:t>Purpose:</a:t>
            </a:r>
            <a:r>
              <a:rPr lang="en-US" dirty="0"/>
              <a:t> Dynamically adds new behavior to objects without modifying their structure.</a:t>
            </a:r>
            <a:br>
              <a:rPr lang="en-US" dirty="0"/>
            </a:br>
            <a:r>
              <a:rPr lang="en-US" dirty="0"/>
              <a:t>🔹 </a:t>
            </a:r>
            <a:r>
              <a:rPr lang="en-US" b="1" dirty="0"/>
              <a:t>Think of it as a pizza</a:t>
            </a:r>
            <a:r>
              <a:rPr lang="en-US" dirty="0"/>
              <a:t> – You can add toppings (cheese, olives, pepperoni) without changing the base pizza.</a:t>
            </a:r>
          </a:p>
          <a:p>
            <a:r>
              <a:rPr lang="en-US" b="1" dirty="0"/>
              <a:t>Real-World Example:</a:t>
            </a:r>
            <a:endParaRPr lang="en-US" dirty="0"/>
          </a:p>
          <a:p>
            <a:pPr>
              <a:buFont typeface="Arial" panose="020B0604020202020204" pitchFamily="34" charset="0"/>
              <a:buChar char="•"/>
            </a:pPr>
            <a:r>
              <a:rPr lang="en-US" dirty="0"/>
              <a:t>Adding </a:t>
            </a:r>
            <a:r>
              <a:rPr lang="en-US" b="1" dirty="0"/>
              <a:t>extra features</a:t>
            </a:r>
            <a:r>
              <a:rPr lang="en-US" dirty="0"/>
              <a:t> to a </a:t>
            </a:r>
            <a:r>
              <a:rPr lang="en-US" b="1" dirty="0"/>
              <a:t>car</a:t>
            </a:r>
            <a:r>
              <a:rPr lang="en-US" dirty="0"/>
              <a:t> (like sunroof, GPS, leather seats).</a:t>
            </a:r>
          </a:p>
          <a:p>
            <a:pPr>
              <a:buFont typeface="Arial" panose="020B0604020202020204" pitchFamily="34" charset="0"/>
              <a:buChar char="•"/>
            </a:pPr>
            <a:r>
              <a:rPr lang="en-US" dirty="0"/>
              <a:t>Wrapping </a:t>
            </a:r>
            <a:r>
              <a:rPr lang="en-US" b="1" dirty="0"/>
              <a:t>text with bold, italic, or underline</a:t>
            </a:r>
            <a:r>
              <a:rPr lang="en-US" dirty="0"/>
              <a:t> in a text editor.</a:t>
            </a:r>
          </a:p>
          <a:p>
            <a:pPr>
              <a:buFont typeface="Arial" panose="020B0604020202020204" pitchFamily="34" charset="0"/>
              <a:buChar char="•"/>
            </a:pPr>
            <a:endParaRPr lang="en-US" dirty="0"/>
          </a:p>
          <a:p>
            <a:r>
              <a:rPr lang="en-US" b="1" dirty="0"/>
              <a:t>Facade Pattern (Simplified Interface)</a:t>
            </a:r>
          </a:p>
          <a:p>
            <a:r>
              <a:rPr lang="en-US" b="1" dirty="0"/>
              <a:t>Purpose:</a:t>
            </a:r>
            <a:r>
              <a:rPr lang="en-US" dirty="0"/>
              <a:t> Provides a simple interface to a complex system.</a:t>
            </a:r>
            <a:br>
              <a:rPr lang="en-US" dirty="0"/>
            </a:br>
            <a:r>
              <a:rPr lang="en-US" dirty="0"/>
              <a:t>🔹 </a:t>
            </a:r>
            <a:r>
              <a:rPr lang="en-US" b="1" dirty="0"/>
              <a:t>Think of it as a car dashboard</a:t>
            </a:r>
            <a:r>
              <a:rPr lang="en-US" dirty="0"/>
              <a:t> – You don’t need to understand the engine, just press the "Start" button.</a:t>
            </a:r>
          </a:p>
          <a:p>
            <a:pPr>
              <a:buFont typeface="Arial" panose="020B0604020202020204" pitchFamily="34" charset="0"/>
              <a:buChar char="•"/>
            </a:pPr>
            <a:endParaRPr lang="en-US" dirty="0"/>
          </a:p>
          <a:p>
            <a:r>
              <a:rPr lang="en-US" b="1" dirty="0"/>
              <a:t>Flyweight Pattern (Memory Optimization) GOOGLE MAP LE TRAFFIC JAM XA XAINA VANERA DEKHAUNE USING GPS TRACKER NOT BECAUSE SATTELITE BATA CAMERA KO THROUGH HERERAKO..</a:t>
            </a:r>
          </a:p>
          <a:p>
            <a:r>
              <a:rPr lang="en-US" b="1" dirty="0"/>
              <a:t>Purpose:</a:t>
            </a:r>
            <a:r>
              <a:rPr lang="en-US" dirty="0"/>
              <a:t> Shares common objects instead of creating new ones, reducing memory usage.</a:t>
            </a:r>
            <a:br>
              <a:rPr lang="en-US" dirty="0"/>
            </a:br>
            <a:r>
              <a:rPr lang="en-US" dirty="0"/>
              <a:t>🔹 </a:t>
            </a:r>
            <a:r>
              <a:rPr lang="en-US" b="1" dirty="0"/>
              <a:t>Think of it as a chess game</a:t>
            </a:r>
            <a:r>
              <a:rPr lang="en-US" dirty="0"/>
              <a:t> – Instead of creating a new object for every "pawn", we reuse existing ones.</a:t>
            </a:r>
          </a:p>
          <a:p>
            <a:endParaRPr lang="en-US" dirty="0"/>
          </a:p>
          <a:p>
            <a:r>
              <a:rPr lang="en-US" b="1" dirty="0"/>
              <a:t>Proxy Pattern (Controlled Access) KUNAI EUTA COMPONENT LE ACCESS GARNE ..</a:t>
            </a:r>
          </a:p>
          <a:p>
            <a:r>
              <a:rPr lang="en-US" b="1" dirty="0"/>
              <a:t>Purpose:</a:t>
            </a:r>
            <a:r>
              <a:rPr lang="en-US" dirty="0"/>
              <a:t> Provides a placeholder for another object to control access to it.</a:t>
            </a:r>
            <a:br>
              <a:rPr lang="en-US" dirty="0"/>
            </a:br>
            <a:r>
              <a:rPr lang="en-US" dirty="0"/>
              <a:t>🔹 </a:t>
            </a:r>
            <a:r>
              <a:rPr lang="en-US" b="1" dirty="0"/>
              <a:t>Think of it as a security guard</a:t>
            </a:r>
            <a:r>
              <a:rPr lang="en-US" dirty="0"/>
              <a:t> – Controls access to a VIP area.</a:t>
            </a:r>
          </a:p>
          <a:p>
            <a:r>
              <a:rPr lang="en-US" b="1" dirty="0"/>
              <a:t>Real-World Example:</a:t>
            </a:r>
            <a:endParaRPr lang="en-US" dirty="0"/>
          </a:p>
          <a:p>
            <a:pPr>
              <a:buFont typeface="Arial" panose="020B0604020202020204" pitchFamily="34" charset="0"/>
              <a:buChar char="•"/>
            </a:pPr>
            <a:r>
              <a:rPr lang="en-US" b="1" dirty="0"/>
              <a:t>Bank ATMs</a:t>
            </a:r>
            <a:r>
              <a:rPr lang="en-US" dirty="0"/>
              <a:t> act as proxies to actual bank accounts.</a:t>
            </a:r>
          </a:p>
          <a:p>
            <a:pPr>
              <a:buFont typeface="Arial" panose="020B0604020202020204" pitchFamily="34" charset="0"/>
              <a:buChar char="•"/>
            </a:pPr>
            <a:r>
              <a:rPr lang="en-US" b="1" dirty="0"/>
              <a:t>Netflix proxies</a:t>
            </a:r>
            <a:r>
              <a:rPr lang="en-US" dirty="0"/>
              <a:t> manage access to content based on user location.</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35</a:t>
            </a:fld>
            <a:endParaRPr lang="en-US"/>
          </a:p>
        </p:txBody>
      </p:sp>
    </p:spTree>
    <p:extLst>
      <p:ext uri="{BB962C8B-B14F-4D97-AF65-F5344CB8AC3E}">
        <p14:creationId xmlns:p14="http://schemas.microsoft.com/office/powerpoint/2010/main" val="3335997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Chain of Responsibility Pattern (Passing the Request)</a:t>
            </a:r>
          </a:p>
          <a:p>
            <a:r>
              <a:rPr lang="en-US" dirty="0"/>
              <a:t>🔹 </a:t>
            </a:r>
            <a:r>
              <a:rPr lang="en-US" b="1" dirty="0"/>
              <a:t>Purpose:</a:t>
            </a:r>
            <a:r>
              <a:rPr lang="en-US" dirty="0"/>
              <a:t> Passes requests along a chain of handlers, where each handler decides whether to process or pass it to the next.</a:t>
            </a:r>
            <a:br>
              <a:rPr lang="en-US" dirty="0"/>
            </a:br>
            <a:r>
              <a:rPr lang="en-US" dirty="0"/>
              <a:t>🔹 </a:t>
            </a:r>
            <a:r>
              <a:rPr lang="en-US" b="1" dirty="0"/>
              <a:t>Real-World Example:</a:t>
            </a:r>
            <a:endParaRPr lang="en-US" dirty="0"/>
          </a:p>
          <a:p>
            <a:pPr>
              <a:buFont typeface="Arial" panose="020B0604020202020204" pitchFamily="34" charset="0"/>
              <a:buChar char="•"/>
            </a:pPr>
            <a:r>
              <a:rPr lang="en-US" b="1" dirty="0"/>
              <a:t>Technical support system</a:t>
            </a:r>
            <a:r>
              <a:rPr lang="en-US" dirty="0"/>
              <a:t> (Level 1 → Level 2 → Level 3).</a:t>
            </a:r>
          </a:p>
          <a:p>
            <a:pPr>
              <a:buFont typeface="Arial" panose="020B0604020202020204" pitchFamily="34" charset="0"/>
              <a:buChar char="•"/>
            </a:pPr>
            <a:r>
              <a:rPr lang="en-US" b="1" dirty="0"/>
              <a:t>Bank loan approval</a:t>
            </a:r>
            <a:r>
              <a:rPr lang="en-US" dirty="0"/>
              <a:t> (Clerk → Manager → Director).</a:t>
            </a:r>
          </a:p>
          <a:p>
            <a:endParaRPr lang="en-US" dirty="0"/>
          </a:p>
          <a:p>
            <a:r>
              <a:rPr lang="en-US" b="1" dirty="0"/>
              <a:t>Command Pattern (Encapsulating Actions)</a:t>
            </a:r>
          </a:p>
          <a:p>
            <a:r>
              <a:rPr lang="en-US" dirty="0"/>
              <a:t>🔹 </a:t>
            </a:r>
            <a:r>
              <a:rPr lang="en-US" b="1" dirty="0"/>
              <a:t>Purpose:</a:t>
            </a:r>
            <a:r>
              <a:rPr lang="en-US" dirty="0"/>
              <a:t> Encapsulates a request as an object to parameterize clients.</a:t>
            </a:r>
            <a:br>
              <a:rPr lang="en-US" dirty="0"/>
            </a:br>
            <a:r>
              <a:rPr lang="en-US" dirty="0"/>
              <a:t>🔹 </a:t>
            </a:r>
            <a:r>
              <a:rPr lang="en-US" b="1" dirty="0"/>
              <a:t>Real-World Example:</a:t>
            </a:r>
            <a:endParaRPr lang="en-US" dirty="0"/>
          </a:p>
          <a:p>
            <a:pPr>
              <a:buFont typeface="Arial" panose="020B0604020202020204" pitchFamily="34" charset="0"/>
              <a:buChar char="•"/>
            </a:pPr>
            <a:r>
              <a:rPr lang="en-US" b="1" dirty="0"/>
              <a:t>Undo/Redo operations</a:t>
            </a:r>
            <a:r>
              <a:rPr lang="en-US" dirty="0"/>
              <a:t> in text editors.</a:t>
            </a:r>
          </a:p>
          <a:p>
            <a:pPr>
              <a:buFont typeface="Arial" panose="020B0604020202020204" pitchFamily="34" charset="0"/>
              <a:buChar char="•"/>
            </a:pPr>
            <a:r>
              <a:rPr lang="en-US" b="1" dirty="0"/>
              <a:t>Remote control buttons</a:t>
            </a:r>
            <a:r>
              <a:rPr lang="en-US" dirty="0"/>
              <a:t> (each button is a command).</a:t>
            </a:r>
          </a:p>
          <a:p>
            <a:endParaRPr lang="en-US" dirty="0"/>
          </a:p>
          <a:p>
            <a:r>
              <a:rPr lang="en-US" b="1" dirty="0"/>
              <a:t>Interpreter Pattern (Language Interpreter)</a:t>
            </a:r>
          </a:p>
          <a:p>
            <a:r>
              <a:rPr lang="en-US" dirty="0"/>
              <a:t>🔹 </a:t>
            </a:r>
            <a:r>
              <a:rPr lang="en-US" b="1" dirty="0"/>
              <a:t>Purpose:</a:t>
            </a:r>
            <a:r>
              <a:rPr lang="en-US" dirty="0"/>
              <a:t> Interprets expressions based on a grammar.</a:t>
            </a:r>
            <a:br>
              <a:rPr lang="en-US" dirty="0"/>
            </a:br>
            <a:r>
              <a:rPr lang="en-US" dirty="0"/>
              <a:t>🔹 </a:t>
            </a:r>
            <a:r>
              <a:rPr lang="en-US" b="1" dirty="0"/>
              <a:t>Real-World Example:</a:t>
            </a:r>
            <a:endParaRPr lang="en-US" dirty="0"/>
          </a:p>
          <a:p>
            <a:pPr>
              <a:buFont typeface="Arial" panose="020B0604020202020204" pitchFamily="34" charset="0"/>
              <a:buChar char="•"/>
            </a:pPr>
            <a:r>
              <a:rPr lang="en-US" b="1" dirty="0"/>
              <a:t>Google Translate</a:t>
            </a:r>
            <a:r>
              <a:rPr lang="en-US" dirty="0"/>
              <a:t>, SQL Query Parsers.</a:t>
            </a:r>
          </a:p>
          <a:p>
            <a:pPr>
              <a:buFont typeface="Arial" panose="020B0604020202020204" pitchFamily="34" charset="0"/>
              <a:buChar char="•"/>
            </a:pPr>
            <a:r>
              <a:rPr lang="en-US" b="1" dirty="0"/>
              <a:t>Regex (Regular Expressions)</a:t>
            </a:r>
            <a:r>
              <a:rPr lang="en-US" dirty="0"/>
              <a:t> for string matching.</a:t>
            </a:r>
          </a:p>
          <a:p>
            <a:endParaRPr lang="en-US" dirty="0"/>
          </a:p>
          <a:p>
            <a:r>
              <a:rPr lang="en-US" b="1" dirty="0"/>
              <a:t>Iterator Pattern (Sequential Access)</a:t>
            </a:r>
          </a:p>
          <a:p>
            <a:r>
              <a:rPr lang="en-US" dirty="0"/>
              <a:t>🔹 </a:t>
            </a:r>
            <a:r>
              <a:rPr lang="en-US" b="1" dirty="0"/>
              <a:t>Purpose:</a:t>
            </a:r>
            <a:r>
              <a:rPr lang="en-US" dirty="0"/>
              <a:t> Provides a way to access elements sequentially without exposing their structure.</a:t>
            </a:r>
            <a:br>
              <a:rPr lang="en-US" dirty="0"/>
            </a:br>
            <a:r>
              <a:rPr lang="en-US" dirty="0"/>
              <a:t>🔹 </a:t>
            </a:r>
            <a:r>
              <a:rPr lang="en-US" b="1" dirty="0"/>
              <a:t>Real-World Example:</a:t>
            </a:r>
            <a:endParaRPr lang="en-US" dirty="0"/>
          </a:p>
          <a:p>
            <a:pPr>
              <a:buFont typeface="Arial" panose="020B0604020202020204" pitchFamily="34" charset="0"/>
              <a:buChar char="•"/>
            </a:pPr>
            <a:r>
              <a:rPr lang="en-US" b="1" dirty="0"/>
              <a:t>TV Channel Navigation</a:t>
            </a:r>
            <a:r>
              <a:rPr lang="en-US" dirty="0"/>
              <a:t> (Next/Previous).</a:t>
            </a:r>
          </a:p>
          <a:p>
            <a:pPr>
              <a:buFont typeface="Arial" panose="020B0604020202020204" pitchFamily="34" charset="0"/>
              <a:buChar char="•"/>
            </a:pPr>
            <a:r>
              <a:rPr lang="en-US" b="1" dirty="0"/>
              <a:t>Playlist navigation</a:t>
            </a:r>
            <a:r>
              <a:rPr lang="en-US" dirty="0"/>
              <a:t> in music players.</a:t>
            </a:r>
          </a:p>
          <a:p>
            <a:endParaRPr lang="en-US" dirty="0"/>
          </a:p>
          <a:p>
            <a:r>
              <a:rPr lang="en-US" b="1" dirty="0"/>
              <a:t>Mediator Pattern (Centralized Communication)</a:t>
            </a:r>
          </a:p>
          <a:p>
            <a:r>
              <a:rPr lang="en-US" dirty="0"/>
              <a:t>🔹 </a:t>
            </a:r>
            <a:r>
              <a:rPr lang="en-US" b="1" dirty="0"/>
              <a:t>Purpose:</a:t>
            </a:r>
            <a:r>
              <a:rPr lang="en-US" dirty="0"/>
              <a:t> A mediator object handles communication between different objects, preventing direct coupling.</a:t>
            </a:r>
            <a:br>
              <a:rPr lang="en-US" dirty="0"/>
            </a:br>
            <a:r>
              <a:rPr lang="en-US" dirty="0"/>
              <a:t>🔹 </a:t>
            </a:r>
            <a:r>
              <a:rPr lang="en-US" b="1" dirty="0"/>
              <a:t>Real-World Example:</a:t>
            </a:r>
            <a:endParaRPr lang="en-US" dirty="0"/>
          </a:p>
          <a:p>
            <a:pPr>
              <a:buFont typeface="Arial" panose="020B0604020202020204" pitchFamily="34" charset="0"/>
              <a:buChar char="•"/>
            </a:pPr>
            <a:r>
              <a:rPr lang="en-US" b="1" dirty="0"/>
              <a:t>Air Traffic Controller</a:t>
            </a:r>
            <a:r>
              <a:rPr lang="en-US" dirty="0"/>
              <a:t> managing communication between pilots.</a:t>
            </a:r>
          </a:p>
          <a:p>
            <a:pPr>
              <a:buFont typeface="Arial" panose="020B0604020202020204" pitchFamily="34" charset="0"/>
              <a:buChar char="•"/>
            </a:pPr>
            <a:r>
              <a:rPr lang="en-US" b="1" dirty="0"/>
              <a:t>Chatroom</a:t>
            </a:r>
            <a:r>
              <a:rPr lang="en-US" dirty="0"/>
              <a:t> where users communicate through a mediator (server).</a:t>
            </a:r>
          </a:p>
          <a:p>
            <a:endParaRPr lang="en-US" dirty="0"/>
          </a:p>
          <a:p>
            <a:r>
              <a:rPr lang="en-US" b="1" dirty="0"/>
              <a:t>Memento Pattern (Saving &amp; Restoring State)</a:t>
            </a:r>
          </a:p>
          <a:p>
            <a:r>
              <a:rPr lang="en-US" dirty="0"/>
              <a:t>🔹 </a:t>
            </a:r>
            <a:r>
              <a:rPr lang="en-US" b="1" dirty="0"/>
              <a:t>Purpose:</a:t>
            </a:r>
            <a:r>
              <a:rPr lang="en-US" dirty="0"/>
              <a:t> Captures an object's state and restores it later.</a:t>
            </a:r>
            <a:br>
              <a:rPr lang="en-US" dirty="0"/>
            </a:br>
            <a:r>
              <a:rPr lang="en-US" dirty="0"/>
              <a:t>🔹 </a:t>
            </a:r>
            <a:r>
              <a:rPr lang="en-US" b="1" dirty="0"/>
              <a:t>Real-World Example:</a:t>
            </a:r>
            <a:endParaRPr lang="en-US" dirty="0"/>
          </a:p>
          <a:p>
            <a:pPr>
              <a:buFont typeface="Arial" panose="020B0604020202020204" pitchFamily="34" charset="0"/>
              <a:buChar char="•"/>
            </a:pPr>
            <a:r>
              <a:rPr lang="en-US" b="1" dirty="0"/>
              <a:t>Undo/Redo SAVE RESTORE AUTOMATICALLY</a:t>
            </a:r>
            <a:r>
              <a:rPr lang="en-US" dirty="0"/>
              <a:t> in text editors.</a:t>
            </a:r>
          </a:p>
          <a:p>
            <a:pPr>
              <a:buFont typeface="Arial" panose="020B0604020202020204" pitchFamily="34" charset="0"/>
              <a:buChar char="•"/>
            </a:pPr>
            <a:r>
              <a:rPr lang="en-US" b="1" dirty="0"/>
              <a:t>Saving game progress</a:t>
            </a:r>
            <a:r>
              <a:rPr lang="en-US" dirty="0"/>
              <a:t> in video games.</a:t>
            </a:r>
          </a:p>
          <a:p>
            <a:endParaRPr lang="en-US" dirty="0"/>
          </a:p>
          <a:p>
            <a:r>
              <a:rPr lang="en-US" b="1" dirty="0"/>
              <a:t>Observer Pattern (Event Subscription)</a:t>
            </a:r>
          </a:p>
          <a:p>
            <a:r>
              <a:rPr lang="en-US" dirty="0"/>
              <a:t>🔹 </a:t>
            </a:r>
            <a:r>
              <a:rPr lang="en-US" b="1" dirty="0"/>
              <a:t>Purpose:</a:t>
            </a:r>
            <a:r>
              <a:rPr lang="en-US" dirty="0"/>
              <a:t> Allows multiple objects to listen for changes in another object.</a:t>
            </a:r>
            <a:br>
              <a:rPr lang="en-US" dirty="0"/>
            </a:br>
            <a:r>
              <a:rPr lang="en-US" dirty="0"/>
              <a:t>🔹 </a:t>
            </a:r>
            <a:r>
              <a:rPr lang="en-US" b="1" dirty="0"/>
              <a:t>Real-World Example:</a:t>
            </a:r>
            <a:endParaRPr lang="en-US" dirty="0"/>
          </a:p>
          <a:p>
            <a:pPr>
              <a:buFont typeface="Arial" panose="020B0604020202020204" pitchFamily="34" charset="0"/>
              <a:buChar char="•"/>
            </a:pPr>
            <a:r>
              <a:rPr lang="en-US" b="1" dirty="0"/>
              <a:t>YouTube subscriptions</a:t>
            </a:r>
            <a:r>
              <a:rPr lang="en-US" dirty="0"/>
              <a:t> (You get notified when a channel posts a new video).</a:t>
            </a:r>
          </a:p>
          <a:p>
            <a:pPr>
              <a:buFont typeface="Arial" panose="020B0604020202020204" pitchFamily="34" charset="0"/>
              <a:buChar char="•"/>
            </a:pPr>
            <a:r>
              <a:rPr lang="en-US" b="1" dirty="0"/>
              <a:t>Stock market updates</a:t>
            </a:r>
            <a:r>
              <a:rPr lang="en-US" dirty="0"/>
              <a:t> (Investors get notified of price changes)</a:t>
            </a:r>
          </a:p>
          <a:p>
            <a:endParaRPr lang="en-US" dirty="0"/>
          </a:p>
          <a:p>
            <a:r>
              <a:rPr lang="en-US" b="1" dirty="0"/>
              <a:t>State Pattern (Behavior Changes Based on State)</a:t>
            </a:r>
          </a:p>
          <a:p>
            <a:r>
              <a:rPr lang="en-US" dirty="0"/>
              <a:t>🔹 </a:t>
            </a:r>
            <a:r>
              <a:rPr lang="en-US" b="1" dirty="0"/>
              <a:t>Purpose:</a:t>
            </a:r>
            <a:r>
              <a:rPr lang="en-US" dirty="0"/>
              <a:t> Allows an object to alter its behavior when its internal state changes.</a:t>
            </a:r>
            <a:br>
              <a:rPr lang="en-US" dirty="0"/>
            </a:br>
            <a:r>
              <a:rPr lang="en-US" dirty="0"/>
              <a:t>🔹 </a:t>
            </a:r>
            <a:r>
              <a:rPr lang="en-US" b="1" dirty="0"/>
              <a:t>Real-World Example:</a:t>
            </a:r>
            <a:endParaRPr lang="en-US" dirty="0"/>
          </a:p>
          <a:p>
            <a:pPr>
              <a:buFont typeface="Arial" panose="020B0604020202020204" pitchFamily="34" charset="0"/>
              <a:buChar char="•"/>
            </a:pPr>
            <a:r>
              <a:rPr lang="en-US" b="1" dirty="0"/>
              <a:t>Traffic lights</a:t>
            </a:r>
            <a:r>
              <a:rPr lang="en-US" dirty="0"/>
              <a:t> (Red → Green → Yellow).</a:t>
            </a:r>
          </a:p>
          <a:p>
            <a:pPr>
              <a:buFont typeface="Arial" panose="020B0604020202020204" pitchFamily="34" charset="0"/>
              <a:buChar char="•"/>
            </a:pPr>
            <a:r>
              <a:rPr lang="en-US" b="1" dirty="0"/>
              <a:t>ATM Machine</a:t>
            </a:r>
            <a:r>
              <a:rPr lang="en-US" dirty="0"/>
              <a:t> (Idle → Processing → Dispensing Cash).</a:t>
            </a:r>
          </a:p>
          <a:p>
            <a:endParaRPr lang="en-US" dirty="0"/>
          </a:p>
          <a:p>
            <a:r>
              <a:rPr lang="en-US" b="1" dirty="0"/>
              <a:t>Strategy Pattern (Multiple Algorithms)</a:t>
            </a:r>
          </a:p>
          <a:p>
            <a:r>
              <a:rPr lang="en-US" dirty="0"/>
              <a:t>🔹 </a:t>
            </a:r>
            <a:r>
              <a:rPr lang="en-US" b="1" dirty="0"/>
              <a:t>Purpose:</a:t>
            </a:r>
            <a:r>
              <a:rPr lang="en-US" dirty="0"/>
              <a:t> Allows selecting an algorithm dynamically.</a:t>
            </a:r>
            <a:br>
              <a:rPr lang="en-US" dirty="0"/>
            </a:br>
            <a:r>
              <a:rPr lang="en-US" dirty="0"/>
              <a:t>🔹 </a:t>
            </a:r>
            <a:r>
              <a:rPr lang="en-US" b="1" dirty="0"/>
              <a:t>Real-World Example:</a:t>
            </a:r>
            <a:endParaRPr lang="en-US" dirty="0"/>
          </a:p>
          <a:p>
            <a:pPr>
              <a:buFont typeface="Arial" panose="020B0604020202020204" pitchFamily="34" charset="0"/>
              <a:buChar char="•"/>
            </a:pPr>
            <a:r>
              <a:rPr lang="en-US" b="1" dirty="0"/>
              <a:t>Navigation apps</a:t>
            </a:r>
            <a:r>
              <a:rPr lang="en-US" dirty="0"/>
              <a:t> (Choose between fastest, shortest, or scenic route).</a:t>
            </a:r>
          </a:p>
          <a:p>
            <a:pPr>
              <a:buFont typeface="Arial" panose="020B0604020202020204" pitchFamily="34" charset="0"/>
              <a:buChar char="•"/>
            </a:pPr>
            <a:r>
              <a:rPr lang="en-US" b="1" dirty="0"/>
              <a:t>Compression algorithms</a:t>
            </a:r>
            <a:r>
              <a:rPr lang="en-US" dirty="0"/>
              <a:t> (ZIP, RAR, 7z).</a:t>
            </a:r>
          </a:p>
          <a:p>
            <a:endParaRPr lang="en-US" dirty="0"/>
          </a:p>
          <a:p>
            <a:r>
              <a:rPr lang="en-US" b="1" dirty="0"/>
              <a:t>Template Method Pattern (Skeleton Algorithm)</a:t>
            </a:r>
          </a:p>
          <a:p>
            <a:r>
              <a:rPr lang="en-US" dirty="0"/>
              <a:t>🔹 </a:t>
            </a:r>
            <a:r>
              <a:rPr lang="en-US" b="1" dirty="0"/>
              <a:t>Purpose:</a:t>
            </a:r>
            <a:r>
              <a:rPr lang="en-US" dirty="0"/>
              <a:t> Defines a template for an algorithm and allows subclasses to fill in details.</a:t>
            </a:r>
            <a:br>
              <a:rPr lang="en-US" dirty="0"/>
            </a:br>
            <a:r>
              <a:rPr lang="en-US" dirty="0"/>
              <a:t>🔹 </a:t>
            </a:r>
            <a:r>
              <a:rPr lang="en-US" b="1" dirty="0"/>
              <a:t>Real-World Example:</a:t>
            </a:r>
            <a:endParaRPr lang="en-US" dirty="0"/>
          </a:p>
          <a:p>
            <a:pPr>
              <a:buFont typeface="Arial" panose="020B0604020202020204" pitchFamily="34" charset="0"/>
              <a:buChar char="•"/>
            </a:pPr>
            <a:r>
              <a:rPr lang="en-US" b="1" dirty="0"/>
              <a:t>Coffee Making Process</a:t>
            </a:r>
            <a:r>
              <a:rPr lang="en-US" dirty="0"/>
              <a:t> (Boil water → Brew Coffee → Pour in cup → Add sugar/milk).</a:t>
            </a:r>
          </a:p>
          <a:p>
            <a:endParaRPr lang="en-US" dirty="0"/>
          </a:p>
          <a:p>
            <a:r>
              <a:rPr lang="en-US" b="1" dirty="0"/>
              <a:t>Visitor Pattern (Adding New Operations)</a:t>
            </a:r>
          </a:p>
          <a:p>
            <a:r>
              <a:rPr lang="en-US" dirty="0"/>
              <a:t>🔹 </a:t>
            </a:r>
            <a:r>
              <a:rPr lang="en-US" b="1" dirty="0"/>
              <a:t>Purpose:</a:t>
            </a:r>
            <a:r>
              <a:rPr lang="en-US" dirty="0"/>
              <a:t> Adds new operations to objects without modifying them.</a:t>
            </a:r>
            <a:br>
              <a:rPr lang="en-US" dirty="0"/>
            </a:br>
            <a:r>
              <a:rPr lang="en-US" dirty="0"/>
              <a:t>🔹 </a:t>
            </a:r>
            <a:r>
              <a:rPr lang="en-US" b="1" dirty="0"/>
              <a:t>Real-World Example:</a:t>
            </a:r>
            <a:endParaRPr lang="en-US" dirty="0"/>
          </a:p>
          <a:p>
            <a:pPr>
              <a:buFont typeface="Arial" panose="020B0604020202020204" pitchFamily="34" charset="0"/>
              <a:buChar char="•"/>
            </a:pPr>
            <a:r>
              <a:rPr lang="en-US" b="1" dirty="0"/>
              <a:t>Tax calculation</a:t>
            </a:r>
            <a:r>
              <a:rPr lang="en-US" dirty="0"/>
              <a:t> for different product types.</a:t>
            </a:r>
          </a:p>
          <a:p>
            <a:pPr>
              <a:buFont typeface="Arial" panose="020B0604020202020204" pitchFamily="34" charset="0"/>
              <a:buChar char="•"/>
            </a:pPr>
            <a:r>
              <a:rPr lang="en-US" b="1" dirty="0"/>
              <a:t>Insurance premium calculation</a:t>
            </a:r>
            <a:r>
              <a:rPr lang="en-US" dirty="0"/>
              <a:t> based on user type.</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36</a:t>
            </a:fld>
            <a:endParaRPr lang="en-US"/>
          </a:p>
        </p:txBody>
      </p:sp>
    </p:spTree>
    <p:extLst>
      <p:ext uri="{BB962C8B-B14F-4D97-AF65-F5344CB8AC3E}">
        <p14:creationId xmlns:p14="http://schemas.microsoft.com/office/powerpoint/2010/main" val="284618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Chain of Responsibility Pattern (Passing the Request)</a:t>
            </a:r>
          </a:p>
          <a:p>
            <a:r>
              <a:rPr lang="en-US" dirty="0"/>
              <a:t>🔹 </a:t>
            </a:r>
            <a:r>
              <a:rPr lang="en-US" b="1" dirty="0"/>
              <a:t>Purpose:</a:t>
            </a:r>
            <a:r>
              <a:rPr lang="en-US" dirty="0"/>
              <a:t> Passes requests along a chain of handlers, where each handler decides whether to process or pass it to the next.</a:t>
            </a:r>
            <a:br>
              <a:rPr lang="en-US" dirty="0"/>
            </a:br>
            <a:r>
              <a:rPr lang="en-US" dirty="0"/>
              <a:t>🔹 </a:t>
            </a:r>
            <a:r>
              <a:rPr lang="en-US" b="1" dirty="0"/>
              <a:t>Real-World Example:</a:t>
            </a:r>
            <a:endParaRPr lang="en-US" dirty="0"/>
          </a:p>
          <a:p>
            <a:pPr>
              <a:buFont typeface="Arial" panose="020B0604020202020204" pitchFamily="34" charset="0"/>
              <a:buChar char="•"/>
            </a:pPr>
            <a:r>
              <a:rPr lang="en-US" b="1" dirty="0"/>
              <a:t>Technical support system</a:t>
            </a:r>
            <a:r>
              <a:rPr lang="en-US" dirty="0"/>
              <a:t> (Level 1 → Level 2 → Level 3).</a:t>
            </a:r>
          </a:p>
          <a:p>
            <a:pPr>
              <a:buFont typeface="Arial" panose="020B0604020202020204" pitchFamily="34" charset="0"/>
              <a:buChar char="•"/>
            </a:pPr>
            <a:r>
              <a:rPr lang="en-US" b="1" dirty="0"/>
              <a:t>Bank loan approval</a:t>
            </a:r>
            <a:r>
              <a:rPr lang="en-US" dirty="0"/>
              <a:t> (Clerk → Manager → Director).</a:t>
            </a:r>
          </a:p>
          <a:p>
            <a:endParaRPr lang="en-US" dirty="0"/>
          </a:p>
          <a:p>
            <a:r>
              <a:rPr lang="en-US" b="1" dirty="0"/>
              <a:t>Command Pattern (Encapsulating Actions)</a:t>
            </a:r>
          </a:p>
          <a:p>
            <a:r>
              <a:rPr lang="en-US" dirty="0"/>
              <a:t>🔹 </a:t>
            </a:r>
            <a:r>
              <a:rPr lang="en-US" b="1" dirty="0"/>
              <a:t>Purpose:</a:t>
            </a:r>
            <a:r>
              <a:rPr lang="en-US" dirty="0"/>
              <a:t> Encapsulates a request as an object to parameterize clients.</a:t>
            </a:r>
            <a:br>
              <a:rPr lang="en-US" dirty="0"/>
            </a:br>
            <a:r>
              <a:rPr lang="en-US" dirty="0"/>
              <a:t>🔹 </a:t>
            </a:r>
            <a:r>
              <a:rPr lang="en-US" b="1" dirty="0"/>
              <a:t>Real-World Example:</a:t>
            </a:r>
            <a:endParaRPr lang="en-US" dirty="0"/>
          </a:p>
          <a:p>
            <a:pPr>
              <a:buFont typeface="Arial" panose="020B0604020202020204" pitchFamily="34" charset="0"/>
              <a:buChar char="•"/>
            </a:pPr>
            <a:r>
              <a:rPr lang="en-US" b="1" dirty="0"/>
              <a:t>Undo/Redo operations</a:t>
            </a:r>
            <a:r>
              <a:rPr lang="en-US" dirty="0"/>
              <a:t> in text editors.</a:t>
            </a:r>
          </a:p>
          <a:p>
            <a:pPr>
              <a:buFont typeface="Arial" panose="020B0604020202020204" pitchFamily="34" charset="0"/>
              <a:buChar char="•"/>
            </a:pPr>
            <a:r>
              <a:rPr lang="en-US" b="1" dirty="0"/>
              <a:t>Remote control buttons</a:t>
            </a:r>
            <a:r>
              <a:rPr lang="en-US" dirty="0"/>
              <a:t> (each button is a command).</a:t>
            </a:r>
          </a:p>
          <a:p>
            <a:endParaRPr lang="en-US" dirty="0"/>
          </a:p>
          <a:p>
            <a:r>
              <a:rPr lang="en-US" b="1" dirty="0"/>
              <a:t>Interpreter Pattern (Language Interpreter)</a:t>
            </a:r>
          </a:p>
          <a:p>
            <a:r>
              <a:rPr lang="en-US" dirty="0"/>
              <a:t>🔹 </a:t>
            </a:r>
            <a:r>
              <a:rPr lang="en-US" b="1" dirty="0"/>
              <a:t>Purpose:</a:t>
            </a:r>
            <a:r>
              <a:rPr lang="en-US" dirty="0"/>
              <a:t> Interprets expressions based on a grammar.</a:t>
            </a:r>
            <a:br>
              <a:rPr lang="en-US" dirty="0"/>
            </a:br>
            <a:r>
              <a:rPr lang="en-US" dirty="0"/>
              <a:t>🔹 </a:t>
            </a:r>
            <a:r>
              <a:rPr lang="en-US" b="1" dirty="0"/>
              <a:t>Real-World Example:</a:t>
            </a:r>
            <a:endParaRPr lang="en-US" dirty="0"/>
          </a:p>
          <a:p>
            <a:pPr>
              <a:buFont typeface="Arial" panose="020B0604020202020204" pitchFamily="34" charset="0"/>
              <a:buChar char="•"/>
            </a:pPr>
            <a:r>
              <a:rPr lang="en-US" b="1" dirty="0"/>
              <a:t>Google Translate</a:t>
            </a:r>
            <a:r>
              <a:rPr lang="en-US" dirty="0"/>
              <a:t>, SQL Query Parsers.</a:t>
            </a:r>
          </a:p>
          <a:p>
            <a:pPr>
              <a:buFont typeface="Arial" panose="020B0604020202020204" pitchFamily="34" charset="0"/>
              <a:buChar char="•"/>
            </a:pPr>
            <a:r>
              <a:rPr lang="en-US" b="1" dirty="0"/>
              <a:t>Regex (Regular Expressions)</a:t>
            </a:r>
            <a:r>
              <a:rPr lang="en-US" dirty="0"/>
              <a:t> for string matching.</a:t>
            </a:r>
          </a:p>
          <a:p>
            <a:endParaRPr lang="en-US" dirty="0"/>
          </a:p>
          <a:p>
            <a:r>
              <a:rPr lang="en-US" b="1" dirty="0"/>
              <a:t>Iterator Pattern (Sequential Access)</a:t>
            </a:r>
          </a:p>
          <a:p>
            <a:r>
              <a:rPr lang="en-US" dirty="0"/>
              <a:t>🔹 </a:t>
            </a:r>
            <a:r>
              <a:rPr lang="en-US" b="1" dirty="0"/>
              <a:t>Purpose:</a:t>
            </a:r>
            <a:r>
              <a:rPr lang="en-US" dirty="0"/>
              <a:t> Provides a way to access elements sequentially without exposing their structure.</a:t>
            </a:r>
            <a:br>
              <a:rPr lang="en-US" dirty="0"/>
            </a:br>
            <a:r>
              <a:rPr lang="en-US" dirty="0"/>
              <a:t>🔹 </a:t>
            </a:r>
            <a:r>
              <a:rPr lang="en-US" b="1" dirty="0"/>
              <a:t>Real-World Example:</a:t>
            </a:r>
            <a:endParaRPr lang="en-US" dirty="0"/>
          </a:p>
          <a:p>
            <a:pPr>
              <a:buFont typeface="Arial" panose="020B0604020202020204" pitchFamily="34" charset="0"/>
              <a:buChar char="•"/>
            </a:pPr>
            <a:r>
              <a:rPr lang="en-US" b="1" dirty="0"/>
              <a:t>TV Channel Navigation</a:t>
            </a:r>
            <a:r>
              <a:rPr lang="en-US" dirty="0"/>
              <a:t> (Next/Previous).</a:t>
            </a:r>
          </a:p>
          <a:p>
            <a:pPr>
              <a:buFont typeface="Arial" panose="020B0604020202020204" pitchFamily="34" charset="0"/>
              <a:buChar char="•"/>
            </a:pPr>
            <a:r>
              <a:rPr lang="en-US" b="1" dirty="0"/>
              <a:t>Playlist navigation</a:t>
            </a:r>
            <a:r>
              <a:rPr lang="en-US" dirty="0"/>
              <a:t> in music players.</a:t>
            </a:r>
          </a:p>
          <a:p>
            <a:endParaRPr lang="en-US" dirty="0"/>
          </a:p>
          <a:p>
            <a:r>
              <a:rPr lang="en-US" b="1" dirty="0"/>
              <a:t>Mediator Pattern (Centralized Communication)</a:t>
            </a:r>
          </a:p>
          <a:p>
            <a:r>
              <a:rPr lang="en-US" dirty="0"/>
              <a:t>🔹 </a:t>
            </a:r>
            <a:r>
              <a:rPr lang="en-US" b="1" dirty="0"/>
              <a:t>Purpose:</a:t>
            </a:r>
            <a:r>
              <a:rPr lang="en-US" dirty="0"/>
              <a:t> A mediator object handles communication between different objects, preventing direct coupling.</a:t>
            </a:r>
            <a:br>
              <a:rPr lang="en-US" dirty="0"/>
            </a:br>
            <a:r>
              <a:rPr lang="en-US" dirty="0"/>
              <a:t>🔹 </a:t>
            </a:r>
            <a:r>
              <a:rPr lang="en-US" b="1" dirty="0"/>
              <a:t>Real-World Example:</a:t>
            </a:r>
            <a:endParaRPr lang="en-US" dirty="0"/>
          </a:p>
          <a:p>
            <a:pPr>
              <a:buFont typeface="Arial" panose="020B0604020202020204" pitchFamily="34" charset="0"/>
              <a:buChar char="•"/>
            </a:pPr>
            <a:r>
              <a:rPr lang="en-US" b="1" dirty="0"/>
              <a:t>Air Traffic Controller</a:t>
            </a:r>
            <a:r>
              <a:rPr lang="en-US" dirty="0"/>
              <a:t> managing communication between pilots.</a:t>
            </a:r>
          </a:p>
          <a:p>
            <a:pPr>
              <a:buFont typeface="Arial" panose="020B0604020202020204" pitchFamily="34" charset="0"/>
              <a:buChar char="•"/>
            </a:pPr>
            <a:r>
              <a:rPr lang="en-US" b="1" dirty="0"/>
              <a:t>Chatroom</a:t>
            </a:r>
            <a:r>
              <a:rPr lang="en-US" dirty="0"/>
              <a:t> where users communicate through a mediator (server).</a:t>
            </a:r>
          </a:p>
          <a:p>
            <a:endParaRPr lang="en-US" dirty="0"/>
          </a:p>
          <a:p>
            <a:r>
              <a:rPr lang="en-US" b="1" dirty="0"/>
              <a:t>Memento Pattern (Saving &amp; Restoring State)</a:t>
            </a:r>
          </a:p>
          <a:p>
            <a:r>
              <a:rPr lang="en-US" dirty="0"/>
              <a:t>🔹 </a:t>
            </a:r>
            <a:r>
              <a:rPr lang="en-US" b="1" dirty="0"/>
              <a:t>Purpose:</a:t>
            </a:r>
            <a:r>
              <a:rPr lang="en-US" dirty="0"/>
              <a:t> Captures an object's state and restores it later.</a:t>
            </a:r>
            <a:br>
              <a:rPr lang="en-US" dirty="0"/>
            </a:br>
            <a:r>
              <a:rPr lang="en-US" dirty="0"/>
              <a:t>🔹 </a:t>
            </a:r>
            <a:r>
              <a:rPr lang="en-US" b="1" dirty="0"/>
              <a:t>Real-World Example:</a:t>
            </a:r>
            <a:endParaRPr lang="en-US" dirty="0"/>
          </a:p>
          <a:p>
            <a:pPr>
              <a:buFont typeface="Arial" panose="020B0604020202020204" pitchFamily="34" charset="0"/>
              <a:buChar char="•"/>
            </a:pPr>
            <a:r>
              <a:rPr lang="en-US" b="1" dirty="0"/>
              <a:t>Undo/Redo SAVE RESTORE AUTOMATICALLY</a:t>
            </a:r>
            <a:r>
              <a:rPr lang="en-US" dirty="0"/>
              <a:t> in text editors.</a:t>
            </a:r>
          </a:p>
          <a:p>
            <a:pPr>
              <a:buFont typeface="Arial" panose="020B0604020202020204" pitchFamily="34" charset="0"/>
              <a:buChar char="•"/>
            </a:pPr>
            <a:r>
              <a:rPr lang="en-US" b="1" dirty="0"/>
              <a:t>Saving game progress</a:t>
            </a:r>
            <a:r>
              <a:rPr lang="en-US" dirty="0"/>
              <a:t> in video games.</a:t>
            </a:r>
          </a:p>
          <a:p>
            <a:endParaRPr lang="en-US" dirty="0"/>
          </a:p>
          <a:p>
            <a:r>
              <a:rPr lang="en-US" b="1" dirty="0"/>
              <a:t>Observer Pattern (Event Subscription)</a:t>
            </a:r>
          </a:p>
          <a:p>
            <a:r>
              <a:rPr lang="en-US" dirty="0"/>
              <a:t>🔹 </a:t>
            </a:r>
            <a:r>
              <a:rPr lang="en-US" b="1" dirty="0"/>
              <a:t>Purpose:</a:t>
            </a:r>
            <a:r>
              <a:rPr lang="en-US" dirty="0"/>
              <a:t> Allows multiple objects to listen for changes in another object.</a:t>
            </a:r>
            <a:br>
              <a:rPr lang="en-US" dirty="0"/>
            </a:br>
            <a:r>
              <a:rPr lang="en-US" dirty="0"/>
              <a:t>🔹 </a:t>
            </a:r>
            <a:r>
              <a:rPr lang="en-US" b="1" dirty="0"/>
              <a:t>Real-World Example:</a:t>
            </a:r>
            <a:endParaRPr lang="en-US" dirty="0"/>
          </a:p>
          <a:p>
            <a:pPr>
              <a:buFont typeface="Arial" panose="020B0604020202020204" pitchFamily="34" charset="0"/>
              <a:buChar char="•"/>
            </a:pPr>
            <a:r>
              <a:rPr lang="en-US" b="1" dirty="0"/>
              <a:t>YouTube subscriptions</a:t>
            </a:r>
            <a:r>
              <a:rPr lang="en-US" dirty="0"/>
              <a:t> (You get notified when a channel posts a new video).</a:t>
            </a:r>
          </a:p>
          <a:p>
            <a:pPr>
              <a:buFont typeface="Arial" panose="020B0604020202020204" pitchFamily="34" charset="0"/>
              <a:buChar char="•"/>
            </a:pPr>
            <a:r>
              <a:rPr lang="en-US" b="1" dirty="0"/>
              <a:t>Stock market updates</a:t>
            </a:r>
            <a:r>
              <a:rPr lang="en-US" dirty="0"/>
              <a:t> (Investors get notified of price changes)</a:t>
            </a:r>
          </a:p>
          <a:p>
            <a:endParaRPr lang="en-US" dirty="0"/>
          </a:p>
          <a:p>
            <a:r>
              <a:rPr lang="en-US" b="1" dirty="0"/>
              <a:t>State Pattern (Behavior Changes Based on State)</a:t>
            </a:r>
          </a:p>
          <a:p>
            <a:r>
              <a:rPr lang="en-US" dirty="0"/>
              <a:t>🔹 </a:t>
            </a:r>
            <a:r>
              <a:rPr lang="en-US" b="1" dirty="0"/>
              <a:t>Purpose:</a:t>
            </a:r>
            <a:r>
              <a:rPr lang="en-US" dirty="0"/>
              <a:t> Allows an object to alter its behavior when its internal state changes.</a:t>
            </a:r>
            <a:br>
              <a:rPr lang="en-US" dirty="0"/>
            </a:br>
            <a:r>
              <a:rPr lang="en-US" dirty="0"/>
              <a:t>🔹 </a:t>
            </a:r>
            <a:r>
              <a:rPr lang="en-US" b="1" dirty="0"/>
              <a:t>Real-World Example:</a:t>
            </a:r>
            <a:endParaRPr lang="en-US" dirty="0"/>
          </a:p>
          <a:p>
            <a:pPr>
              <a:buFont typeface="Arial" panose="020B0604020202020204" pitchFamily="34" charset="0"/>
              <a:buChar char="•"/>
            </a:pPr>
            <a:r>
              <a:rPr lang="en-US" b="1" dirty="0"/>
              <a:t>Traffic lights</a:t>
            </a:r>
            <a:r>
              <a:rPr lang="en-US" dirty="0"/>
              <a:t> (Red → Green → Yellow).</a:t>
            </a:r>
          </a:p>
          <a:p>
            <a:pPr>
              <a:buFont typeface="Arial" panose="020B0604020202020204" pitchFamily="34" charset="0"/>
              <a:buChar char="•"/>
            </a:pPr>
            <a:r>
              <a:rPr lang="en-US" b="1" dirty="0"/>
              <a:t>ATM Machine</a:t>
            </a:r>
            <a:r>
              <a:rPr lang="en-US" dirty="0"/>
              <a:t> (Idle → Processing → Dispensing Cash).</a:t>
            </a:r>
          </a:p>
          <a:p>
            <a:endParaRPr lang="en-US" dirty="0"/>
          </a:p>
          <a:p>
            <a:r>
              <a:rPr lang="en-US" b="1" dirty="0"/>
              <a:t>Strategy Pattern (Multiple Algorithms)</a:t>
            </a:r>
          </a:p>
          <a:p>
            <a:r>
              <a:rPr lang="en-US" dirty="0"/>
              <a:t>🔹 </a:t>
            </a:r>
            <a:r>
              <a:rPr lang="en-US" b="1" dirty="0"/>
              <a:t>Purpose:</a:t>
            </a:r>
            <a:r>
              <a:rPr lang="en-US" dirty="0"/>
              <a:t> Allows selecting an algorithm dynamically.</a:t>
            </a:r>
            <a:br>
              <a:rPr lang="en-US" dirty="0"/>
            </a:br>
            <a:r>
              <a:rPr lang="en-US" dirty="0"/>
              <a:t>🔹 </a:t>
            </a:r>
            <a:r>
              <a:rPr lang="en-US" b="1" dirty="0"/>
              <a:t>Real-World Example:</a:t>
            </a:r>
            <a:endParaRPr lang="en-US" dirty="0"/>
          </a:p>
          <a:p>
            <a:pPr>
              <a:buFont typeface="Arial" panose="020B0604020202020204" pitchFamily="34" charset="0"/>
              <a:buChar char="•"/>
            </a:pPr>
            <a:r>
              <a:rPr lang="en-US" b="1" dirty="0"/>
              <a:t>Navigation apps</a:t>
            </a:r>
            <a:r>
              <a:rPr lang="en-US" dirty="0"/>
              <a:t> (Choose between fastest, shortest, or scenic route).</a:t>
            </a:r>
          </a:p>
          <a:p>
            <a:pPr>
              <a:buFont typeface="Arial" panose="020B0604020202020204" pitchFamily="34" charset="0"/>
              <a:buChar char="•"/>
            </a:pPr>
            <a:r>
              <a:rPr lang="en-US" b="1" dirty="0"/>
              <a:t>Compression algorithms</a:t>
            </a:r>
            <a:r>
              <a:rPr lang="en-US" dirty="0"/>
              <a:t> (ZIP, RAR, 7z).</a:t>
            </a:r>
          </a:p>
          <a:p>
            <a:endParaRPr lang="en-US" dirty="0"/>
          </a:p>
          <a:p>
            <a:r>
              <a:rPr lang="en-US" b="1" dirty="0"/>
              <a:t>Template Method Pattern (Skeleton Algorithm)</a:t>
            </a:r>
          </a:p>
          <a:p>
            <a:r>
              <a:rPr lang="en-US" dirty="0"/>
              <a:t>🔹 </a:t>
            </a:r>
            <a:r>
              <a:rPr lang="en-US" b="1" dirty="0"/>
              <a:t>Purpose:</a:t>
            </a:r>
            <a:r>
              <a:rPr lang="en-US" dirty="0"/>
              <a:t> Defines a template for an algorithm and allows subclasses to fill in details.</a:t>
            </a:r>
            <a:br>
              <a:rPr lang="en-US" dirty="0"/>
            </a:br>
            <a:r>
              <a:rPr lang="en-US" dirty="0"/>
              <a:t>🔹 </a:t>
            </a:r>
            <a:r>
              <a:rPr lang="en-US" b="1" dirty="0"/>
              <a:t>Real-World Example:</a:t>
            </a:r>
            <a:endParaRPr lang="en-US" dirty="0"/>
          </a:p>
          <a:p>
            <a:pPr>
              <a:buFont typeface="Arial" panose="020B0604020202020204" pitchFamily="34" charset="0"/>
              <a:buChar char="•"/>
            </a:pPr>
            <a:r>
              <a:rPr lang="en-US" b="1" dirty="0"/>
              <a:t>Coffee Making Process</a:t>
            </a:r>
            <a:r>
              <a:rPr lang="en-US" dirty="0"/>
              <a:t> (Boil water → Brew Coffee → Pour in cup → Add sugar/milk).</a:t>
            </a:r>
          </a:p>
          <a:p>
            <a:endParaRPr lang="en-US" dirty="0"/>
          </a:p>
          <a:p>
            <a:r>
              <a:rPr lang="en-US" b="1" dirty="0"/>
              <a:t>Visitor Pattern (Adding New Operations)</a:t>
            </a:r>
          </a:p>
          <a:p>
            <a:r>
              <a:rPr lang="en-US" dirty="0"/>
              <a:t>🔹 </a:t>
            </a:r>
            <a:r>
              <a:rPr lang="en-US" b="1" dirty="0"/>
              <a:t>Purpose:</a:t>
            </a:r>
            <a:r>
              <a:rPr lang="en-US" dirty="0"/>
              <a:t> Adds new operations to objects without modifying them.</a:t>
            </a:r>
            <a:br>
              <a:rPr lang="en-US" dirty="0"/>
            </a:br>
            <a:r>
              <a:rPr lang="en-US" dirty="0"/>
              <a:t>🔹 </a:t>
            </a:r>
            <a:r>
              <a:rPr lang="en-US" b="1" dirty="0"/>
              <a:t>Real-World Example:</a:t>
            </a:r>
            <a:endParaRPr lang="en-US" dirty="0"/>
          </a:p>
          <a:p>
            <a:pPr>
              <a:buFont typeface="Arial" panose="020B0604020202020204" pitchFamily="34" charset="0"/>
              <a:buChar char="•"/>
            </a:pPr>
            <a:r>
              <a:rPr lang="en-US" b="1" dirty="0"/>
              <a:t>Tax calculation</a:t>
            </a:r>
            <a:r>
              <a:rPr lang="en-US" dirty="0"/>
              <a:t> for different product types.</a:t>
            </a:r>
          </a:p>
          <a:p>
            <a:pPr>
              <a:buFont typeface="Arial" panose="020B0604020202020204" pitchFamily="34" charset="0"/>
              <a:buChar char="•"/>
            </a:pPr>
            <a:r>
              <a:rPr lang="en-US" b="1" dirty="0"/>
              <a:t>Insurance premium calculation</a:t>
            </a:r>
            <a:r>
              <a:rPr lang="en-US" dirty="0"/>
              <a:t> based on user type.</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37</a:t>
            </a:fld>
            <a:endParaRPr lang="en-US"/>
          </a:p>
        </p:txBody>
      </p:sp>
    </p:spTree>
    <p:extLst>
      <p:ext uri="{BB962C8B-B14F-4D97-AF65-F5344CB8AC3E}">
        <p14:creationId xmlns:p14="http://schemas.microsoft.com/office/powerpoint/2010/main" val="3518966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Bugs and errors:</a:t>
            </a:r>
          </a:p>
          <a:p>
            <a:r>
              <a:rPr lang="en-US" dirty="0"/>
              <a:t>Instead of reducing the price by 20%, the discount only subtracts 0.2, leading to incorrect </a:t>
            </a:r>
            <a:r>
              <a:rPr lang="en-US" dirty="0" err="1"/>
              <a:t>billing.Customers</a:t>
            </a:r>
            <a:r>
              <a:rPr lang="en-US" dirty="0"/>
              <a:t> may overpay, causing complaints and refund </a:t>
            </a:r>
            <a:r>
              <a:rPr lang="en-US" dirty="0" err="1"/>
              <a:t>requests.The</a:t>
            </a:r>
            <a:r>
              <a:rPr lang="en-US" dirty="0"/>
              <a:t> company could face legal issues for charging incorrect amounts</a:t>
            </a:r>
          </a:p>
          <a:p>
            <a:endParaRPr lang="en-US" dirty="0"/>
          </a:p>
          <a:p>
            <a:r>
              <a:rPr lang="en-US" dirty="0"/>
              <a:t>A graphics design software relies on an old version of DirectX, but the new operating system updates have removed support for that version.</a:t>
            </a:r>
          </a:p>
          <a:p>
            <a:r>
              <a:rPr lang="en-US" b="1" dirty="0"/>
              <a:t>Impact:</a:t>
            </a:r>
            <a:endParaRPr lang="en-US" dirty="0"/>
          </a:p>
          <a:p>
            <a:pPr>
              <a:buFont typeface="Arial" panose="020B0604020202020204" pitchFamily="34" charset="0"/>
              <a:buChar char="•"/>
            </a:pPr>
            <a:r>
              <a:rPr lang="en-US" dirty="0"/>
              <a:t>The application crashes on startup.</a:t>
            </a:r>
          </a:p>
          <a:p>
            <a:pPr>
              <a:buFont typeface="Arial" panose="020B0604020202020204" pitchFamily="34" charset="0"/>
              <a:buChar char="•"/>
            </a:pPr>
            <a:r>
              <a:rPr lang="en-US" dirty="0"/>
              <a:t>Users are forced to downgrade their OS or wait for an update.</a:t>
            </a:r>
          </a:p>
          <a:p>
            <a:pPr>
              <a:buFont typeface="Arial" panose="020B0604020202020204" pitchFamily="34" charset="0"/>
              <a:buChar char="•"/>
            </a:pPr>
            <a:r>
              <a:rPr lang="en-US" dirty="0"/>
              <a:t>The company needs to release a patch to fix compatibility.</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39</a:t>
            </a:fld>
            <a:endParaRPr lang="en-US"/>
          </a:p>
        </p:txBody>
      </p:sp>
    </p:spTree>
    <p:extLst>
      <p:ext uri="{BB962C8B-B14F-4D97-AF65-F5344CB8AC3E}">
        <p14:creationId xmlns:p14="http://schemas.microsoft.com/office/powerpoint/2010/main" val="1769898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issues :</a:t>
            </a:r>
          </a:p>
          <a:p>
            <a:r>
              <a:rPr lang="en-US" dirty="0"/>
              <a:t>A web application has a login form that does not properly sanitize user input, making it vulnerable to </a:t>
            </a:r>
            <a:r>
              <a:rPr lang="en-US" b="1" dirty="0"/>
              <a:t>SQL Injection</a:t>
            </a:r>
            <a:r>
              <a:rPr lang="en-US" dirty="0"/>
              <a:t>.</a:t>
            </a:r>
          </a:p>
          <a:p>
            <a:r>
              <a:rPr lang="en-US" dirty="0" err="1"/>
              <a:t>sql</a:t>
            </a:r>
            <a:endParaRPr lang="en-US" dirty="0"/>
          </a:p>
          <a:p>
            <a:r>
              <a:rPr lang="en-US" dirty="0" err="1"/>
              <a:t>CopyEdit</a:t>
            </a:r>
            <a:endParaRPr lang="en-US" dirty="0"/>
          </a:p>
          <a:p>
            <a:pPr rtl="0"/>
            <a:r>
              <a:rPr lang="en-US" dirty="0"/>
              <a:t>SELECT * FROM users WHERE username = '" + </a:t>
            </a:r>
            <a:r>
              <a:rPr lang="en-US" dirty="0" err="1"/>
              <a:t>user_input</a:t>
            </a:r>
            <a:r>
              <a:rPr lang="en-US" dirty="0"/>
              <a:t> + "' AND password = '" + password + "';" </a:t>
            </a:r>
          </a:p>
          <a:p>
            <a:r>
              <a:rPr lang="en-US" b="1" dirty="0"/>
              <a:t>Issue:</a:t>
            </a:r>
          </a:p>
          <a:p>
            <a:r>
              <a:rPr lang="en-US" dirty="0"/>
              <a:t>If an attacker enters the following in the username field:</a:t>
            </a:r>
          </a:p>
          <a:p>
            <a:r>
              <a:rPr lang="en-US" dirty="0" err="1"/>
              <a:t>sql</a:t>
            </a:r>
            <a:endParaRPr lang="en-US" dirty="0"/>
          </a:p>
          <a:p>
            <a:r>
              <a:rPr lang="en-US" dirty="0" err="1"/>
              <a:t>CopyEdit</a:t>
            </a:r>
            <a:endParaRPr lang="en-US" dirty="0"/>
          </a:p>
          <a:p>
            <a:pPr rtl="0"/>
            <a:r>
              <a:rPr lang="en-US" dirty="0"/>
              <a:t>' OR '1'='1 </a:t>
            </a:r>
          </a:p>
          <a:p>
            <a:r>
              <a:rPr lang="en-US" dirty="0"/>
              <a:t>The SQL query becomes:</a:t>
            </a:r>
          </a:p>
          <a:p>
            <a:r>
              <a:rPr lang="en-US" dirty="0" err="1"/>
              <a:t>sql</a:t>
            </a:r>
            <a:endParaRPr lang="en-US" dirty="0"/>
          </a:p>
          <a:p>
            <a:r>
              <a:rPr lang="en-US" dirty="0" err="1"/>
              <a:t>CopyEdit</a:t>
            </a:r>
            <a:endParaRPr lang="en-US" dirty="0"/>
          </a:p>
          <a:p>
            <a:pPr rtl="0"/>
            <a:r>
              <a:rPr lang="en-US" dirty="0"/>
              <a:t>SELECT * FROM users WHERE username = '' OR '1'='1' AND password = 'password'; </a:t>
            </a:r>
          </a:p>
          <a:p>
            <a:r>
              <a:rPr lang="en-US" dirty="0"/>
              <a:t>Since '1'='1' is always </a:t>
            </a:r>
            <a:r>
              <a:rPr lang="en-US" b="1" dirty="0"/>
              <a:t>true</a:t>
            </a:r>
            <a:r>
              <a:rPr lang="en-US" dirty="0"/>
              <a:t>, the attacker gains unauthorized access.</a:t>
            </a:r>
          </a:p>
          <a:p>
            <a:r>
              <a:rPr lang="en-US" b="1" dirty="0"/>
              <a:t>Impact:</a:t>
            </a:r>
          </a:p>
          <a:p>
            <a:pPr>
              <a:buFont typeface="Arial" panose="020B0604020202020204" pitchFamily="34" charset="0"/>
              <a:buChar char="•"/>
            </a:pPr>
            <a:r>
              <a:rPr lang="en-US" dirty="0"/>
              <a:t>Hackers can bypass authentication and access sensitive user data.</a:t>
            </a:r>
          </a:p>
          <a:p>
            <a:pPr>
              <a:buFont typeface="Arial" panose="020B0604020202020204" pitchFamily="34" charset="0"/>
              <a:buChar char="•"/>
            </a:pPr>
            <a:r>
              <a:rPr lang="en-US" dirty="0"/>
              <a:t>The database may be compromised, leading to data breaches.</a:t>
            </a:r>
          </a:p>
          <a:p>
            <a:r>
              <a:rPr lang="en-US" b="1" dirty="0"/>
              <a:t>Solution:</a:t>
            </a:r>
          </a:p>
          <a:p>
            <a:r>
              <a:rPr lang="en-US" dirty="0"/>
              <a:t>Use </a:t>
            </a:r>
            <a:r>
              <a:rPr lang="en-US" b="1" dirty="0"/>
              <a:t>prepared statements</a:t>
            </a:r>
            <a:r>
              <a:rPr lang="en-US" dirty="0"/>
              <a:t> or </a:t>
            </a:r>
            <a:r>
              <a:rPr lang="en-US" b="1" dirty="0"/>
              <a:t>parameterized queries</a:t>
            </a:r>
            <a:r>
              <a:rPr lang="en-US" dirty="0"/>
              <a:t>:</a:t>
            </a:r>
          </a:p>
          <a:p>
            <a:pPr rtl="0"/>
            <a:r>
              <a:rPr lang="en-US" dirty="0" err="1"/>
              <a:t>cursor.execute</a:t>
            </a:r>
            <a:r>
              <a:rPr lang="en-US" dirty="0"/>
              <a:t>("SELECT * FROM users WHERE username = ? AND password = ?", (</a:t>
            </a:r>
            <a:r>
              <a:rPr lang="en-US" dirty="0" err="1"/>
              <a:t>user_input</a:t>
            </a:r>
            <a:r>
              <a:rPr lang="en-US" dirty="0"/>
              <a:t>, password)) </a:t>
            </a:r>
          </a:p>
          <a:p>
            <a:pPr rtl="0"/>
            <a:endParaRPr lang="en-US" dirty="0"/>
          </a:p>
          <a:p>
            <a:r>
              <a:rPr lang="en-US" b="1" dirty="0"/>
              <a:t>2. Performance Issues Example</a:t>
            </a:r>
          </a:p>
          <a:p>
            <a:r>
              <a:rPr lang="en-US" b="1" dirty="0"/>
              <a:t>Example Scenario:</a:t>
            </a:r>
          </a:p>
          <a:p>
            <a:r>
              <a:rPr lang="en-US" dirty="0"/>
              <a:t>A social media platform loads all user posts at once when a user logs in.</a:t>
            </a:r>
          </a:p>
          <a:p>
            <a:r>
              <a:rPr lang="en-US" dirty="0"/>
              <a:t>python</a:t>
            </a:r>
          </a:p>
          <a:p>
            <a:r>
              <a:rPr lang="en-US" dirty="0" err="1"/>
              <a:t>CopyEdit</a:t>
            </a:r>
            <a:endParaRPr lang="en-US" dirty="0"/>
          </a:p>
          <a:p>
            <a:pPr rtl="0"/>
            <a:r>
              <a:rPr lang="en-US" dirty="0"/>
              <a:t>posts = </a:t>
            </a:r>
            <a:r>
              <a:rPr lang="en-US" dirty="0" err="1"/>
              <a:t>db.get_all_posts</a:t>
            </a:r>
            <a:r>
              <a:rPr lang="en-US" dirty="0"/>
              <a:t>(</a:t>
            </a:r>
            <a:r>
              <a:rPr lang="en-US" dirty="0" err="1"/>
              <a:t>user_id</a:t>
            </a:r>
            <a:r>
              <a:rPr lang="en-US" dirty="0"/>
              <a:t>) # Fetches all posts at once </a:t>
            </a:r>
          </a:p>
          <a:p>
            <a:r>
              <a:rPr lang="en-US" b="1" dirty="0"/>
              <a:t>Issue:</a:t>
            </a:r>
          </a:p>
          <a:p>
            <a:r>
              <a:rPr lang="en-US" dirty="0"/>
              <a:t>If a user has thousands of posts, this leads to </a:t>
            </a:r>
            <a:r>
              <a:rPr lang="en-US" b="1" dirty="0"/>
              <a:t>slow loading times</a:t>
            </a:r>
            <a:r>
              <a:rPr lang="en-US" dirty="0"/>
              <a:t> and </a:t>
            </a:r>
            <a:r>
              <a:rPr lang="en-US" b="1" dirty="0"/>
              <a:t>high memory usage</a:t>
            </a:r>
            <a:r>
              <a:rPr lang="en-US" dirty="0"/>
              <a:t>.</a:t>
            </a:r>
          </a:p>
          <a:p>
            <a:r>
              <a:rPr lang="en-US" b="1" dirty="0"/>
              <a:t>Impact:</a:t>
            </a:r>
          </a:p>
          <a:p>
            <a:pPr>
              <a:buFont typeface="Arial" panose="020B0604020202020204" pitchFamily="34" charset="0"/>
              <a:buChar char="•"/>
            </a:pPr>
            <a:r>
              <a:rPr lang="en-US" dirty="0"/>
              <a:t>The app becomes unresponsive.</a:t>
            </a:r>
          </a:p>
          <a:p>
            <a:pPr>
              <a:buFont typeface="Arial" panose="020B0604020202020204" pitchFamily="34" charset="0"/>
              <a:buChar char="•"/>
            </a:pPr>
            <a:r>
              <a:rPr lang="en-US" dirty="0"/>
              <a:t>High server load increases infrastructure costs.</a:t>
            </a:r>
          </a:p>
          <a:p>
            <a:pPr>
              <a:buFont typeface="Arial" panose="020B0604020202020204" pitchFamily="34" charset="0"/>
              <a:buChar char="•"/>
            </a:pPr>
            <a:r>
              <a:rPr lang="en-US" dirty="0"/>
              <a:t>Users may leave due to slow performance.</a:t>
            </a:r>
          </a:p>
          <a:p>
            <a:r>
              <a:rPr lang="en-US" b="1" dirty="0"/>
              <a:t>Solution:</a:t>
            </a:r>
          </a:p>
          <a:p>
            <a:r>
              <a:rPr lang="en-US" dirty="0"/>
              <a:t>Implement </a:t>
            </a:r>
            <a:r>
              <a:rPr lang="en-US" b="1" dirty="0"/>
              <a:t>pagination</a:t>
            </a:r>
            <a:r>
              <a:rPr lang="en-US" dirty="0"/>
              <a:t> to load only a few posts at a time:</a:t>
            </a:r>
          </a:p>
          <a:p>
            <a:r>
              <a:rPr lang="en-US" dirty="0"/>
              <a:t>python</a:t>
            </a:r>
          </a:p>
          <a:p>
            <a:r>
              <a:rPr lang="en-US" dirty="0" err="1"/>
              <a:t>CopyEdit</a:t>
            </a:r>
            <a:endParaRPr lang="en-US" dirty="0"/>
          </a:p>
          <a:p>
            <a:pPr rtl="0"/>
            <a:r>
              <a:rPr lang="en-US" dirty="0"/>
              <a:t>posts = </a:t>
            </a:r>
            <a:r>
              <a:rPr lang="en-US" dirty="0" err="1"/>
              <a:t>db.get_posts</a:t>
            </a:r>
            <a:r>
              <a:rPr lang="en-US" dirty="0"/>
              <a:t>(</a:t>
            </a:r>
            <a:r>
              <a:rPr lang="en-US" dirty="0" err="1"/>
              <a:t>user_id</a:t>
            </a:r>
            <a:r>
              <a:rPr lang="en-US" dirty="0"/>
              <a:t>, limit=10, offset=0) # Loads only 10 posts at a time</a:t>
            </a:r>
          </a:p>
          <a:p>
            <a:r>
              <a:rPr lang="en-US" dirty="0"/>
              <a:t> </a:t>
            </a:r>
          </a:p>
          <a:p>
            <a:r>
              <a:rPr lang="en-US" b="1" dirty="0"/>
              <a:t>Maintainability issues:</a:t>
            </a:r>
          </a:p>
          <a:p>
            <a:r>
              <a:rPr lang="en-US" dirty="0"/>
              <a:t>If monolithic architecture then,</a:t>
            </a:r>
          </a:p>
          <a:p>
            <a:r>
              <a:rPr lang="en-US" dirty="0"/>
              <a:t>Hard to </a:t>
            </a:r>
            <a:r>
              <a:rPr lang="en-US" b="1" dirty="0"/>
              <a:t>test individual components</a:t>
            </a:r>
            <a:r>
              <a:rPr lang="en-US" dirty="0"/>
              <a:t> </a:t>
            </a:r>
            <a:r>
              <a:rPr lang="en-US" dirty="0" err="1"/>
              <a:t>separately.Difficult</a:t>
            </a:r>
            <a:r>
              <a:rPr lang="en-US" dirty="0"/>
              <a:t> to </a:t>
            </a:r>
            <a:r>
              <a:rPr lang="en-US" b="1" dirty="0"/>
              <a:t>add new features</a:t>
            </a:r>
            <a:r>
              <a:rPr lang="en-US" dirty="0"/>
              <a:t> (e.g., new discount rules or multiple payment options).Increased </a:t>
            </a:r>
            <a:r>
              <a:rPr lang="en-US" b="1" dirty="0"/>
              <a:t>risk of bugs</a:t>
            </a:r>
            <a:r>
              <a:rPr lang="en-US" dirty="0"/>
              <a:t> when modifying existing logic.</a:t>
            </a:r>
          </a:p>
        </p:txBody>
      </p:sp>
      <p:sp>
        <p:nvSpPr>
          <p:cNvPr id="4" name="Slide Number Placeholder 3"/>
          <p:cNvSpPr>
            <a:spLocks noGrp="1"/>
          </p:cNvSpPr>
          <p:nvPr>
            <p:ph type="sldNum" sz="quarter" idx="5"/>
          </p:nvPr>
        </p:nvSpPr>
        <p:spPr/>
        <p:txBody>
          <a:bodyPr/>
          <a:lstStyle/>
          <a:p>
            <a:fld id="{E02754E6-00EA-4FAF-9852-1DAADD6512EE}" type="slidenum">
              <a:rPr lang="en-US" smtClean="0"/>
              <a:t>40</a:t>
            </a:fld>
            <a:endParaRPr lang="en-US"/>
          </a:p>
        </p:txBody>
      </p:sp>
    </p:spTree>
    <p:extLst>
      <p:ext uri="{BB962C8B-B14F-4D97-AF65-F5344CB8AC3E}">
        <p14:creationId xmlns:p14="http://schemas.microsoft.com/office/powerpoint/2010/main" val="372125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Abstraction Level</a:t>
            </a:r>
            <a:r>
              <a:rPr lang="en-US" dirty="0"/>
              <a:t> (Conceptual Reuse)</a:t>
            </a:r>
          </a:p>
          <a:p>
            <a:pPr>
              <a:buFont typeface="Arial" panose="020B0604020202020204" pitchFamily="34" charset="0"/>
              <a:buChar char="•"/>
            </a:pPr>
            <a:r>
              <a:rPr lang="en-US" dirty="0"/>
              <a:t>Example: A </a:t>
            </a:r>
            <a:r>
              <a:rPr lang="en-US" b="1" dirty="0"/>
              <a:t>sorting algorithm</a:t>
            </a:r>
            <a:r>
              <a:rPr lang="en-US" dirty="0"/>
              <a:t> like Quicksort is reused across different programming languages and projects without re-implementing the logic from scratch.</a:t>
            </a:r>
          </a:p>
          <a:p>
            <a:pPr>
              <a:buFont typeface="Arial" panose="020B0604020202020204" pitchFamily="34" charset="0"/>
              <a:buChar char="•"/>
            </a:pPr>
            <a:r>
              <a:rPr lang="en-US" dirty="0"/>
              <a:t>Explanation: The idea (algorithm) remains the same, but it can be implemented in different ways (e.g., C++, Java, Python).</a:t>
            </a:r>
          </a:p>
          <a:p>
            <a:r>
              <a:rPr lang="en-US" b="1" dirty="0"/>
              <a:t>Object Level</a:t>
            </a:r>
            <a:r>
              <a:rPr lang="en-US" dirty="0"/>
              <a:t> (Code Reuse through Objects/Classes)</a:t>
            </a:r>
          </a:p>
          <a:p>
            <a:pPr>
              <a:buFont typeface="Arial" panose="020B0604020202020204" pitchFamily="34" charset="0"/>
              <a:buChar char="•"/>
            </a:pPr>
            <a:r>
              <a:rPr lang="en-US" dirty="0"/>
              <a:t>Example: A </a:t>
            </a:r>
            <a:r>
              <a:rPr lang="en-US" b="1" dirty="0"/>
              <a:t>"Car" class</a:t>
            </a:r>
            <a:r>
              <a:rPr lang="en-US" dirty="0"/>
              <a:t> in an object-oriented program can be reused to create multiple car objects with different attributes (e.g., brand, color).</a:t>
            </a:r>
          </a:p>
          <a:p>
            <a:pPr>
              <a:buFont typeface="Arial" panose="020B0604020202020204" pitchFamily="34" charset="0"/>
              <a:buChar char="•"/>
            </a:pPr>
            <a:r>
              <a:rPr lang="en-US" dirty="0"/>
              <a:t>Explanation: The class defines properties and methods once, and multiple objects can be instantiated from it.</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41</a:t>
            </a:fld>
            <a:endParaRPr lang="en-US"/>
          </a:p>
        </p:txBody>
      </p:sp>
    </p:spTree>
    <p:extLst>
      <p:ext uri="{BB962C8B-B14F-4D97-AF65-F5344CB8AC3E}">
        <p14:creationId xmlns:p14="http://schemas.microsoft.com/office/powerpoint/2010/main" val="1207013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Component Level</a:t>
            </a:r>
            <a:r>
              <a:rPr lang="en-US" dirty="0"/>
              <a:t> (Reusable Modules or Libraries)</a:t>
            </a:r>
          </a:p>
          <a:p>
            <a:pPr>
              <a:buFont typeface="Arial" panose="020B0604020202020204" pitchFamily="34" charset="0"/>
              <a:buChar char="•"/>
            </a:pPr>
            <a:r>
              <a:rPr lang="en-US" dirty="0"/>
              <a:t>Example: A </a:t>
            </a:r>
            <a:r>
              <a:rPr lang="en-US" b="1" dirty="0"/>
              <a:t>payment gateway module</a:t>
            </a:r>
            <a:r>
              <a:rPr lang="en-US" dirty="0"/>
              <a:t> (e.g., PayPal SDK, Stripe API) can be integrated into different e-commerce platforms without modifying its internal code.</a:t>
            </a:r>
          </a:p>
          <a:p>
            <a:pPr>
              <a:buFont typeface="Arial" panose="020B0604020202020204" pitchFamily="34" charset="0"/>
              <a:buChar char="•"/>
            </a:pPr>
            <a:r>
              <a:rPr lang="en-US" dirty="0"/>
              <a:t>Explanation: The component provides a predefined interface, allowing multiple applications to reuse it.</a:t>
            </a:r>
          </a:p>
          <a:p>
            <a:r>
              <a:rPr lang="en-US" b="1" dirty="0"/>
              <a:t>System Level</a:t>
            </a:r>
            <a:r>
              <a:rPr lang="en-US" dirty="0"/>
              <a:t> (Reuse of Entire Systems or Services)</a:t>
            </a:r>
          </a:p>
          <a:p>
            <a:pPr>
              <a:buFont typeface="Arial" panose="020B0604020202020204" pitchFamily="34" charset="0"/>
              <a:buChar char="•"/>
            </a:pPr>
            <a:r>
              <a:rPr lang="en-US" dirty="0"/>
              <a:t>Example: A </a:t>
            </a:r>
            <a:r>
              <a:rPr lang="en-US" b="1" dirty="0"/>
              <a:t>CRM system</a:t>
            </a:r>
            <a:r>
              <a:rPr lang="en-US" dirty="0"/>
              <a:t> (e.g., Salesforce) can be reused across multiple businesses with minor customizations.</a:t>
            </a:r>
          </a:p>
          <a:p>
            <a:pPr>
              <a:buFont typeface="Arial" panose="020B0604020202020204" pitchFamily="34" charset="0"/>
              <a:buChar char="•"/>
            </a:pPr>
            <a:r>
              <a:rPr lang="en-US" dirty="0"/>
              <a:t>Explanation: The entire system functions as a reusable unit for different organizations, reducing the need for developing similar functionality from scratch.</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42</a:t>
            </a:fld>
            <a:endParaRPr lang="en-US"/>
          </a:p>
        </p:txBody>
      </p:sp>
    </p:spTree>
    <p:extLst>
      <p:ext uri="{BB962C8B-B14F-4D97-AF65-F5344CB8AC3E}">
        <p14:creationId xmlns:p14="http://schemas.microsoft.com/office/powerpoint/2010/main" val="90355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COTS stands for </a:t>
            </a:r>
            <a:r>
              <a:rPr lang="en-US" b="1" dirty="0"/>
              <a:t>Commercial Off-The-Shelf</a:t>
            </a:r>
            <a:r>
              <a:rPr lang="en-US" dirty="0"/>
              <a:t>.</a:t>
            </a:r>
          </a:p>
          <a:p>
            <a:r>
              <a:rPr lang="en-US" dirty="0"/>
              <a:t>It refers to ready-made software or hardware products that are available for purchase and use without modification, rather than being custom-built for a specific user or organization. Examples include Microsoft Office, Adobe Photoshop, and enterprise software like SAP.</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43</a:t>
            </a:fld>
            <a:endParaRPr lang="en-US"/>
          </a:p>
        </p:txBody>
      </p:sp>
    </p:spTree>
    <p:extLst>
      <p:ext uri="{BB962C8B-B14F-4D97-AF65-F5344CB8AC3E}">
        <p14:creationId xmlns:p14="http://schemas.microsoft.com/office/powerpoint/2010/main" val="4151319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SVN (Apache Subversion)</a:t>
            </a:r>
          </a:p>
          <a:p>
            <a:r>
              <a:rPr lang="en-US" b="1" dirty="0"/>
              <a:t>SVN (Subversion)</a:t>
            </a:r>
            <a:r>
              <a:rPr lang="en-US" dirty="0"/>
              <a:t> is a </a:t>
            </a:r>
            <a:r>
              <a:rPr lang="en-US" b="1" dirty="0"/>
              <a:t>version control system (VCS)</a:t>
            </a:r>
            <a:r>
              <a:rPr lang="en-US" dirty="0"/>
              <a:t> that helps track changes in files and code over time.</a:t>
            </a:r>
          </a:p>
          <a:p>
            <a:endParaRPr lang="en-US" dirty="0"/>
          </a:p>
          <a:p>
            <a:r>
              <a:rPr lang="en-US" b="1" dirty="0"/>
              <a:t>Jenkins</a:t>
            </a:r>
            <a:r>
              <a:rPr lang="en-US" dirty="0"/>
              <a:t> is a </a:t>
            </a:r>
            <a:r>
              <a:rPr lang="en-US" b="1" dirty="0"/>
              <a:t>Continuous Integration/Continuous Deployment (CI/CD) tool</a:t>
            </a:r>
            <a:r>
              <a:rPr lang="en-US" dirty="0"/>
              <a:t> that automates software development processes like building, testing, and deploying applications.</a:t>
            </a:r>
          </a:p>
        </p:txBody>
      </p:sp>
      <p:sp>
        <p:nvSpPr>
          <p:cNvPr id="4" name="Slide Number Placeholder 3"/>
          <p:cNvSpPr>
            <a:spLocks noGrp="1"/>
          </p:cNvSpPr>
          <p:nvPr>
            <p:ph type="sldNum" sz="quarter" idx="5"/>
          </p:nvPr>
        </p:nvSpPr>
        <p:spPr/>
        <p:txBody>
          <a:bodyPr/>
          <a:lstStyle/>
          <a:p>
            <a:fld id="{E02754E6-00EA-4FAF-9852-1DAADD6512EE}" type="slidenum">
              <a:rPr lang="en-US" smtClean="0"/>
              <a:t>44</a:t>
            </a:fld>
            <a:endParaRPr lang="en-US"/>
          </a:p>
        </p:txBody>
      </p:sp>
    </p:spTree>
    <p:extLst>
      <p:ext uri="{BB962C8B-B14F-4D97-AF65-F5344CB8AC3E}">
        <p14:creationId xmlns:p14="http://schemas.microsoft.com/office/powerpoint/2010/main" val="42870126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Mobile App Development:</a:t>
            </a:r>
            <a:endParaRPr lang="en-US" dirty="0"/>
          </a:p>
          <a:p>
            <a:pPr>
              <a:buFont typeface="Arial" panose="020B0604020202020204" pitchFamily="34" charset="0"/>
              <a:buChar char="•"/>
            </a:pPr>
            <a:r>
              <a:rPr lang="en-US" dirty="0"/>
              <a:t>Developing and testing Android apps using </a:t>
            </a:r>
            <a:r>
              <a:rPr lang="en-US" b="1" dirty="0"/>
              <a:t>Android Studio</a:t>
            </a:r>
            <a:r>
              <a:rPr lang="en-US" dirty="0"/>
              <a:t> on a PC but running them on an </a:t>
            </a:r>
            <a:r>
              <a:rPr lang="en-US" b="1" dirty="0"/>
              <a:t>Android phone</a:t>
            </a:r>
            <a:r>
              <a:rPr lang="en-US" dirty="0"/>
              <a:t>.</a:t>
            </a:r>
          </a:p>
          <a:p>
            <a:r>
              <a:rPr lang="en-US" dirty="0"/>
              <a:t>✅ </a:t>
            </a:r>
            <a:r>
              <a:rPr lang="en-US" b="1" dirty="0"/>
              <a:t>Game Development:</a:t>
            </a:r>
            <a:endParaRPr lang="en-US" dirty="0"/>
          </a:p>
          <a:p>
            <a:pPr>
              <a:buFont typeface="Arial" panose="020B0604020202020204" pitchFamily="34" charset="0"/>
              <a:buChar char="•"/>
            </a:pPr>
            <a:r>
              <a:rPr lang="en-US" dirty="0"/>
              <a:t>Creating games using </a:t>
            </a:r>
            <a:r>
              <a:rPr lang="en-US" b="1" dirty="0"/>
              <a:t>Unity or Unreal Engine</a:t>
            </a:r>
            <a:r>
              <a:rPr lang="en-US" dirty="0"/>
              <a:t> on a PC and deploying them to a </a:t>
            </a:r>
            <a:r>
              <a:rPr lang="en-US" b="1" dirty="0"/>
              <a:t>PlayStation, Xbox, or Nintendo Switch</a:t>
            </a:r>
            <a:r>
              <a:rPr lang="en-US" dirty="0"/>
              <a:t>.</a:t>
            </a:r>
          </a:p>
          <a:p>
            <a:r>
              <a:rPr lang="en-US" dirty="0"/>
              <a:t>✅ </a:t>
            </a:r>
            <a:r>
              <a:rPr lang="en-US" b="1" dirty="0"/>
              <a:t>Cloud &amp; Server Development:</a:t>
            </a:r>
            <a:endParaRPr lang="en-US" dirty="0"/>
          </a:p>
          <a:p>
            <a:pPr>
              <a:buFont typeface="Arial" panose="020B0604020202020204" pitchFamily="34" charset="0"/>
              <a:buChar char="•"/>
            </a:pPr>
            <a:r>
              <a:rPr lang="en-US" dirty="0"/>
              <a:t>Writing code on a Windows or Mac machine but deploying it to a </a:t>
            </a:r>
            <a:r>
              <a:rPr lang="en-US" b="1" dirty="0"/>
              <a:t>Linux-based cloud server</a:t>
            </a:r>
            <a:r>
              <a:rPr lang="en-US" dirty="0"/>
              <a:t>.</a:t>
            </a:r>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46</a:t>
            </a:fld>
            <a:endParaRPr lang="en-US"/>
          </a:p>
        </p:txBody>
      </p:sp>
    </p:spTree>
    <p:extLst>
      <p:ext uri="{BB962C8B-B14F-4D97-AF65-F5344CB8AC3E}">
        <p14:creationId xmlns:p14="http://schemas.microsoft.com/office/powerpoint/2010/main" val="2464709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4-Clause BSD (Original BSD License)</a:t>
            </a:r>
          </a:p>
          <a:p>
            <a:r>
              <a:rPr lang="en-US" dirty="0"/>
              <a:t>✅ </a:t>
            </a:r>
            <a:r>
              <a:rPr lang="en-US" b="1" dirty="0"/>
              <a:t>Attribution Clause</a:t>
            </a:r>
            <a:r>
              <a:rPr lang="en-US" dirty="0"/>
              <a:t> → Credit the original author in source and documentation.</a:t>
            </a:r>
            <a:br>
              <a:rPr lang="en-US" dirty="0"/>
            </a:br>
            <a:r>
              <a:rPr lang="en-US" dirty="0"/>
              <a:t>✅ </a:t>
            </a:r>
            <a:r>
              <a:rPr lang="en-US" b="1" dirty="0"/>
              <a:t>Redistribution Clause</a:t>
            </a:r>
            <a:r>
              <a:rPr lang="en-US" dirty="0"/>
              <a:t> → You can redistribute, but must include the original license.</a:t>
            </a:r>
            <a:br>
              <a:rPr lang="en-US" dirty="0"/>
            </a:br>
            <a:r>
              <a:rPr lang="en-US" dirty="0"/>
              <a:t>✅ </a:t>
            </a:r>
            <a:r>
              <a:rPr lang="en-US" b="1" dirty="0"/>
              <a:t>No Endorsement Clause</a:t>
            </a:r>
            <a:r>
              <a:rPr lang="en-US" dirty="0"/>
              <a:t> → You cannot use the author's name for promotion without permission.</a:t>
            </a:r>
            <a:br>
              <a:rPr lang="en-US" dirty="0"/>
            </a:br>
            <a:r>
              <a:rPr lang="en-US" dirty="0"/>
              <a:t>❌ </a:t>
            </a:r>
            <a:r>
              <a:rPr lang="en-US" b="1" dirty="0"/>
              <a:t>Advertising Clause</a:t>
            </a:r>
            <a:r>
              <a:rPr lang="en-US" dirty="0"/>
              <a:t> → Any advertising mentioning the software must give credit. </a:t>
            </a:r>
            <a:r>
              <a:rPr lang="en-US" i="1" dirty="0"/>
              <a:t>(Removed in later versions due to inconvenience.)</a:t>
            </a:r>
            <a:endParaRPr lang="en-US" dirty="0"/>
          </a:p>
          <a:p>
            <a:endParaRPr lang="en-US" dirty="0"/>
          </a:p>
          <a:p>
            <a:r>
              <a:rPr lang="en-US" b="1" dirty="0"/>
              <a:t>3-Clause BSD (Modified BSD License - Most Common)</a:t>
            </a:r>
          </a:p>
          <a:p>
            <a:r>
              <a:rPr lang="en-US" dirty="0"/>
              <a:t>✅ </a:t>
            </a:r>
            <a:r>
              <a:rPr lang="en-US" b="1" dirty="0"/>
              <a:t>Attribution Clause</a:t>
            </a:r>
            <a:br>
              <a:rPr lang="en-US" dirty="0"/>
            </a:br>
            <a:r>
              <a:rPr lang="en-US" dirty="0"/>
              <a:t>✅ </a:t>
            </a:r>
            <a:r>
              <a:rPr lang="en-US" b="1" dirty="0"/>
              <a:t>Redistribution Clause</a:t>
            </a:r>
            <a:br>
              <a:rPr lang="en-US" dirty="0"/>
            </a:br>
            <a:r>
              <a:rPr lang="en-US" dirty="0"/>
              <a:t>✅ </a:t>
            </a:r>
            <a:r>
              <a:rPr lang="en-US" b="1" dirty="0"/>
              <a:t>No Endorsement Clause</a:t>
            </a:r>
            <a:br>
              <a:rPr lang="en-US" dirty="0"/>
            </a:br>
            <a:r>
              <a:rPr lang="en-US" dirty="0"/>
              <a:t>❌ </a:t>
            </a:r>
            <a:r>
              <a:rPr lang="en-US" b="1" dirty="0"/>
              <a:t>Advertising Clause</a:t>
            </a:r>
            <a:r>
              <a:rPr lang="en-US" dirty="0"/>
              <a:t> </a:t>
            </a:r>
            <a:r>
              <a:rPr lang="en-US" i="1" dirty="0"/>
              <a:t>(Removed for easier commercial use.)</a:t>
            </a:r>
            <a:endParaRPr lang="en-US" dirty="0"/>
          </a:p>
          <a:p>
            <a:endParaRPr lang="en-US" dirty="0"/>
          </a:p>
          <a:p>
            <a:r>
              <a:rPr lang="en-US" b="1" dirty="0"/>
              <a:t>2-Clause BSD (Simplified BSD License - FreeBSD License)</a:t>
            </a:r>
          </a:p>
          <a:p>
            <a:r>
              <a:rPr lang="en-US"/>
              <a:t>✅ </a:t>
            </a:r>
            <a:r>
              <a:rPr lang="en-US" b="1"/>
              <a:t>Attribution Clause</a:t>
            </a:r>
            <a:br>
              <a:rPr lang="en-US"/>
            </a:br>
            <a:r>
              <a:rPr lang="en-US"/>
              <a:t>✅ </a:t>
            </a:r>
            <a:r>
              <a:rPr lang="en-US" b="1"/>
              <a:t>Redistribution Clause</a:t>
            </a:r>
            <a:br>
              <a:rPr lang="en-US"/>
            </a:br>
            <a:r>
              <a:rPr lang="en-US"/>
              <a:t>❌ </a:t>
            </a:r>
            <a:r>
              <a:rPr lang="en-US" b="1"/>
              <a:t>No Endorsement Clause</a:t>
            </a:r>
            <a:r>
              <a:rPr lang="en-US"/>
              <a:t> </a:t>
            </a:r>
            <a:r>
              <a:rPr lang="en-US" i="1"/>
              <a:t>(Removed for simplicity.)</a:t>
            </a:r>
            <a:br>
              <a:rPr lang="en-US"/>
            </a:br>
            <a:r>
              <a:rPr lang="en-US"/>
              <a:t>❌ </a:t>
            </a:r>
            <a:r>
              <a:rPr lang="en-US" b="1"/>
              <a:t>Advertising Clause</a:t>
            </a:r>
            <a:r>
              <a:rPr lang="en-US"/>
              <a:t> </a:t>
            </a:r>
            <a:r>
              <a:rPr lang="en-US" i="1"/>
              <a:t>(Removed for flexibility.)</a:t>
            </a:r>
            <a:endParaRPr lang="en-US"/>
          </a:p>
          <a:p>
            <a:endParaRPr lang="en-US" dirty="0"/>
          </a:p>
        </p:txBody>
      </p:sp>
      <p:sp>
        <p:nvSpPr>
          <p:cNvPr id="4" name="Slide Number Placeholder 3"/>
          <p:cNvSpPr>
            <a:spLocks noGrp="1"/>
          </p:cNvSpPr>
          <p:nvPr>
            <p:ph type="sldNum" sz="quarter" idx="5"/>
          </p:nvPr>
        </p:nvSpPr>
        <p:spPr/>
        <p:txBody>
          <a:bodyPr/>
          <a:lstStyle/>
          <a:p>
            <a:fld id="{E02754E6-00EA-4FAF-9852-1DAADD6512EE}" type="slidenum">
              <a:rPr lang="en-US" smtClean="0"/>
              <a:t>48</a:t>
            </a:fld>
            <a:endParaRPr lang="en-US"/>
          </a:p>
        </p:txBody>
      </p:sp>
    </p:spTree>
    <p:extLst>
      <p:ext uri="{BB962C8B-B14F-4D97-AF65-F5344CB8AC3E}">
        <p14:creationId xmlns:p14="http://schemas.microsoft.com/office/powerpoint/2010/main" val="307626729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8/17/2026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8/17/2026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8/17/2026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opensource.fb.com/legal/privacy"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100000"/>
              </a:lnSpc>
            </a:pPr>
            <a:r>
              <a:rPr lang="en-US" sz="4800" dirty="0"/>
              <a:t>Unit 7</a:t>
            </a:r>
            <a:br>
              <a:rPr lang="en-US" sz="4800" dirty="0"/>
            </a:br>
            <a:br>
              <a:rPr lang="en-US" sz="6600" dirty="0"/>
            </a:br>
            <a:r>
              <a:rPr lang="en-US" sz="6600" dirty="0"/>
              <a:t>System Design Implementation</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t>Introduction; </a:t>
            </a:r>
          </a:p>
          <a:p>
            <a:r>
              <a:rPr lang="en-US" dirty="0"/>
              <a:t>Object-Oriented Design using UML; </a:t>
            </a:r>
          </a:p>
          <a:p>
            <a:r>
              <a:rPr lang="en-US" dirty="0"/>
              <a:t>Design Patterns; </a:t>
            </a:r>
          </a:p>
          <a:p>
            <a:r>
              <a:rPr lang="en-US" dirty="0"/>
              <a:t>Implementation Issues; </a:t>
            </a:r>
          </a:p>
          <a:p>
            <a:r>
              <a:rPr lang="en-US" dirty="0"/>
              <a:t>Open-Source Development</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normAutofit/>
          </a:bodyPr>
          <a:lstStyle/>
          <a:p>
            <a:pPr algn="just"/>
            <a:r>
              <a:rPr lang="en-US" dirty="0"/>
              <a:t>System design is the process of defining and planning the architecture, components, modules, interfaces, and data for a software system to satisfy specific business or technical requirements. It involves creating a detailed plan for how the software will be built, including its structure, functionality, and performance.</a:t>
            </a:r>
          </a:p>
          <a:p>
            <a:pPr algn="just"/>
            <a:r>
              <a:rPr lang="en-US" dirty="0"/>
              <a:t>System implementation, on the other hand, involves actually building the software system based on the design specifications. This includes coding, testing, debugging, and deploying the software to production.</a:t>
            </a:r>
          </a:p>
        </p:txBody>
      </p:sp>
    </p:spTree>
    <p:extLst>
      <p:ext uri="{BB962C8B-B14F-4D97-AF65-F5344CB8AC3E}">
        <p14:creationId xmlns:p14="http://schemas.microsoft.com/office/powerpoint/2010/main" val="993570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Software Design Concepts:</a:t>
            </a:r>
            <a:endParaRPr lang="en-US" dirty="0"/>
          </a:p>
        </p:txBody>
      </p:sp>
      <p:sp>
        <p:nvSpPr>
          <p:cNvPr id="3" name="Content Placeholder 2"/>
          <p:cNvSpPr>
            <a:spLocks noGrp="1"/>
          </p:cNvSpPr>
          <p:nvPr>
            <p:ph idx="1"/>
          </p:nvPr>
        </p:nvSpPr>
        <p:spPr/>
        <p:txBody>
          <a:bodyPr>
            <a:normAutofit/>
          </a:bodyPr>
          <a:lstStyle/>
          <a:p>
            <a:pPr algn="just"/>
            <a:r>
              <a:rPr lang="en-US" dirty="0"/>
              <a:t>Concepts are defined as a principal idea or invention that comes into our mind or in thought to understand something. </a:t>
            </a:r>
          </a:p>
          <a:p>
            <a:pPr algn="just"/>
            <a:r>
              <a:rPr lang="en-US" dirty="0"/>
              <a:t>The </a:t>
            </a:r>
            <a:r>
              <a:rPr lang="en-US" b="1" dirty="0"/>
              <a:t>software design concept</a:t>
            </a:r>
            <a:r>
              <a:rPr lang="en-US" dirty="0"/>
              <a:t> simply means the idea or principle behind the design. It describes how you plan to solve the problem of designing software, the logic, or thinking behind how you will design software. </a:t>
            </a:r>
          </a:p>
          <a:p>
            <a:pPr algn="just"/>
            <a:r>
              <a:rPr lang="en-US" dirty="0"/>
              <a:t>It allows the software engineer to create the model of the system or software or product that is to be developed or built. The software design concept provides a supporting and essential structure or model for developing the right software. There are many concepts of software design and some of them are given below: </a:t>
            </a:r>
          </a:p>
        </p:txBody>
      </p:sp>
    </p:spTree>
    <p:extLst>
      <p:ext uri="{BB962C8B-B14F-4D97-AF65-F5344CB8AC3E}">
        <p14:creationId xmlns:p14="http://schemas.microsoft.com/office/powerpoint/2010/main" val="2232100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There are many concepts of software design and some of them are given below: </a:t>
            </a:r>
          </a:p>
        </p:txBody>
      </p:sp>
      <p:pic>
        <p:nvPicPr>
          <p:cNvPr id="102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5508" y="1965109"/>
            <a:ext cx="7422127" cy="431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485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Abstraction- hide Irrelevant data</a:t>
            </a:r>
            <a:endParaRPr lang="en-US" dirty="0"/>
          </a:p>
        </p:txBody>
      </p:sp>
      <p:sp>
        <p:nvSpPr>
          <p:cNvPr id="3" name="Content Placeholder 2"/>
          <p:cNvSpPr>
            <a:spLocks noGrp="1"/>
          </p:cNvSpPr>
          <p:nvPr>
            <p:ph idx="1"/>
          </p:nvPr>
        </p:nvSpPr>
        <p:spPr/>
        <p:txBody>
          <a:bodyPr/>
          <a:lstStyle/>
          <a:p>
            <a:pPr algn="just"/>
            <a:r>
              <a:rPr lang="en-US" dirty="0"/>
              <a:t>Abstraction simply means to hide the details to reduce complexity and increases efficiency or quality. </a:t>
            </a:r>
          </a:p>
          <a:p>
            <a:pPr algn="just"/>
            <a:r>
              <a:rPr lang="en-US" dirty="0"/>
              <a:t>Different levels of Abstraction are necessary and must be applied at each stage of the design process so that any error that is present can be removed to increase the efficiency of the software solution and to refine the software solution. </a:t>
            </a:r>
          </a:p>
          <a:p>
            <a:pPr algn="just"/>
            <a:r>
              <a:rPr lang="en-US" dirty="0"/>
              <a:t>The solution should be described in broad ways that cover a wide range of different things at a higher level of abstraction and a more detailed description of a solution of software should be given at the lower level of abstraction.</a:t>
            </a:r>
          </a:p>
        </p:txBody>
      </p:sp>
    </p:spTree>
    <p:extLst>
      <p:ext uri="{BB962C8B-B14F-4D97-AF65-F5344CB8AC3E}">
        <p14:creationId xmlns:p14="http://schemas.microsoft.com/office/powerpoint/2010/main" val="573605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a:bodyPr>
          <a:lstStyle/>
          <a:p>
            <a:pPr marL="0" indent="0" algn="just">
              <a:buNone/>
            </a:pPr>
            <a:r>
              <a:rPr lang="en-US" b="1" dirty="0"/>
              <a:t>An Example Of Abstraction</a:t>
            </a:r>
          </a:p>
          <a:p>
            <a:pPr algn="just"/>
            <a:r>
              <a:rPr lang="en-US" dirty="0"/>
              <a:t>Consider a real-world analogy. Let’s say you want to ride a motor bike. All you need to start the motor bike is to put the key on, push the start button, and use the accelerator. While riding, you may need to use the brake as well.</a:t>
            </a:r>
          </a:p>
          <a:p>
            <a:pPr algn="just"/>
            <a:r>
              <a:rPr lang="en-US" dirty="0"/>
              <a:t>You are not really concerned about how the engine, accelerator and brake are working during the ride. All that is </a:t>
            </a:r>
            <a:r>
              <a:rPr lang="en-US" b="1" dirty="0"/>
              <a:t>abstract</a:t>
            </a:r>
            <a:r>
              <a:rPr lang="en-US" dirty="0"/>
              <a:t> to you, and you are not concerned with it (unless you are mechanic).</a:t>
            </a:r>
          </a:p>
          <a:p>
            <a:pPr marL="0" indent="0" algn="just">
              <a:buNone/>
            </a:pPr>
            <a:r>
              <a:rPr lang="en-US" b="1" dirty="0"/>
              <a:t>Another Example</a:t>
            </a:r>
          </a:p>
          <a:p>
            <a:pPr algn="just"/>
            <a:r>
              <a:rPr lang="en-US" dirty="0"/>
              <a:t>Take another example - printing a document from your computer. You just open the document, click on the “print” command, and in a short while, the printed document is ready. You are not really bothered about how the computer stores the document in 0s and 1s, nor about how it is transferred to the printer.</a:t>
            </a:r>
          </a:p>
        </p:txBody>
      </p:sp>
    </p:spTree>
    <p:extLst>
      <p:ext uri="{BB962C8B-B14F-4D97-AF65-F5344CB8AC3E}">
        <p14:creationId xmlns:p14="http://schemas.microsoft.com/office/powerpoint/2010/main" val="3004034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What is Data Abstraction in DBMS and what are its three leve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756" y="1400752"/>
            <a:ext cx="6353175" cy="4232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689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fontScale="90000"/>
          </a:bodyPr>
          <a:lstStyle/>
          <a:p>
            <a:r>
              <a:rPr lang="en-US" b="1" dirty="0"/>
              <a:t>b. Architecture- design a structure of something </a:t>
            </a:r>
            <a:endParaRPr lang="en-US" dirty="0"/>
          </a:p>
        </p:txBody>
      </p:sp>
      <p:sp>
        <p:nvSpPr>
          <p:cNvPr id="3" name="Content Placeholder 2"/>
          <p:cNvSpPr>
            <a:spLocks noGrp="1"/>
          </p:cNvSpPr>
          <p:nvPr>
            <p:ph idx="1"/>
          </p:nvPr>
        </p:nvSpPr>
        <p:spPr/>
        <p:txBody>
          <a:bodyPr/>
          <a:lstStyle/>
          <a:p>
            <a:pPr marL="0" indent="0" algn="just">
              <a:buNone/>
            </a:pPr>
            <a:r>
              <a:rPr lang="en-US" b="1" dirty="0"/>
              <a:t>Architectural design</a:t>
            </a:r>
            <a:r>
              <a:rPr lang="en-US" dirty="0"/>
              <a:t> is a process for identifying the sub-systems making up a system and the framework for sub-system control and communication. The output of this design process is a description of the software architecture.</a:t>
            </a:r>
          </a:p>
          <a:p>
            <a:pPr marL="0" indent="0" algn="just">
              <a:buNone/>
            </a:pPr>
            <a:r>
              <a:rPr lang="en-US" dirty="0"/>
              <a:t> Architectural design is an early stage of the system design process. It represents the link between specification and design processes and is often carried out in parallel with some specification activities. It involves identifying major system components and their communications.</a:t>
            </a:r>
          </a:p>
        </p:txBody>
      </p:sp>
    </p:spTree>
    <p:extLst>
      <p:ext uri="{BB962C8B-B14F-4D97-AF65-F5344CB8AC3E}">
        <p14:creationId xmlns:p14="http://schemas.microsoft.com/office/powerpoint/2010/main" val="1051222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 Refinement- removes impurities</a:t>
            </a:r>
            <a:endParaRPr lang="en-US" dirty="0"/>
          </a:p>
        </p:txBody>
      </p:sp>
      <p:sp>
        <p:nvSpPr>
          <p:cNvPr id="3" name="Content Placeholder 2"/>
          <p:cNvSpPr>
            <a:spLocks noGrp="1"/>
          </p:cNvSpPr>
          <p:nvPr>
            <p:ph idx="1"/>
          </p:nvPr>
        </p:nvSpPr>
        <p:spPr/>
        <p:txBody>
          <a:bodyPr/>
          <a:lstStyle/>
          <a:p>
            <a:pPr algn="just"/>
            <a:r>
              <a:rPr lang="en-US" dirty="0"/>
              <a:t>Refinement simply means to refine something to remove any impurities if present and increase the quality. The refinement concept of software design is actually a process of developing or presenting the software or system in a detailed manner that means to elaborate a system or software. Refinement is very necessary to find out any error if present and then to reduce it.</a:t>
            </a:r>
          </a:p>
        </p:txBody>
      </p:sp>
    </p:spTree>
    <p:extLst>
      <p:ext uri="{BB962C8B-B14F-4D97-AF65-F5344CB8AC3E}">
        <p14:creationId xmlns:p14="http://schemas.microsoft.com/office/powerpoint/2010/main" val="3660615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 Information Hiding- hide the information</a:t>
            </a:r>
            <a:r>
              <a:rPr lang="en-US" dirty="0"/>
              <a:t> </a:t>
            </a:r>
          </a:p>
        </p:txBody>
      </p:sp>
      <p:sp>
        <p:nvSpPr>
          <p:cNvPr id="3" name="Content Placeholder 2"/>
          <p:cNvSpPr>
            <a:spLocks noGrp="1"/>
          </p:cNvSpPr>
          <p:nvPr>
            <p:ph idx="1"/>
          </p:nvPr>
        </p:nvSpPr>
        <p:spPr/>
        <p:txBody>
          <a:bodyPr/>
          <a:lstStyle/>
          <a:p>
            <a:pPr algn="just"/>
            <a:r>
              <a:rPr lang="en-US" dirty="0"/>
              <a:t>Information hiding simply means to hide the information so that it cannot be accessed by an unwanted party. In software design, information hiding is achieved by designing the modules in a manner that the information gathered or contained in one module is hidden and can’t be accessed by any other modules.</a:t>
            </a:r>
          </a:p>
        </p:txBody>
      </p:sp>
    </p:spTree>
    <p:extLst>
      <p:ext uri="{BB962C8B-B14F-4D97-AF65-F5344CB8AC3E}">
        <p14:creationId xmlns:p14="http://schemas.microsoft.com/office/powerpoint/2010/main" val="2748807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 Refactoring- reconstruct something </a:t>
            </a:r>
            <a:endParaRPr lang="en-US" dirty="0"/>
          </a:p>
        </p:txBody>
      </p:sp>
      <p:sp>
        <p:nvSpPr>
          <p:cNvPr id="3" name="Content Placeholder 2"/>
          <p:cNvSpPr>
            <a:spLocks noGrp="1"/>
          </p:cNvSpPr>
          <p:nvPr>
            <p:ph idx="1"/>
          </p:nvPr>
        </p:nvSpPr>
        <p:spPr/>
        <p:txBody>
          <a:bodyPr/>
          <a:lstStyle/>
          <a:p>
            <a:pPr algn="just"/>
            <a:r>
              <a:rPr lang="en-US" dirty="0"/>
              <a:t>Refactoring simply means reconstructing something in such a way that it does not affect the behavior of any other features. Refactoring in software design means reconstructing the design to reduce complexity and simplify it without affecting the behavior or its functions. Fowler has defined refactoring as “the process of changing a software system in a way that it won’t affect the behavior of the design and improves the internal structure”.</a:t>
            </a:r>
          </a:p>
        </p:txBody>
      </p:sp>
    </p:spTree>
    <p:extLst>
      <p:ext uri="{BB962C8B-B14F-4D97-AF65-F5344CB8AC3E}">
        <p14:creationId xmlns:p14="http://schemas.microsoft.com/office/powerpoint/2010/main" val="3736275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 Modularity- subdivide the system</a:t>
            </a:r>
            <a:endParaRPr lang="en-US" dirty="0"/>
          </a:p>
        </p:txBody>
      </p:sp>
      <p:sp>
        <p:nvSpPr>
          <p:cNvPr id="3" name="Content Placeholder 2"/>
          <p:cNvSpPr>
            <a:spLocks noGrp="1"/>
          </p:cNvSpPr>
          <p:nvPr>
            <p:ph idx="1"/>
          </p:nvPr>
        </p:nvSpPr>
        <p:spPr/>
        <p:txBody>
          <a:bodyPr>
            <a:normAutofit/>
          </a:bodyPr>
          <a:lstStyle/>
          <a:p>
            <a:pPr algn="just"/>
            <a:r>
              <a:rPr lang="en-US" dirty="0"/>
              <a:t>Modularity simply means dividing the system or project into smaller parts to reduce the complexity of the system or project. In the same way, modularity in design means subdividing a system into smaller parts so that these parts can be created independently and then use these parts in different systems to perform different functions. </a:t>
            </a:r>
          </a:p>
          <a:p>
            <a:pPr algn="just"/>
            <a:r>
              <a:rPr lang="en-US" dirty="0"/>
              <a:t>It is necessary to divide the software into components known as modules because there are different software available like Monolithic software that is hard to grasp for software engineers.</a:t>
            </a:r>
          </a:p>
          <a:p>
            <a:pPr algn="just"/>
            <a:r>
              <a:rPr lang="en-US" dirty="0"/>
              <a:t> So, modularity in design has now become a trend and is also important. If the system contains fewer components then it would mean the system is complex which requires a lot of effort (cost) but if we are able to divide the system into components then the cost would be small.</a:t>
            </a:r>
          </a:p>
        </p:txBody>
      </p:sp>
    </p:spTree>
    <p:extLst>
      <p:ext uri="{BB962C8B-B14F-4D97-AF65-F5344CB8AC3E}">
        <p14:creationId xmlns:p14="http://schemas.microsoft.com/office/powerpoint/2010/main" val="1577833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 Pattern- a repeated form</a:t>
            </a:r>
            <a:r>
              <a:rPr lang="en-US" dirty="0"/>
              <a:t> </a:t>
            </a:r>
          </a:p>
        </p:txBody>
      </p:sp>
      <p:sp>
        <p:nvSpPr>
          <p:cNvPr id="3" name="Content Placeholder 2"/>
          <p:cNvSpPr>
            <a:spLocks noGrp="1"/>
          </p:cNvSpPr>
          <p:nvPr>
            <p:ph idx="1"/>
          </p:nvPr>
        </p:nvSpPr>
        <p:spPr/>
        <p:txBody>
          <a:bodyPr>
            <a:normAutofit/>
          </a:bodyPr>
          <a:lstStyle/>
          <a:p>
            <a:pPr algn="just"/>
            <a:r>
              <a:rPr lang="en-US" dirty="0"/>
              <a:t>In software engineering, a </a:t>
            </a:r>
            <a:r>
              <a:rPr lang="en-US" b="1" dirty="0"/>
              <a:t>design pattern</a:t>
            </a:r>
            <a:r>
              <a:rPr lang="en-US" dirty="0"/>
              <a:t> is a general repeatable solution to a commonly occurring problem in software design. A design pattern isn't a finished design that can be transformed directly into code. It is a description or template for how to solve a problem that can be used in many different situations.</a:t>
            </a:r>
          </a:p>
          <a:p>
            <a:pPr algn="just"/>
            <a:r>
              <a:rPr lang="en-US" dirty="0"/>
              <a:t>Design patterns can speed up the development process by providing tested, proven development paradigms. Effective software design requires considering issues that may not become visible until later in the implementation.</a:t>
            </a:r>
          </a:p>
          <a:p>
            <a:pPr algn="just"/>
            <a:r>
              <a:rPr lang="en-US" dirty="0"/>
              <a:t> Reusing design patterns helps to prevent subtle issues that can cause major problems and improves code readability for coders and architects familiar with the patterns.</a:t>
            </a:r>
          </a:p>
        </p:txBody>
      </p:sp>
    </p:spTree>
    <p:extLst>
      <p:ext uri="{BB962C8B-B14F-4D97-AF65-F5344CB8AC3E}">
        <p14:creationId xmlns:p14="http://schemas.microsoft.com/office/powerpoint/2010/main" val="3201296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Pattern Template:</a:t>
            </a:r>
          </a:p>
        </p:txBody>
      </p:sp>
      <p:pic>
        <p:nvPicPr>
          <p:cNvPr id="4098" name="Picture 2" descr="Software Engineering Program Educational Objectives Mappimg Preparation To"/>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5108" y="1825625"/>
            <a:ext cx="580178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816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Object Oriented design using UML</a:t>
            </a:r>
          </a:p>
        </p:txBody>
      </p:sp>
      <p:sp>
        <p:nvSpPr>
          <p:cNvPr id="3" name="Content Placeholder 2"/>
          <p:cNvSpPr>
            <a:spLocks noGrp="1"/>
          </p:cNvSpPr>
          <p:nvPr>
            <p:ph idx="1"/>
          </p:nvPr>
        </p:nvSpPr>
        <p:spPr/>
        <p:txBody>
          <a:bodyPr>
            <a:normAutofit/>
          </a:bodyPr>
          <a:lstStyle/>
          <a:p>
            <a:pPr algn="just"/>
            <a:r>
              <a:rPr lang="en-US" dirty="0"/>
              <a:t>Object-oriented design (OOD) is an approach to software design that involves modeling software systems as collections of objects that interact with one another to perform tasks. </a:t>
            </a:r>
          </a:p>
          <a:p>
            <a:pPr algn="just"/>
            <a:r>
              <a:rPr lang="en-US" dirty="0"/>
              <a:t>UML (Unified Modeling Language) is a standardized language for modeling object-oriented software systems. UML provides a set of graphical notations for creating visual models of software systems.</a:t>
            </a:r>
          </a:p>
          <a:p>
            <a:pPr algn="just"/>
            <a:r>
              <a:rPr lang="en-US" dirty="0"/>
              <a:t>UML diagrams are a powerful tool for communicating the design of a software system, and can be used by developers, architects, and stakeholders to better understand the system and ensure that it meets the requirements of the business. However, it is important to note that UML is just a tool, and that a deep understanding of object-oriented programming concepts and principles is still required to create effective software designs.</a:t>
            </a:r>
          </a:p>
        </p:txBody>
      </p:sp>
    </p:spTree>
    <p:extLst>
      <p:ext uri="{BB962C8B-B14F-4D97-AF65-F5344CB8AC3E}">
        <p14:creationId xmlns:p14="http://schemas.microsoft.com/office/powerpoint/2010/main" val="2662495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Object Oriented design using UML</a:t>
            </a:r>
          </a:p>
        </p:txBody>
      </p:sp>
      <p:sp>
        <p:nvSpPr>
          <p:cNvPr id="3" name="Content Placeholder 2"/>
          <p:cNvSpPr>
            <a:spLocks noGrp="1"/>
          </p:cNvSpPr>
          <p:nvPr>
            <p:ph idx="1"/>
          </p:nvPr>
        </p:nvSpPr>
        <p:spPr/>
        <p:txBody>
          <a:bodyPr>
            <a:normAutofit/>
          </a:bodyPr>
          <a:lstStyle/>
          <a:p>
            <a:pPr algn="just"/>
            <a:r>
              <a:rPr lang="en-US" dirty="0"/>
              <a:t>Common activities in these processes include: </a:t>
            </a:r>
          </a:p>
          <a:p>
            <a:pPr marL="457200" indent="-457200" algn="just">
              <a:buFont typeface="+mj-lt"/>
              <a:buAutoNum type="arabicPeriod"/>
            </a:pPr>
            <a:r>
              <a:rPr lang="en-US" dirty="0"/>
              <a:t>Define the context and models of use of the system; </a:t>
            </a:r>
          </a:p>
          <a:p>
            <a:pPr marL="457200" indent="-457200" algn="just">
              <a:buFont typeface="+mj-lt"/>
              <a:buAutoNum type="arabicPeriod"/>
            </a:pPr>
            <a:r>
              <a:rPr lang="en-US" dirty="0"/>
              <a:t>Design the system architecture; </a:t>
            </a:r>
          </a:p>
          <a:p>
            <a:pPr marL="457200" indent="-457200" algn="just">
              <a:buFont typeface="+mj-lt"/>
              <a:buAutoNum type="arabicPeriod"/>
            </a:pPr>
            <a:r>
              <a:rPr lang="en-US" dirty="0"/>
              <a:t>Identify the principal system objects; </a:t>
            </a:r>
          </a:p>
          <a:p>
            <a:pPr marL="457200" indent="-457200" algn="just">
              <a:buFont typeface="+mj-lt"/>
              <a:buAutoNum type="arabicPeriod"/>
            </a:pPr>
            <a:r>
              <a:rPr lang="en-US" dirty="0"/>
              <a:t>Develop design models; </a:t>
            </a:r>
          </a:p>
          <a:p>
            <a:pPr marL="457200" indent="-457200" algn="just">
              <a:buFont typeface="+mj-lt"/>
              <a:buAutoNum type="arabicPeriod"/>
            </a:pPr>
            <a:r>
              <a:rPr lang="en-US" dirty="0"/>
              <a:t>Specify object interfaces.</a:t>
            </a:r>
          </a:p>
        </p:txBody>
      </p:sp>
    </p:spTree>
    <p:extLst>
      <p:ext uri="{BB962C8B-B14F-4D97-AF65-F5344CB8AC3E}">
        <p14:creationId xmlns:p14="http://schemas.microsoft.com/office/powerpoint/2010/main" val="296115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UML diagrams used in object oriented design</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Here are some key UML diagrams used in object-oriented design:</a:t>
            </a:r>
          </a:p>
          <a:p>
            <a:pPr algn="just"/>
            <a:endParaRPr lang="en-US" dirty="0"/>
          </a:p>
          <a:p>
            <a:pPr algn="just"/>
            <a:r>
              <a:rPr lang="en-US" b="1" dirty="0"/>
              <a:t>Class diagram:</a:t>
            </a:r>
            <a:r>
              <a:rPr lang="en-US" dirty="0"/>
              <a:t> A class diagram is a diagram that shows the relationships among classes in a software system. It includes information about the attributes and methods of each class, as well as the relationships between classes.</a:t>
            </a:r>
          </a:p>
          <a:p>
            <a:pPr algn="just"/>
            <a:r>
              <a:rPr lang="en-US" b="1" dirty="0"/>
              <a:t>Sequence diagram:</a:t>
            </a:r>
            <a:r>
              <a:rPr lang="en-US" dirty="0"/>
              <a:t> A sequence diagram shows the interactions between objects in a software system over time. It includes information about the messages sent between objects and the order in which they are sent.</a:t>
            </a:r>
            <a:endParaRPr lang="en-US" b="1" dirty="0"/>
          </a:p>
          <a:p>
            <a:pPr algn="just"/>
            <a:r>
              <a:rPr lang="en-US" b="1" dirty="0"/>
              <a:t>Use case diagram:</a:t>
            </a:r>
            <a:r>
              <a:rPr lang="en-US" dirty="0"/>
              <a:t> A use case diagram shows the interactions between actors (users or other systems) and a software system. It includes information about the tasks that the system can perform and the actors that can perform them.</a:t>
            </a:r>
          </a:p>
          <a:p>
            <a:pPr algn="just"/>
            <a:r>
              <a:rPr lang="en-US" b="1" dirty="0"/>
              <a:t>Activity diagram:</a:t>
            </a:r>
            <a:r>
              <a:rPr lang="en-US" dirty="0"/>
              <a:t> An activity diagram shows the flow of activities (tasks or actions) in a software system. It includes information about the inputs, outputs, and conditions for each activity.</a:t>
            </a:r>
          </a:p>
          <a:p>
            <a:pPr algn="just"/>
            <a:endParaRPr lang="en-US" dirty="0"/>
          </a:p>
        </p:txBody>
      </p:sp>
    </p:spTree>
    <p:extLst>
      <p:ext uri="{BB962C8B-B14F-4D97-AF65-F5344CB8AC3E}">
        <p14:creationId xmlns:p14="http://schemas.microsoft.com/office/powerpoint/2010/main" val="277108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2.1 System context and interactions</a:t>
            </a:r>
          </a:p>
        </p:txBody>
      </p:sp>
      <p:sp>
        <p:nvSpPr>
          <p:cNvPr id="3" name="Content Placeholder 2"/>
          <p:cNvSpPr>
            <a:spLocks noGrp="1"/>
          </p:cNvSpPr>
          <p:nvPr>
            <p:ph idx="1"/>
          </p:nvPr>
        </p:nvSpPr>
        <p:spPr/>
        <p:txBody>
          <a:bodyPr>
            <a:normAutofit/>
          </a:bodyPr>
          <a:lstStyle/>
          <a:p>
            <a:pPr rtl="0">
              <a:buFont typeface="Arial" panose="020B0604020202020204" pitchFamily="34" charset="0"/>
              <a:buChar char="•"/>
            </a:pPr>
            <a:r>
              <a:rPr lang="en-US" dirty="0"/>
              <a:t>In this step, We d</a:t>
            </a:r>
            <a:r>
              <a:rPr lang="en-US" dirty="0">
                <a:effectLst/>
              </a:rPr>
              <a:t>efine the system boundary and understand how the system interacts with its surrounding environment to deliver required functionality.</a:t>
            </a:r>
          </a:p>
          <a:p>
            <a:pPr rtl="0">
              <a:buFont typeface="Arial" panose="020B0604020202020204" pitchFamily="34" charset="0"/>
              <a:buChar char="•"/>
            </a:pPr>
            <a:r>
              <a:rPr lang="en-US" dirty="0">
                <a:effectLst/>
              </a:rPr>
              <a:t>External entities (such as other automated systems) interact with the target system by either providing input data or consuming output data.</a:t>
            </a:r>
          </a:p>
          <a:p>
            <a:pPr rtl="0">
              <a:buFont typeface="Arial" panose="020B0604020202020204" pitchFamily="34" charset="0"/>
              <a:buChar char="•"/>
            </a:pPr>
            <a:r>
              <a:rPr lang="en-US" dirty="0">
                <a:effectLst/>
              </a:rPr>
              <a:t>To avoid excessive detail early in design, an abstract approach is used to model these external interactions.</a:t>
            </a:r>
          </a:p>
          <a:p>
            <a:pPr rtl="0">
              <a:buFont typeface="Arial" panose="020B0604020202020204" pitchFamily="34" charset="0"/>
              <a:buChar char="•"/>
            </a:pPr>
            <a:r>
              <a:rPr lang="en-US" b="1" dirty="0">
                <a:effectLst/>
              </a:rPr>
              <a:t>Use Case Diagrams</a:t>
            </a:r>
            <a:r>
              <a:rPr lang="en-US" dirty="0">
                <a:effectLst/>
              </a:rPr>
              <a:t> are constructed to represent these high-level interactions between the system and its external actors without cluttering the design with implementation details.</a:t>
            </a:r>
          </a:p>
          <a:p>
            <a:pPr algn="just"/>
            <a:endParaRPr lang="en-US" dirty="0"/>
          </a:p>
        </p:txBody>
      </p:sp>
    </p:spTree>
    <p:extLst>
      <p:ext uri="{BB962C8B-B14F-4D97-AF65-F5344CB8AC3E}">
        <p14:creationId xmlns:p14="http://schemas.microsoft.com/office/powerpoint/2010/main" val="4167706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Use case diagram</a:t>
            </a:r>
          </a:p>
        </p:txBody>
      </p:sp>
      <p:pic>
        <p:nvPicPr>
          <p:cNvPr id="4" name="Content Placeholder 3"/>
          <p:cNvPicPr>
            <a:picLocks noGrp="1" noChangeAspect="1"/>
          </p:cNvPicPr>
          <p:nvPr>
            <p:ph idx="1"/>
          </p:nvPr>
        </p:nvPicPr>
        <p:blipFill>
          <a:blip r:embed="rId2"/>
          <a:stretch>
            <a:fillRect/>
          </a:stretch>
        </p:blipFill>
        <p:spPr>
          <a:xfrm>
            <a:off x="1305491" y="1907643"/>
            <a:ext cx="4925625" cy="4702156"/>
          </a:xfrm>
          <a:prstGeom prst="rect">
            <a:avLst/>
          </a:prstGeom>
        </p:spPr>
      </p:pic>
      <p:pic>
        <p:nvPicPr>
          <p:cNvPr id="5" name="Picture 4"/>
          <p:cNvPicPr>
            <a:picLocks noChangeAspect="1"/>
          </p:cNvPicPr>
          <p:nvPr/>
        </p:nvPicPr>
        <p:blipFill>
          <a:blip r:embed="rId3"/>
          <a:stretch>
            <a:fillRect/>
          </a:stretch>
        </p:blipFill>
        <p:spPr>
          <a:xfrm>
            <a:off x="5272550" y="2753218"/>
            <a:ext cx="6199869" cy="2780982"/>
          </a:xfrm>
          <a:prstGeom prst="rect">
            <a:avLst/>
          </a:prstGeom>
        </p:spPr>
      </p:pic>
      <p:sp>
        <p:nvSpPr>
          <p:cNvPr id="3" name="TextBox 2">
            <a:extLst>
              <a:ext uri="{FF2B5EF4-FFF2-40B4-BE49-F238E27FC236}">
                <a16:creationId xmlns:a16="http://schemas.microsoft.com/office/drawing/2014/main" id="{DEB63A18-6C42-4D95-AE3A-28A23A4EE608}"/>
              </a:ext>
            </a:extLst>
          </p:cNvPr>
          <p:cNvSpPr txBox="1"/>
          <p:nvPr/>
        </p:nvSpPr>
        <p:spPr>
          <a:xfrm>
            <a:off x="1305491" y="6240544"/>
            <a:ext cx="9581018" cy="369332"/>
          </a:xfrm>
          <a:prstGeom prst="rect">
            <a:avLst/>
          </a:prstGeom>
          <a:noFill/>
        </p:spPr>
        <p:txBody>
          <a:bodyPr wrap="square" rtlCol="0">
            <a:spAutoFit/>
          </a:bodyPr>
          <a:lstStyle/>
          <a:p>
            <a:r>
              <a:rPr lang="en-US" dirty="0"/>
              <a:t>**use case notations, its features and advantages. Study yourself</a:t>
            </a:r>
          </a:p>
        </p:txBody>
      </p:sp>
    </p:spTree>
    <p:extLst>
      <p:ext uri="{BB962C8B-B14F-4D97-AF65-F5344CB8AC3E}">
        <p14:creationId xmlns:p14="http://schemas.microsoft.com/office/powerpoint/2010/main" val="2448937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2.2 Architectural design</a:t>
            </a:r>
          </a:p>
        </p:txBody>
      </p:sp>
      <p:sp>
        <p:nvSpPr>
          <p:cNvPr id="3" name="Content Placeholder 2"/>
          <p:cNvSpPr>
            <a:spLocks noGrp="1"/>
          </p:cNvSpPr>
          <p:nvPr>
            <p:ph idx="1"/>
          </p:nvPr>
        </p:nvSpPr>
        <p:spPr>
          <a:xfrm>
            <a:off x="688556" y="1778490"/>
            <a:ext cx="10728488" cy="2699241"/>
          </a:xfrm>
        </p:spPr>
        <p:txBody>
          <a:bodyPr>
            <a:normAutofit/>
          </a:bodyPr>
          <a:lstStyle/>
          <a:p>
            <a:pPr algn="just"/>
            <a:r>
              <a:rPr lang="en-US" dirty="0"/>
              <a:t>After identifying the interactions between the software system and its environment, that information is used for designing systems architecture. </a:t>
            </a:r>
          </a:p>
          <a:p>
            <a:pPr algn="just"/>
            <a:r>
              <a:rPr lang="en-US" dirty="0"/>
              <a:t>Architectural design is the process of decomposing the system into subsystems and establishing the relationship between subsystems. For this any of the architectural pattern is chosen from repository architecture, client server architecture or layered architecture. </a:t>
            </a:r>
          </a:p>
        </p:txBody>
      </p:sp>
      <p:pic>
        <p:nvPicPr>
          <p:cNvPr id="4" name="Picture 3"/>
          <p:cNvPicPr>
            <a:picLocks noChangeAspect="1"/>
          </p:cNvPicPr>
          <p:nvPr/>
        </p:nvPicPr>
        <p:blipFill>
          <a:blip r:embed="rId2"/>
          <a:stretch>
            <a:fillRect/>
          </a:stretch>
        </p:blipFill>
        <p:spPr>
          <a:xfrm>
            <a:off x="2207458" y="3873302"/>
            <a:ext cx="7690685" cy="2984698"/>
          </a:xfrm>
          <a:prstGeom prst="rect">
            <a:avLst/>
          </a:prstGeom>
        </p:spPr>
      </p:pic>
    </p:spTree>
    <p:extLst>
      <p:ext uri="{BB962C8B-B14F-4D97-AF65-F5344CB8AC3E}">
        <p14:creationId xmlns:p14="http://schemas.microsoft.com/office/powerpoint/2010/main" val="2763695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97963"/>
            <a:ext cx="10058400" cy="1609344"/>
          </a:xfrm>
        </p:spPr>
        <p:txBody>
          <a:bodyPr>
            <a:normAutofit/>
          </a:bodyPr>
          <a:lstStyle/>
          <a:p>
            <a:r>
              <a:rPr lang="en-US" sz="4400" b="1" dirty="0"/>
              <a:t>2.3 Object class identification</a:t>
            </a:r>
          </a:p>
        </p:txBody>
      </p:sp>
      <p:sp>
        <p:nvSpPr>
          <p:cNvPr id="3" name="Content Placeholder 2"/>
          <p:cNvSpPr>
            <a:spLocks noGrp="1"/>
          </p:cNvSpPr>
          <p:nvPr>
            <p:ph idx="1"/>
          </p:nvPr>
        </p:nvSpPr>
        <p:spPr>
          <a:xfrm>
            <a:off x="609207" y="1422872"/>
            <a:ext cx="10973586" cy="4742257"/>
          </a:xfrm>
        </p:spPr>
        <p:txBody>
          <a:bodyPr>
            <a:normAutofit/>
          </a:bodyPr>
          <a:lstStyle/>
          <a:p>
            <a:pPr algn="just"/>
            <a:r>
              <a:rPr lang="en-US" sz="1800" dirty="0"/>
              <a:t>From architectural design you already have idea about the necessary objects in the system. Object identification is the important and critical issue in the object oriented design. There is no 'magic formula' for object identification. It relies on the skill, experience and domain knowledge of object-oriented system designers.</a:t>
            </a:r>
          </a:p>
          <a:p>
            <a:pPr algn="just"/>
            <a:r>
              <a:rPr lang="en-US" sz="1800" dirty="0"/>
              <a:t>The functions of this stage are </a:t>
            </a:r>
          </a:p>
          <a:p>
            <a:pPr lvl="1" algn="just"/>
            <a:r>
              <a:rPr lang="en-US" sz="1600" dirty="0"/>
              <a:t>Identifying and refining the classes in each subsystem or package</a:t>
            </a:r>
          </a:p>
          <a:p>
            <a:pPr lvl="1" algn="just"/>
            <a:r>
              <a:rPr lang="en-US" sz="1600" dirty="0"/>
              <a:t>Defining the links and associations between classes</a:t>
            </a:r>
          </a:p>
          <a:p>
            <a:pPr lvl="1" algn="just"/>
            <a:r>
              <a:rPr lang="en-US" sz="1600" dirty="0"/>
              <a:t>Designing the classes the hierarchical, associations among the classes, the generalization/specialization and inheritances </a:t>
            </a:r>
          </a:p>
          <a:p>
            <a:pPr lvl="1" algn="just"/>
            <a:r>
              <a:rPr lang="en-US" sz="1600" dirty="0"/>
              <a:t>Designing aggregations </a:t>
            </a:r>
          </a:p>
          <a:p>
            <a:pPr marL="274320" lvl="1" indent="0" algn="just">
              <a:buNone/>
            </a:pPr>
            <a:r>
              <a:rPr lang="en-US" sz="1600" dirty="0"/>
              <a:t>This can be modeled using object and class diagram of the system.</a:t>
            </a:r>
          </a:p>
          <a:p>
            <a:pPr algn="just"/>
            <a:endParaRPr lang="en-US" sz="1800" dirty="0"/>
          </a:p>
        </p:txBody>
      </p:sp>
    </p:spTree>
    <p:extLst>
      <p:ext uri="{BB962C8B-B14F-4D97-AF65-F5344CB8AC3E}">
        <p14:creationId xmlns:p14="http://schemas.microsoft.com/office/powerpoint/2010/main" val="1215093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97963"/>
            <a:ext cx="10058400" cy="1609344"/>
          </a:xfrm>
        </p:spPr>
        <p:txBody>
          <a:bodyPr>
            <a:normAutofit/>
          </a:bodyPr>
          <a:lstStyle/>
          <a:p>
            <a:r>
              <a:rPr lang="en-US" sz="4400" b="1" dirty="0"/>
              <a:t>2.3 Object class identification</a:t>
            </a:r>
          </a:p>
        </p:txBody>
      </p:sp>
      <p:sp>
        <p:nvSpPr>
          <p:cNvPr id="3" name="Content Placeholder 2"/>
          <p:cNvSpPr>
            <a:spLocks noGrp="1"/>
          </p:cNvSpPr>
          <p:nvPr>
            <p:ph idx="1"/>
          </p:nvPr>
        </p:nvSpPr>
        <p:spPr>
          <a:xfrm>
            <a:off x="609207" y="1422873"/>
            <a:ext cx="10973586" cy="2253582"/>
          </a:xfrm>
        </p:spPr>
        <p:txBody>
          <a:bodyPr>
            <a:normAutofit/>
          </a:bodyPr>
          <a:lstStyle/>
          <a:p>
            <a:pPr algn="just"/>
            <a:r>
              <a:rPr lang="en-US" sz="1800" dirty="0"/>
              <a:t>The use case description helps to identify objects and operations in the system. From the description of the Report weather use case, it is obvious that you will need to implement objects representing the instruments that collect weather data and an object representing the summary of the weather data.</a:t>
            </a:r>
          </a:p>
        </p:txBody>
      </p:sp>
      <p:pic>
        <p:nvPicPr>
          <p:cNvPr id="4" name="Picture 3"/>
          <p:cNvPicPr>
            <a:picLocks noChangeAspect="1"/>
          </p:cNvPicPr>
          <p:nvPr/>
        </p:nvPicPr>
        <p:blipFill>
          <a:blip r:embed="rId2"/>
          <a:stretch>
            <a:fillRect/>
          </a:stretch>
        </p:blipFill>
        <p:spPr>
          <a:xfrm>
            <a:off x="2391438" y="3514931"/>
            <a:ext cx="6714410" cy="3343069"/>
          </a:xfrm>
          <a:prstGeom prst="rect">
            <a:avLst/>
          </a:prstGeom>
        </p:spPr>
      </p:pic>
    </p:spTree>
    <p:extLst>
      <p:ext uri="{BB962C8B-B14F-4D97-AF65-F5344CB8AC3E}">
        <p14:creationId xmlns:p14="http://schemas.microsoft.com/office/powerpoint/2010/main" val="1560503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2.4 develop Other Design models</a:t>
            </a:r>
          </a:p>
        </p:txBody>
      </p:sp>
      <p:sp>
        <p:nvSpPr>
          <p:cNvPr id="3" name="Content Placeholder 2"/>
          <p:cNvSpPr>
            <a:spLocks noGrp="1"/>
          </p:cNvSpPr>
          <p:nvPr>
            <p:ph idx="1"/>
          </p:nvPr>
        </p:nvSpPr>
        <p:spPr/>
        <p:txBody>
          <a:bodyPr>
            <a:normAutofit/>
          </a:bodyPr>
          <a:lstStyle/>
          <a:p>
            <a:pPr algn="just"/>
            <a:r>
              <a:rPr lang="en-US" dirty="0"/>
              <a:t>Design or system models, as we discussed in Chapter 5, show the objects or object classes in a system. They also show the associations and relationships between these entities. </a:t>
            </a:r>
          </a:p>
          <a:p>
            <a:pPr algn="just"/>
            <a:r>
              <a:rPr lang="en-US" dirty="0"/>
              <a:t>A design model in Software Engineering is an object-based picture or pictures that represent the system. It shows the object or object classes in a system. </a:t>
            </a:r>
          </a:p>
          <a:p>
            <a:pPr algn="just"/>
            <a:r>
              <a:rPr lang="en-US" dirty="0"/>
              <a:t>Design models show the associations or relationship between system entities that act as bridge between requirement specification and implementation of system. </a:t>
            </a:r>
          </a:p>
          <a:p>
            <a:pPr algn="just"/>
            <a:r>
              <a:rPr lang="en-US" dirty="0"/>
              <a:t>The design model that we choose to design a system depends on the type of system being developed. For example we design a sequential data processing system in a different way than real time systems. </a:t>
            </a:r>
          </a:p>
        </p:txBody>
      </p:sp>
    </p:spTree>
    <p:extLst>
      <p:ext uri="{BB962C8B-B14F-4D97-AF65-F5344CB8AC3E}">
        <p14:creationId xmlns:p14="http://schemas.microsoft.com/office/powerpoint/2010/main" val="666571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2.4 develop Other Design models</a:t>
            </a:r>
          </a:p>
        </p:txBody>
      </p:sp>
      <p:sp>
        <p:nvSpPr>
          <p:cNvPr id="3" name="Content Placeholder 2"/>
          <p:cNvSpPr>
            <a:spLocks noGrp="1"/>
          </p:cNvSpPr>
          <p:nvPr>
            <p:ph idx="1"/>
          </p:nvPr>
        </p:nvSpPr>
        <p:spPr/>
        <p:txBody>
          <a:bodyPr>
            <a:normAutofit/>
          </a:bodyPr>
          <a:lstStyle/>
          <a:p>
            <a:pPr marL="0" indent="0" algn="just">
              <a:buNone/>
            </a:pPr>
            <a:r>
              <a:rPr lang="en-US" dirty="0"/>
              <a:t>1. </a:t>
            </a:r>
            <a:r>
              <a:rPr lang="en-US" b="1" dirty="0"/>
              <a:t>Static/Structural Model</a:t>
            </a:r>
            <a:r>
              <a:rPr lang="en-US" dirty="0"/>
              <a:t>: </a:t>
            </a:r>
          </a:p>
          <a:p>
            <a:pPr lvl="1" algn="just"/>
            <a:r>
              <a:rPr lang="en-US" dirty="0"/>
              <a:t>Structural diagrams, as the name suggest show how the system is structured, including the classes, objects, packages, components, etc. in the system and the relationships between those elements. The structural diagrams represent the static aspect of the system. These static aspects represent those parts of a diagram, which forms the main structure and are therefore stable. This model describes the static structure of the system in terms of object classes and their relationships. </a:t>
            </a:r>
            <a:r>
              <a:rPr lang="en-US" b="1" dirty="0"/>
              <a:t>Class diagram/Component diagram</a:t>
            </a:r>
            <a:r>
              <a:rPr lang="en-US" dirty="0"/>
              <a:t> are the best example of static model</a:t>
            </a:r>
          </a:p>
          <a:p>
            <a:pPr marL="0" indent="0" algn="just">
              <a:buNone/>
            </a:pPr>
            <a:r>
              <a:rPr lang="en-US" dirty="0"/>
              <a:t>2. </a:t>
            </a:r>
            <a:r>
              <a:rPr lang="en-US" b="1" dirty="0"/>
              <a:t>Dynamic/ Behavioral Model:</a:t>
            </a:r>
            <a:r>
              <a:rPr lang="en-US" dirty="0"/>
              <a:t> </a:t>
            </a:r>
          </a:p>
          <a:p>
            <a:pPr lvl="1" algn="just"/>
            <a:r>
              <a:rPr lang="en-US" dirty="0"/>
              <a:t>This model shows the dynamic structure of the system that shows the interactions between the system objects. Dynamic aspect can be described as the changing/moving parts of a system. Behavioral diagram assist in understanding and communicating how elements interact and collaborate to provide the functionality of a system. Use </a:t>
            </a:r>
            <a:r>
              <a:rPr lang="en-US" b="1" dirty="0"/>
              <a:t>case diagram, activity diagram, sequence diagram</a:t>
            </a:r>
            <a:r>
              <a:rPr lang="en-US" dirty="0"/>
              <a:t> etc. are examples of dynamic models.</a:t>
            </a:r>
          </a:p>
        </p:txBody>
      </p:sp>
    </p:spTree>
    <p:extLst>
      <p:ext uri="{BB962C8B-B14F-4D97-AF65-F5344CB8AC3E}">
        <p14:creationId xmlns:p14="http://schemas.microsoft.com/office/powerpoint/2010/main" val="1177323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of Sequence diagram and State diagram</a:t>
            </a:r>
          </a:p>
        </p:txBody>
      </p:sp>
      <p:pic>
        <p:nvPicPr>
          <p:cNvPr id="4" name="Content Placeholder 3"/>
          <p:cNvPicPr>
            <a:picLocks noGrp="1" noChangeAspect="1"/>
          </p:cNvPicPr>
          <p:nvPr>
            <p:ph idx="1"/>
          </p:nvPr>
        </p:nvPicPr>
        <p:blipFill>
          <a:blip r:embed="rId2"/>
          <a:stretch>
            <a:fillRect/>
          </a:stretch>
        </p:blipFill>
        <p:spPr>
          <a:xfrm>
            <a:off x="956160" y="2225572"/>
            <a:ext cx="5205863" cy="3053439"/>
          </a:xfrm>
          <a:prstGeom prst="rect">
            <a:avLst/>
          </a:prstGeom>
        </p:spPr>
      </p:pic>
      <p:pic>
        <p:nvPicPr>
          <p:cNvPr id="5" name="Picture 4"/>
          <p:cNvPicPr>
            <a:picLocks noChangeAspect="1"/>
          </p:cNvPicPr>
          <p:nvPr/>
        </p:nvPicPr>
        <p:blipFill>
          <a:blip r:embed="rId3"/>
          <a:stretch>
            <a:fillRect/>
          </a:stretch>
        </p:blipFill>
        <p:spPr>
          <a:xfrm>
            <a:off x="6625553" y="2337546"/>
            <a:ext cx="5283537" cy="2941465"/>
          </a:xfrm>
          <a:prstGeom prst="rect">
            <a:avLst/>
          </a:prstGeom>
        </p:spPr>
      </p:pic>
    </p:spTree>
    <p:extLst>
      <p:ext uri="{BB962C8B-B14F-4D97-AF65-F5344CB8AC3E}">
        <p14:creationId xmlns:p14="http://schemas.microsoft.com/office/powerpoint/2010/main" val="1603654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5BD-286B-3F99-CA45-D6448700A6AA}"/>
              </a:ext>
            </a:extLst>
          </p:cNvPr>
          <p:cNvSpPr>
            <a:spLocks noGrp="1"/>
          </p:cNvSpPr>
          <p:nvPr>
            <p:ph type="title"/>
          </p:nvPr>
        </p:nvSpPr>
        <p:spPr/>
        <p:txBody>
          <a:bodyPr/>
          <a:lstStyle/>
          <a:p>
            <a:r>
              <a:rPr lang="en-US" b="1" dirty="0"/>
              <a:t>Example of Sequence diagram</a:t>
            </a:r>
            <a:endParaRPr lang="en-US" dirty="0"/>
          </a:p>
        </p:txBody>
      </p:sp>
      <p:pic>
        <p:nvPicPr>
          <p:cNvPr id="5" name="Content Placeholder 4">
            <a:extLst>
              <a:ext uri="{FF2B5EF4-FFF2-40B4-BE49-F238E27FC236}">
                <a16:creationId xmlns:a16="http://schemas.microsoft.com/office/drawing/2014/main" id="{93D94EE4-3F60-4044-1F02-A422D5A049EF}"/>
              </a:ext>
            </a:extLst>
          </p:cNvPr>
          <p:cNvPicPr>
            <a:picLocks noGrp="1" noChangeAspect="1"/>
          </p:cNvPicPr>
          <p:nvPr>
            <p:ph idx="1"/>
          </p:nvPr>
        </p:nvPicPr>
        <p:blipFill>
          <a:blip r:embed="rId2"/>
          <a:stretch>
            <a:fillRect/>
          </a:stretch>
        </p:blipFill>
        <p:spPr>
          <a:xfrm>
            <a:off x="2215556" y="1959478"/>
            <a:ext cx="7456345" cy="4319889"/>
          </a:xfrm>
        </p:spPr>
      </p:pic>
    </p:spTree>
    <p:extLst>
      <p:ext uri="{BB962C8B-B14F-4D97-AF65-F5344CB8AC3E}">
        <p14:creationId xmlns:p14="http://schemas.microsoft.com/office/powerpoint/2010/main" val="3001773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2.4 Identify object Interface</a:t>
            </a:r>
          </a:p>
        </p:txBody>
      </p:sp>
      <p:sp>
        <p:nvSpPr>
          <p:cNvPr id="3" name="Content Placeholder 2"/>
          <p:cNvSpPr>
            <a:spLocks noGrp="1"/>
          </p:cNvSpPr>
          <p:nvPr>
            <p:ph idx="1"/>
          </p:nvPr>
        </p:nvSpPr>
        <p:spPr/>
        <p:txBody>
          <a:bodyPr>
            <a:normAutofit/>
          </a:bodyPr>
          <a:lstStyle/>
          <a:p>
            <a:pPr lvl="1" algn="just"/>
            <a:r>
              <a:rPr lang="en-US" dirty="0"/>
              <a:t>Interface specifications provide the standardized mechanism in which subsystems can effectively communicate with each other and enable them to operate as independent modules. </a:t>
            </a:r>
          </a:p>
          <a:p>
            <a:pPr lvl="1" algn="just"/>
            <a:r>
              <a:rPr lang="en-US" dirty="0"/>
              <a:t>In this interface between the components in the design is specified so that objects and sub systems can be designed in parallel and they can communicate with each other. </a:t>
            </a:r>
          </a:p>
          <a:p>
            <a:pPr lvl="1" algn="just"/>
            <a:r>
              <a:rPr lang="en-US" dirty="0"/>
              <a:t>Interface design concerned with specifying the detail of the interface to an object or to a group of objects. It defines the signatures and semantics of the services that are provided by the object or by a group of objects. The UML uses class diagrams for interface specification but Java may also be used.</a:t>
            </a:r>
          </a:p>
        </p:txBody>
      </p:sp>
    </p:spTree>
    <p:extLst>
      <p:ext uri="{BB962C8B-B14F-4D97-AF65-F5344CB8AC3E}">
        <p14:creationId xmlns:p14="http://schemas.microsoft.com/office/powerpoint/2010/main" val="3436938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System Design? Explain the concept of system design.</a:t>
            </a:r>
          </a:p>
          <a:p>
            <a:r>
              <a:rPr lang="en-US" dirty="0"/>
              <a:t>What is Object oriented design using UML? What UML diagrams are there to design the system?</a:t>
            </a:r>
          </a:p>
        </p:txBody>
      </p:sp>
    </p:spTree>
    <p:extLst>
      <p:ext uri="{BB962C8B-B14F-4D97-AF65-F5344CB8AC3E}">
        <p14:creationId xmlns:p14="http://schemas.microsoft.com/office/powerpoint/2010/main" val="2947373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Design Patterns</a:t>
            </a:r>
          </a:p>
        </p:txBody>
      </p:sp>
      <p:sp>
        <p:nvSpPr>
          <p:cNvPr id="3" name="Content Placeholder 2"/>
          <p:cNvSpPr>
            <a:spLocks noGrp="1"/>
          </p:cNvSpPr>
          <p:nvPr>
            <p:ph idx="1"/>
          </p:nvPr>
        </p:nvSpPr>
        <p:spPr>
          <a:xfrm>
            <a:off x="1069848" y="1791093"/>
            <a:ext cx="10058400" cy="4381107"/>
          </a:xfrm>
        </p:spPr>
        <p:txBody>
          <a:bodyPr>
            <a:normAutofit/>
          </a:bodyPr>
          <a:lstStyle/>
          <a:p>
            <a:pPr algn="just"/>
            <a:r>
              <a:rPr lang="en-US" b="0" u="none" strike="noStrike" dirty="0">
                <a:effectLst/>
                <a:latin typeface="Google Sans"/>
              </a:rPr>
              <a:t>In software engineering, a </a:t>
            </a:r>
            <a:r>
              <a:rPr lang="en-US" b="1" u="none" strike="noStrike" dirty="0">
                <a:effectLst/>
                <a:latin typeface="Google Sans"/>
              </a:rPr>
              <a:t>design pattern is a general, reusable solution to a commonly occurring problem</a:t>
            </a:r>
            <a:r>
              <a:rPr lang="en-US" dirty="0"/>
              <a:t> within a given context in software design. It is not a finished piece of code that you can copy and paste. Instead, it serves as a conceptual template or blueprint explaining how to solve a problem efficiently.</a:t>
            </a:r>
          </a:p>
          <a:p>
            <a:pPr algn="just"/>
            <a:r>
              <a:rPr lang="en-US" b="1" dirty="0"/>
              <a:t>Advantages</a:t>
            </a:r>
          </a:p>
          <a:p>
            <a:pPr algn="just"/>
            <a:r>
              <a:rPr lang="en-US" dirty="0"/>
              <a:t>Object-oriented design patterns typically show relationships and interactions between classes or objects, without specifying the final application classes or objects that are involved. </a:t>
            </a:r>
          </a:p>
          <a:p>
            <a:pPr algn="just"/>
            <a:r>
              <a:rPr lang="en-US" dirty="0"/>
              <a:t>Design patterns can speed up the development process by providing tested, proven development paradigms. Effective software design requires considering issues that may not become visible until later in the implementation. </a:t>
            </a:r>
          </a:p>
          <a:p>
            <a:pPr algn="just"/>
            <a:r>
              <a:rPr lang="en-US" dirty="0"/>
              <a:t>Reusing design patterns helps to prevent subtle issues that can cause major problems and improves code readability for coders and architects familiar with the patterns. </a:t>
            </a:r>
          </a:p>
        </p:txBody>
      </p:sp>
    </p:spTree>
    <p:extLst>
      <p:ext uri="{BB962C8B-B14F-4D97-AF65-F5344CB8AC3E}">
        <p14:creationId xmlns:p14="http://schemas.microsoft.com/office/powerpoint/2010/main" val="1423385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82975"/>
            <a:ext cx="10058400" cy="1609344"/>
          </a:xfrm>
        </p:spPr>
        <p:txBody>
          <a:bodyPr/>
          <a:lstStyle/>
          <a:p>
            <a:r>
              <a:rPr lang="en-US" b="1" dirty="0"/>
              <a:t>3.1 Gang of four</a:t>
            </a:r>
          </a:p>
        </p:txBody>
      </p:sp>
      <p:sp>
        <p:nvSpPr>
          <p:cNvPr id="3" name="Content Placeholder 2"/>
          <p:cNvSpPr>
            <a:spLocks noGrp="1"/>
          </p:cNvSpPr>
          <p:nvPr>
            <p:ph idx="1"/>
          </p:nvPr>
        </p:nvSpPr>
        <p:spPr>
          <a:xfrm>
            <a:off x="1069848" y="1404594"/>
            <a:ext cx="10911620" cy="4767606"/>
          </a:xfrm>
        </p:spPr>
        <p:txBody>
          <a:bodyPr>
            <a:noAutofit/>
          </a:bodyPr>
          <a:lstStyle/>
          <a:p>
            <a:pPr algn="just"/>
            <a:r>
              <a:rPr lang="en-US" sz="1600" dirty="0"/>
              <a:t>The foundation of modern design patterns was codified in 1994 by Erich Gamma, Richard Helm, Ralph Johnson, and John </a:t>
            </a:r>
            <a:r>
              <a:rPr lang="en-US" sz="1600" dirty="0" err="1"/>
              <a:t>Vlissides</a:t>
            </a:r>
            <a:r>
              <a:rPr lang="en-US" sz="1600" dirty="0"/>
              <a:t>, collectively known as the "Gang of Four" (</a:t>
            </a:r>
            <a:r>
              <a:rPr lang="en-US" sz="1600" dirty="0" err="1"/>
              <a:t>GoF</a:t>
            </a:r>
            <a:r>
              <a:rPr lang="en-US" sz="1600" dirty="0"/>
              <a:t>). They documented 23 classic design patterns and divided them into three major categories.</a:t>
            </a:r>
          </a:p>
          <a:p>
            <a:pPr algn="just"/>
            <a:r>
              <a:rPr lang="en-US" sz="1600" dirty="0"/>
              <a:t>The Three Core Categories</a:t>
            </a:r>
          </a:p>
          <a:p>
            <a:pPr marL="457200" indent="-457200" algn="just">
              <a:buAutoNum type="arabicPeriod"/>
            </a:pPr>
            <a:r>
              <a:rPr lang="en-US" sz="1600" b="1" dirty="0"/>
              <a:t>Creational Patterns:</a:t>
            </a:r>
            <a:r>
              <a:rPr lang="en-US" sz="1600" dirty="0"/>
              <a:t> These patterns deal with object creation mechanisms, trying to create objects in a manner suitable to the situation. They reduce complexity by controlling how objects are instantiated.</a:t>
            </a:r>
          </a:p>
          <a:p>
            <a:pPr marL="457200" indent="-457200" algn="just">
              <a:buAutoNum type="arabicPeriod"/>
            </a:pPr>
            <a:r>
              <a:rPr lang="en-US" sz="1600" b="1" dirty="0"/>
              <a:t>Structural Patterns:</a:t>
            </a:r>
            <a:r>
              <a:rPr lang="en-US" sz="1600" dirty="0"/>
              <a:t> These patterns explain how to assemble objects and classes into larger structures while keeping these structures flexible and efficient.</a:t>
            </a:r>
          </a:p>
          <a:p>
            <a:pPr marL="457200" indent="-457200" algn="just">
              <a:buAutoNum type="arabicPeriod"/>
            </a:pPr>
            <a:r>
              <a:rPr lang="en-US" sz="1600" b="1" dirty="0"/>
              <a:t>Behavioral Patterns:</a:t>
            </a:r>
            <a:r>
              <a:rPr lang="en-US" sz="1600" dirty="0"/>
              <a:t> These patterns are specifically concerned with communication, interaction, and assignment of responsibilities between objects.</a:t>
            </a:r>
          </a:p>
        </p:txBody>
      </p:sp>
    </p:spTree>
    <p:extLst>
      <p:ext uri="{BB962C8B-B14F-4D97-AF65-F5344CB8AC3E}">
        <p14:creationId xmlns:p14="http://schemas.microsoft.com/office/powerpoint/2010/main" val="33497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5B109-9361-C262-38B5-28D4440FD9BF}"/>
              </a:ext>
            </a:extLst>
          </p:cNvPr>
          <p:cNvSpPr>
            <a:spLocks noGrp="1"/>
          </p:cNvSpPr>
          <p:nvPr>
            <p:ph type="title"/>
          </p:nvPr>
        </p:nvSpPr>
        <p:spPr/>
        <p:txBody>
          <a:bodyPr/>
          <a:lstStyle/>
          <a:p>
            <a:r>
              <a:rPr lang="en-US" b="1" i="0" dirty="0">
                <a:solidFill>
                  <a:srgbClr val="0D0D0D"/>
                </a:solidFill>
                <a:effectLst/>
                <a:latin typeface="Söhne"/>
              </a:rPr>
              <a:t>Creational Design Patterns:</a:t>
            </a:r>
            <a:endParaRPr lang="en-US" dirty="0"/>
          </a:p>
        </p:txBody>
      </p:sp>
      <p:sp>
        <p:nvSpPr>
          <p:cNvPr id="3" name="Content Placeholder 2">
            <a:extLst>
              <a:ext uri="{FF2B5EF4-FFF2-40B4-BE49-F238E27FC236}">
                <a16:creationId xmlns:a16="http://schemas.microsoft.com/office/drawing/2014/main" id="{AECDF40C-3CC7-2DE7-C8F9-0639F95AE223}"/>
              </a:ext>
            </a:extLst>
          </p:cNvPr>
          <p:cNvSpPr>
            <a:spLocks noGrp="1"/>
          </p:cNvSpPr>
          <p:nvPr>
            <p:ph idx="1"/>
          </p:nvPr>
        </p:nvSpPr>
        <p:spPr/>
        <p:txBody>
          <a:bodyPr/>
          <a:lstStyle/>
          <a:p>
            <a:pPr algn="l">
              <a:buFont typeface="+mj-lt"/>
              <a:buAutoNum type="arabicPeriod"/>
            </a:pPr>
            <a:r>
              <a:rPr lang="en-US" b="0" i="0" dirty="0">
                <a:solidFill>
                  <a:srgbClr val="0D0D0D"/>
                </a:solidFill>
                <a:effectLst/>
                <a:latin typeface="Söhne"/>
              </a:rPr>
              <a:t>Singleton Pattern</a:t>
            </a:r>
          </a:p>
          <a:p>
            <a:pPr algn="l">
              <a:buFont typeface="+mj-lt"/>
              <a:buAutoNum type="arabicPeriod"/>
            </a:pPr>
            <a:r>
              <a:rPr lang="en-US" b="0" i="0" dirty="0">
                <a:solidFill>
                  <a:srgbClr val="0D0D0D"/>
                </a:solidFill>
                <a:effectLst/>
                <a:latin typeface="Söhne"/>
              </a:rPr>
              <a:t>Factory Method Pattern</a:t>
            </a:r>
          </a:p>
          <a:p>
            <a:pPr algn="l">
              <a:buFont typeface="+mj-lt"/>
              <a:buAutoNum type="arabicPeriod"/>
            </a:pPr>
            <a:r>
              <a:rPr lang="en-US" b="0" i="0" dirty="0">
                <a:solidFill>
                  <a:srgbClr val="0D0D0D"/>
                </a:solidFill>
                <a:effectLst/>
                <a:latin typeface="Söhne"/>
              </a:rPr>
              <a:t>Abstract Factory Pattern</a:t>
            </a:r>
          </a:p>
          <a:p>
            <a:pPr algn="l">
              <a:buFont typeface="+mj-lt"/>
              <a:buAutoNum type="arabicPeriod"/>
            </a:pPr>
            <a:r>
              <a:rPr lang="en-US" b="0" i="0" dirty="0">
                <a:solidFill>
                  <a:srgbClr val="0D0D0D"/>
                </a:solidFill>
                <a:effectLst/>
                <a:latin typeface="Söhne"/>
              </a:rPr>
              <a:t>Builder Pattern</a:t>
            </a:r>
          </a:p>
          <a:p>
            <a:pPr algn="l">
              <a:buFont typeface="+mj-lt"/>
              <a:buAutoNum type="arabicPeriod"/>
            </a:pPr>
            <a:r>
              <a:rPr lang="en-US" b="0" i="0" dirty="0">
                <a:solidFill>
                  <a:srgbClr val="0D0D0D"/>
                </a:solidFill>
                <a:effectLst/>
                <a:latin typeface="Söhne"/>
              </a:rPr>
              <a:t>Prototype Pattern</a:t>
            </a:r>
          </a:p>
          <a:p>
            <a:endParaRPr lang="en-US" dirty="0"/>
          </a:p>
        </p:txBody>
      </p:sp>
    </p:spTree>
    <p:extLst>
      <p:ext uri="{BB962C8B-B14F-4D97-AF65-F5344CB8AC3E}">
        <p14:creationId xmlns:p14="http://schemas.microsoft.com/office/powerpoint/2010/main" val="2145568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5B109-9361-C262-38B5-28D4440FD9BF}"/>
              </a:ext>
            </a:extLst>
          </p:cNvPr>
          <p:cNvSpPr>
            <a:spLocks noGrp="1"/>
          </p:cNvSpPr>
          <p:nvPr>
            <p:ph type="title"/>
          </p:nvPr>
        </p:nvSpPr>
        <p:spPr/>
        <p:txBody>
          <a:bodyPr/>
          <a:lstStyle/>
          <a:p>
            <a:r>
              <a:rPr lang="en-US" b="1" i="0" dirty="0">
                <a:solidFill>
                  <a:srgbClr val="0D0D0D"/>
                </a:solidFill>
                <a:effectLst/>
                <a:latin typeface="Söhne"/>
              </a:rPr>
              <a:t>Creational Design Patterns:</a:t>
            </a:r>
            <a:endParaRPr lang="en-US" dirty="0"/>
          </a:p>
        </p:txBody>
      </p:sp>
      <p:sp>
        <p:nvSpPr>
          <p:cNvPr id="4" name="Rectangle 1">
            <a:extLst>
              <a:ext uri="{FF2B5EF4-FFF2-40B4-BE49-F238E27FC236}">
                <a16:creationId xmlns:a16="http://schemas.microsoft.com/office/drawing/2014/main" id="{2FAEA890-2608-474E-ACFA-04BDF4877EB5}"/>
              </a:ext>
            </a:extLst>
          </p:cNvPr>
          <p:cNvSpPr>
            <a:spLocks noGrp="1" noChangeArrowheads="1"/>
          </p:cNvSpPr>
          <p:nvPr>
            <p:ph idx="1"/>
          </p:nvPr>
        </p:nvSpPr>
        <p:spPr bwMode="auto">
          <a:xfrm>
            <a:off x="956726" y="1891889"/>
            <a:ext cx="1068537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mj-lt"/>
              </a:rPr>
              <a:t>1. Creational Patterns (5 Patterns)</a:t>
            </a:r>
            <a:endParaRPr kumimoji="0" lang="en-US" altLang="en-US" sz="17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mj-lt"/>
              </a:rPr>
              <a:t>These patterns control </a:t>
            </a:r>
            <a:r>
              <a:rPr kumimoji="0" lang="en-US" altLang="en-US" sz="1700" b="1" i="0" u="none" strike="noStrike" cap="none" normalizeH="0" baseline="0" dirty="0">
                <a:ln>
                  <a:noFill/>
                </a:ln>
                <a:solidFill>
                  <a:schemeClr val="tx1"/>
                </a:solidFill>
                <a:effectLst/>
                <a:latin typeface="+mj-lt"/>
              </a:rPr>
              <a:t>object creation mechanisms</a:t>
            </a:r>
            <a:r>
              <a:rPr kumimoji="0" lang="en-US" altLang="en-US" sz="1700" b="0" i="0" u="none" strike="noStrike" cap="none" normalizeH="0" baseline="0" dirty="0">
                <a:ln>
                  <a:noFill/>
                </a:ln>
                <a:solidFill>
                  <a:schemeClr val="tx1"/>
                </a:solidFill>
                <a:effectLst/>
                <a:latin typeface="+mj-lt"/>
              </a:rPr>
              <a:t>, isolating the generation logic from the system to reduce complexity and tight coupling. </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700" b="1" i="0" u="none" strike="noStrike" cap="none" normalizeH="0" baseline="0" dirty="0">
                <a:ln>
                  <a:noFill/>
                </a:ln>
                <a:solidFill>
                  <a:schemeClr val="tx1"/>
                </a:solidFill>
                <a:effectLst/>
                <a:latin typeface="+mj-lt"/>
              </a:rPr>
              <a:t>Abstract Factory</a:t>
            </a:r>
            <a:r>
              <a:rPr kumimoji="0" lang="en-US" altLang="en-US" sz="1700" b="0" i="0" u="none" strike="noStrike" cap="none" normalizeH="0" baseline="0" dirty="0">
                <a:ln>
                  <a:noFill/>
                </a:ln>
                <a:solidFill>
                  <a:schemeClr val="tx1"/>
                </a:solidFill>
                <a:effectLst/>
                <a:latin typeface="+mj-lt"/>
              </a:rPr>
              <a:t>: Creates families of related or dependent objects without specifying their exact concrete classes.</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700" b="1" i="0" u="none" strike="noStrike" cap="none" normalizeH="0" baseline="0" dirty="0">
                <a:ln>
                  <a:noFill/>
                </a:ln>
                <a:solidFill>
                  <a:schemeClr val="tx1"/>
                </a:solidFill>
                <a:effectLst/>
                <a:latin typeface="+mj-lt"/>
              </a:rPr>
              <a:t>Builder</a:t>
            </a:r>
            <a:r>
              <a:rPr kumimoji="0" lang="en-US" altLang="en-US" sz="1700" b="0" i="0" u="none" strike="noStrike" cap="none" normalizeH="0" baseline="0" dirty="0">
                <a:ln>
                  <a:noFill/>
                </a:ln>
                <a:solidFill>
                  <a:schemeClr val="tx1"/>
                </a:solidFill>
                <a:effectLst/>
                <a:latin typeface="+mj-lt"/>
              </a:rPr>
              <a:t>: Constructs complex objects step-by-step, allowing the same construction process to produce different representations.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700" b="1" i="0" u="none" strike="noStrike" cap="none" normalizeH="0" baseline="0" dirty="0">
                <a:ln>
                  <a:noFill/>
                </a:ln>
                <a:solidFill>
                  <a:schemeClr val="tx1"/>
                </a:solidFill>
                <a:effectLst/>
                <a:latin typeface="+mj-lt"/>
              </a:rPr>
              <a:t>Factory Method</a:t>
            </a:r>
            <a:r>
              <a:rPr kumimoji="0" lang="en-US" altLang="en-US" sz="1700" b="0" i="0" u="none" strike="noStrike" cap="none" normalizeH="0" baseline="0" dirty="0">
                <a:ln>
                  <a:noFill/>
                </a:ln>
                <a:solidFill>
                  <a:schemeClr val="tx1"/>
                </a:solidFill>
                <a:effectLst/>
                <a:latin typeface="+mj-lt"/>
              </a:rPr>
              <a:t>: Defines a creation interface but lets subclasses decide which specific class to instantiate.</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700" b="1" i="0" u="none" strike="noStrike" cap="none" normalizeH="0" baseline="0" dirty="0">
                <a:ln>
                  <a:noFill/>
                </a:ln>
                <a:solidFill>
                  <a:schemeClr val="tx1"/>
                </a:solidFill>
                <a:effectLst/>
                <a:latin typeface="+mj-lt"/>
              </a:rPr>
              <a:t>Prototype</a:t>
            </a:r>
            <a:r>
              <a:rPr kumimoji="0" lang="en-US" altLang="en-US" sz="1700" b="0" i="0" u="none" strike="noStrike" cap="none" normalizeH="0" baseline="0" dirty="0">
                <a:ln>
                  <a:noFill/>
                </a:ln>
                <a:solidFill>
                  <a:schemeClr val="tx1"/>
                </a:solidFill>
                <a:effectLst/>
                <a:latin typeface="+mj-lt"/>
              </a:rPr>
              <a:t>: Creates new objects by cloning an existing configured instance (prototype) rather than creating them from scratch.</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700" b="1" i="0" u="none" strike="noStrike" cap="none" normalizeH="0" baseline="0" dirty="0">
                <a:ln>
                  <a:noFill/>
                </a:ln>
                <a:solidFill>
                  <a:schemeClr val="tx1"/>
                </a:solidFill>
                <a:effectLst/>
                <a:latin typeface="+mj-lt"/>
              </a:rPr>
              <a:t>Singleton</a:t>
            </a:r>
            <a:r>
              <a:rPr kumimoji="0" lang="en-US" altLang="en-US" sz="1700" b="0" i="0" u="none" strike="noStrike" cap="none" normalizeH="0" baseline="0" dirty="0">
                <a:ln>
                  <a:noFill/>
                </a:ln>
                <a:solidFill>
                  <a:schemeClr val="tx1"/>
                </a:solidFill>
                <a:effectLst/>
                <a:latin typeface="+mj-lt"/>
              </a:rPr>
              <a:t>: Ensures that a class has exactly one global instance and provides a single, unified point of access to it.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7280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7921D-66B3-27B3-E976-26896050A890}"/>
              </a:ext>
            </a:extLst>
          </p:cNvPr>
          <p:cNvSpPr>
            <a:spLocks noGrp="1"/>
          </p:cNvSpPr>
          <p:nvPr>
            <p:ph type="title"/>
          </p:nvPr>
        </p:nvSpPr>
        <p:spPr/>
        <p:txBody>
          <a:bodyPr/>
          <a:lstStyle/>
          <a:p>
            <a:r>
              <a:rPr lang="en-US" b="1" i="0" dirty="0">
                <a:solidFill>
                  <a:srgbClr val="0D0D0D"/>
                </a:solidFill>
                <a:effectLst/>
                <a:latin typeface="Söhne"/>
              </a:rPr>
              <a:t>Structural Design Patterns:</a:t>
            </a:r>
            <a:endParaRPr lang="en-US" dirty="0"/>
          </a:p>
        </p:txBody>
      </p:sp>
      <p:sp>
        <p:nvSpPr>
          <p:cNvPr id="3" name="Content Placeholder 2">
            <a:extLst>
              <a:ext uri="{FF2B5EF4-FFF2-40B4-BE49-F238E27FC236}">
                <a16:creationId xmlns:a16="http://schemas.microsoft.com/office/drawing/2014/main" id="{42A1BD21-1FD5-65C8-19D1-86590069B1CA}"/>
              </a:ext>
            </a:extLst>
          </p:cNvPr>
          <p:cNvSpPr>
            <a:spLocks noGrp="1"/>
          </p:cNvSpPr>
          <p:nvPr>
            <p:ph idx="1"/>
          </p:nvPr>
        </p:nvSpPr>
        <p:spPr/>
        <p:txBody>
          <a:bodyPr/>
          <a:lstStyle/>
          <a:p>
            <a:pPr algn="l">
              <a:buFont typeface="+mj-lt"/>
              <a:buAutoNum type="arabicPeriod" startAt="6"/>
            </a:pPr>
            <a:r>
              <a:rPr lang="en-US" b="0" i="0" dirty="0">
                <a:solidFill>
                  <a:srgbClr val="0D0D0D"/>
                </a:solidFill>
                <a:effectLst/>
                <a:latin typeface="Söhne"/>
              </a:rPr>
              <a:t>Adapter Pattern</a:t>
            </a:r>
          </a:p>
          <a:p>
            <a:pPr algn="l">
              <a:buFont typeface="+mj-lt"/>
              <a:buAutoNum type="arabicPeriod" startAt="6"/>
            </a:pPr>
            <a:r>
              <a:rPr lang="en-US" b="0" i="0" dirty="0">
                <a:solidFill>
                  <a:srgbClr val="0D0D0D"/>
                </a:solidFill>
                <a:effectLst/>
                <a:latin typeface="Söhne"/>
              </a:rPr>
              <a:t>Bridge Pattern</a:t>
            </a:r>
          </a:p>
          <a:p>
            <a:pPr algn="l">
              <a:buFont typeface="+mj-lt"/>
              <a:buAutoNum type="arabicPeriod" startAt="6"/>
            </a:pPr>
            <a:r>
              <a:rPr lang="en-US" b="0" i="0" dirty="0">
                <a:solidFill>
                  <a:srgbClr val="0D0D0D"/>
                </a:solidFill>
                <a:effectLst/>
                <a:latin typeface="Söhne"/>
              </a:rPr>
              <a:t>Composite Pattern</a:t>
            </a:r>
          </a:p>
          <a:p>
            <a:pPr algn="l">
              <a:buFont typeface="+mj-lt"/>
              <a:buAutoNum type="arabicPeriod" startAt="6"/>
            </a:pPr>
            <a:r>
              <a:rPr lang="en-US" b="0" i="0" dirty="0">
                <a:solidFill>
                  <a:srgbClr val="0D0D0D"/>
                </a:solidFill>
                <a:effectLst/>
                <a:latin typeface="Söhne"/>
              </a:rPr>
              <a:t>Decorator Pattern</a:t>
            </a:r>
          </a:p>
          <a:p>
            <a:pPr algn="l">
              <a:buFont typeface="+mj-lt"/>
              <a:buAutoNum type="arabicPeriod" startAt="6"/>
            </a:pPr>
            <a:r>
              <a:rPr lang="en-US" b="0" i="0" dirty="0">
                <a:solidFill>
                  <a:srgbClr val="0D0D0D"/>
                </a:solidFill>
                <a:effectLst/>
                <a:latin typeface="Söhne"/>
              </a:rPr>
              <a:t>Facade Pattern</a:t>
            </a:r>
          </a:p>
          <a:p>
            <a:pPr algn="l">
              <a:buFont typeface="+mj-lt"/>
              <a:buAutoNum type="arabicPeriod" startAt="6"/>
            </a:pPr>
            <a:r>
              <a:rPr lang="en-US" b="0" i="0" dirty="0">
                <a:solidFill>
                  <a:srgbClr val="0D0D0D"/>
                </a:solidFill>
                <a:effectLst/>
                <a:latin typeface="Söhne"/>
              </a:rPr>
              <a:t>Flyweight Pattern</a:t>
            </a:r>
          </a:p>
          <a:p>
            <a:pPr algn="l">
              <a:buFont typeface="+mj-lt"/>
              <a:buAutoNum type="arabicPeriod" startAt="6"/>
            </a:pPr>
            <a:r>
              <a:rPr lang="en-US" b="0" i="0" dirty="0">
                <a:solidFill>
                  <a:srgbClr val="0D0D0D"/>
                </a:solidFill>
                <a:effectLst/>
                <a:latin typeface="Söhne"/>
              </a:rPr>
              <a:t>Proxy Pattern</a:t>
            </a:r>
          </a:p>
          <a:p>
            <a:endParaRPr lang="en-US" dirty="0"/>
          </a:p>
        </p:txBody>
      </p:sp>
    </p:spTree>
    <p:extLst>
      <p:ext uri="{BB962C8B-B14F-4D97-AF65-F5344CB8AC3E}">
        <p14:creationId xmlns:p14="http://schemas.microsoft.com/office/powerpoint/2010/main" val="3057891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7921D-66B3-27B3-E976-26896050A890}"/>
              </a:ext>
            </a:extLst>
          </p:cNvPr>
          <p:cNvSpPr>
            <a:spLocks noGrp="1"/>
          </p:cNvSpPr>
          <p:nvPr>
            <p:ph type="title"/>
          </p:nvPr>
        </p:nvSpPr>
        <p:spPr/>
        <p:txBody>
          <a:bodyPr/>
          <a:lstStyle/>
          <a:p>
            <a:r>
              <a:rPr lang="en-US" b="1" i="0" dirty="0">
                <a:solidFill>
                  <a:srgbClr val="0D0D0D"/>
                </a:solidFill>
                <a:effectLst/>
                <a:latin typeface="Söhne"/>
              </a:rPr>
              <a:t>Structural Design Patterns:</a:t>
            </a:r>
            <a:endParaRPr lang="en-US" dirty="0"/>
          </a:p>
        </p:txBody>
      </p:sp>
      <p:sp>
        <p:nvSpPr>
          <p:cNvPr id="3" name="Content Placeholder 2">
            <a:extLst>
              <a:ext uri="{FF2B5EF4-FFF2-40B4-BE49-F238E27FC236}">
                <a16:creationId xmlns:a16="http://schemas.microsoft.com/office/drawing/2014/main" id="{42A1BD21-1FD5-65C8-19D1-86590069B1CA}"/>
              </a:ext>
            </a:extLst>
          </p:cNvPr>
          <p:cNvSpPr>
            <a:spLocks noGrp="1"/>
          </p:cNvSpPr>
          <p:nvPr>
            <p:ph idx="1"/>
          </p:nvPr>
        </p:nvSpPr>
        <p:spPr/>
        <p:txBody>
          <a:bodyPr>
            <a:normAutofit fontScale="77500" lnSpcReduction="20000"/>
          </a:bodyPr>
          <a:lstStyle/>
          <a:p>
            <a:pPr marL="0" indent="0">
              <a:buNone/>
            </a:pPr>
            <a:r>
              <a:rPr lang="en-US" b="1" dirty="0"/>
              <a:t>2. Structural Patterns (7 Patterns)</a:t>
            </a:r>
            <a:r>
              <a:rPr lang="en-US" dirty="0"/>
              <a:t>: </a:t>
            </a:r>
          </a:p>
          <a:p>
            <a:pPr marL="0" indent="0">
              <a:buNone/>
            </a:pPr>
            <a:r>
              <a:rPr lang="en-US" dirty="0"/>
              <a:t>These patterns focus on class and object composition, using inheritance and interfaces to safely assemble smaller objects into larger, flexible structures.</a:t>
            </a:r>
          </a:p>
          <a:p>
            <a:pPr marL="457200" indent="-457200">
              <a:buFont typeface="+mj-lt"/>
              <a:buAutoNum type="arabicParenR" startAt="7"/>
            </a:pPr>
            <a:r>
              <a:rPr lang="en-US" b="1" dirty="0"/>
              <a:t>Adapter:</a:t>
            </a:r>
            <a:r>
              <a:rPr lang="en-US" dirty="0"/>
              <a:t> Translates the incompatible interface of an existing class into another interface that a client expects.</a:t>
            </a:r>
          </a:p>
          <a:p>
            <a:pPr marL="457200" indent="-457200">
              <a:buFont typeface="+mj-lt"/>
              <a:buAutoNum type="arabicParenR" startAt="7"/>
            </a:pPr>
            <a:r>
              <a:rPr lang="en-US" b="1" dirty="0"/>
              <a:t>Bridge:</a:t>
            </a:r>
            <a:r>
              <a:rPr lang="en-US" dirty="0"/>
              <a:t> Decouples an object's abstraction from its implementation details so the two can vary independently.</a:t>
            </a:r>
          </a:p>
          <a:p>
            <a:pPr marL="457200" indent="-457200">
              <a:buFont typeface="+mj-lt"/>
              <a:buAutoNum type="arabicParenR" startAt="7"/>
            </a:pPr>
            <a:r>
              <a:rPr lang="en-US" b="1" dirty="0"/>
              <a:t>Composite:</a:t>
            </a:r>
            <a:r>
              <a:rPr lang="en-US" dirty="0"/>
              <a:t> Composes objects into tree-like structures to represent part-whole hierarchies, treating individual objects and compositions uniformly.</a:t>
            </a:r>
          </a:p>
          <a:p>
            <a:pPr marL="457200" indent="-457200">
              <a:buFont typeface="+mj-lt"/>
              <a:buAutoNum type="arabicParenR" startAt="7"/>
            </a:pPr>
            <a:r>
              <a:rPr lang="en-US" b="1" dirty="0"/>
              <a:t>Decorator:</a:t>
            </a:r>
            <a:r>
              <a:rPr lang="en-US" dirty="0"/>
              <a:t> Dynamically adds new behaviors or responsibilities to an object at runtime without altering its structure.</a:t>
            </a:r>
          </a:p>
          <a:p>
            <a:pPr marL="457200" indent="-457200">
              <a:buFont typeface="+mj-lt"/>
              <a:buAutoNum type="arabicParenR" startAt="7"/>
            </a:pPr>
            <a:r>
              <a:rPr lang="en-US" b="1" dirty="0"/>
              <a:t>Facade:</a:t>
            </a:r>
            <a:r>
              <a:rPr lang="en-US" dirty="0"/>
              <a:t> Provides a simplified, high-level interface that hides the complex internal subsystems of a framework or library.</a:t>
            </a:r>
          </a:p>
          <a:p>
            <a:pPr marL="457200" indent="-457200">
              <a:buFont typeface="+mj-lt"/>
              <a:buAutoNum type="arabicParenR" startAt="7"/>
            </a:pPr>
            <a:r>
              <a:rPr lang="en-US" b="1" dirty="0"/>
              <a:t>Flyweight:</a:t>
            </a:r>
            <a:r>
              <a:rPr lang="en-US" dirty="0"/>
              <a:t> Shares large volumes of fine-grained object data to minimize memory consumption.</a:t>
            </a:r>
          </a:p>
          <a:p>
            <a:pPr marL="457200" indent="-457200">
              <a:buFont typeface="+mj-lt"/>
              <a:buAutoNum type="arabicParenR" startAt="7"/>
            </a:pPr>
            <a:r>
              <a:rPr lang="en-US" b="1" dirty="0"/>
              <a:t>Proxy:</a:t>
            </a:r>
            <a:r>
              <a:rPr lang="en-US" dirty="0"/>
              <a:t> Provides a placeholder or surrogate object to control or restrict access to the original object.</a:t>
            </a:r>
          </a:p>
        </p:txBody>
      </p:sp>
    </p:spTree>
    <p:extLst>
      <p:ext uri="{BB962C8B-B14F-4D97-AF65-F5344CB8AC3E}">
        <p14:creationId xmlns:p14="http://schemas.microsoft.com/office/powerpoint/2010/main" val="1198672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1AE42-B8CF-8EB8-AE48-A96DDB7196AA}"/>
              </a:ext>
            </a:extLst>
          </p:cNvPr>
          <p:cNvSpPr>
            <a:spLocks noGrp="1"/>
          </p:cNvSpPr>
          <p:nvPr>
            <p:ph type="title"/>
          </p:nvPr>
        </p:nvSpPr>
        <p:spPr/>
        <p:txBody>
          <a:bodyPr/>
          <a:lstStyle/>
          <a:p>
            <a:r>
              <a:rPr lang="en-US" b="1" i="0" dirty="0">
                <a:solidFill>
                  <a:srgbClr val="0D0D0D"/>
                </a:solidFill>
                <a:effectLst/>
                <a:latin typeface="Söhne"/>
              </a:rPr>
              <a:t>Behavioral Design Patterns:</a:t>
            </a:r>
            <a:endParaRPr lang="en-US" dirty="0"/>
          </a:p>
        </p:txBody>
      </p:sp>
      <p:sp>
        <p:nvSpPr>
          <p:cNvPr id="3" name="Content Placeholder 2">
            <a:extLst>
              <a:ext uri="{FF2B5EF4-FFF2-40B4-BE49-F238E27FC236}">
                <a16:creationId xmlns:a16="http://schemas.microsoft.com/office/drawing/2014/main" id="{DA0B28D7-3E07-E3AD-4E79-66AB43FE475C}"/>
              </a:ext>
            </a:extLst>
          </p:cNvPr>
          <p:cNvSpPr>
            <a:spLocks noGrp="1"/>
          </p:cNvSpPr>
          <p:nvPr>
            <p:ph idx="1"/>
          </p:nvPr>
        </p:nvSpPr>
        <p:spPr/>
        <p:txBody>
          <a:bodyPr>
            <a:normAutofit fontScale="92500" lnSpcReduction="20000"/>
          </a:bodyPr>
          <a:lstStyle/>
          <a:p>
            <a:pPr algn="l">
              <a:buFont typeface="+mj-lt"/>
              <a:buAutoNum type="arabicPeriod" startAt="13"/>
            </a:pPr>
            <a:r>
              <a:rPr lang="en-US" b="0" i="0" dirty="0">
                <a:solidFill>
                  <a:srgbClr val="0D0D0D"/>
                </a:solidFill>
                <a:effectLst/>
                <a:latin typeface="Söhne"/>
              </a:rPr>
              <a:t>Chain of Responsibility Pattern</a:t>
            </a:r>
          </a:p>
          <a:p>
            <a:pPr algn="l">
              <a:buFont typeface="+mj-lt"/>
              <a:buAutoNum type="arabicPeriod" startAt="13"/>
            </a:pPr>
            <a:r>
              <a:rPr lang="en-US" b="0" i="0" dirty="0">
                <a:solidFill>
                  <a:srgbClr val="0D0D0D"/>
                </a:solidFill>
                <a:effectLst/>
                <a:latin typeface="Söhne"/>
              </a:rPr>
              <a:t>Command Pattern</a:t>
            </a:r>
          </a:p>
          <a:p>
            <a:pPr algn="l">
              <a:buFont typeface="+mj-lt"/>
              <a:buAutoNum type="arabicPeriod" startAt="13"/>
            </a:pPr>
            <a:r>
              <a:rPr lang="en-US" b="0" i="0" dirty="0">
                <a:solidFill>
                  <a:srgbClr val="0D0D0D"/>
                </a:solidFill>
                <a:effectLst/>
                <a:latin typeface="Söhne"/>
              </a:rPr>
              <a:t>Interpreter Pattern</a:t>
            </a:r>
          </a:p>
          <a:p>
            <a:pPr algn="l">
              <a:buFont typeface="+mj-lt"/>
              <a:buAutoNum type="arabicPeriod" startAt="13"/>
            </a:pPr>
            <a:r>
              <a:rPr lang="en-US" b="0" i="0" dirty="0">
                <a:solidFill>
                  <a:srgbClr val="0D0D0D"/>
                </a:solidFill>
                <a:effectLst/>
                <a:latin typeface="Söhne"/>
              </a:rPr>
              <a:t>Iterator Pattern</a:t>
            </a:r>
          </a:p>
          <a:p>
            <a:pPr algn="l">
              <a:buFont typeface="+mj-lt"/>
              <a:buAutoNum type="arabicPeriod" startAt="13"/>
            </a:pPr>
            <a:r>
              <a:rPr lang="en-US" b="0" i="0" dirty="0">
                <a:solidFill>
                  <a:srgbClr val="0D0D0D"/>
                </a:solidFill>
                <a:effectLst/>
                <a:latin typeface="Söhne"/>
              </a:rPr>
              <a:t>Mediator Pattern</a:t>
            </a:r>
          </a:p>
          <a:p>
            <a:pPr algn="l">
              <a:buFont typeface="+mj-lt"/>
              <a:buAutoNum type="arabicPeriod" startAt="13"/>
            </a:pPr>
            <a:r>
              <a:rPr lang="en-US" b="0" i="0" dirty="0">
                <a:solidFill>
                  <a:srgbClr val="0D0D0D"/>
                </a:solidFill>
                <a:effectLst/>
                <a:latin typeface="Söhne"/>
              </a:rPr>
              <a:t>Memento Pattern</a:t>
            </a:r>
          </a:p>
          <a:p>
            <a:pPr algn="l">
              <a:buFont typeface="+mj-lt"/>
              <a:buAutoNum type="arabicPeriod" startAt="13"/>
            </a:pPr>
            <a:r>
              <a:rPr lang="en-US" b="0" i="0" dirty="0">
                <a:solidFill>
                  <a:srgbClr val="0D0D0D"/>
                </a:solidFill>
                <a:effectLst/>
                <a:latin typeface="Söhne"/>
              </a:rPr>
              <a:t>Observer Pattern</a:t>
            </a:r>
          </a:p>
          <a:p>
            <a:pPr algn="l">
              <a:buFont typeface="+mj-lt"/>
              <a:buAutoNum type="arabicPeriod" startAt="13"/>
            </a:pPr>
            <a:r>
              <a:rPr lang="en-US" b="0" i="0" dirty="0">
                <a:solidFill>
                  <a:srgbClr val="0D0D0D"/>
                </a:solidFill>
                <a:effectLst/>
                <a:latin typeface="Söhne"/>
              </a:rPr>
              <a:t>State Pattern</a:t>
            </a:r>
          </a:p>
          <a:p>
            <a:pPr algn="l">
              <a:buFont typeface="+mj-lt"/>
              <a:buAutoNum type="arabicPeriod" startAt="13"/>
            </a:pPr>
            <a:r>
              <a:rPr lang="en-US" b="0" i="0" dirty="0">
                <a:solidFill>
                  <a:srgbClr val="0D0D0D"/>
                </a:solidFill>
                <a:effectLst/>
                <a:latin typeface="Söhne"/>
              </a:rPr>
              <a:t>Strategy Pattern</a:t>
            </a:r>
          </a:p>
          <a:p>
            <a:pPr algn="l">
              <a:buFont typeface="+mj-lt"/>
              <a:buAutoNum type="arabicPeriod" startAt="13"/>
            </a:pPr>
            <a:r>
              <a:rPr lang="en-US" b="0" i="0" dirty="0">
                <a:solidFill>
                  <a:srgbClr val="0D0D0D"/>
                </a:solidFill>
                <a:effectLst/>
                <a:latin typeface="Söhne"/>
              </a:rPr>
              <a:t>Template Method Pattern</a:t>
            </a:r>
          </a:p>
          <a:p>
            <a:pPr algn="l">
              <a:buFont typeface="+mj-lt"/>
              <a:buAutoNum type="arabicPeriod" startAt="13"/>
            </a:pPr>
            <a:r>
              <a:rPr lang="en-US" b="0" i="0" dirty="0">
                <a:solidFill>
                  <a:srgbClr val="0D0D0D"/>
                </a:solidFill>
                <a:effectLst/>
                <a:latin typeface="Söhne"/>
              </a:rPr>
              <a:t>Visitor Pattern</a:t>
            </a:r>
          </a:p>
          <a:p>
            <a:endParaRPr lang="en-US" dirty="0"/>
          </a:p>
        </p:txBody>
      </p:sp>
    </p:spTree>
    <p:extLst>
      <p:ext uri="{BB962C8B-B14F-4D97-AF65-F5344CB8AC3E}">
        <p14:creationId xmlns:p14="http://schemas.microsoft.com/office/powerpoint/2010/main" val="2707809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6F69592-C160-4A8B-A4D2-9648FFEA2338}"/>
              </a:ext>
            </a:extLst>
          </p:cNvPr>
          <p:cNvSpPr>
            <a:spLocks noGrp="1" noChangeArrowheads="1"/>
          </p:cNvSpPr>
          <p:nvPr>
            <p:ph idx="1"/>
          </p:nvPr>
        </p:nvSpPr>
        <p:spPr bwMode="auto">
          <a:xfrm>
            <a:off x="195555" y="73980"/>
            <a:ext cx="11305145"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3. Behavioral Patterns (11 Patterns)</a:t>
            </a: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These patterns manage </a:t>
            </a:r>
            <a:r>
              <a:rPr kumimoji="0" lang="en-US" altLang="en-US" sz="1800" b="1" i="0" u="none" strike="noStrike" cap="none" normalizeH="0" baseline="0" dirty="0">
                <a:ln>
                  <a:noFill/>
                </a:ln>
                <a:solidFill>
                  <a:schemeClr val="tx1"/>
                </a:solidFill>
                <a:effectLst/>
                <a:latin typeface="+mj-lt"/>
              </a:rPr>
              <a:t>object communication and responsibility assignment</a:t>
            </a:r>
            <a:r>
              <a:rPr kumimoji="0" lang="en-US" altLang="en-US" sz="1800" b="0" i="0" u="none" strike="noStrike" cap="none" normalizeH="0" baseline="0" dirty="0">
                <a:ln>
                  <a:noFill/>
                </a:ln>
                <a:solidFill>
                  <a:schemeClr val="tx1"/>
                </a:solidFill>
                <a:effectLst/>
                <a:latin typeface="+mj-lt"/>
              </a:rPr>
              <a:t>, outlining how objects interact and pass messages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Chain of Responsibility</a:t>
            </a:r>
            <a:r>
              <a:rPr kumimoji="0" lang="en-US" altLang="en-US" sz="1800" b="0" i="0" u="none" strike="noStrike" cap="none" normalizeH="0" baseline="0" dirty="0">
                <a:ln>
                  <a:noFill/>
                </a:ln>
                <a:solidFill>
                  <a:schemeClr val="tx1"/>
                </a:solidFill>
                <a:effectLst/>
                <a:latin typeface="+mj-lt"/>
              </a:rPr>
              <a:t>: Passes a request along a sequential chain of potential handlers until one processes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Command</a:t>
            </a:r>
            <a:r>
              <a:rPr kumimoji="0" lang="en-US" altLang="en-US" sz="1800" b="0" i="0" u="none" strike="noStrike" cap="none" normalizeH="0" baseline="0" dirty="0">
                <a:ln>
                  <a:noFill/>
                </a:ln>
                <a:solidFill>
                  <a:schemeClr val="tx1"/>
                </a:solidFill>
                <a:effectLst/>
                <a:latin typeface="+mj-lt"/>
              </a:rPr>
              <a:t>: Encapsulates a request or action into a self-contained object, supporting undo/redo operations and request queuing.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Interpreter</a:t>
            </a:r>
            <a:r>
              <a:rPr kumimoji="0" lang="en-US" altLang="en-US" sz="1800" b="0" i="0" u="none" strike="noStrike" cap="none" normalizeH="0" baseline="0" dirty="0">
                <a:ln>
                  <a:noFill/>
                </a:ln>
                <a:solidFill>
                  <a:schemeClr val="tx1"/>
                </a:solidFill>
                <a:effectLst/>
                <a:latin typeface="+mj-lt"/>
              </a:rPr>
              <a:t>: Establishes a grammatical representation for a simple language along with an interpreter to evaluate sentences.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Iterator</a:t>
            </a:r>
            <a:r>
              <a:rPr kumimoji="0" lang="en-US" altLang="en-US" sz="1800" b="0" i="0" u="none" strike="noStrike" cap="none" normalizeH="0" baseline="0" dirty="0">
                <a:ln>
                  <a:noFill/>
                </a:ln>
                <a:solidFill>
                  <a:schemeClr val="tx1"/>
                </a:solidFill>
                <a:effectLst/>
                <a:latin typeface="+mj-lt"/>
              </a:rPr>
              <a:t>: Sequentially accesses elements of an aggregate collection without exposing its underlying internal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Mediator</a:t>
            </a:r>
            <a:r>
              <a:rPr kumimoji="0" lang="en-US" altLang="en-US" sz="1800" b="0" i="0" u="none" strike="noStrike" cap="none" normalizeH="0" baseline="0" dirty="0">
                <a:ln>
                  <a:noFill/>
                </a:ln>
                <a:solidFill>
                  <a:schemeClr val="tx1"/>
                </a:solidFill>
                <a:effectLst/>
                <a:latin typeface="+mj-lt"/>
              </a:rPr>
              <a:t>: Restricts direct communication between objects and forces them to collaborate through a central mediator object.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Memento</a:t>
            </a:r>
            <a:r>
              <a:rPr kumimoji="0" lang="en-US" altLang="en-US" sz="1800" b="0" i="0" u="none" strike="noStrike" cap="none" normalizeH="0" baseline="0" dirty="0">
                <a:ln>
                  <a:noFill/>
                </a:ln>
                <a:solidFill>
                  <a:schemeClr val="tx1"/>
                </a:solidFill>
                <a:effectLst/>
                <a:latin typeface="+mj-lt"/>
              </a:rPr>
              <a:t>: Captures and externalizes an object's internal state so it can be restored later without violating encapsulation.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Observer</a:t>
            </a:r>
            <a:r>
              <a:rPr kumimoji="0" lang="en-US" altLang="en-US" sz="1800" b="0" i="0" u="none" strike="noStrike" cap="none" normalizeH="0" baseline="0" dirty="0">
                <a:ln>
                  <a:noFill/>
                </a:ln>
                <a:solidFill>
                  <a:schemeClr val="tx1"/>
                </a:solidFill>
                <a:effectLst/>
                <a:latin typeface="+mj-lt"/>
              </a:rPr>
              <a:t>: Sets up a one-to-many dependency where state changes in a subject automatically notify and update all linked dependents.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State</a:t>
            </a:r>
            <a:r>
              <a:rPr kumimoji="0" lang="en-US" altLang="en-US" sz="1800" b="0" i="0" u="none" strike="noStrike" cap="none" normalizeH="0" baseline="0" dirty="0">
                <a:ln>
                  <a:noFill/>
                </a:ln>
                <a:solidFill>
                  <a:schemeClr val="tx1"/>
                </a:solidFill>
                <a:effectLst/>
                <a:latin typeface="+mj-lt"/>
              </a:rPr>
              <a:t>: Changes an object's behavior dynamically when its internal state changes, mimicking a state machine.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Strategy</a:t>
            </a:r>
            <a:r>
              <a:rPr kumimoji="0" lang="en-US" altLang="en-US" sz="1800" b="0" i="0" u="none" strike="noStrike" cap="none" normalizeH="0" baseline="0" dirty="0">
                <a:ln>
                  <a:noFill/>
                </a:ln>
                <a:solidFill>
                  <a:schemeClr val="tx1"/>
                </a:solidFill>
                <a:effectLst/>
                <a:latin typeface="+mj-lt"/>
              </a:rPr>
              <a:t>: Defines a family of interchangeable algorithms and encapsulates each one, letting you switch them out at runtime.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Template Method</a:t>
            </a:r>
            <a:r>
              <a:rPr kumimoji="0" lang="en-US" altLang="en-US" sz="1800" b="0" i="0" u="none" strike="noStrike" cap="none" normalizeH="0" baseline="0" dirty="0">
                <a:ln>
                  <a:noFill/>
                </a:ln>
                <a:solidFill>
                  <a:schemeClr val="tx1"/>
                </a:solidFill>
                <a:effectLst/>
                <a:latin typeface="+mj-lt"/>
              </a:rPr>
              <a:t>: Defines the skeleton of an algorithm in a base class method, deferring specific steps to subclasses without overriding the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Visitor</a:t>
            </a:r>
            <a:r>
              <a:rPr kumimoji="0" lang="en-US" altLang="en-US" sz="1800" b="0" i="0" u="none" strike="noStrike" cap="none" normalizeH="0" baseline="0" dirty="0">
                <a:ln>
                  <a:noFill/>
                </a:ln>
                <a:solidFill>
                  <a:schemeClr val="tx1"/>
                </a:solidFill>
                <a:effectLst/>
                <a:latin typeface="+mj-lt"/>
              </a:rPr>
              <a:t>: Separates an algorithm from the object structure it operates on, letting you add new operations to existing classes without modifying them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7556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Design Pattern? List out 23 design patterns. Give proper example of Observer Pattern with proper figure.</a:t>
            </a:r>
          </a:p>
        </p:txBody>
      </p:sp>
    </p:spTree>
    <p:extLst>
      <p:ext uri="{BB962C8B-B14F-4D97-AF65-F5344CB8AC3E}">
        <p14:creationId xmlns:p14="http://schemas.microsoft.com/office/powerpoint/2010/main" val="20449450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Implementation Issues</a:t>
            </a:r>
          </a:p>
        </p:txBody>
      </p:sp>
      <p:sp>
        <p:nvSpPr>
          <p:cNvPr id="3" name="Content Placeholder 2"/>
          <p:cNvSpPr>
            <a:spLocks noGrp="1"/>
          </p:cNvSpPr>
          <p:nvPr>
            <p:ph idx="1"/>
          </p:nvPr>
        </p:nvSpPr>
        <p:spPr/>
        <p:txBody>
          <a:bodyPr>
            <a:normAutofit fontScale="92500"/>
          </a:bodyPr>
          <a:lstStyle/>
          <a:p>
            <a:pPr marL="0" indent="0" algn="just">
              <a:buNone/>
            </a:pPr>
            <a:r>
              <a:rPr lang="en-US" dirty="0"/>
              <a:t>Software engineering includes all of the activities involved in software development from the initial requirements of the system to maintenance and management of the deployed system. A critical stage of this process is, of course, system implementation, where you create an executable version of the software. Implementation may involve developing programs in high- or low-level programming languages or tailoring and adapting generic, off-the-shelf systems to meet the specific requirements of an organization.</a:t>
            </a:r>
          </a:p>
          <a:p>
            <a:pPr algn="just"/>
            <a:r>
              <a:rPr lang="en-US" b="1" dirty="0"/>
              <a:t>Bugs and Errors: </a:t>
            </a:r>
            <a:r>
              <a:rPr lang="en-US" dirty="0"/>
              <a:t>One of the biggest implementation issues in software engineering is bugs and errors. This can be caused by a variety of factors such as incorrect syntax, logic errors, or hardware malfunctions. These issues can lead to significant problems with the software, including crashes, data corruption, or data loss.</a:t>
            </a:r>
          </a:p>
          <a:p>
            <a:pPr algn="just"/>
            <a:r>
              <a:rPr lang="en-US" b="1" dirty="0"/>
              <a:t>Compatibility Issues: </a:t>
            </a:r>
            <a:r>
              <a:rPr lang="en-US" dirty="0"/>
              <a:t>Another common implementation issue is compatibility. As software evolves, changes to the underlying hardware, operating systems, and other software can cause compatibility issues. This can lead to errors, crashes, and other problems when trying to run the software on different systems.</a:t>
            </a:r>
          </a:p>
        </p:txBody>
      </p:sp>
    </p:spTree>
    <p:extLst>
      <p:ext uri="{BB962C8B-B14F-4D97-AF65-F5344CB8AC3E}">
        <p14:creationId xmlns:p14="http://schemas.microsoft.com/office/powerpoint/2010/main" val="1328007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Implementation Issues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a:t>Security Issues: </a:t>
            </a:r>
            <a:r>
              <a:rPr lang="en-US" dirty="0"/>
              <a:t>Security is a critical concern in software engineering. Implementing software without proper security measures can leave it vulnerable to attacks such as hacking or data theft. Common security issues include insufficient authentication and authorization mechanisms, buffer overflows, and SQL injection.</a:t>
            </a:r>
          </a:p>
          <a:p>
            <a:pPr algn="just"/>
            <a:r>
              <a:rPr lang="en-US" b="1" dirty="0"/>
              <a:t>Performance Issues: </a:t>
            </a:r>
            <a:r>
              <a:rPr lang="en-US" dirty="0"/>
              <a:t>Performance is another important factor to consider in software engineering. Poorly designed or implemented software can lead to slow performance or even crashes. This can be caused by factors such as inefficient algorithms, memory leaks, or poor coding practices.</a:t>
            </a:r>
          </a:p>
          <a:p>
            <a:pPr algn="just"/>
            <a:r>
              <a:rPr lang="en-US" b="1" dirty="0"/>
              <a:t>Maintenance and Scalability Issues: </a:t>
            </a:r>
            <a:r>
              <a:rPr lang="en-US" dirty="0"/>
              <a:t>Finally, maintenance and scalability are critical issues to consider in software engineering. Poorly designed software can be difficult to maintain, leading to increased costs and downtime. Similarly, software that is not designed to scale well can become slow or unusable as it grows in size or complexity.</a:t>
            </a:r>
          </a:p>
          <a:p>
            <a:pPr marL="0" indent="0" algn="just">
              <a:buNone/>
            </a:pPr>
            <a:r>
              <a:rPr lang="en-US" dirty="0"/>
              <a:t>These are just a few of the many implementation issues that software engineers may encounter when developing software. Addressing these issues requires careful planning, attention to detail, and a thorough understanding of the software development lifecycle.</a:t>
            </a:r>
          </a:p>
        </p:txBody>
      </p:sp>
    </p:spTree>
    <p:extLst>
      <p:ext uri="{BB962C8B-B14F-4D97-AF65-F5344CB8AC3E}">
        <p14:creationId xmlns:p14="http://schemas.microsoft.com/office/powerpoint/2010/main" val="155375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Reuse</a:t>
            </a:r>
          </a:p>
        </p:txBody>
      </p:sp>
      <p:sp>
        <p:nvSpPr>
          <p:cNvPr id="3" name="Content Placeholder 2"/>
          <p:cNvSpPr>
            <a:spLocks noGrp="1"/>
          </p:cNvSpPr>
          <p:nvPr>
            <p:ph idx="1"/>
          </p:nvPr>
        </p:nvSpPr>
        <p:spPr>
          <a:xfrm>
            <a:off x="665768" y="1457979"/>
            <a:ext cx="10860464" cy="4895686"/>
          </a:xfrm>
        </p:spPr>
        <p:txBody>
          <a:bodyPr>
            <a:normAutofit/>
          </a:bodyPr>
          <a:lstStyle/>
          <a:p>
            <a:pPr marL="0" indent="0" algn="just">
              <a:buNone/>
            </a:pPr>
            <a:r>
              <a:rPr lang="en-US" dirty="0"/>
              <a:t>Reuse Most modern software is constructed by reusing existing components or systems. When you are developing software, you should make as much use as possible of existing code.</a:t>
            </a:r>
          </a:p>
          <a:p>
            <a:pPr marL="0" indent="0" algn="just">
              <a:buNone/>
            </a:pPr>
            <a:r>
              <a:rPr lang="en-US" dirty="0"/>
              <a:t>Software reuse is possible at a number of different levels:</a:t>
            </a:r>
          </a:p>
          <a:p>
            <a:pPr marL="514350" indent="-514350" algn="just">
              <a:buAutoNum type="arabicPeriod"/>
            </a:pPr>
            <a:r>
              <a:rPr lang="en-US" b="1" dirty="0"/>
              <a:t>The abstraction level :</a:t>
            </a:r>
          </a:p>
          <a:p>
            <a:pPr marL="0" indent="0" algn="just">
              <a:buNone/>
            </a:pPr>
            <a:r>
              <a:rPr lang="en-US" dirty="0"/>
              <a:t>At this level, you don’t reuse software directly but rather use knowledge of successful abstractions in the design of your software. Design patterns and architectural patterns (covered in Chapter 6) are ways of representing abstract knowledge for reuse. </a:t>
            </a:r>
          </a:p>
          <a:p>
            <a:pPr marL="0" indent="0" algn="just">
              <a:buNone/>
            </a:pPr>
            <a:r>
              <a:rPr lang="en-US" b="1" dirty="0"/>
              <a:t>2. The object level :</a:t>
            </a:r>
          </a:p>
          <a:p>
            <a:pPr marL="0" indent="0" algn="just">
              <a:buNone/>
            </a:pPr>
            <a:r>
              <a:rPr lang="en-US" dirty="0"/>
              <a:t>At this level, you directly reuse objects from a library rather than writing the code yourself. To implement this type of reuse, you have to find appropriate libraries and discover if the objects and methods offer the functionality that you need. For example, if you need to process email messages in a Java program, you may use objects and methods from a </a:t>
            </a:r>
            <a:r>
              <a:rPr lang="en-US" dirty="0" err="1"/>
              <a:t>JavaMail</a:t>
            </a:r>
            <a:r>
              <a:rPr lang="en-US" dirty="0"/>
              <a:t> library.</a:t>
            </a:r>
          </a:p>
        </p:txBody>
      </p:sp>
    </p:spTree>
    <p:extLst>
      <p:ext uri="{BB962C8B-B14F-4D97-AF65-F5344CB8AC3E}">
        <p14:creationId xmlns:p14="http://schemas.microsoft.com/office/powerpoint/2010/main" val="1612856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Reuse</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3. </a:t>
            </a:r>
            <a:r>
              <a:rPr lang="en-US" b="1" dirty="0"/>
              <a:t>The component level :</a:t>
            </a:r>
            <a:r>
              <a:rPr lang="en-US" dirty="0"/>
              <a:t>Components are collections of objects and object classes that operate together to provide related functions and services. You often have to adapt and extend the component by adding some code of your own. An example of component-level reuse is where you build your user interface using a framework. </a:t>
            </a:r>
          </a:p>
          <a:p>
            <a:pPr marL="0" indent="0" algn="just">
              <a:buNone/>
            </a:pPr>
            <a:r>
              <a:rPr lang="en-US" dirty="0"/>
              <a:t>4. </a:t>
            </a:r>
            <a:r>
              <a:rPr lang="en-US" b="1" dirty="0"/>
              <a:t>The system level :</a:t>
            </a:r>
            <a:r>
              <a:rPr lang="en-US" dirty="0"/>
              <a:t>At this level, you reuse entire application systems. This function usually involves some kind of configuration of these systems. This may be done by adding and modifying code (if you are reusing a software product line) or by using the system’s own configuration interface. Most commercial systems are now built in this way where generic application systems are adapted and reused. Sometimes this approach may involve integrating several application systems to create a new system.</a:t>
            </a:r>
          </a:p>
        </p:txBody>
      </p:sp>
    </p:spTree>
    <p:extLst>
      <p:ext uri="{BB962C8B-B14F-4D97-AF65-F5344CB8AC3E}">
        <p14:creationId xmlns:p14="http://schemas.microsoft.com/office/powerpoint/2010/main" val="4248845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Reuse</a:t>
            </a:r>
            <a:endParaRPr lang="en-US" dirty="0"/>
          </a:p>
        </p:txBody>
      </p:sp>
      <p:pic>
        <p:nvPicPr>
          <p:cNvPr id="4" name="Content Placeholder 3"/>
          <p:cNvPicPr>
            <a:picLocks noGrp="1" noChangeAspect="1"/>
          </p:cNvPicPr>
          <p:nvPr>
            <p:ph idx="1"/>
          </p:nvPr>
        </p:nvPicPr>
        <p:blipFill>
          <a:blip r:embed="rId3"/>
          <a:stretch>
            <a:fillRect/>
          </a:stretch>
        </p:blipFill>
        <p:spPr>
          <a:xfrm>
            <a:off x="656702" y="1444332"/>
            <a:ext cx="9313681" cy="4583079"/>
          </a:xfrm>
          <a:prstGeom prst="rect">
            <a:avLst/>
          </a:prstGeom>
        </p:spPr>
      </p:pic>
    </p:spTree>
    <p:extLst>
      <p:ext uri="{BB962C8B-B14F-4D97-AF65-F5344CB8AC3E}">
        <p14:creationId xmlns:p14="http://schemas.microsoft.com/office/powerpoint/2010/main" val="695000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4.2 Configuration Management</a:t>
            </a:r>
          </a:p>
        </p:txBody>
      </p:sp>
      <p:sp>
        <p:nvSpPr>
          <p:cNvPr id="3" name="Content Placeholder 2"/>
          <p:cNvSpPr>
            <a:spLocks noGrp="1"/>
          </p:cNvSpPr>
          <p:nvPr>
            <p:ph idx="1"/>
          </p:nvPr>
        </p:nvSpPr>
        <p:spPr/>
        <p:txBody>
          <a:bodyPr>
            <a:normAutofit/>
          </a:bodyPr>
          <a:lstStyle/>
          <a:p>
            <a:pPr algn="just"/>
            <a:r>
              <a:rPr lang="en-US" dirty="0"/>
              <a:t>Configuration Management is a systematic process for establishing and maintaining consistency of a system's performance, functional, and physical attributes with its requirements, design, and operational information throughout its lifecycle.</a:t>
            </a:r>
          </a:p>
          <a:p>
            <a:pPr marL="0" indent="0">
              <a:buNone/>
            </a:pPr>
            <a:r>
              <a:rPr lang="en-US" b="1" dirty="0"/>
              <a:t>Examples of Configuration Management Tools:</a:t>
            </a:r>
          </a:p>
          <a:p>
            <a:pPr>
              <a:buFont typeface="Arial" panose="020B0604020202020204" pitchFamily="34" charset="0"/>
              <a:buChar char="•"/>
            </a:pPr>
            <a:r>
              <a:rPr lang="en-US" b="1" dirty="0"/>
              <a:t>Software Development:</a:t>
            </a:r>
            <a:r>
              <a:rPr lang="en-US" dirty="0"/>
              <a:t> Git, SVN, Jenkins</a:t>
            </a:r>
          </a:p>
          <a:p>
            <a:pPr>
              <a:buFont typeface="Arial" panose="020B0604020202020204" pitchFamily="34" charset="0"/>
              <a:buChar char="•"/>
            </a:pPr>
            <a:r>
              <a:rPr lang="en-US" b="1" dirty="0"/>
              <a:t>IT Infrastructure:</a:t>
            </a:r>
            <a:r>
              <a:rPr lang="en-US" dirty="0"/>
              <a:t> Ansible, Puppet, Chef</a:t>
            </a:r>
          </a:p>
          <a:p>
            <a:pPr>
              <a:buFont typeface="Arial" panose="020B0604020202020204" pitchFamily="34" charset="0"/>
              <a:buChar char="•"/>
            </a:pPr>
            <a:r>
              <a:rPr lang="en-US" b="1" dirty="0"/>
              <a:t>Enterprise Systems:</a:t>
            </a:r>
            <a:r>
              <a:rPr lang="en-US" dirty="0"/>
              <a:t> ServiceNow, IBM Rational ClearCase</a:t>
            </a:r>
          </a:p>
          <a:p>
            <a:pPr algn="just"/>
            <a:endParaRPr lang="en-US" dirty="0"/>
          </a:p>
        </p:txBody>
      </p:sp>
    </p:spTree>
    <p:extLst>
      <p:ext uri="{BB962C8B-B14F-4D97-AF65-F5344CB8AC3E}">
        <p14:creationId xmlns:p14="http://schemas.microsoft.com/office/powerpoint/2010/main" val="2020972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25903-F596-C609-0921-06393EC09594}"/>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1B1E9B69-CFC8-FC7F-D573-67B2A7E17B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9210" y="1498365"/>
            <a:ext cx="8040571" cy="4774089"/>
          </a:xfrm>
        </p:spPr>
      </p:pic>
    </p:spTree>
    <p:extLst>
      <p:ext uri="{BB962C8B-B14F-4D97-AF65-F5344CB8AC3E}">
        <p14:creationId xmlns:p14="http://schemas.microsoft.com/office/powerpoint/2010/main" val="21013894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4.3 Host-target development</a:t>
            </a:r>
          </a:p>
        </p:txBody>
      </p:sp>
      <p:sp>
        <p:nvSpPr>
          <p:cNvPr id="3" name="Content Placeholder 2"/>
          <p:cNvSpPr>
            <a:spLocks noGrp="1"/>
          </p:cNvSpPr>
          <p:nvPr>
            <p:ph idx="1"/>
          </p:nvPr>
        </p:nvSpPr>
        <p:spPr>
          <a:xfrm>
            <a:off x="838199" y="1825625"/>
            <a:ext cx="10786533" cy="4795308"/>
          </a:xfrm>
        </p:spPr>
        <p:txBody>
          <a:bodyPr>
            <a:normAutofit fontScale="92500" lnSpcReduction="20000"/>
          </a:bodyPr>
          <a:lstStyle/>
          <a:p>
            <a:pPr marL="0" indent="0" algn="just">
              <a:buNone/>
            </a:pPr>
            <a:r>
              <a:rPr lang="en-US" dirty="0"/>
              <a:t>Host-target development is a software development methodology that involves developing software on one machine (the host) for use on another machine (the target). The host machine is typically a development environment, while the target machine is the platform on which the software will be deployed.</a:t>
            </a:r>
          </a:p>
          <a:p>
            <a:pPr marL="0" indent="0" algn="just">
              <a:buNone/>
            </a:pPr>
            <a:r>
              <a:rPr lang="en-US" b="1" dirty="0"/>
              <a:t>Host System</a:t>
            </a:r>
          </a:p>
          <a:p>
            <a:pPr algn="just"/>
            <a:r>
              <a:rPr lang="en-US" dirty="0"/>
              <a:t>The computer where software is written, compiled, and tested.</a:t>
            </a:r>
          </a:p>
          <a:p>
            <a:pPr algn="just"/>
            <a:r>
              <a:rPr lang="en-US" dirty="0"/>
              <a:t>Usually a powerful machine (e.g., Windows/Linux PC).</a:t>
            </a:r>
          </a:p>
          <a:p>
            <a:pPr algn="just"/>
            <a:r>
              <a:rPr lang="en-US" dirty="0"/>
              <a:t>Has development tools like IDEs, compilers, and debuggers.</a:t>
            </a:r>
          </a:p>
          <a:p>
            <a:pPr marL="0" indent="0" algn="just">
              <a:buNone/>
            </a:pPr>
            <a:r>
              <a:rPr lang="en-US" b="1" dirty="0"/>
              <a:t>Target System</a:t>
            </a:r>
          </a:p>
          <a:p>
            <a:pPr algn="just"/>
            <a:r>
              <a:rPr lang="en-US" dirty="0"/>
              <a:t>The actual device where the software runs.</a:t>
            </a:r>
          </a:p>
          <a:p>
            <a:pPr algn="just"/>
            <a:r>
              <a:rPr lang="en-US" dirty="0"/>
              <a:t>Often a different architecture (e.g., microcontrollers, IoT devices, mobile phones).</a:t>
            </a:r>
          </a:p>
          <a:p>
            <a:pPr algn="just"/>
            <a:r>
              <a:rPr lang="en-US" dirty="0"/>
              <a:t>May have limited resources (memory, CPU, OS).</a:t>
            </a:r>
          </a:p>
          <a:p>
            <a:pPr marL="0" indent="0">
              <a:buNone/>
            </a:pPr>
            <a:r>
              <a:rPr lang="en-US" b="1" dirty="0" err="1"/>
              <a:t>Eg</a:t>
            </a:r>
            <a:r>
              <a:rPr lang="en-US" b="1" dirty="0"/>
              <a:t>: Mobile App Development:</a:t>
            </a:r>
            <a:endParaRPr lang="en-US" dirty="0"/>
          </a:p>
          <a:p>
            <a:pPr marL="0" indent="0">
              <a:buNone/>
            </a:pPr>
            <a:r>
              <a:rPr lang="en-US" dirty="0"/>
              <a:t>Developing and testing Android apps using </a:t>
            </a:r>
            <a:r>
              <a:rPr lang="en-US" b="1" dirty="0"/>
              <a:t>Android Studio</a:t>
            </a:r>
            <a:r>
              <a:rPr lang="en-US" dirty="0"/>
              <a:t> on a PC but running them on an </a:t>
            </a:r>
            <a:r>
              <a:rPr lang="en-US" b="1" dirty="0"/>
              <a:t>Android phone</a:t>
            </a:r>
            <a:r>
              <a:rPr lang="en-US" dirty="0"/>
              <a:t>.</a:t>
            </a:r>
          </a:p>
          <a:p>
            <a:pPr marL="0" indent="0" algn="just">
              <a:buNone/>
            </a:pPr>
            <a:endParaRPr lang="en-US" dirty="0"/>
          </a:p>
          <a:p>
            <a:pPr algn="just"/>
            <a:endParaRPr lang="en-US" dirty="0"/>
          </a:p>
          <a:p>
            <a:pPr algn="just"/>
            <a:endParaRPr lang="en-US" dirty="0"/>
          </a:p>
        </p:txBody>
      </p:sp>
    </p:spTree>
    <p:extLst>
      <p:ext uri="{BB962C8B-B14F-4D97-AF65-F5344CB8AC3E}">
        <p14:creationId xmlns:p14="http://schemas.microsoft.com/office/powerpoint/2010/main" val="404303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Open-source licensing</a:t>
            </a:r>
          </a:p>
        </p:txBody>
      </p:sp>
      <p:sp>
        <p:nvSpPr>
          <p:cNvPr id="3" name="Content Placeholder 2"/>
          <p:cNvSpPr>
            <a:spLocks noGrp="1"/>
          </p:cNvSpPr>
          <p:nvPr>
            <p:ph idx="1"/>
          </p:nvPr>
        </p:nvSpPr>
        <p:spPr/>
        <p:txBody>
          <a:bodyPr>
            <a:normAutofit/>
          </a:bodyPr>
          <a:lstStyle/>
          <a:p>
            <a:pPr algn="just"/>
            <a:r>
              <a:rPr lang="en-US" dirty="0"/>
              <a:t>Although a fundamental principle of open-source development is that source code should be freely available, this does not mean that anyone can do as they wish with that code. Legally, the developer of the code (either a company or an individual) owns the code. They can place restrictions on how it is used by including legally binding conditions in an open-source software license.</a:t>
            </a:r>
          </a:p>
          <a:p>
            <a:pPr algn="just"/>
            <a:r>
              <a:rPr lang="en-US" dirty="0"/>
              <a:t>Some open-source developers believe that if an open-source component is used to develop a new system, then that system should also be open source. Others are willing to allow their code to be used without this restriction. The developed systems may be proprietary and sold as closed-source systems.</a:t>
            </a:r>
          </a:p>
        </p:txBody>
      </p:sp>
    </p:spTree>
    <p:extLst>
      <p:ext uri="{BB962C8B-B14F-4D97-AF65-F5344CB8AC3E}">
        <p14:creationId xmlns:p14="http://schemas.microsoft.com/office/powerpoint/2010/main" val="2866652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Open-source licensing</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dirty="0"/>
              <a:t>Most open-source licenses are variants of one of three general models: </a:t>
            </a:r>
          </a:p>
          <a:p>
            <a:pPr marL="0" indent="0" algn="just">
              <a:buNone/>
            </a:pPr>
            <a:r>
              <a:rPr lang="en-US" dirty="0"/>
              <a:t>1. The </a:t>
            </a:r>
            <a:r>
              <a:rPr lang="en-US" b="1" dirty="0"/>
              <a:t>GNU General Public License (GPL). </a:t>
            </a:r>
            <a:r>
              <a:rPr lang="en-US" dirty="0"/>
              <a:t>This is a so-called reciprocal license that simplistically means that if you use open-source software that is licensed under the GPL license, then you must make that software open source.</a:t>
            </a:r>
          </a:p>
          <a:p>
            <a:pPr marL="0" indent="0" algn="just">
              <a:buNone/>
            </a:pPr>
            <a:r>
              <a:rPr lang="en-US" dirty="0"/>
              <a:t> 2. The </a:t>
            </a:r>
            <a:r>
              <a:rPr lang="en-US" b="1" dirty="0"/>
              <a:t>GNU Lesser General Public License (LGPL). </a:t>
            </a:r>
            <a:r>
              <a:rPr lang="en-US" dirty="0"/>
              <a:t>This is a variant of the GPL license where you can write components that link to open-source code without having to publish the source of these components. However, if you change the licensed component, then you must publish this as open source. </a:t>
            </a:r>
          </a:p>
          <a:p>
            <a:pPr marL="0" indent="0" algn="just">
              <a:buNone/>
            </a:pPr>
            <a:r>
              <a:rPr lang="en-US" dirty="0"/>
              <a:t>3. The </a:t>
            </a:r>
            <a:r>
              <a:rPr lang="en-US" b="1" dirty="0"/>
              <a:t>Berkley Standard Distribution (BSD) License</a:t>
            </a:r>
            <a:r>
              <a:rPr lang="en-US" dirty="0"/>
              <a:t>. This is a nonreciprocal license, which means you are not obliged to re-publish any changes or modifications made to open-source code. You can include the code in proprietary systems that are sold. If you use open-source components, you must acknowledge the original creator of the code. The MIT license is a variant of the BSD license with similar conditions.</a:t>
            </a:r>
          </a:p>
          <a:p>
            <a:pPr marL="0" indent="0" algn="just">
              <a:buNone/>
            </a:pPr>
            <a:endParaRPr lang="en-US" dirty="0"/>
          </a:p>
          <a:p>
            <a:pPr marL="0" indent="0" algn="just">
              <a:buNone/>
            </a:pPr>
            <a:endParaRPr lang="en-US" dirty="0"/>
          </a:p>
        </p:txBody>
      </p:sp>
      <p:sp>
        <p:nvSpPr>
          <p:cNvPr id="5" name="TextBox 4">
            <a:extLst>
              <a:ext uri="{FF2B5EF4-FFF2-40B4-BE49-F238E27FC236}">
                <a16:creationId xmlns:a16="http://schemas.microsoft.com/office/drawing/2014/main" id="{A0BD65AF-7F93-CC0A-8371-B7FF146F219C}"/>
              </a:ext>
            </a:extLst>
          </p:cNvPr>
          <p:cNvSpPr txBox="1"/>
          <p:nvPr/>
        </p:nvSpPr>
        <p:spPr>
          <a:xfrm>
            <a:off x="6701458" y="6170653"/>
            <a:ext cx="6833153" cy="923330"/>
          </a:xfrm>
          <a:prstGeom prst="rect">
            <a:avLst/>
          </a:prstGeom>
          <a:noFill/>
        </p:spPr>
        <p:txBody>
          <a:bodyPr wrap="square" rtlCol="0">
            <a:spAutoFit/>
          </a:bodyPr>
          <a:lstStyle/>
          <a:p>
            <a:pPr marL="0" indent="0" algn="just">
              <a:buNone/>
            </a:pPr>
            <a:r>
              <a:rPr lang="en-US" sz="1800" dirty="0">
                <a:hlinkClick r:id="rId3"/>
              </a:rPr>
              <a:t>https://opensource.fb.com/legal/privacy</a:t>
            </a:r>
            <a:endParaRPr lang="en-US" sz="1800" dirty="0"/>
          </a:p>
          <a:p>
            <a:pPr marL="0" indent="0" algn="just">
              <a:buNone/>
            </a:pPr>
            <a:r>
              <a:rPr lang="en-US" sz="1800" dirty="0"/>
              <a:t>https://github.com/facebook/react/blob/main/LICENSE</a:t>
            </a:r>
          </a:p>
          <a:p>
            <a:endParaRPr lang="en-US" dirty="0"/>
          </a:p>
        </p:txBody>
      </p:sp>
    </p:spTree>
    <p:extLst>
      <p:ext uri="{BB962C8B-B14F-4D97-AF65-F5344CB8AC3E}">
        <p14:creationId xmlns:p14="http://schemas.microsoft.com/office/powerpoint/2010/main" val="645022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sp>
        <p:nvSpPr>
          <p:cNvPr id="3" name="Content Placeholder 2"/>
          <p:cNvSpPr>
            <a:spLocks noGrp="1"/>
          </p:cNvSpPr>
          <p:nvPr>
            <p:ph idx="1"/>
          </p:nvPr>
        </p:nvSpPr>
        <p:spPr/>
        <p:txBody>
          <a:bodyPr/>
          <a:lstStyle/>
          <a:p>
            <a:r>
              <a:rPr lang="en-US" dirty="0"/>
              <a:t>In software engineering, what can be the implementation issues and what can be the good programming practices to resolve implementation issues?</a:t>
            </a:r>
          </a:p>
          <a:p>
            <a:r>
              <a:rPr lang="en-US" dirty="0"/>
              <a:t>What is open source licensing? What are the general models </a:t>
            </a:r>
            <a:r>
              <a:rPr lang="en-US"/>
              <a:t>of licensing?</a:t>
            </a:r>
            <a:endParaRPr lang="en-US" dirty="0"/>
          </a:p>
        </p:txBody>
      </p:sp>
    </p:spTree>
    <p:extLst>
      <p:ext uri="{BB962C8B-B14F-4D97-AF65-F5344CB8AC3E}">
        <p14:creationId xmlns:p14="http://schemas.microsoft.com/office/powerpoint/2010/main" val="32057511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7</a:t>
            </a:r>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50</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1035</TotalTime>
  <Words>8312</Words>
  <Application>Microsoft Office PowerPoint</Application>
  <PresentationFormat>Widescreen</PresentationFormat>
  <Paragraphs>564</Paragraphs>
  <Slides>50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Google Sans</vt:lpstr>
      <vt:lpstr>Söhne</vt:lpstr>
      <vt:lpstr>Times New Roman</vt:lpstr>
      <vt:lpstr>Wingdings</vt:lpstr>
      <vt:lpstr>Wood Type</vt:lpstr>
      <vt:lpstr>Unit 7  System Design Implementation </vt:lpstr>
      <vt:lpstr>Syllabus</vt:lpstr>
      <vt:lpstr>Introduction</vt:lpstr>
      <vt:lpstr>1. Software Design Concepts:</vt:lpstr>
      <vt:lpstr>There are many concepts of software design and some of them are given below: </vt:lpstr>
      <vt:lpstr>a. Abstraction- hide Irrelevant data</vt:lpstr>
      <vt:lpstr>Example:</vt:lpstr>
      <vt:lpstr>PowerPoint Presentation</vt:lpstr>
      <vt:lpstr>b. Architecture- design a structure of something </vt:lpstr>
      <vt:lpstr>c. Refinement- removes impurities</vt:lpstr>
      <vt:lpstr>d. Information Hiding- hide the information </vt:lpstr>
      <vt:lpstr>e. Refactoring- reconstruct something </vt:lpstr>
      <vt:lpstr>f. Modularity- subdivide the system</vt:lpstr>
      <vt:lpstr>g. Pattern- a repeated form </vt:lpstr>
      <vt:lpstr>Pattern Template:</vt:lpstr>
      <vt:lpstr>2. Object Oriented design using UML</vt:lpstr>
      <vt:lpstr>2. Object Oriented design using UML</vt:lpstr>
      <vt:lpstr>UML diagrams used in object oriented design</vt:lpstr>
      <vt:lpstr>2.1 System context and interactions</vt:lpstr>
      <vt:lpstr>Example of Use case diagram</vt:lpstr>
      <vt:lpstr>2.2 Architectural design</vt:lpstr>
      <vt:lpstr>2.3 Object class identification</vt:lpstr>
      <vt:lpstr>2.3 Object class identification</vt:lpstr>
      <vt:lpstr>2.4 develop Other Design models</vt:lpstr>
      <vt:lpstr>2.4 develop Other Design models</vt:lpstr>
      <vt:lpstr>Example of Sequence diagram and State diagram</vt:lpstr>
      <vt:lpstr>Example of Sequence diagram</vt:lpstr>
      <vt:lpstr>2.4 Identify object Interface</vt:lpstr>
      <vt:lpstr>Question:</vt:lpstr>
      <vt:lpstr>3. Design Patterns</vt:lpstr>
      <vt:lpstr>3.1 Gang of four</vt:lpstr>
      <vt:lpstr>Creational Design Patterns:</vt:lpstr>
      <vt:lpstr>Creational Design Patterns:</vt:lpstr>
      <vt:lpstr>Structural Design Patterns:</vt:lpstr>
      <vt:lpstr>Structural Design Patterns:</vt:lpstr>
      <vt:lpstr>Behavioral Design Patterns:</vt:lpstr>
      <vt:lpstr>PowerPoint Presentation</vt:lpstr>
      <vt:lpstr>Question:</vt:lpstr>
      <vt:lpstr>4. Implementation Issues</vt:lpstr>
      <vt:lpstr>4. Implementation Issues</vt:lpstr>
      <vt:lpstr>4.1 Reuse</vt:lpstr>
      <vt:lpstr>4.1 Reuse</vt:lpstr>
      <vt:lpstr>4.1 Reuse</vt:lpstr>
      <vt:lpstr>4.2 Configuration Management</vt:lpstr>
      <vt:lpstr>Example</vt:lpstr>
      <vt:lpstr>4.3 Host-target development</vt:lpstr>
      <vt:lpstr>5. Open-source licensing</vt:lpstr>
      <vt:lpstr>5. Open-source licensing</vt:lpstr>
      <vt:lpstr>Questions</vt:lpstr>
      <vt:lpstr>End of unit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133</cp:revision>
  <dcterms:created xsi:type="dcterms:W3CDTF">2026-06-22T07:06:56Z</dcterms:created>
  <dcterms:modified xsi:type="dcterms:W3CDTF">2026-08-17T04:14:33Z</dcterms:modified>
</cp:coreProperties>
</file>