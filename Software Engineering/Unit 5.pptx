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55"/>
  </p:notesMasterIdLst>
  <p:sldIdLst>
    <p:sldId id="256" r:id="rId2"/>
    <p:sldId id="257" r:id="rId3"/>
    <p:sldId id="299" r:id="rId4"/>
    <p:sldId id="258" r:id="rId5"/>
    <p:sldId id="259" r:id="rId6"/>
    <p:sldId id="260" r:id="rId7"/>
    <p:sldId id="262" r:id="rId8"/>
    <p:sldId id="261" r:id="rId9"/>
    <p:sldId id="263" r:id="rId10"/>
    <p:sldId id="265" r:id="rId11"/>
    <p:sldId id="264" r:id="rId12"/>
    <p:sldId id="266" r:id="rId13"/>
    <p:sldId id="297" r:id="rId14"/>
    <p:sldId id="267" r:id="rId15"/>
    <p:sldId id="268" r:id="rId16"/>
    <p:sldId id="269" r:id="rId17"/>
    <p:sldId id="270" r:id="rId18"/>
    <p:sldId id="271" r:id="rId19"/>
    <p:sldId id="276" r:id="rId20"/>
    <p:sldId id="272" r:id="rId21"/>
    <p:sldId id="273" r:id="rId22"/>
    <p:sldId id="300" r:id="rId23"/>
    <p:sldId id="274" r:id="rId24"/>
    <p:sldId id="275" r:id="rId25"/>
    <p:sldId id="277" r:id="rId26"/>
    <p:sldId id="278" r:id="rId27"/>
    <p:sldId id="279" r:id="rId28"/>
    <p:sldId id="280" r:id="rId29"/>
    <p:sldId id="288" r:id="rId30"/>
    <p:sldId id="289" r:id="rId31"/>
    <p:sldId id="292" r:id="rId32"/>
    <p:sldId id="290" r:id="rId33"/>
    <p:sldId id="291" r:id="rId34"/>
    <p:sldId id="293" r:id="rId35"/>
    <p:sldId id="294" r:id="rId36"/>
    <p:sldId id="281" r:id="rId37"/>
    <p:sldId id="282" r:id="rId38"/>
    <p:sldId id="283" r:id="rId39"/>
    <p:sldId id="284" r:id="rId40"/>
    <p:sldId id="285" r:id="rId41"/>
    <p:sldId id="286" r:id="rId42"/>
    <p:sldId id="301" r:id="rId43"/>
    <p:sldId id="302" r:id="rId44"/>
    <p:sldId id="303" r:id="rId45"/>
    <p:sldId id="304" r:id="rId46"/>
    <p:sldId id="305" r:id="rId47"/>
    <p:sldId id="306" r:id="rId48"/>
    <p:sldId id="307" r:id="rId49"/>
    <p:sldId id="308" r:id="rId50"/>
    <p:sldId id="309" r:id="rId51"/>
    <p:sldId id="295" r:id="rId52"/>
    <p:sldId id="296" r:id="rId53"/>
    <p:sldId id="298"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34" d="100"/>
          <a:sy n="34" d="100"/>
        </p:scale>
        <p:origin x="90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1CF43-AC23-449C-9970-2574E72FAE5D}"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2C457-EB94-446C-B827-529C14765A18}" type="slidenum">
              <a:rPr lang="en-US" smtClean="0"/>
              <a:t>‹#›</a:t>
            </a:fld>
            <a:endParaRPr lang="en-US"/>
          </a:p>
        </p:txBody>
      </p:sp>
    </p:spTree>
    <p:extLst>
      <p:ext uri="{BB962C8B-B14F-4D97-AF65-F5344CB8AC3E}">
        <p14:creationId xmlns:p14="http://schemas.microsoft.com/office/powerpoint/2010/main" val="245717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err="1"/>
              <a:t>Components</a:t>
            </a:r>
            <a:r>
              <a:rPr lang="en-US" dirty="0" err="1"/>
              <a:t>:</a:t>
            </a:r>
            <a:r>
              <a:rPr lang="en-US" b="1" dirty="0" err="1"/>
              <a:t>States</a:t>
            </a:r>
            <a:r>
              <a:rPr lang="en-US" dirty="0"/>
              <a:t>: Represent the condition or situation of an object at a specific time.</a:t>
            </a:r>
          </a:p>
          <a:p>
            <a:pPr>
              <a:buFont typeface="Arial" panose="020B0604020202020204" pitchFamily="34" charset="0"/>
              <a:buChar char="•"/>
            </a:pPr>
            <a:r>
              <a:rPr lang="en-US" b="1" dirty="0"/>
              <a:t>Transitions</a:t>
            </a:r>
            <a:r>
              <a:rPr lang="en-US" dirty="0"/>
              <a:t>: Show how the object moves from one state to another due to an event or condition.</a:t>
            </a:r>
          </a:p>
          <a:p>
            <a:pPr>
              <a:buFont typeface="Arial" panose="020B0604020202020204" pitchFamily="34" charset="0"/>
              <a:buChar char="•"/>
            </a:pPr>
            <a:r>
              <a:rPr lang="en-US" b="1" dirty="0"/>
              <a:t>Events</a:t>
            </a:r>
            <a:r>
              <a:rPr lang="en-US" dirty="0"/>
              <a:t>: Trigger transitions.</a:t>
            </a:r>
          </a:p>
          <a:p>
            <a:endParaRPr lang="en-US" dirty="0"/>
          </a:p>
        </p:txBody>
      </p:sp>
      <p:sp>
        <p:nvSpPr>
          <p:cNvPr id="4" name="Slide Number Placeholder 3"/>
          <p:cNvSpPr>
            <a:spLocks noGrp="1"/>
          </p:cNvSpPr>
          <p:nvPr>
            <p:ph type="sldNum" sz="quarter" idx="5"/>
          </p:nvPr>
        </p:nvSpPr>
        <p:spPr/>
        <p:txBody>
          <a:bodyPr/>
          <a:lstStyle/>
          <a:p>
            <a:fld id="{5C9D2B67-06E2-4FFF-A709-80BF2A7DAB5F}" type="slidenum">
              <a:rPr lang="en-US" smtClean="0"/>
              <a:t>12</a:t>
            </a:fld>
            <a:endParaRPr lang="en-US"/>
          </a:p>
        </p:txBody>
      </p:sp>
    </p:spTree>
    <p:extLst>
      <p:ext uri="{BB962C8B-B14F-4D97-AF65-F5344CB8AC3E}">
        <p14:creationId xmlns:p14="http://schemas.microsoft.com/office/powerpoint/2010/main" val="3610666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Reactive Systems</a:t>
            </a:r>
            <a:r>
              <a:rPr lang="en-US" dirty="0"/>
              <a:t>:</a:t>
            </a:r>
          </a:p>
          <a:p>
            <a:pPr>
              <a:buFont typeface="Arial" panose="020B0604020202020204" pitchFamily="34" charset="0"/>
              <a:buChar char="•"/>
            </a:pPr>
            <a:r>
              <a:rPr lang="en-US" b="1" dirty="0"/>
              <a:t>Example</a:t>
            </a:r>
            <a:r>
              <a:rPr lang="en-US" dirty="0"/>
              <a:t>: UI components, where the behavior depends on the current state.</a:t>
            </a:r>
          </a:p>
          <a:p>
            <a:pPr marL="742950" lvl="1" indent="-285750">
              <a:buFont typeface="Arial" panose="020B0604020202020204" pitchFamily="34" charset="0"/>
              <a:buChar char="•"/>
            </a:pPr>
            <a:r>
              <a:rPr lang="en-US" dirty="0"/>
              <a:t>A button can be in states like </a:t>
            </a:r>
            <a:r>
              <a:rPr lang="en-US" i="1" dirty="0"/>
              <a:t>enabled</a:t>
            </a:r>
            <a:r>
              <a:rPr lang="en-US" dirty="0"/>
              <a:t>, </a:t>
            </a:r>
            <a:r>
              <a:rPr lang="en-US" i="1" dirty="0"/>
              <a:t>disabled</a:t>
            </a:r>
            <a:r>
              <a:rPr lang="en-US" dirty="0"/>
              <a:t>, or </a:t>
            </a:r>
            <a:r>
              <a:rPr lang="en-US" i="1" dirty="0"/>
              <a:t>hovered</a:t>
            </a:r>
            <a:r>
              <a:rPr lang="en-US" dirty="0"/>
              <a:t>.</a:t>
            </a:r>
          </a:p>
          <a:p>
            <a:pPr>
              <a:buFont typeface="Arial" panose="020B0604020202020204" pitchFamily="34" charset="0"/>
              <a:buChar char="•"/>
            </a:pPr>
            <a:r>
              <a:rPr lang="en-US" dirty="0"/>
              <a:t>State diagrams help define how the system reacts to events like mouse clicks or user input.</a:t>
            </a:r>
          </a:p>
          <a:p>
            <a:r>
              <a:rPr lang="en-US" b="1" dirty="0"/>
              <a:t>Embedded Systems</a:t>
            </a:r>
            <a:r>
              <a:rPr lang="en-US" dirty="0"/>
              <a:t>:</a:t>
            </a:r>
          </a:p>
          <a:p>
            <a:pPr>
              <a:buFont typeface="Arial" panose="020B0604020202020204" pitchFamily="34" charset="0"/>
              <a:buChar char="•"/>
            </a:pPr>
            <a:r>
              <a:rPr lang="en-US" b="1" dirty="0"/>
              <a:t>Example</a:t>
            </a:r>
            <a:r>
              <a:rPr lang="en-US" dirty="0"/>
              <a:t>: Systems like elevators, washing machines, or IoT devices.</a:t>
            </a:r>
          </a:p>
          <a:p>
            <a:pPr>
              <a:buFont typeface="Arial" panose="020B0604020202020204" pitchFamily="34" charset="0"/>
              <a:buChar char="•"/>
            </a:pPr>
            <a:r>
              <a:rPr lang="en-US" dirty="0"/>
              <a:t>These systems often have clear state transitions based on sensor inputs or user commands.</a:t>
            </a:r>
          </a:p>
          <a:p>
            <a:r>
              <a:rPr lang="en-US" b="1" dirty="0"/>
              <a:t>Object-Oriented Design</a:t>
            </a:r>
            <a:r>
              <a:rPr lang="en-US" dirty="0"/>
              <a:t>:</a:t>
            </a:r>
          </a:p>
          <a:p>
            <a:pPr>
              <a:buFont typeface="Arial" panose="020B0604020202020204" pitchFamily="34" charset="0"/>
              <a:buChar char="•"/>
            </a:pPr>
            <a:r>
              <a:rPr lang="en-US" dirty="0"/>
              <a:t>State diagrams are used to model the behavior of individual </a:t>
            </a:r>
            <a:r>
              <a:rPr lang="en-US" b="1" dirty="0"/>
              <a:t>classes</a:t>
            </a:r>
            <a:r>
              <a:rPr lang="en-US" dirty="0"/>
              <a:t> in a system.</a:t>
            </a:r>
          </a:p>
          <a:p>
            <a:pPr>
              <a:buFont typeface="Arial" panose="020B0604020202020204" pitchFamily="34" charset="0"/>
              <a:buChar char="•"/>
            </a:pPr>
            <a:r>
              <a:rPr lang="en-US" b="1" dirty="0"/>
              <a:t>Example</a:t>
            </a:r>
            <a:r>
              <a:rPr lang="en-US" dirty="0"/>
              <a:t>: A </a:t>
            </a:r>
            <a:r>
              <a:rPr lang="en-US" dirty="0" err="1"/>
              <a:t>BankAccount</a:t>
            </a:r>
            <a:r>
              <a:rPr lang="en-US" dirty="0"/>
              <a:t> class might have states like </a:t>
            </a:r>
            <a:r>
              <a:rPr lang="en-US" i="1" dirty="0"/>
              <a:t>active</a:t>
            </a:r>
            <a:r>
              <a:rPr lang="en-US" dirty="0"/>
              <a:t>, </a:t>
            </a:r>
            <a:r>
              <a:rPr lang="en-US" i="1" dirty="0"/>
              <a:t>overdrawn</a:t>
            </a:r>
            <a:r>
              <a:rPr lang="en-US" dirty="0"/>
              <a:t>, or </a:t>
            </a:r>
            <a:r>
              <a:rPr lang="en-US" i="1" dirty="0"/>
              <a:t>closed</a:t>
            </a:r>
            <a:r>
              <a:rPr lang="en-US" dirty="0"/>
              <a:t>.</a:t>
            </a:r>
          </a:p>
          <a:p>
            <a:r>
              <a:rPr lang="en-US" b="1" dirty="0"/>
              <a:t>Protocol and Communication Systems</a:t>
            </a:r>
            <a:r>
              <a:rPr lang="en-US" dirty="0"/>
              <a:t>:</a:t>
            </a:r>
          </a:p>
          <a:p>
            <a:pPr>
              <a:buFont typeface="Arial" panose="020B0604020202020204" pitchFamily="34" charset="0"/>
              <a:buChar char="•"/>
            </a:pPr>
            <a:r>
              <a:rPr lang="en-US" b="1" dirty="0"/>
              <a:t>Example</a:t>
            </a:r>
            <a:r>
              <a:rPr lang="en-US" dirty="0"/>
              <a:t>: Networking protocols like TCP/IP.</a:t>
            </a:r>
          </a:p>
          <a:p>
            <a:pPr marL="742950" lvl="1" indent="-285750">
              <a:buFont typeface="Arial" panose="020B0604020202020204" pitchFamily="34" charset="0"/>
              <a:buChar char="•"/>
            </a:pPr>
            <a:r>
              <a:rPr lang="en-US" dirty="0"/>
              <a:t>States such as </a:t>
            </a:r>
            <a:r>
              <a:rPr lang="en-US" i="1" dirty="0"/>
              <a:t>LISTENING</a:t>
            </a:r>
            <a:r>
              <a:rPr lang="en-US" dirty="0"/>
              <a:t>, </a:t>
            </a:r>
            <a:r>
              <a:rPr lang="en-US" i="1" dirty="0"/>
              <a:t>SYN_SENT</a:t>
            </a:r>
            <a:r>
              <a:rPr lang="en-US" dirty="0"/>
              <a:t>, </a:t>
            </a:r>
            <a:r>
              <a:rPr lang="en-US" i="1" dirty="0"/>
              <a:t>ESTABLISHED</a:t>
            </a:r>
            <a:r>
              <a:rPr lang="en-US" dirty="0"/>
              <a:t>, and </a:t>
            </a:r>
            <a:r>
              <a:rPr lang="en-US" i="1" dirty="0"/>
              <a:t>CLOSED</a:t>
            </a:r>
            <a:r>
              <a:rPr lang="en-US" dirty="0"/>
              <a:t> can be modeled using a state diagram.</a:t>
            </a:r>
          </a:p>
          <a:p>
            <a:r>
              <a:rPr lang="en-US" b="1" dirty="0"/>
              <a:t>Workflow Engines</a:t>
            </a:r>
            <a:r>
              <a:rPr lang="en-US" dirty="0"/>
              <a:t>:</a:t>
            </a:r>
          </a:p>
          <a:p>
            <a:pPr>
              <a:buFont typeface="Arial" panose="020B0604020202020204" pitchFamily="34" charset="0"/>
              <a:buChar char="•"/>
            </a:pPr>
            <a:r>
              <a:rPr lang="en-US" dirty="0"/>
              <a:t>Software that manages tasks and approvals can use state diagrams to represent states like </a:t>
            </a:r>
            <a:r>
              <a:rPr lang="en-US" i="1" dirty="0"/>
              <a:t>draft</a:t>
            </a:r>
            <a:r>
              <a:rPr lang="en-US" dirty="0"/>
              <a:t>, </a:t>
            </a:r>
            <a:r>
              <a:rPr lang="en-US" i="1" dirty="0"/>
              <a:t>submitted</a:t>
            </a:r>
            <a:r>
              <a:rPr lang="en-US" dirty="0"/>
              <a:t>, </a:t>
            </a:r>
            <a:r>
              <a:rPr lang="en-US" i="1" dirty="0"/>
              <a:t>approved</a:t>
            </a:r>
            <a:r>
              <a:rPr lang="en-US" dirty="0"/>
              <a:t>, or </a:t>
            </a:r>
            <a:r>
              <a:rPr lang="en-US" i="1" dirty="0"/>
              <a:t>rejected</a:t>
            </a:r>
            <a:r>
              <a:rPr lang="en-US" dirty="0"/>
              <a:t>.</a:t>
            </a:r>
          </a:p>
          <a:p>
            <a:r>
              <a:rPr lang="en-US" b="1" dirty="0"/>
              <a:t>Game Development</a:t>
            </a:r>
            <a:r>
              <a:rPr lang="en-US" dirty="0"/>
              <a:t>:</a:t>
            </a:r>
          </a:p>
          <a:p>
            <a:pPr>
              <a:buFont typeface="Arial" panose="020B0604020202020204" pitchFamily="34" charset="0"/>
              <a:buChar char="•"/>
            </a:pPr>
            <a:r>
              <a:rPr lang="en-US" b="1" dirty="0"/>
              <a:t>Example</a:t>
            </a:r>
            <a:r>
              <a:rPr lang="en-US" dirty="0"/>
              <a:t>: Player character states like </a:t>
            </a:r>
            <a:r>
              <a:rPr lang="en-US" i="1" dirty="0"/>
              <a:t>idle</a:t>
            </a:r>
            <a:r>
              <a:rPr lang="en-US" dirty="0"/>
              <a:t>, </a:t>
            </a:r>
            <a:r>
              <a:rPr lang="en-US" i="1" dirty="0"/>
              <a:t>running</a:t>
            </a:r>
            <a:r>
              <a:rPr lang="en-US" dirty="0"/>
              <a:t>, </a:t>
            </a:r>
            <a:r>
              <a:rPr lang="en-US" i="1" dirty="0"/>
              <a:t>jumping</a:t>
            </a:r>
            <a:r>
              <a:rPr lang="en-US" dirty="0"/>
              <a:t>, </a:t>
            </a:r>
            <a:r>
              <a:rPr lang="en-US" i="1" dirty="0"/>
              <a:t>attacking</a:t>
            </a:r>
            <a:r>
              <a:rPr lang="en-US" dirty="0"/>
              <a:t>, or </a:t>
            </a:r>
            <a:r>
              <a:rPr lang="en-US" i="1" dirty="0"/>
              <a:t>damaged</a:t>
            </a:r>
            <a:r>
              <a:rPr lang="en-US" dirty="0"/>
              <a:t>.</a:t>
            </a:r>
          </a:p>
          <a:p>
            <a:pPr>
              <a:buFont typeface="Arial" panose="020B0604020202020204" pitchFamily="34" charset="0"/>
              <a:buChar char="•"/>
            </a:pPr>
            <a:r>
              <a:rPr lang="en-US" dirty="0"/>
              <a:t>State diagrams help manage transitions between these states based on game logic.</a:t>
            </a:r>
          </a:p>
          <a:p>
            <a:r>
              <a:rPr lang="en-US" b="1" dirty="0"/>
              <a:t>Finite State Machines (FSMs)</a:t>
            </a:r>
            <a:r>
              <a:rPr lang="en-US" dirty="0"/>
              <a:t>:</a:t>
            </a:r>
          </a:p>
          <a:p>
            <a:pPr>
              <a:buFont typeface="Arial" panose="020B0604020202020204" pitchFamily="34" charset="0"/>
              <a:buChar char="•"/>
            </a:pPr>
            <a:r>
              <a:rPr lang="en-US" dirty="0"/>
              <a:t>State diagrams are essential for designing FSMs, which are used in parsers, compilers, and algorithms.</a:t>
            </a:r>
          </a:p>
          <a:p>
            <a:endParaRPr lang="en-US" dirty="0"/>
          </a:p>
        </p:txBody>
      </p:sp>
      <p:sp>
        <p:nvSpPr>
          <p:cNvPr id="4" name="Slide Number Placeholder 3"/>
          <p:cNvSpPr>
            <a:spLocks noGrp="1"/>
          </p:cNvSpPr>
          <p:nvPr>
            <p:ph type="sldNum" sz="quarter" idx="5"/>
          </p:nvPr>
        </p:nvSpPr>
        <p:spPr/>
        <p:txBody>
          <a:bodyPr/>
          <a:lstStyle/>
          <a:p>
            <a:fld id="{5C9D2B67-06E2-4FFF-A709-80BF2A7DAB5F}" type="slidenum">
              <a:rPr lang="en-US" smtClean="0"/>
              <a:t>13</a:t>
            </a:fld>
            <a:endParaRPr lang="en-US"/>
          </a:p>
        </p:txBody>
      </p:sp>
    </p:spTree>
    <p:extLst>
      <p:ext uri="{BB962C8B-B14F-4D97-AF65-F5344CB8AC3E}">
        <p14:creationId xmlns:p14="http://schemas.microsoft.com/office/powerpoint/2010/main" val="175446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Idle → Money </a:t>
            </a:r>
            <a:r>
              <a:rPr lang="en-US" b="1" dirty="0" err="1"/>
              <a:t>Inserted</a:t>
            </a:r>
            <a:r>
              <a:rPr lang="en-US" dirty="0" err="1"/>
              <a:t>:Trigger</a:t>
            </a:r>
            <a:r>
              <a:rPr lang="en-US" dirty="0"/>
              <a:t>: User inserts money.</a:t>
            </a:r>
          </a:p>
          <a:p>
            <a:pPr>
              <a:buFont typeface="Arial" panose="020B0604020202020204" pitchFamily="34" charset="0"/>
              <a:buChar char="•"/>
            </a:pPr>
            <a:r>
              <a:rPr lang="en-US" b="1" dirty="0"/>
              <a:t>Money Inserted → Product </a:t>
            </a:r>
            <a:r>
              <a:rPr lang="en-US" b="1" dirty="0" err="1"/>
              <a:t>Selected</a:t>
            </a:r>
            <a:r>
              <a:rPr lang="en-US" dirty="0" err="1"/>
              <a:t>:Trigger</a:t>
            </a:r>
            <a:r>
              <a:rPr lang="en-US" dirty="0"/>
              <a:t>: User selects a product.</a:t>
            </a:r>
          </a:p>
          <a:p>
            <a:pPr>
              <a:buFont typeface="Arial" panose="020B0604020202020204" pitchFamily="34" charset="0"/>
              <a:buChar char="•"/>
            </a:pPr>
            <a:r>
              <a:rPr lang="en-US" dirty="0"/>
              <a:t>Condition: The selection is valid (enough money, product available).</a:t>
            </a:r>
          </a:p>
          <a:p>
            <a:pPr>
              <a:buFont typeface="Arial" panose="020B0604020202020204" pitchFamily="34" charset="0"/>
              <a:buChar char="•"/>
            </a:pPr>
            <a:r>
              <a:rPr lang="en-US" b="1" dirty="0"/>
              <a:t>Product Selected → Dispense </a:t>
            </a:r>
            <a:r>
              <a:rPr lang="en-US" b="1" dirty="0" err="1"/>
              <a:t>Product</a:t>
            </a:r>
            <a:r>
              <a:rPr lang="en-US" dirty="0" err="1"/>
              <a:t>:Trigger</a:t>
            </a:r>
            <a:r>
              <a:rPr lang="en-US" dirty="0"/>
              <a:t>: The selection is processed, and the product is ready to be dispensed.</a:t>
            </a:r>
          </a:p>
          <a:p>
            <a:pPr>
              <a:buFont typeface="Arial" panose="020B0604020202020204" pitchFamily="34" charset="0"/>
              <a:buChar char="•"/>
            </a:pPr>
            <a:r>
              <a:rPr lang="en-US" b="1" dirty="0"/>
              <a:t>Dispense Product → </a:t>
            </a:r>
            <a:r>
              <a:rPr lang="en-US" b="1" dirty="0" err="1"/>
              <a:t>Idle</a:t>
            </a:r>
            <a:r>
              <a:rPr lang="en-US" dirty="0" err="1"/>
              <a:t>:Trigger</a:t>
            </a:r>
            <a:r>
              <a:rPr lang="en-US" dirty="0"/>
              <a:t>: The product is dispensed, and any change is returned.</a:t>
            </a:r>
          </a:p>
          <a:p>
            <a:pPr>
              <a:buFont typeface="Arial" panose="020B0604020202020204" pitchFamily="34" charset="0"/>
              <a:buChar char="•"/>
            </a:pPr>
            <a:r>
              <a:rPr lang="en-US" b="1" dirty="0"/>
              <a:t>Any State → Out of </a:t>
            </a:r>
            <a:r>
              <a:rPr lang="en-US" b="1" dirty="0" err="1"/>
              <a:t>Service</a:t>
            </a:r>
            <a:r>
              <a:rPr lang="en-US" dirty="0" err="1"/>
              <a:t>:Trigger</a:t>
            </a:r>
            <a:r>
              <a:rPr lang="en-US" dirty="0"/>
              <a:t>: An error occurs (e.g., jam, no stock, or system malfunction).</a:t>
            </a:r>
          </a:p>
          <a:p>
            <a:endParaRPr lang="en-US" dirty="0"/>
          </a:p>
        </p:txBody>
      </p:sp>
      <p:sp>
        <p:nvSpPr>
          <p:cNvPr id="4" name="Slide Number Placeholder 3"/>
          <p:cNvSpPr>
            <a:spLocks noGrp="1"/>
          </p:cNvSpPr>
          <p:nvPr>
            <p:ph type="sldNum" sz="quarter" idx="5"/>
          </p:nvPr>
        </p:nvSpPr>
        <p:spPr/>
        <p:txBody>
          <a:bodyPr/>
          <a:lstStyle/>
          <a:p>
            <a:fld id="{5C9D2B67-06E2-4FFF-A709-80BF2A7DAB5F}" type="slidenum">
              <a:rPr lang="en-US" smtClean="0"/>
              <a:t>16</a:t>
            </a:fld>
            <a:endParaRPr lang="en-US"/>
          </a:p>
        </p:txBody>
      </p:sp>
    </p:spTree>
    <p:extLst>
      <p:ext uri="{BB962C8B-B14F-4D97-AF65-F5344CB8AC3E}">
        <p14:creationId xmlns:p14="http://schemas.microsoft.com/office/powerpoint/2010/main" val="2614703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Verification Checklist:</a:t>
            </a:r>
          </a:p>
          <a:p>
            <a:pPr>
              <a:buFont typeface="+mj-lt"/>
              <a:buAutoNum type="arabicPeriod"/>
            </a:pPr>
            <a:r>
              <a:rPr lang="en-US" b="1" dirty="0"/>
              <a:t>Correctness</a:t>
            </a:r>
            <a:r>
              <a:rPr lang="en-US" dirty="0"/>
              <a:t>:</a:t>
            </a:r>
          </a:p>
          <a:p>
            <a:pPr marL="742950" lvl="1" indent="-285750">
              <a:buFont typeface="+mj-lt"/>
              <a:buAutoNum type="arabicPeriod"/>
            </a:pPr>
            <a:r>
              <a:rPr lang="en-US" dirty="0"/>
              <a:t>Does the machine return to Idle after dispensing a product?</a:t>
            </a:r>
          </a:p>
          <a:p>
            <a:pPr marL="742950" lvl="1" indent="-285750">
              <a:buFont typeface="+mj-lt"/>
              <a:buAutoNum type="arabicPeriod"/>
            </a:pPr>
            <a:r>
              <a:rPr lang="en-US" dirty="0"/>
              <a:t>Does it reject invalid selections (e.g., insufficient funds)?</a:t>
            </a:r>
          </a:p>
          <a:p>
            <a:pPr>
              <a:buFont typeface="+mj-lt"/>
              <a:buAutoNum type="arabicPeriod"/>
            </a:pPr>
            <a:r>
              <a:rPr lang="en-US" b="1" dirty="0"/>
              <a:t>Completeness</a:t>
            </a:r>
            <a:r>
              <a:rPr lang="en-US" dirty="0"/>
              <a:t>:</a:t>
            </a:r>
          </a:p>
          <a:p>
            <a:pPr marL="742950" lvl="1" indent="-285750">
              <a:buFont typeface="+mj-lt"/>
              <a:buAutoNum type="arabicPeriod"/>
            </a:pPr>
            <a:r>
              <a:rPr lang="en-US" dirty="0"/>
              <a:t>Are all inputs (e.g., coin insertion, product selection) handled in each state?</a:t>
            </a:r>
          </a:p>
          <a:p>
            <a:pPr marL="742950" lvl="1" indent="-285750">
              <a:buFont typeface="+mj-lt"/>
              <a:buAutoNum type="arabicPeriod"/>
            </a:pPr>
            <a:r>
              <a:rPr lang="en-US" dirty="0"/>
              <a:t>What happens if the user inserts more money than needed?</a:t>
            </a:r>
          </a:p>
          <a:p>
            <a:pPr>
              <a:buFont typeface="+mj-lt"/>
              <a:buAutoNum type="arabicPeriod"/>
            </a:pPr>
            <a:r>
              <a:rPr lang="en-US" b="1" dirty="0"/>
              <a:t>Safety</a:t>
            </a:r>
            <a:r>
              <a:rPr lang="en-US" dirty="0"/>
              <a:t>:</a:t>
            </a:r>
          </a:p>
          <a:p>
            <a:pPr marL="742950" lvl="1" indent="-285750">
              <a:buFont typeface="+mj-lt"/>
              <a:buAutoNum type="arabicPeriod"/>
            </a:pPr>
            <a:r>
              <a:rPr lang="en-US" dirty="0"/>
              <a:t>Does the machine avoid dispensing a product if no money is inserted?</a:t>
            </a:r>
          </a:p>
          <a:p>
            <a:pPr marL="742950" lvl="1" indent="-285750">
              <a:buFont typeface="+mj-lt"/>
              <a:buAutoNum type="arabicPeriod"/>
            </a:pPr>
            <a:r>
              <a:rPr lang="en-US" dirty="0"/>
              <a:t>Does it handle errors like product jams or running out of stock?</a:t>
            </a:r>
          </a:p>
          <a:p>
            <a:pPr>
              <a:buFont typeface="+mj-lt"/>
              <a:buAutoNum type="arabicPeriod"/>
            </a:pPr>
            <a:r>
              <a:rPr lang="en-US" b="1" dirty="0"/>
              <a:t>Liveness</a:t>
            </a:r>
            <a:r>
              <a:rPr lang="en-US" dirty="0"/>
              <a:t>:</a:t>
            </a:r>
          </a:p>
          <a:p>
            <a:pPr marL="742950" lvl="1" indent="-285750">
              <a:buFont typeface="+mj-lt"/>
              <a:buAutoNum type="arabicPeriod"/>
            </a:pPr>
            <a:r>
              <a:rPr lang="en-US" dirty="0"/>
              <a:t>Will the machine eventually dispense a product if all conditions are met?</a:t>
            </a:r>
          </a:p>
          <a:p>
            <a:pPr>
              <a:buFont typeface="+mj-lt"/>
              <a:buAutoNum type="arabicPeriod"/>
            </a:pPr>
            <a:r>
              <a:rPr lang="en-US" b="1" dirty="0"/>
              <a:t>Simulation</a:t>
            </a:r>
            <a:r>
              <a:rPr lang="en-US" dirty="0"/>
              <a:t>:</a:t>
            </a:r>
          </a:p>
          <a:p>
            <a:pPr marL="742950" lvl="1" indent="-285750">
              <a:buFont typeface="+mj-lt"/>
              <a:buAutoNum type="arabicPeriod"/>
            </a:pPr>
            <a:r>
              <a:rPr lang="en-US" dirty="0"/>
              <a:t>Run the state machine with various sequences of inputs (e.g., money insertion, product selection, cancellation) and observe behavior.</a:t>
            </a:r>
          </a:p>
          <a:p>
            <a:pPr>
              <a:buFont typeface="+mj-lt"/>
              <a:buAutoNum type="arabicPeriod"/>
            </a:pPr>
            <a:r>
              <a:rPr lang="en-US" b="1" dirty="0"/>
              <a:t>Model Checking</a:t>
            </a:r>
            <a:r>
              <a:rPr lang="en-US" dirty="0"/>
              <a:t>:</a:t>
            </a:r>
          </a:p>
          <a:p>
            <a:pPr marL="742950" lvl="1" indent="-285750">
              <a:buFont typeface="+mj-lt"/>
              <a:buAutoNum type="arabicPeriod"/>
            </a:pPr>
            <a:r>
              <a:rPr lang="en-US" dirty="0"/>
              <a:t>Use a tool like SPIN, UPPAAL, or </a:t>
            </a:r>
            <a:r>
              <a:rPr lang="en-US" dirty="0" err="1"/>
              <a:t>NuSMV</a:t>
            </a:r>
            <a:r>
              <a:rPr lang="en-US" dirty="0"/>
              <a:t> to verify that the machine's state transitions satisfy predefined properties.</a:t>
            </a:r>
          </a:p>
          <a:p>
            <a:endParaRPr lang="en-US" dirty="0"/>
          </a:p>
        </p:txBody>
      </p:sp>
      <p:sp>
        <p:nvSpPr>
          <p:cNvPr id="4" name="Slide Number Placeholder 3"/>
          <p:cNvSpPr>
            <a:spLocks noGrp="1"/>
          </p:cNvSpPr>
          <p:nvPr>
            <p:ph type="sldNum" sz="quarter" idx="5"/>
          </p:nvPr>
        </p:nvSpPr>
        <p:spPr/>
        <p:txBody>
          <a:bodyPr/>
          <a:lstStyle/>
          <a:p>
            <a:fld id="{5C9D2B67-06E2-4FFF-A709-80BF2A7DAB5F}" type="slidenum">
              <a:rPr lang="en-US" smtClean="0"/>
              <a:t>17</a:t>
            </a:fld>
            <a:endParaRPr lang="en-US"/>
          </a:p>
        </p:txBody>
      </p:sp>
    </p:spTree>
    <p:extLst>
      <p:ext uri="{BB962C8B-B14F-4D97-AF65-F5344CB8AC3E}">
        <p14:creationId xmlns:p14="http://schemas.microsoft.com/office/powerpoint/2010/main" val="1958178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Hotel reservation system example:</a:t>
            </a:r>
          </a:p>
          <a:p>
            <a:r>
              <a:rPr lang="en-US" b="1" dirty="0"/>
              <a:t>Processes:</a:t>
            </a:r>
          </a:p>
          <a:p>
            <a:pPr>
              <a:buFont typeface="+mj-lt"/>
              <a:buAutoNum type="arabicPeriod"/>
            </a:pPr>
            <a:r>
              <a:rPr lang="en-US" b="1" dirty="0"/>
              <a:t>Search Available Rooms</a:t>
            </a:r>
            <a:endParaRPr lang="en-US" dirty="0"/>
          </a:p>
          <a:p>
            <a:pPr>
              <a:buFont typeface="+mj-lt"/>
              <a:buAutoNum type="arabicPeriod"/>
            </a:pPr>
            <a:r>
              <a:rPr lang="en-US" b="1" dirty="0"/>
              <a:t>Make Reservation</a:t>
            </a:r>
            <a:endParaRPr lang="en-US" dirty="0"/>
          </a:p>
          <a:p>
            <a:pPr>
              <a:buFont typeface="+mj-lt"/>
              <a:buAutoNum type="arabicPeriod"/>
            </a:pPr>
            <a:r>
              <a:rPr lang="en-US" b="1" dirty="0"/>
              <a:t>Process Payment</a:t>
            </a:r>
            <a:endParaRPr lang="en-US" dirty="0"/>
          </a:p>
          <a:p>
            <a:pPr>
              <a:buFont typeface="+mj-lt"/>
              <a:buAutoNum type="arabicPeriod"/>
            </a:pPr>
            <a:r>
              <a:rPr lang="en-US" b="1" dirty="0"/>
              <a:t>Manage Room Availability</a:t>
            </a:r>
            <a:endParaRPr lang="en-US" dirty="0"/>
          </a:p>
          <a:p>
            <a:r>
              <a:rPr lang="en-US" dirty="0"/>
              <a:t> level 2:</a:t>
            </a:r>
          </a:p>
          <a:p>
            <a:r>
              <a:rPr lang="en-US" b="1" dirty="0"/>
              <a:t>Sub-processes:</a:t>
            </a:r>
          </a:p>
          <a:p>
            <a:pPr>
              <a:buFont typeface="+mj-lt"/>
              <a:buAutoNum type="arabicPeriod"/>
            </a:pPr>
            <a:r>
              <a:rPr lang="en-US" b="1" dirty="0"/>
              <a:t>Validate Customer Details</a:t>
            </a:r>
            <a:endParaRPr lang="en-US" dirty="0"/>
          </a:p>
          <a:p>
            <a:pPr>
              <a:buFont typeface="+mj-lt"/>
              <a:buAutoNum type="arabicPeriod"/>
            </a:pPr>
            <a:r>
              <a:rPr lang="en-US" b="1" dirty="0"/>
              <a:t>Create Reservation Record</a:t>
            </a:r>
            <a:endParaRPr lang="en-US" dirty="0"/>
          </a:p>
          <a:p>
            <a:pPr>
              <a:buFont typeface="+mj-lt"/>
              <a:buAutoNum type="arabicPeriod"/>
            </a:pPr>
            <a:r>
              <a:rPr lang="en-US" b="1" dirty="0"/>
              <a:t>Generate Invoice</a:t>
            </a:r>
            <a:endParaRPr lang="en-US" dirty="0"/>
          </a:p>
          <a:p>
            <a:r>
              <a:rPr lang="en-US" dirty="0"/>
              <a:t>4. Payment</a:t>
            </a:r>
          </a:p>
          <a:p>
            <a:endParaRPr lang="en-US" dirty="0"/>
          </a:p>
          <a:p>
            <a:r>
              <a:rPr lang="en-US" dirty="0"/>
              <a:t>Level 3</a:t>
            </a:r>
          </a:p>
          <a:p>
            <a:r>
              <a:rPr lang="en-US" b="1" dirty="0"/>
              <a:t>Validate Payment Details</a:t>
            </a:r>
          </a:p>
          <a:p>
            <a:r>
              <a:rPr lang="en-US" b="1" dirty="0"/>
              <a:t>Send Payment Request </a:t>
            </a:r>
            <a:r>
              <a:rPr lang="en-US" b="1"/>
              <a:t>to Gateway</a:t>
            </a:r>
          </a:p>
          <a:p>
            <a:r>
              <a:rPr lang="en-US" b="1"/>
              <a:t>Update </a:t>
            </a:r>
            <a:r>
              <a:rPr lang="en-US" b="1" dirty="0"/>
              <a:t>Payment Status</a:t>
            </a:r>
            <a:endParaRPr lang="en-US" dirty="0"/>
          </a:p>
        </p:txBody>
      </p:sp>
      <p:sp>
        <p:nvSpPr>
          <p:cNvPr id="4" name="Slide Number Placeholder 3"/>
          <p:cNvSpPr>
            <a:spLocks noGrp="1"/>
          </p:cNvSpPr>
          <p:nvPr>
            <p:ph type="sldNum" sz="quarter" idx="5"/>
          </p:nvPr>
        </p:nvSpPr>
        <p:spPr/>
        <p:txBody>
          <a:bodyPr/>
          <a:lstStyle/>
          <a:p>
            <a:fld id="{5C9D2B67-06E2-4FFF-A709-80BF2A7DAB5F}" type="slidenum">
              <a:rPr lang="en-US" smtClean="0"/>
              <a:t>22</a:t>
            </a:fld>
            <a:endParaRPr lang="en-US"/>
          </a:p>
        </p:txBody>
      </p:sp>
    </p:spTree>
    <p:extLst>
      <p:ext uri="{BB962C8B-B14F-4D97-AF65-F5344CB8AC3E}">
        <p14:creationId xmlns:p14="http://schemas.microsoft.com/office/powerpoint/2010/main" val="275041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Lifelines</a:t>
            </a:r>
            <a:r>
              <a:rPr lang="en-US" dirty="0"/>
              <a:t>: Represent entities (objects, classes, or actors) that interact in the system. Each entity is depicted as a vertical dashed line.</a:t>
            </a:r>
          </a:p>
          <a:p>
            <a:pPr>
              <a:buFont typeface="Arial" panose="020B0604020202020204" pitchFamily="34" charset="0"/>
              <a:buChar char="•"/>
            </a:pPr>
            <a:r>
              <a:rPr lang="en-US" dirty="0"/>
              <a:t>Examples: User, System, Database, Driver, etc.</a:t>
            </a:r>
          </a:p>
          <a:p>
            <a:r>
              <a:rPr lang="en-US" b="1" dirty="0"/>
              <a:t>Messages</a:t>
            </a:r>
            <a:r>
              <a:rPr lang="en-US" dirty="0"/>
              <a:t>: Represent the communication between lifelines, shown as arrows between the vertical lines. Messages can be:</a:t>
            </a:r>
          </a:p>
          <a:p>
            <a:pPr>
              <a:buFont typeface="Arial" panose="020B0604020202020204" pitchFamily="34" charset="0"/>
              <a:buChar char="•"/>
            </a:pPr>
            <a:r>
              <a:rPr lang="en-US" b="1" dirty="0"/>
              <a:t>Synchronous</a:t>
            </a:r>
            <a:r>
              <a:rPr lang="en-US" dirty="0"/>
              <a:t> (e.g., function calls, represented with a solid arrow).</a:t>
            </a:r>
          </a:p>
          <a:p>
            <a:pPr>
              <a:buFont typeface="Arial" panose="020B0604020202020204" pitchFamily="34" charset="0"/>
              <a:buChar char="•"/>
            </a:pPr>
            <a:r>
              <a:rPr lang="en-US" b="1" dirty="0"/>
              <a:t>Asynchronous</a:t>
            </a:r>
            <a:r>
              <a:rPr lang="en-US" dirty="0"/>
              <a:t> (e.g., signals or events, represented with a dashed arrow).</a:t>
            </a:r>
          </a:p>
          <a:p>
            <a:r>
              <a:rPr lang="en-US" b="1" dirty="0"/>
              <a:t>Activation Bars</a:t>
            </a:r>
            <a:r>
              <a:rPr lang="en-US" dirty="0"/>
              <a:t>: Indicate the time an object is actively processing or executing a task. These are vertical rectangles on the lifeline.</a:t>
            </a:r>
          </a:p>
          <a:p>
            <a:r>
              <a:rPr lang="en-US" b="1" dirty="0"/>
              <a:t>Actors</a:t>
            </a:r>
            <a:r>
              <a:rPr lang="en-US" dirty="0"/>
              <a:t>: External users or systems interacting with the system, typically shown as stick figures or labeled ovals.</a:t>
            </a:r>
          </a:p>
          <a:p>
            <a:r>
              <a:rPr lang="en-US" b="1" dirty="0"/>
              <a:t>Events or Actions</a:t>
            </a:r>
            <a:r>
              <a:rPr lang="en-US" dirty="0"/>
              <a:t>: Describe the activities or operations invoked during the interaction.</a:t>
            </a:r>
          </a:p>
          <a:p>
            <a:endParaRPr lang="en-US" dirty="0"/>
          </a:p>
        </p:txBody>
      </p:sp>
      <p:sp>
        <p:nvSpPr>
          <p:cNvPr id="4" name="Slide Number Placeholder 3"/>
          <p:cNvSpPr>
            <a:spLocks noGrp="1"/>
          </p:cNvSpPr>
          <p:nvPr>
            <p:ph type="sldNum" sz="quarter" idx="5"/>
          </p:nvPr>
        </p:nvSpPr>
        <p:spPr/>
        <p:txBody>
          <a:bodyPr/>
          <a:lstStyle/>
          <a:p>
            <a:fld id="{5C9D2B67-06E2-4FFF-A709-80BF2A7DAB5F}" type="slidenum">
              <a:rPr lang="en-US" smtClean="0"/>
              <a:t>29</a:t>
            </a:fld>
            <a:endParaRPr lang="en-US"/>
          </a:p>
        </p:txBody>
      </p:sp>
    </p:spTree>
    <p:extLst>
      <p:ext uri="{BB962C8B-B14F-4D97-AF65-F5344CB8AC3E}">
        <p14:creationId xmlns:p14="http://schemas.microsoft.com/office/powerpoint/2010/main" val="2160003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Actors</a:t>
            </a:r>
          </a:p>
          <a:p>
            <a:r>
              <a:rPr lang="en-US" dirty="0"/>
              <a:t>These are external users or systems interacting with the app:</a:t>
            </a:r>
          </a:p>
          <a:p>
            <a:pPr>
              <a:buFont typeface="Arial" panose="020B0604020202020204" pitchFamily="34" charset="0"/>
              <a:buChar char="•"/>
            </a:pPr>
            <a:r>
              <a:rPr lang="en-US" b="1" dirty="0"/>
              <a:t>User</a:t>
            </a:r>
            <a:r>
              <a:rPr lang="en-US" dirty="0"/>
              <a:t>: The rider who requests a ride.</a:t>
            </a:r>
          </a:p>
          <a:p>
            <a:pPr>
              <a:buFont typeface="Arial" panose="020B0604020202020204" pitchFamily="34" charset="0"/>
              <a:buChar char="•"/>
            </a:pPr>
            <a:r>
              <a:rPr lang="en-US" b="1" dirty="0"/>
              <a:t>Driver</a:t>
            </a:r>
            <a:r>
              <a:rPr lang="en-US" dirty="0"/>
              <a:t>: The person offering the ride service.</a:t>
            </a:r>
          </a:p>
          <a:p>
            <a:pPr>
              <a:buFont typeface="Arial" panose="020B0604020202020204" pitchFamily="34" charset="0"/>
              <a:buChar char="•"/>
            </a:pPr>
            <a:r>
              <a:rPr lang="en-US" b="1" dirty="0"/>
              <a:t>Admin</a:t>
            </a:r>
            <a:r>
              <a:rPr lang="en-US" dirty="0"/>
              <a:t>: A system administrator managing the platform (optional).</a:t>
            </a:r>
          </a:p>
          <a:p>
            <a:r>
              <a:rPr lang="en-US" b="1" dirty="0"/>
              <a:t>2. Frontend Objects</a:t>
            </a:r>
          </a:p>
          <a:p>
            <a:r>
              <a:rPr lang="en-US" dirty="0"/>
              <a:t>These represent the user interfaces and functionalities exposed to the actors:</a:t>
            </a:r>
          </a:p>
          <a:p>
            <a:pPr>
              <a:buFont typeface="Arial" panose="020B0604020202020204" pitchFamily="34" charset="0"/>
              <a:buChar char="•"/>
            </a:pPr>
            <a:r>
              <a:rPr lang="en-US" b="1" dirty="0"/>
              <a:t>User App</a:t>
            </a:r>
            <a:r>
              <a:rPr lang="en-US" dirty="0"/>
              <a:t>: The application used by the rider.</a:t>
            </a:r>
          </a:p>
          <a:p>
            <a:pPr marL="742950" lvl="1" indent="-285750">
              <a:buFont typeface="Arial" panose="020B0604020202020204" pitchFamily="34" charset="0"/>
              <a:buChar char="•"/>
            </a:pPr>
            <a:r>
              <a:rPr lang="en-US" dirty="0"/>
              <a:t>Login/Registration Interface</a:t>
            </a:r>
          </a:p>
          <a:p>
            <a:pPr marL="742950" lvl="1" indent="-285750">
              <a:buFont typeface="Arial" panose="020B0604020202020204" pitchFamily="34" charset="0"/>
              <a:buChar char="•"/>
            </a:pPr>
            <a:r>
              <a:rPr lang="en-US" dirty="0"/>
              <a:t>Ride Request Form</a:t>
            </a:r>
          </a:p>
          <a:p>
            <a:pPr marL="742950" lvl="1" indent="-285750">
              <a:buFont typeface="Arial" panose="020B0604020202020204" pitchFamily="34" charset="0"/>
              <a:buChar char="•"/>
            </a:pPr>
            <a:r>
              <a:rPr lang="en-US" dirty="0"/>
              <a:t>Payment Confirmation Screen</a:t>
            </a:r>
          </a:p>
          <a:p>
            <a:pPr>
              <a:buFont typeface="Arial" panose="020B0604020202020204" pitchFamily="34" charset="0"/>
              <a:buChar char="•"/>
            </a:pPr>
            <a:r>
              <a:rPr lang="en-US" b="1" dirty="0"/>
              <a:t>Driver App</a:t>
            </a:r>
            <a:r>
              <a:rPr lang="en-US" dirty="0"/>
              <a:t>: The application used by the driver.</a:t>
            </a:r>
          </a:p>
          <a:p>
            <a:pPr marL="742950" lvl="1" indent="-285750">
              <a:buFont typeface="Arial" panose="020B0604020202020204" pitchFamily="34" charset="0"/>
              <a:buChar char="•"/>
            </a:pPr>
            <a:r>
              <a:rPr lang="en-US" dirty="0"/>
              <a:t>Ride Acceptance Interface</a:t>
            </a:r>
          </a:p>
          <a:p>
            <a:pPr marL="742950" lvl="1" indent="-285750">
              <a:buFont typeface="Arial" panose="020B0604020202020204" pitchFamily="34" charset="0"/>
              <a:buChar char="•"/>
            </a:pPr>
            <a:r>
              <a:rPr lang="en-US" dirty="0"/>
              <a:t>Navigation Tool</a:t>
            </a:r>
          </a:p>
          <a:p>
            <a:pPr marL="742950" lvl="1" indent="-285750">
              <a:buFont typeface="Arial" panose="020B0604020202020204" pitchFamily="34" charset="0"/>
              <a:buChar char="•"/>
            </a:pPr>
            <a:r>
              <a:rPr lang="en-US" dirty="0"/>
              <a:t>Earnings Dashboard</a:t>
            </a:r>
          </a:p>
          <a:p>
            <a:r>
              <a:rPr lang="en-US" b="1" dirty="0"/>
              <a:t>3. Backend Objects</a:t>
            </a:r>
          </a:p>
          <a:p>
            <a:r>
              <a:rPr lang="en-US" dirty="0"/>
              <a:t>These are server-side components handling logic, data processing, and interactions:</a:t>
            </a:r>
          </a:p>
          <a:p>
            <a:pPr>
              <a:buFont typeface="Arial" panose="020B0604020202020204" pitchFamily="34" charset="0"/>
              <a:buChar char="•"/>
            </a:pPr>
            <a:r>
              <a:rPr lang="en-US" b="1" dirty="0"/>
              <a:t>Ride Service</a:t>
            </a:r>
            <a:r>
              <a:rPr lang="en-US" dirty="0"/>
              <a:t>: Manages ride requests and matches riders with drivers.</a:t>
            </a:r>
          </a:p>
          <a:p>
            <a:pPr>
              <a:buFont typeface="Arial" panose="020B0604020202020204" pitchFamily="34" charset="0"/>
              <a:buChar char="•"/>
            </a:pPr>
            <a:r>
              <a:rPr lang="en-US" b="1" dirty="0"/>
              <a:t>Driver Management</a:t>
            </a:r>
            <a:r>
              <a:rPr lang="en-US" dirty="0"/>
              <a:t>: Handles driver availability, status updates, and assignment.</a:t>
            </a:r>
          </a:p>
          <a:p>
            <a:pPr>
              <a:buFont typeface="Arial" panose="020B0604020202020204" pitchFamily="34" charset="0"/>
              <a:buChar char="•"/>
            </a:pPr>
            <a:r>
              <a:rPr lang="en-US" b="1" dirty="0"/>
              <a:t>User Management</a:t>
            </a:r>
            <a:r>
              <a:rPr lang="en-US" dirty="0"/>
              <a:t>: Handles user profiles, authentication, and preferences.</a:t>
            </a:r>
          </a:p>
          <a:p>
            <a:pPr>
              <a:buFont typeface="Arial" panose="020B0604020202020204" pitchFamily="34" charset="0"/>
              <a:buChar char="•"/>
            </a:pPr>
            <a:r>
              <a:rPr lang="en-US" b="1" dirty="0"/>
              <a:t>Geolocation Service</a:t>
            </a:r>
            <a:r>
              <a:rPr lang="en-US" dirty="0"/>
              <a:t>: Provides location tracking, distance calculation, and route optimization.</a:t>
            </a:r>
          </a:p>
          <a:p>
            <a:pPr>
              <a:buFont typeface="Arial" panose="020B0604020202020204" pitchFamily="34" charset="0"/>
              <a:buChar char="•"/>
            </a:pPr>
            <a:r>
              <a:rPr lang="en-US" b="1" dirty="0"/>
              <a:t>Trip Management</a:t>
            </a:r>
            <a:r>
              <a:rPr lang="en-US" dirty="0"/>
              <a:t>: Tracks ongoing trips and their statuses (e.g., started, completed).</a:t>
            </a:r>
          </a:p>
          <a:p>
            <a:pPr>
              <a:buFont typeface="Arial" panose="020B0604020202020204" pitchFamily="34" charset="0"/>
              <a:buChar char="•"/>
            </a:pPr>
            <a:r>
              <a:rPr lang="en-US" b="1" dirty="0"/>
              <a:t>Notification Service</a:t>
            </a:r>
            <a:r>
              <a:rPr lang="en-US" dirty="0"/>
              <a:t>: Sends updates to users and drivers (e.g., ride status, payment confirmations).</a:t>
            </a:r>
          </a:p>
          <a:p>
            <a:pPr>
              <a:buFont typeface="Arial" panose="020B0604020202020204" pitchFamily="34" charset="0"/>
              <a:buChar char="•"/>
            </a:pPr>
            <a:r>
              <a:rPr lang="en-US" b="1" dirty="0"/>
              <a:t>Payment Gateway Integration</a:t>
            </a:r>
            <a:r>
              <a:rPr lang="en-US" dirty="0"/>
              <a:t>: Processes ride payments and manages transactions.</a:t>
            </a:r>
          </a:p>
          <a:p>
            <a:pPr>
              <a:buFont typeface="Arial" panose="020B0604020202020204" pitchFamily="34" charset="0"/>
              <a:buChar char="•"/>
            </a:pPr>
            <a:r>
              <a:rPr lang="en-US" b="1" dirty="0"/>
              <a:t>Database</a:t>
            </a:r>
            <a:r>
              <a:rPr lang="en-US" dirty="0"/>
              <a:t>: Stores data for users, drivers, rides, and payments.</a:t>
            </a:r>
          </a:p>
          <a:p>
            <a:r>
              <a:rPr lang="en-US" b="1" dirty="0"/>
              <a:t>4. External Services</a:t>
            </a:r>
          </a:p>
          <a:p>
            <a:r>
              <a:rPr lang="en-US" dirty="0"/>
              <a:t>These are third-party systems integrated with the app:</a:t>
            </a:r>
          </a:p>
          <a:p>
            <a:pPr>
              <a:buFont typeface="Arial" panose="020B0604020202020204" pitchFamily="34" charset="0"/>
              <a:buChar char="•"/>
            </a:pPr>
            <a:r>
              <a:rPr lang="en-US" b="1" dirty="0"/>
              <a:t>Payment Gateway</a:t>
            </a:r>
            <a:r>
              <a:rPr lang="en-US" dirty="0"/>
              <a:t>: Handles secure payment processing (e.g., Stripe, PayPal).</a:t>
            </a:r>
          </a:p>
          <a:p>
            <a:pPr>
              <a:buFont typeface="Arial" panose="020B0604020202020204" pitchFamily="34" charset="0"/>
              <a:buChar char="•"/>
            </a:pPr>
            <a:r>
              <a:rPr lang="en-US" b="1" dirty="0"/>
              <a:t>Maps API</a:t>
            </a:r>
            <a:r>
              <a:rPr lang="en-US" dirty="0"/>
              <a:t>: Provides geolocation and navigation data (e.g., Google Maps, </a:t>
            </a:r>
            <a:r>
              <a:rPr lang="en-US" dirty="0" err="1"/>
              <a:t>Mapbox</a:t>
            </a:r>
            <a:r>
              <a:rPr lang="en-US" dirty="0"/>
              <a:t>).</a:t>
            </a:r>
          </a:p>
          <a:p>
            <a:pPr>
              <a:buFont typeface="Arial" panose="020B0604020202020204" pitchFamily="34" charset="0"/>
              <a:buChar char="•"/>
            </a:pPr>
            <a:r>
              <a:rPr lang="en-US" b="1" dirty="0"/>
              <a:t>SMS/Email Service</a:t>
            </a:r>
            <a:r>
              <a:rPr lang="en-US" dirty="0"/>
              <a:t>: Sends notifications or OTPs to users and drivers (e.g., Twilio).</a:t>
            </a:r>
          </a:p>
          <a:p>
            <a:pPr>
              <a:buFont typeface="Arial" panose="020B0604020202020204" pitchFamily="34" charset="0"/>
              <a:buChar char="•"/>
            </a:pPr>
            <a:r>
              <a:rPr lang="en-US" b="1"/>
              <a:t>Cloud Infrastructure</a:t>
            </a:r>
            <a:r>
              <a:rPr lang="en-US"/>
              <a:t>: Hosts the app’s backend and handles scalability (e.g., AWS, Azure).</a:t>
            </a:r>
          </a:p>
          <a:p>
            <a:endParaRPr lang="en-US"/>
          </a:p>
        </p:txBody>
      </p:sp>
      <p:sp>
        <p:nvSpPr>
          <p:cNvPr id="4" name="Slide Number Placeholder 3"/>
          <p:cNvSpPr>
            <a:spLocks noGrp="1"/>
          </p:cNvSpPr>
          <p:nvPr>
            <p:ph type="sldNum" sz="quarter" idx="5"/>
          </p:nvPr>
        </p:nvSpPr>
        <p:spPr/>
        <p:txBody>
          <a:bodyPr/>
          <a:lstStyle/>
          <a:p>
            <a:fld id="{5C9D2B67-06E2-4FFF-A709-80BF2A7DAB5F}" type="slidenum">
              <a:rPr lang="en-US" smtClean="0"/>
              <a:t>35</a:t>
            </a:fld>
            <a:endParaRPr lang="en-US"/>
          </a:p>
        </p:txBody>
      </p:sp>
    </p:spTree>
    <p:extLst>
      <p:ext uri="{BB962C8B-B14F-4D97-AF65-F5344CB8AC3E}">
        <p14:creationId xmlns:p14="http://schemas.microsoft.com/office/powerpoint/2010/main" val="1419599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Access</a:t>
            </a:r>
            <a:r>
              <a:rPr lang="en-US" dirty="0"/>
              <a:t>: Members marked as </a:t>
            </a:r>
            <a:r>
              <a:rPr lang="en-US" b="1" dirty="0"/>
              <a:t>public</a:t>
            </a:r>
            <a:r>
              <a:rPr lang="en-US" dirty="0"/>
              <a:t> are accessible from anywhere in the program. Other classes, subclasses, and external code can access these members.</a:t>
            </a:r>
          </a:p>
          <a:p>
            <a:endParaRPr lang="en-US" dirty="0"/>
          </a:p>
          <a:p>
            <a:pPr>
              <a:buFont typeface="Arial" panose="020B0604020202020204" pitchFamily="34" charset="0"/>
              <a:buChar char="•"/>
            </a:pPr>
            <a:r>
              <a:rPr lang="en-US" dirty="0"/>
              <a:t>Members marked as </a:t>
            </a:r>
            <a:r>
              <a:rPr lang="en-US" b="1" dirty="0"/>
              <a:t>protected</a:t>
            </a:r>
            <a:r>
              <a:rPr lang="en-US" dirty="0"/>
              <a:t> are accessible only </a:t>
            </a:r>
            <a:r>
              <a:rPr lang="en-US" dirty="0" err="1"/>
              <a:t>within:The</a:t>
            </a:r>
            <a:r>
              <a:rPr lang="en-US" dirty="0"/>
              <a:t> class itself.</a:t>
            </a:r>
          </a:p>
          <a:p>
            <a:pPr>
              <a:buFont typeface="Arial" panose="020B0604020202020204" pitchFamily="34" charset="0"/>
              <a:buChar char="•"/>
            </a:pPr>
            <a:r>
              <a:rPr lang="en-US" dirty="0"/>
              <a:t>Subclasses (derived classes).</a:t>
            </a:r>
          </a:p>
          <a:p>
            <a:pPr>
              <a:buFont typeface="Arial" panose="020B0604020202020204" pitchFamily="34" charset="0"/>
              <a:buChar char="•"/>
            </a:pPr>
            <a:r>
              <a:rPr lang="en-US" dirty="0"/>
              <a:t>Classes in the same package/module (in some languages like Java or Python).</a:t>
            </a:r>
          </a:p>
          <a:p>
            <a:r>
              <a:rPr lang="en-US" dirty="0"/>
              <a:t>: </a:t>
            </a:r>
          </a:p>
          <a:p>
            <a:r>
              <a:rPr lang="en-US" dirty="0"/>
              <a:t>Members marked as </a:t>
            </a:r>
            <a:r>
              <a:rPr lang="en-US" b="1" dirty="0"/>
              <a:t>private</a:t>
            </a:r>
            <a:r>
              <a:rPr lang="en-US" dirty="0"/>
              <a:t> are accessible only within the class where they are defined. They are not accessible to subclasses or external classes</a:t>
            </a:r>
          </a:p>
          <a:p>
            <a:r>
              <a:rPr lang="en-US" dirty="0"/>
              <a:t>.</a:t>
            </a:r>
          </a:p>
          <a:p>
            <a:r>
              <a:rPr lang="en-US" dirty="0"/>
              <a:t>Example:</a:t>
            </a:r>
          </a:p>
          <a:p>
            <a:r>
              <a:rPr lang="en-US" b="1" dirty="0"/>
              <a:t>Private :Attributes/Methods</a:t>
            </a:r>
            <a:r>
              <a:rPr lang="en-US" dirty="0"/>
              <a:t>: id, password, </a:t>
            </a:r>
            <a:r>
              <a:rPr lang="en-US" dirty="0" err="1"/>
              <a:t>hashPassword</a:t>
            </a:r>
            <a:r>
              <a:rPr lang="en-US" dirty="0"/>
              <a:t>()</a:t>
            </a:r>
          </a:p>
          <a:p>
            <a:endParaRPr lang="en-US" dirty="0"/>
          </a:p>
          <a:p>
            <a:r>
              <a:rPr lang="en-US" dirty="0"/>
              <a:t>Protected: </a:t>
            </a:r>
            <a:r>
              <a:rPr lang="en-US" b="1" dirty="0"/>
              <a:t>Attributes/Methods</a:t>
            </a:r>
            <a:r>
              <a:rPr lang="en-US" dirty="0"/>
              <a:t>: email, </a:t>
            </a:r>
            <a:r>
              <a:rPr lang="en-US" dirty="0" err="1"/>
              <a:t>sendEmail</a:t>
            </a:r>
            <a:r>
              <a:rPr lang="en-US" dirty="0"/>
              <a:t>()</a:t>
            </a:r>
          </a:p>
          <a:p>
            <a:r>
              <a:rPr lang="en-US" dirty="0"/>
              <a:t>The email attribute might need to be accessed or modified by subclasses, such as </a:t>
            </a:r>
            <a:r>
              <a:rPr lang="en-US" dirty="0" err="1"/>
              <a:t>AdminUser</a:t>
            </a:r>
            <a:r>
              <a:rPr lang="en-US" dirty="0"/>
              <a:t> or </a:t>
            </a:r>
            <a:r>
              <a:rPr lang="en-US" dirty="0" err="1"/>
              <a:t>PremiumUser.The</a:t>
            </a:r>
            <a:r>
              <a:rPr lang="en-US" dirty="0"/>
              <a:t> </a:t>
            </a:r>
            <a:r>
              <a:rPr lang="en-US" dirty="0" err="1"/>
              <a:t>sendEmail</a:t>
            </a:r>
            <a:r>
              <a:rPr lang="en-US" dirty="0"/>
              <a:t>() method could be used internally by the class or its subclasses to notify users about updates or promotions.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Public: </a:t>
            </a:r>
            <a:r>
              <a:rPr lang="en-US" b="1" dirty="0"/>
              <a:t>Attributes/Methods</a:t>
            </a:r>
            <a:r>
              <a:rPr lang="en-US" dirty="0"/>
              <a:t>: name, address, </a:t>
            </a:r>
            <a:r>
              <a:rPr lang="en-US" dirty="0" err="1"/>
              <a:t>getProfile</a:t>
            </a:r>
            <a:r>
              <a:rPr lang="en-US" dirty="0"/>
              <a:t>()</a:t>
            </a:r>
            <a:r>
              <a:rPr lang="en-US" b="1" dirty="0"/>
              <a:t>Why </a:t>
            </a:r>
            <a:r>
              <a:rPr lang="en-US" b="1" dirty="0" err="1"/>
              <a:t>Public?</a:t>
            </a:r>
            <a:r>
              <a:rPr lang="en-US" dirty="0" err="1"/>
              <a:t>name</a:t>
            </a:r>
            <a:r>
              <a:rPr lang="en-US" dirty="0"/>
              <a:t> and address are general information that external components (like the checkout system) need to access.</a:t>
            </a:r>
          </a:p>
          <a:p>
            <a:endParaRPr lang="en-US" dirty="0"/>
          </a:p>
          <a:p>
            <a:endParaRPr lang="en-US" dirty="0"/>
          </a:p>
        </p:txBody>
      </p:sp>
      <p:sp>
        <p:nvSpPr>
          <p:cNvPr id="4" name="Slide Number Placeholder 3"/>
          <p:cNvSpPr>
            <a:spLocks noGrp="1"/>
          </p:cNvSpPr>
          <p:nvPr>
            <p:ph type="sldNum" sz="quarter" idx="5"/>
          </p:nvPr>
        </p:nvSpPr>
        <p:spPr/>
        <p:txBody>
          <a:bodyPr/>
          <a:lstStyle/>
          <a:p>
            <a:fld id="{5C9D2B67-06E2-4FFF-A709-80BF2A7DAB5F}" type="slidenum">
              <a:rPr lang="en-US" smtClean="0"/>
              <a:t>39</a:t>
            </a:fld>
            <a:endParaRPr lang="en-US"/>
          </a:p>
        </p:txBody>
      </p:sp>
    </p:spTree>
    <p:extLst>
      <p:ext uri="{BB962C8B-B14F-4D97-AF65-F5344CB8AC3E}">
        <p14:creationId xmlns:p14="http://schemas.microsoft.com/office/powerpoint/2010/main" val="2849674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Aggregation</a:t>
            </a:r>
          </a:p>
          <a:p>
            <a:pPr>
              <a:buFont typeface="Arial" panose="020B0604020202020204" pitchFamily="34" charset="0"/>
              <a:buChar char="•"/>
            </a:pPr>
            <a:r>
              <a:rPr lang="en-US" b="1" dirty="0"/>
              <a:t>Definition</a:t>
            </a:r>
            <a:r>
              <a:rPr lang="en-US" dirty="0"/>
              <a:t>: A </a:t>
            </a:r>
            <a:r>
              <a:rPr lang="en-US" b="1" dirty="0"/>
              <a:t>weaker association</a:t>
            </a:r>
            <a:r>
              <a:rPr lang="en-US" dirty="0"/>
              <a:t> where one class (the whole) can contain another class (the part), but the part can exist independently of the whole.</a:t>
            </a:r>
          </a:p>
          <a:p>
            <a:pPr>
              <a:buFont typeface="Arial" panose="020B0604020202020204" pitchFamily="34" charset="0"/>
              <a:buChar char="•"/>
            </a:pPr>
            <a:r>
              <a:rPr lang="en-US" b="1" dirty="0"/>
              <a:t>Key Characteristics</a:t>
            </a:r>
            <a:r>
              <a:rPr lang="en-US" dirty="0"/>
              <a:t>:</a:t>
            </a:r>
          </a:p>
          <a:p>
            <a:pPr marL="742950" lvl="1" indent="-285750">
              <a:buFont typeface="Arial" panose="020B0604020202020204" pitchFamily="34" charset="0"/>
              <a:buChar char="•"/>
            </a:pPr>
            <a:r>
              <a:rPr lang="en-US" dirty="0"/>
              <a:t>Represents a "has-a" relationship.</a:t>
            </a:r>
          </a:p>
          <a:p>
            <a:pPr marL="742950" lvl="1" indent="-285750">
              <a:buFont typeface="Arial" panose="020B0604020202020204" pitchFamily="34" charset="0"/>
              <a:buChar char="•"/>
            </a:pPr>
            <a:r>
              <a:rPr lang="en-US" dirty="0"/>
              <a:t>The part object </a:t>
            </a:r>
            <a:r>
              <a:rPr lang="en-US" b="1" dirty="0"/>
              <a:t>does not depend</a:t>
            </a:r>
            <a:r>
              <a:rPr lang="en-US" dirty="0"/>
              <a:t> on the lifecycle of the whole.</a:t>
            </a:r>
          </a:p>
          <a:p>
            <a:pPr marL="742950" lvl="1" indent="-285750">
              <a:buFont typeface="Arial" panose="020B0604020202020204" pitchFamily="34" charset="0"/>
              <a:buChar char="•"/>
            </a:pPr>
            <a:r>
              <a:rPr lang="en-US" dirty="0"/>
              <a:t>Denoted with a </a:t>
            </a:r>
            <a:r>
              <a:rPr lang="en-US" b="1" dirty="0"/>
              <a:t>hollow diamond</a:t>
            </a:r>
            <a:r>
              <a:rPr lang="en-US" dirty="0"/>
              <a:t> at the whole side in UML diagrams.</a:t>
            </a:r>
          </a:p>
          <a:p>
            <a:r>
              <a:rPr lang="en-US" b="1" dirty="0"/>
              <a:t>Example:</a:t>
            </a:r>
          </a:p>
          <a:p>
            <a:pPr>
              <a:buFont typeface="Arial" panose="020B0604020202020204" pitchFamily="34" charset="0"/>
              <a:buChar char="•"/>
            </a:pPr>
            <a:r>
              <a:rPr lang="en-US" dirty="0"/>
              <a:t>A </a:t>
            </a:r>
            <a:r>
              <a:rPr lang="en-US" b="1" dirty="0"/>
              <a:t>Teacher</a:t>
            </a:r>
            <a:r>
              <a:rPr lang="en-US" dirty="0"/>
              <a:t> can belong to a </a:t>
            </a:r>
            <a:r>
              <a:rPr lang="en-US" b="1" dirty="0"/>
              <a:t>Department</a:t>
            </a:r>
            <a:r>
              <a:rPr lang="en-US" dirty="0"/>
              <a:t>, but the </a:t>
            </a:r>
            <a:r>
              <a:rPr lang="en-US" b="1" dirty="0"/>
              <a:t>Teacher</a:t>
            </a:r>
            <a:r>
              <a:rPr lang="en-US" dirty="0"/>
              <a:t> can exist independently of the </a:t>
            </a:r>
            <a:r>
              <a:rPr lang="en-US" b="1" dirty="0"/>
              <a:t>Department</a:t>
            </a:r>
            <a:r>
              <a:rPr lang="en-US" dirty="0"/>
              <a:t>.</a:t>
            </a:r>
          </a:p>
          <a:p>
            <a:pPr>
              <a:buFont typeface="Arial" panose="020B0604020202020204" pitchFamily="34" charset="0"/>
              <a:buChar char="•"/>
            </a:pPr>
            <a:r>
              <a:rPr lang="en-US" dirty="0"/>
              <a:t>Product Payment</a:t>
            </a:r>
          </a:p>
          <a:p>
            <a:endParaRPr lang="en-US" dirty="0"/>
          </a:p>
          <a:p>
            <a:pPr>
              <a:buFont typeface="Arial" panose="020B0604020202020204" pitchFamily="34" charset="0"/>
              <a:buChar char="•"/>
            </a:pPr>
            <a:r>
              <a:rPr lang="en-US" b="1" dirty="0"/>
              <a:t>Definition</a:t>
            </a:r>
            <a:r>
              <a:rPr lang="en-US" dirty="0"/>
              <a:t>: A </a:t>
            </a:r>
            <a:r>
              <a:rPr lang="en-US" b="1" dirty="0"/>
              <a:t>stronger association</a:t>
            </a:r>
            <a:r>
              <a:rPr lang="en-US" dirty="0"/>
              <a:t> where one class (the whole) contains another class (the part), and the part's lifecycle </a:t>
            </a:r>
            <a:r>
              <a:rPr lang="en-US" b="1" dirty="0"/>
              <a:t>depends on</a:t>
            </a:r>
            <a:r>
              <a:rPr lang="en-US" dirty="0"/>
              <a:t> the whole.</a:t>
            </a:r>
          </a:p>
          <a:p>
            <a:pPr>
              <a:buFont typeface="Arial" panose="020B0604020202020204" pitchFamily="34" charset="0"/>
              <a:buChar char="•"/>
            </a:pPr>
            <a:r>
              <a:rPr lang="en-US" b="1" dirty="0"/>
              <a:t>Key Characteristics</a:t>
            </a:r>
            <a:r>
              <a:rPr lang="en-US" dirty="0"/>
              <a:t>:</a:t>
            </a:r>
          </a:p>
          <a:p>
            <a:pPr marL="742950" lvl="1" indent="-285750">
              <a:buFont typeface="Arial" panose="020B0604020202020204" pitchFamily="34" charset="0"/>
              <a:buChar char="•"/>
            </a:pPr>
            <a:r>
              <a:rPr lang="en-US" dirty="0"/>
              <a:t>Represents a "part-of" relationship.</a:t>
            </a:r>
          </a:p>
          <a:p>
            <a:pPr marL="742950" lvl="1" indent="-285750">
              <a:buFont typeface="Arial" panose="020B0604020202020204" pitchFamily="34" charset="0"/>
              <a:buChar char="•"/>
            </a:pPr>
            <a:r>
              <a:rPr lang="en-US" dirty="0"/>
              <a:t>The part object </a:t>
            </a:r>
            <a:r>
              <a:rPr lang="en-US" b="1" dirty="0"/>
              <a:t>cannot exist independently</a:t>
            </a:r>
            <a:r>
              <a:rPr lang="en-US" dirty="0"/>
              <a:t> of the whole.</a:t>
            </a:r>
          </a:p>
          <a:p>
            <a:pPr marL="742950" lvl="1" indent="-285750">
              <a:buFont typeface="Arial" panose="020B0604020202020204" pitchFamily="34" charset="0"/>
              <a:buChar char="•"/>
            </a:pPr>
            <a:r>
              <a:rPr lang="en-US" dirty="0"/>
              <a:t>Denoted with a </a:t>
            </a:r>
            <a:r>
              <a:rPr lang="en-US" b="1" dirty="0"/>
              <a:t>filled diamond</a:t>
            </a:r>
            <a:r>
              <a:rPr lang="en-US" dirty="0"/>
              <a:t> at the whole side in UML diagrams.</a:t>
            </a:r>
          </a:p>
          <a:p>
            <a:r>
              <a:rPr lang="en-US" b="1" dirty="0"/>
              <a:t>Example:</a:t>
            </a:r>
          </a:p>
          <a:p>
            <a:pPr>
              <a:buFont typeface="Arial" panose="020B0604020202020204" pitchFamily="34" charset="0"/>
              <a:buChar char="•"/>
            </a:pPr>
            <a:r>
              <a:rPr lang="en-US" dirty="0"/>
              <a:t>A </a:t>
            </a:r>
            <a:r>
              <a:rPr lang="en-US" b="1" dirty="0"/>
              <a:t>House</a:t>
            </a:r>
            <a:r>
              <a:rPr lang="en-US" dirty="0"/>
              <a:t> contains </a:t>
            </a:r>
            <a:r>
              <a:rPr lang="en-US" b="1" dirty="0"/>
              <a:t>Rooms</a:t>
            </a:r>
            <a:r>
              <a:rPr lang="en-US" dirty="0"/>
              <a:t>, and a Room cannot exist without the House.</a:t>
            </a:r>
          </a:p>
          <a:p>
            <a:pPr>
              <a:buFont typeface="Arial" panose="020B0604020202020204" pitchFamily="34" charset="0"/>
              <a:buChar char="•"/>
            </a:pPr>
            <a:r>
              <a:rPr lang="en-US" dirty="0"/>
              <a:t>Order and </a:t>
            </a:r>
            <a:r>
              <a:rPr lang="en-US" dirty="0" err="1"/>
              <a:t>orderllist</a:t>
            </a:r>
            <a:endParaRPr lang="en-US" dirty="0"/>
          </a:p>
          <a:p>
            <a:endParaRPr lang="en-US" dirty="0"/>
          </a:p>
        </p:txBody>
      </p:sp>
      <p:sp>
        <p:nvSpPr>
          <p:cNvPr id="4" name="Slide Number Placeholder 3"/>
          <p:cNvSpPr>
            <a:spLocks noGrp="1"/>
          </p:cNvSpPr>
          <p:nvPr>
            <p:ph type="sldNum" sz="quarter" idx="5"/>
          </p:nvPr>
        </p:nvSpPr>
        <p:spPr/>
        <p:txBody>
          <a:bodyPr/>
          <a:lstStyle/>
          <a:p>
            <a:fld id="{5C9D2B67-06E2-4FFF-A709-80BF2A7DAB5F}" type="slidenum">
              <a:rPr lang="en-US" smtClean="0"/>
              <a:t>40</a:t>
            </a:fld>
            <a:endParaRPr lang="en-US"/>
          </a:p>
        </p:txBody>
      </p:sp>
    </p:spTree>
    <p:extLst>
      <p:ext uri="{BB962C8B-B14F-4D97-AF65-F5344CB8AC3E}">
        <p14:creationId xmlns:p14="http://schemas.microsoft.com/office/powerpoint/2010/main" val="2688006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Dependency: A </a:t>
            </a:r>
            <a:r>
              <a:rPr lang="en-US" dirty="0" err="1"/>
              <a:t>PaymentProcessor</a:t>
            </a:r>
            <a:r>
              <a:rPr lang="en-US" dirty="0"/>
              <a:t> component depends on an external </a:t>
            </a:r>
            <a:r>
              <a:rPr lang="en-US" dirty="0" err="1"/>
              <a:t>PaymentGateway</a:t>
            </a:r>
            <a:r>
              <a:rPr lang="en-US" dirty="0"/>
              <a:t> component to process transactions.</a:t>
            </a:r>
          </a:p>
          <a:p>
            <a:endParaRPr lang="en-US" dirty="0"/>
          </a:p>
          <a:p>
            <a:r>
              <a:rPr lang="en-US" dirty="0"/>
              <a:t>Association: </a:t>
            </a:r>
            <a:r>
              <a:rPr lang="en-US" b="1" dirty="0"/>
              <a:t>Example</a:t>
            </a:r>
            <a:r>
              <a:rPr lang="en-US" dirty="0"/>
              <a:t>: A </a:t>
            </a:r>
            <a:r>
              <a:rPr lang="en-US" dirty="0" err="1"/>
              <a:t>UserInterface</a:t>
            </a:r>
            <a:r>
              <a:rPr lang="en-US" dirty="0"/>
              <a:t> component is associated with a </a:t>
            </a:r>
            <a:r>
              <a:rPr lang="en-US" dirty="0" err="1"/>
              <a:t>DatabaseAccess</a:t>
            </a:r>
            <a:r>
              <a:rPr lang="en-US" dirty="0"/>
              <a:t> component to fetch and display data.</a:t>
            </a:r>
          </a:p>
          <a:p>
            <a:endParaRPr lang="en-US" dirty="0"/>
          </a:p>
          <a:p>
            <a:r>
              <a:rPr lang="en-US" dirty="0"/>
              <a:t>Assembly connector: </a:t>
            </a:r>
            <a:r>
              <a:rPr lang="en-US" dirty="0" err="1"/>
              <a:t>WebClient</a:t>
            </a:r>
            <a:r>
              <a:rPr lang="en-US" dirty="0"/>
              <a:t> component requires the </a:t>
            </a:r>
            <a:r>
              <a:rPr lang="en-US" dirty="0" err="1"/>
              <a:t>IService</a:t>
            </a:r>
            <a:r>
              <a:rPr lang="en-US" dirty="0"/>
              <a:t> interface provided by a </a:t>
            </a:r>
            <a:r>
              <a:rPr lang="en-US" dirty="0" err="1"/>
              <a:t>WebService</a:t>
            </a:r>
            <a:r>
              <a:rPr lang="en-US" dirty="0"/>
              <a:t> component.</a:t>
            </a:r>
          </a:p>
          <a:p>
            <a:endParaRPr lang="en-US" dirty="0"/>
          </a:p>
          <a:p>
            <a:r>
              <a:rPr lang="en-US" b="1" dirty="0"/>
              <a:t>Summary of Notations</a:t>
            </a:r>
          </a:p>
          <a:p>
            <a:pPr>
              <a:buFont typeface="Arial" panose="020B0604020202020204" pitchFamily="34" charset="0"/>
              <a:buChar char="•"/>
            </a:pPr>
            <a:r>
              <a:rPr lang="en-US" b="1" dirty="0"/>
              <a:t>Dependency</a:t>
            </a:r>
            <a:r>
              <a:rPr lang="en-US" dirty="0"/>
              <a:t>: Dashed arrow (→)</a:t>
            </a:r>
          </a:p>
          <a:p>
            <a:pPr>
              <a:buFont typeface="Arial" panose="020B0604020202020204" pitchFamily="34" charset="0"/>
              <a:buChar char="•"/>
            </a:pPr>
            <a:r>
              <a:rPr lang="en-US" b="1" dirty="0"/>
              <a:t>Association</a:t>
            </a:r>
            <a:r>
              <a:rPr lang="en-US" dirty="0"/>
              <a:t>: Solid line (↔)</a:t>
            </a:r>
          </a:p>
          <a:p>
            <a:pPr>
              <a:buFont typeface="Arial" panose="020B0604020202020204" pitchFamily="34" charset="0"/>
              <a:buChar char="•"/>
            </a:pPr>
            <a:r>
              <a:rPr lang="en-US" b="1" dirty="0"/>
              <a:t>Realization</a:t>
            </a:r>
            <a:r>
              <a:rPr lang="en-US" dirty="0"/>
              <a:t>: Dashed arrow with hollow triangle (▷)</a:t>
            </a:r>
          </a:p>
          <a:p>
            <a:pPr>
              <a:buFont typeface="Arial" panose="020B0604020202020204" pitchFamily="34" charset="0"/>
              <a:buChar char="•"/>
            </a:pPr>
            <a:r>
              <a:rPr lang="en-US" b="1" dirty="0"/>
              <a:t>Generalization</a:t>
            </a:r>
            <a:r>
              <a:rPr lang="en-US" dirty="0"/>
              <a:t>: Solid arrow with hollow triangle (▷)</a:t>
            </a:r>
          </a:p>
          <a:p>
            <a:pPr>
              <a:buFont typeface="Arial" panose="020B0604020202020204" pitchFamily="34" charset="0"/>
              <a:buChar char="•"/>
            </a:pPr>
            <a:r>
              <a:rPr lang="en-US" b="1" dirty="0"/>
              <a:t>Assembly</a:t>
            </a:r>
            <a:r>
              <a:rPr lang="en-US" dirty="0"/>
              <a:t>: "Lollipop" for provided interfaces; ball-and-socket connector.</a:t>
            </a:r>
          </a:p>
          <a:p>
            <a:pPr>
              <a:buFont typeface="Arial" panose="020B0604020202020204" pitchFamily="34" charset="0"/>
              <a:buChar char="•"/>
            </a:pPr>
            <a:r>
              <a:rPr lang="en-US" b="1" dirty="0"/>
              <a:t>Delegation</a:t>
            </a:r>
            <a:r>
              <a:rPr lang="en-US" dirty="0"/>
              <a:t>: Dashed arrow with a filled circle.</a:t>
            </a:r>
          </a:p>
          <a:p>
            <a:endParaRPr lang="en-US" dirty="0"/>
          </a:p>
        </p:txBody>
      </p:sp>
      <p:sp>
        <p:nvSpPr>
          <p:cNvPr id="4" name="Slide Number Placeholder 3"/>
          <p:cNvSpPr>
            <a:spLocks noGrp="1"/>
          </p:cNvSpPr>
          <p:nvPr>
            <p:ph type="sldNum" sz="quarter" idx="5"/>
          </p:nvPr>
        </p:nvSpPr>
        <p:spPr/>
        <p:txBody>
          <a:bodyPr/>
          <a:lstStyle/>
          <a:p>
            <a:fld id="{5C9D2B67-06E2-4FFF-A709-80BF2A7DAB5F}" type="slidenum">
              <a:rPr lang="en-US" smtClean="0"/>
              <a:t>45</a:t>
            </a:fld>
            <a:endParaRPr lang="en-US"/>
          </a:p>
        </p:txBody>
      </p:sp>
    </p:spTree>
    <p:extLst>
      <p:ext uri="{BB962C8B-B14F-4D97-AF65-F5344CB8AC3E}">
        <p14:creationId xmlns:p14="http://schemas.microsoft.com/office/powerpoint/2010/main" val="1215687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**Benefits of Using Ports**</a:t>
            </a:r>
          </a:p>
          <a:p>
            <a:r>
              <a:rPr lang="en-US" dirty="0"/>
              <a:t> 1. **Clarity**: They clearly define the points of interaction for a component. </a:t>
            </a:r>
          </a:p>
          <a:p>
            <a:r>
              <a:rPr lang="en-US" dirty="0"/>
              <a:t>2. **Modularity**: Ports support better modular design by separating concerns. </a:t>
            </a:r>
          </a:p>
          <a:p>
            <a:r>
              <a:rPr lang="en-US" dirty="0"/>
              <a:t>3. **Flexibility**: Changes to a component’s internal structure don’t affect the external interactions as long as the ports remain unchanged. </a:t>
            </a:r>
          </a:p>
          <a:p>
            <a:r>
              <a:rPr lang="en-US" dirty="0"/>
              <a:t>4. **Scalability**: Ports can represent multiple communication protocols or channels.</a:t>
            </a:r>
          </a:p>
        </p:txBody>
      </p:sp>
      <p:sp>
        <p:nvSpPr>
          <p:cNvPr id="4" name="Slide Number Placeholder 3"/>
          <p:cNvSpPr>
            <a:spLocks noGrp="1"/>
          </p:cNvSpPr>
          <p:nvPr>
            <p:ph type="sldNum" sz="quarter" idx="5"/>
          </p:nvPr>
        </p:nvSpPr>
        <p:spPr/>
        <p:txBody>
          <a:bodyPr/>
          <a:lstStyle/>
          <a:p>
            <a:fld id="{5C9D2B67-06E2-4FFF-A709-80BF2A7DAB5F}" type="slidenum">
              <a:rPr lang="en-US" smtClean="0"/>
              <a:t>46</a:t>
            </a:fld>
            <a:endParaRPr lang="en-US"/>
          </a:p>
        </p:txBody>
      </p:sp>
    </p:spTree>
    <p:extLst>
      <p:ext uri="{BB962C8B-B14F-4D97-AF65-F5344CB8AC3E}">
        <p14:creationId xmlns:p14="http://schemas.microsoft.com/office/powerpoint/2010/main" val="662109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JAR (Java Archive) file</a:t>
            </a:r>
            <a:r>
              <a:rPr lang="en-US" dirty="0"/>
              <a:t> is a file format used to bundle multiple Java class files, metadata, and resources (like images or configuration files) into a single archive for distribution and deployment. It is based on the ZIP file format and has a .jar extension.</a:t>
            </a:r>
          </a:p>
        </p:txBody>
      </p:sp>
      <p:sp>
        <p:nvSpPr>
          <p:cNvPr id="4" name="Slide Number Placeholder 3"/>
          <p:cNvSpPr>
            <a:spLocks noGrp="1"/>
          </p:cNvSpPr>
          <p:nvPr>
            <p:ph type="sldNum" sz="quarter" idx="5"/>
          </p:nvPr>
        </p:nvSpPr>
        <p:spPr/>
        <p:txBody>
          <a:bodyPr/>
          <a:lstStyle/>
          <a:p>
            <a:fld id="{5C9D2B67-06E2-4FFF-A709-80BF2A7DAB5F}" type="slidenum">
              <a:rPr lang="en-US" smtClean="0"/>
              <a:t>47</a:t>
            </a:fld>
            <a:endParaRPr lang="en-US"/>
          </a:p>
        </p:txBody>
      </p:sp>
    </p:spTree>
    <p:extLst>
      <p:ext uri="{BB962C8B-B14F-4D97-AF65-F5344CB8AC3E}">
        <p14:creationId xmlns:p14="http://schemas.microsoft.com/office/powerpoint/2010/main" val="259345740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EB6173-E67A-4ABF-9D07-B09534D3609E}" type="datetime1">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46388-AE01-495E-A422-64DF783CA3B7}" type="datetime1">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9C16433-D5F8-4032-B388-28ED11946A35}" type="datetime1">
              <a:rPr lang="en-US" smtClean="0"/>
              <a:t>7/28/2026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504850-3495-4488-8FCD-CA2C2E246139}" type="datetime1">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61167-CE2C-4438-984C-13395A4B84EC}" type="datetime1">
              <a:rPr lang="en-US" smtClean="0"/>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801522-C990-43F2-8182-0FD4A92B7E09}" type="datetime1">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2F88E-6C11-475F-BE2E-9D746C0DC1FA}" type="datetime1">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295CF-5C66-4080-A38E-555C4E259035}" type="datetime1">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086953-5472-4DB2-8C9D-C55ADA395F85}" type="datetime1">
              <a:rPr lang="en-US" smtClean="0"/>
              <a:t>7/28/2026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472C30-6944-4E86-995E-211D9B5BF857}" type="datetime1">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99CB5-B776-4CF2-94FC-CA909301CA95}" type="datetime1">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1CA38CA-2EB5-43C2-81A6-FE170C4CF28A}" type="datetime1">
              <a:rPr lang="en-US" smtClean="0"/>
              <a:t>7/28/2026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geeksforgeeks.org/unified-modeling-language-uml-introduction/"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A0D-6E59-4383-9DF9-A8C233DC83C8}"/>
              </a:ext>
            </a:extLst>
          </p:cNvPr>
          <p:cNvSpPr>
            <a:spLocks noGrp="1"/>
          </p:cNvSpPr>
          <p:nvPr>
            <p:ph type="ctrTitle"/>
          </p:nvPr>
        </p:nvSpPr>
        <p:spPr/>
        <p:txBody>
          <a:bodyPr/>
          <a:lstStyle/>
          <a:p>
            <a:pPr>
              <a:lnSpc>
                <a:spcPct val="50000"/>
              </a:lnSpc>
            </a:pPr>
            <a:r>
              <a:rPr lang="en-US" sz="4800" dirty="0"/>
              <a:t>Unit 5</a:t>
            </a:r>
            <a:br>
              <a:rPr lang="en-US" sz="4800" dirty="0"/>
            </a:br>
            <a:br>
              <a:rPr lang="en-US" sz="6600" dirty="0"/>
            </a:br>
            <a:r>
              <a:rPr lang="en-US" sz="6600" dirty="0"/>
              <a:t>System Modeling</a:t>
            </a:r>
            <a:br>
              <a:rPr lang="en-US" dirty="0"/>
            </a:br>
            <a:endParaRPr lang="en-US" dirty="0"/>
          </a:p>
        </p:txBody>
      </p:sp>
      <p:sp>
        <p:nvSpPr>
          <p:cNvPr id="8" name="Subtitle 7">
            <a:extLst>
              <a:ext uri="{FF2B5EF4-FFF2-40B4-BE49-F238E27FC236}">
                <a16:creationId xmlns:a16="http://schemas.microsoft.com/office/drawing/2014/main" id="{FD94B0D4-AD5E-4142-BB4C-606A9BFB8C8B}"/>
              </a:ext>
            </a:extLst>
          </p:cNvPr>
          <p:cNvSpPr>
            <a:spLocks noGrp="1"/>
          </p:cNvSpPr>
          <p:nvPr>
            <p:ph type="subTitle" idx="1"/>
          </p:nvPr>
        </p:nvSpPr>
        <p:spPr>
          <a:xfrm>
            <a:off x="1051560" y="4615363"/>
            <a:ext cx="7891272" cy="1069848"/>
          </a:xfrm>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id="{6E315391-4770-44DD-96B8-AB52F28EC26C}"/>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34883A51-3C9B-4315-8D30-E190E9B94F5A}"/>
              </a:ext>
            </a:extLst>
          </p:cNvPr>
          <p:cNvSpPr>
            <a:spLocks noGrp="1"/>
          </p:cNvSpPr>
          <p:nvPr>
            <p:ph idx="1"/>
          </p:nvPr>
        </p:nvSpPr>
        <p:spPr/>
        <p:txBody>
          <a:bodyPr>
            <a:normAutofit/>
          </a:bodyPr>
          <a:lstStyle/>
          <a:p>
            <a:r>
              <a:rPr lang="en-US" dirty="0"/>
              <a:t>Introduction to System Modeling;</a:t>
            </a:r>
          </a:p>
          <a:p>
            <a:r>
              <a:rPr lang="en-US" dirty="0"/>
              <a:t> Context Models; </a:t>
            </a:r>
          </a:p>
          <a:p>
            <a:r>
              <a:rPr lang="en-US" dirty="0"/>
              <a:t>Interaction Models; </a:t>
            </a:r>
          </a:p>
          <a:p>
            <a:r>
              <a:rPr lang="en-US" dirty="0"/>
              <a:t>Structural Models; </a:t>
            </a:r>
          </a:p>
          <a:p>
            <a:r>
              <a:rPr lang="en-US" dirty="0"/>
              <a:t>Behavioral Models; </a:t>
            </a:r>
          </a:p>
          <a:p>
            <a:r>
              <a:rPr lang="en-US" dirty="0"/>
              <a:t>Model-Driven Architecture </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9B78AC-CDA8-45C3-B850-3A69787F6754}"/>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Modeling</a:t>
            </a:r>
          </a:p>
        </p:txBody>
      </p:sp>
      <p:sp>
        <p:nvSpPr>
          <p:cNvPr id="3" name="Content Placeholder 2"/>
          <p:cNvSpPr>
            <a:spLocks noGrp="1"/>
          </p:cNvSpPr>
          <p:nvPr>
            <p:ph idx="1"/>
          </p:nvPr>
        </p:nvSpPr>
        <p:spPr/>
        <p:txBody>
          <a:bodyPr/>
          <a:lstStyle/>
          <a:p>
            <a:pPr algn="just"/>
            <a:r>
              <a:rPr lang="en-US" dirty="0"/>
              <a:t>System modeling in software engineering involves creating abstract representations of software systems to help software engineers and stakeholders understand the system's architecture, behavior, and relationships between different components. </a:t>
            </a:r>
          </a:p>
          <a:p>
            <a:pPr algn="just"/>
            <a:r>
              <a:rPr lang="en-US" dirty="0"/>
              <a:t>It is a critical aspect of software development because it enables software engineers to communicate and collaborate effectively, identify potential issues early on in the development process, and make informed decisions about the system's design and implementation.</a:t>
            </a:r>
          </a:p>
        </p:txBody>
      </p:sp>
    </p:spTree>
    <p:extLst>
      <p:ext uri="{BB962C8B-B14F-4D97-AF65-F5344CB8AC3E}">
        <p14:creationId xmlns:p14="http://schemas.microsoft.com/office/powerpoint/2010/main" val="2682447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Modeling</a:t>
            </a:r>
          </a:p>
        </p:txBody>
      </p:sp>
      <p:sp>
        <p:nvSpPr>
          <p:cNvPr id="3" name="Content Placeholder 2"/>
          <p:cNvSpPr>
            <a:spLocks noGrp="1"/>
          </p:cNvSpPr>
          <p:nvPr>
            <p:ph idx="1"/>
          </p:nvPr>
        </p:nvSpPr>
        <p:spPr/>
        <p:txBody>
          <a:bodyPr>
            <a:normAutofit/>
          </a:bodyPr>
          <a:lstStyle/>
          <a:p>
            <a:pPr marL="0" indent="0" algn="just">
              <a:buNone/>
            </a:pPr>
            <a:r>
              <a:rPr lang="en-US" dirty="0"/>
              <a:t>There are various types of system modeling techniques in software engineering, including:</a:t>
            </a:r>
          </a:p>
          <a:p>
            <a:pPr marL="0" indent="0" algn="just">
              <a:buNone/>
            </a:pPr>
            <a:endParaRPr lang="en-US" dirty="0"/>
          </a:p>
          <a:p>
            <a:pPr algn="just"/>
            <a:r>
              <a:rPr lang="en-US" b="1" dirty="0"/>
              <a:t>Behavioral models</a:t>
            </a:r>
          </a:p>
          <a:p>
            <a:pPr algn="just"/>
            <a:r>
              <a:rPr lang="en-US" b="1" dirty="0"/>
              <a:t>Context models </a:t>
            </a:r>
          </a:p>
          <a:p>
            <a:pPr algn="just"/>
            <a:r>
              <a:rPr lang="en-US" b="1" dirty="0"/>
              <a:t>Interaction models </a:t>
            </a:r>
          </a:p>
          <a:p>
            <a:pPr algn="just"/>
            <a:r>
              <a:rPr lang="en-US" b="1" dirty="0"/>
              <a:t>Structural models </a:t>
            </a:r>
          </a:p>
        </p:txBody>
      </p:sp>
    </p:spTree>
    <p:extLst>
      <p:ext uri="{BB962C8B-B14F-4D97-AF65-F5344CB8AC3E}">
        <p14:creationId xmlns:p14="http://schemas.microsoft.com/office/powerpoint/2010/main" val="2490206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Behavioral modeling</a:t>
            </a:r>
          </a:p>
        </p:txBody>
      </p:sp>
      <p:sp>
        <p:nvSpPr>
          <p:cNvPr id="3" name="Content Placeholder 2"/>
          <p:cNvSpPr>
            <a:spLocks noGrp="1"/>
          </p:cNvSpPr>
          <p:nvPr>
            <p:ph idx="1"/>
          </p:nvPr>
        </p:nvSpPr>
        <p:spPr/>
        <p:txBody>
          <a:bodyPr/>
          <a:lstStyle/>
          <a:p>
            <a:pPr algn="just"/>
            <a:r>
              <a:rPr lang="en-US" dirty="0"/>
              <a:t>Behavioral modeling is a type of system modeling in software engineering that focuses on the behavior of a software system or its components. It involves creating models to depict how the system behaves in response to various inputs and events.</a:t>
            </a:r>
          </a:p>
          <a:p>
            <a:pPr algn="just"/>
            <a:r>
              <a:rPr lang="en-US" dirty="0"/>
              <a:t>Behavioral modeling is an essential aspect of software development because it enables software engineers to identify potential issues early on in the development process and make informed decisions about the system's design and implementation.</a:t>
            </a:r>
          </a:p>
        </p:txBody>
      </p:sp>
    </p:spTree>
    <p:extLst>
      <p:ext uri="{BB962C8B-B14F-4D97-AF65-F5344CB8AC3E}">
        <p14:creationId xmlns:p14="http://schemas.microsoft.com/office/powerpoint/2010/main" val="1063193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behavioral modeling</a:t>
            </a:r>
          </a:p>
        </p:txBody>
      </p:sp>
      <p:sp>
        <p:nvSpPr>
          <p:cNvPr id="3" name="Content Placeholder 2"/>
          <p:cNvSpPr>
            <a:spLocks noGrp="1"/>
          </p:cNvSpPr>
          <p:nvPr>
            <p:ph idx="1"/>
          </p:nvPr>
        </p:nvSpPr>
        <p:spPr/>
        <p:txBody>
          <a:bodyPr>
            <a:normAutofit lnSpcReduction="10000"/>
          </a:bodyPr>
          <a:lstStyle/>
          <a:p>
            <a:pPr marL="0" indent="0" algn="just">
              <a:buNone/>
            </a:pPr>
            <a:r>
              <a:rPr lang="en-US" dirty="0"/>
              <a:t>There are various types of behavioral modeling techniques used in software engineering, including:</a:t>
            </a:r>
          </a:p>
          <a:p>
            <a:pPr algn="just"/>
            <a:r>
              <a:rPr lang="en-US" b="1" dirty="0"/>
              <a:t>Use case modeling: </a:t>
            </a:r>
            <a:r>
              <a:rPr lang="en-US" dirty="0"/>
              <a:t>This type of modeling is used to describe the interactions between the users and the system. It involves creating diagrams to depict the system's functionality and the various ways in which the users interact with the system.</a:t>
            </a:r>
          </a:p>
          <a:p>
            <a:pPr algn="just"/>
            <a:r>
              <a:rPr lang="en-US" b="1" dirty="0"/>
              <a:t>Activity modeling: </a:t>
            </a:r>
            <a:r>
              <a:rPr lang="en-US" dirty="0"/>
              <a:t>This type of modeling is used to describe the behavior and flow of control of a system or process. It involves creating diagrams to depict the steps or operations carried out in the system or process.</a:t>
            </a:r>
          </a:p>
          <a:p>
            <a:pPr algn="just"/>
            <a:r>
              <a:rPr lang="en-US" b="1" dirty="0"/>
              <a:t>State modeling: </a:t>
            </a:r>
            <a:r>
              <a:rPr lang="en-US" dirty="0"/>
              <a:t>This type of modeling is used to describe the behavior of a system or component in response to various events or inputs. It involves creating diagrams to depict the different states that the system or component can be in and the transitions between them.</a:t>
            </a:r>
          </a:p>
        </p:txBody>
      </p:sp>
    </p:spTree>
    <p:extLst>
      <p:ext uri="{BB962C8B-B14F-4D97-AF65-F5344CB8AC3E}">
        <p14:creationId xmlns:p14="http://schemas.microsoft.com/office/powerpoint/2010/main" val="2496295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Activity Diagram</a:t>
            </a:r>
          </a:p>
        </p:txBody>
      </p:sp>
      <p:sp>
        <p:nvSpPr>
          <p:cNvPr id="3" name="Content Placeholder 2"/>
          <p:cNvSpPr>
            <a:spLocks noGrp="1"/>
          </p:cNvSpPr>
          <p:nvPr>
            <p:ph idx="1"/>
          </p:nvPr>
        </p:nvSpPr>
        <p:spPr/>
        <p:txBody>
          <a:bodyPr>
            <a:normAutofit/>
          </a:bodyPr>
          <a:lstStyle/>
          <a:p>
            <a:pPr algn="just"/>
            <a:r>
              <a:rPr lang="en-US" dirty="0"/>
              <a:t>Activity diagrams are a type of behavioral modeling in software engineering. They depict the behavior and flow of control of a system or process. Activity diagrams are typically used to model business processes, software workflows, and use cases.</a:t>
            </a:r>
          </a:p>
          <a:p>
            <a:pPr algn="just"/>
            <a:r>
              <a:rPr lang="en-US" dirty="0"/>
              <a:t>Activity diagrams use different types of symbols to represent the components of the system or process being modeled, including actions, decisions, and flows. Actions represent the steps or operations that are carried out in the system or process, decisions represent the branching points in the process, and flows represent the connections between different components.</a:t>
            </a:r>
          </a:p>
          <a:p>
            <a:pPr algn="just"/>
            <a:r>
              <a:rPr lang="en-US" dirty="0"/>
              <a:t>In summary, activity diagrams are a type of behavioral modeling that are used to depict the behavior and flow of control of a system or process, and they use different types of symbols to represent the components of the system or process being modeled.</a:t>
            </a:r>
          </a:p>
        </p:txBody>
      </p:sp>
    </p:spTree>
    <p:extLst>
      <p:ext uri="{BB962C8B-B14F-4D97-AF65-F5344CB8AC3E}">
        <p14:creationId xmlns:p14="http://schemas.microsoft.com/office/powerpoint/2010/main" val="3913298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Activity Diagram</a:t>
            </a:r>
          </a:p>
        </p:txBody>
      </p:sp>
      <p:pic>
        <p:nvPicPr>
          <p:cNvPr id="1026" name="Picture 2" descr="UML Activity Diagram | Symbols and Components of UML"/>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3849" y="1533393"/>
            <a:ext cx="5217030" cy="4994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1050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2050" name="Picture 2" descr="Activity diagram for online shopping websit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01495" y="1605847"/>
            <a:ext cx="4408732" cy="516470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ctivity diagram for online shopping websi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0299" y="1690688"/>
            <a:ext cx="4281803" cy="5029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0779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endParaRPr lang="en-US" dirty="0"/>
          </a:p>
        </p:txBody>
      </p:sp>
      <p:pic>
        <p:nvPicPr>
          <p:cNvPr id="1026" name="Picture 2" descr="ATM Withdrawal Activity Diagram Template - Edraw"/>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78899" y="1825625"/>
            <a:ext cx="563420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3582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r>
              <a:rPr lang="en-US" dirty="0"/>
              <a:t>Draw Activity diagram of your </a:t>
            </a:r>
            <a:r>
              <a:rPr lang="en-US"/>
              <a:t>project work.</a:t>
            </a:r>
            <a:endParaRPr lang="en-US" dirty="0"/>
          </a:p>
        </p:txBody>
      </p:sp>
    </p:spTree>
    <p:extLst>
      <p:ext uri="{BB962C8B-B14F-4D97-AF65-F5344CB8AC3E}">
        <p14:creationId xmlns:p14="http://schemas.microsoft.com/office/powerpoint/2010/main" val="1460061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State Diagram</a:t>
            </a:r>
          </a:p>
        </p:txBody>
      </p:sp>
      <p:sp>
        <p:nvSpPr>
          <p:cNvPr id="3" name="Content Placeholder 2"/>
          <p:cNvSpPr>
            <a:spLocks noGrp="1"/>
          </p:cNvSpPr>
          <p:nvPr>
            <p:ph idx="1"/>
          </p:nvPr>
        </p:nvSpPr>
        <p:spPr/>
        <p:txBody>
          <a:bodyPr>
            <a:normAutofit/>
          </a:bodyPr>
          <a:lstStyle/>
          <a:p>
            <a:pPr algn="just"/>
            <a:r>
              <a:rPr lang="en-US" dirty="0"/>
              <a:t>A state diagram is a visual representation of the states an object or system can be in, and the transitions between those states. It is often used in software engineering, control engineering, and other fields to model the behavior of systems.</a:t>
            </a:r>
          </a:p>
          <a:p>
            <a:pPr algn="just"/>
            <a:r>
              <a:rPr lang="en-US" dirty="0"/>
              <a:t>A state diagram consists of a set of states, represented by rounded rectangle, circles or ovals, and transitions between those states, represented by arrows. Each state represents a possible condition or mode of operation of the system, while each transition represents a change of state that can occur in response to some input or event.</a:t>
            </a:r>
          </a:p>
          <a:p>
            <a:pPr algn="just"/>
            <a:endParaRPr lang="en-US" dirty="0"/>
          </a:p>
        </p:txBody>
      </p:sp>
    </p:spTree>
    <p:extLst>
      <p:ext uri="{BB962C8B-B14F-4D97-AF65-F5344CB8AC3E}">
        <p14:creationId xmlns:p14="http://schemas.microsoft.com/office/powerpoint/2010/main" val="1270074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7517C-14AC-857B-34A9-3CD2BE9850D1}"/>
              </a:ext>
            </a:extLst>
          </p:cNvPr>
          <p:cNvSpPr>
            <a:spLocks noGrp="1"/>
          </p:cNvSpPr>
          <p:nvPr>
            <p:ph type="title"/>
          </p:nvPr>
        </p:nvSpPr>
        <p:spPr/>
        <p:txBody>
          <a:bodyPr/>
          <a:lstStyle/>
          <a:p>
            <a:r>
              <a:rPr lang="en-US" b="1" dirty="0"/>
              <a:t>Difference between state and activity diagram</a:t>
            </a:r>
          </a:p>
        </p:txBody>
      </p:sp>
      <p:pic>
        <p:nvPicPr>
          <p:cNvPr id="5" name="Content Placeholder 4">
            <a:extLst>
              <a:ext uri="{FF2B5EF4-FFF2-40B4-BE49-F238E27FC236}">
                <a16:creationId xmlns:a16="http://schemas.microsoft.com/office/drawing/2014/main" id="{288C513D-8FD6-82C4-52A7-7C8905A6FB9C}"/>
              </a:ext>
            </a:extLst>
          </p:cNvPr>
          <p:cNvPicPr>
            <a:picLocks noGrp="1" noChangeAspect="1"/>
          </p:cNvPicPr>
          <p:nvPr>
            <p:ph idx="1"/>
          </p:nvPr>
        </p:nvPicPr>
        <p:blipFill>
          <a:blip r:embed="rId3"/>
          <a:stretch>
            <a:fillRect/>
          </a:stretch>
        </p:blipFill>
        <p:spPr>
          <a:xfrm>
            <a:off x="975598" y="1910264"/>
            <a:ext cx="10240804" cy="4182059"/>
          </a:xfrm>
        </p:spPr>
      </p:pic>
    </p:spTree>
    <p:extLst>
      <p:ext uri="{BB962C8B-B14F-4D97-AF65-F5344CB8AC3E}">
        <p14:creationId xmlns:p14="http://schemas.microsoft.com/office/powerpoint/2010/main" val="1484840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Symbols of State Diagram</a:t>
            </a:r>
          </a:p>
        </p:txBody>
      </p:sp>
      <p:pic>
        <p:nvPicPr>
          <p:cNvPr id="1026" name="Picture 2" descr="Ultimate State Diagram Tutorial: Explain with Exampl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57500" y="1858169"/>
            <a:ext cx="64770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9821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2052" name="Picture 4" descr="Unified Modeling Language (UML) | State Diagrams - GeeksforGeek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4726" y="2294550"/>
            <a:ext cx="9336100" cy="3314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194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Bank ATM</a:t>
            </a:r>
          </a:p>
        </p:txBody>
      </p:sp>
      <p:pic>
        <p:nvPicPr>
          <p:cNvPr id="3074" name="Picture 2" descr="An example of UML behavioral state machine diagram for a bank ATM  (Automated Teller Machine) - ATM could be Turned Off, in Self Test state,  Idle, Serving Customer, in Maintenance, or Out"/>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910445" y="1690688"/>
            <a:ext cx="7147955" cy="5069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8265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r>
              <a:rPr lang="en-US" dirty="0"/>
              <a:t>Draw State diagram for vending machine.</a:t>
            </a:r>
          </a:p>
        </p:txBody>
      </p:sp>
    </p:spTree>
    <p:extLst>
      <p:ext uri="{BB962C8B-B14F-4D97-AF65-F5344CB8AC3E}">
        <p14:creationId xmlns:p14="http://schemas.microsoft.com/office/powerpoint/2010/main" val="732849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Context Modeling</a:t>
            </a:r>
          </a:p>
        </p:txBody>
      </p:sp>
      <p:sp>
        <p:nvSpPr>
          <p:cNvPr id="3" name="Content Placeholder 2"/>
          <p:cNvSpPr>
            <a:spLocks noGrp="1"/>
          </p:cNvSpPr>
          <p:nvPr>
            <p:ph idx="1"/>
          </p:nvPr>
        </p:nvSpPr>
        <p:spPr/>
        <p:txBody>
          <a:bodyPr>
            <a:normAutofit/>
          </a:bodyPr>
          <a:lstStyle/>
          <a:p>
            <a:pPr algn="just"/>
            <a:r>
              <a:rPr lang="en-US" b="1" dirty="0"/>
              <a:t>Context modeling</a:t>
            </a:r>
            <a:r>
              <a:rPr lang="en-US" dirty="0"/>
              <a:t> is a technique used to define and represent the scope and boundaries of a system within its environment. It focuses on understanding how the system interacts with external entities, such as users, external systems, or other stakeholders, and how data flows in and out of the system.</a:t>
            </a:r>
          </a:p>
          <a:p>
            <a:pPr algn="just"/>
            <a:r>
              <a:rPr lang="en-US" dirty="0"/>
              <a:t>Context modeling provides a high-level view that helps stakeholders understand the system's purpose, inputs, outputs, and relationships without delving into implementation details.</a:t>
            </a:r>
          </a:p>
          <a:p>
            <a:pPr algn="just"/>
            <a:endParaRPr lang="en-US" dirty="0"/>
          </a:p>
        </p:txBody>
      </p:sp>
    </p:spTree>
    <p:extLst>
      <p:ext uri="{BB962C8B-B14F-4D97-AF65-F5344CB8AC3E}">
        <p14:creationId xmlns:p14="http://schemas.microsoft.com/office/powerpoint/2010/main" val="1112788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of Context diagram</a:t>
            </a:r>
          </a:p>
        </p:txBody>
      </p:sp>
      <p:pic>
        <p:nvPicPr>
          <p:cNvPr id="3074" name="Picture 2" descr="A Context Model in 5 Minutes - Why Chan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97943" y="1599382"/>
            <a:ext cx="5979690" cy="4825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501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Flow Diagram(DFD)</a:t>
            </a:r>
          </a:p>
        </p:txBody>
      </p:sp>
      <p:sp>
        <p:nvSpPr>
          <p:cNvPr id="3" name="Content Placeholder 2"/>
          <p:cNvSpPr>
            <a:spLocks noGrp="1"/>
          </p:cNvSpPr>
          <p:nvPr>
            <p:ph idx="1"/>
          </p:nvPr>
        </p:nvSpPr>
        <p:spPr/>
        <p:txBody>
          <a:bodyPr>
            <a:normAutofit/>
          </a:bodyPr>
          <a:lstStyle/>
          <a:p>
            <a:r>
              <a:rPr lang="en-US" dirty="0"/>
              <a:t>A data flow diagram (DFD) is a graphical representation of a system or process that shows the flow of data through it. It is a modeling technique that allows you to visualize how data moves between processes, data stores, and external entities.</a:t>
            </a:r>
          </a:p>
          <a:p>
            <a:pPr marL="0" indent="0">
              <a:buNone/>
            </a:pPr>
            <a:r>
              <a:rPr lang="en-US" dirty="0"/>
              <a:t>A DFD typically consists of four components: processes, data flows, data stores, and external entities.</a:t>
            </a:r>
          </a:p>
          <a:p>
            <a:r>
              <a:rPr lang="en-US" b="1" dirty="0"/>
              <a:t>Processes: </a:t>
            </a:r>
            <a:r>
              <a:rPr lang="en-US" dirty="0"/>
              <a:t>A process represents a function or activity that transforms input data into output data. Processes are depicted as rectangles with the process name inside.</a:t>
            </a:r>
          </a:p>
          <a:p>
            <a:r>
              <a:rPr lang="en-US" b="1" dirty="0"/>
              <a:t>Data Flows: </a:t>
            </a:r>
            <a:r>
              <a:rPr lang="en-US" dirty="0"/>
              <a:t>A data flow represents the movement of data from one part of the system or process to another. Data flows are depicted as arrows that connect processes, data stores, and external entities.</a:t>
            </a:r>
          </a:p>
        </p:txBody>
      </p:sp>
    </p:spTree>
    <p:extLst>
      <p:ext uri="{BB962C8B-B14F-4D97-AF65-F5344CB8AC3E}">
        <p14:creationId xmlns:p14="http://schemas.microsoft.com/office/powerpoint/2010/main" val="1920632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Flow Diagram(DFD)</a:t>
            </a:r>
          </a:p>
        </p:txBody>
      </p:sp>
      <p:sp>
        <p:nvSpPr>
          <p:cNvPr id="3" name="Content Placeholder 2"/>
          <p:cNvSpPr>
            <a:spLocks noGrp="1"/>
          </p:cNvSpPr>
          <p:nvPr>
            <p:ph idx="1"/>
          </p:nvPr>
        </p:nvSpPr>
        <p:spPr/>
        <p:txBody>
          <a:bodyPr>
            <a:normAutofit/>
          </a:bodyPr>
          <a:lstStyle/>
          <a:p>
            <a:r>
              <a:rPr lang="en-US" b="1" dirty="0"/>
              <a:t>Data Stores: </a:t>
            </a:r>
            <a:r>
              <a:rPr lang="en-US" dirty="0"/>
              <a:t>A data store represents a repository of data that is used by the system or process. Data stores are depicted as rectangles with the data store name inside.</a:t>
            </a:r>
          </a:p>
          <a:p>
            <a:r>
              <a:rPr lang="en-US" b="1" dirty="0"/>
              <a:t>External Entities: </a:t>
            </a:r>
            <a:r>
              <a:rPr lang="en-US" dirty="0"/>
              <a:t>An external entity represents a source or destination of data outside of the system or process being modeled. External entities are depicted as squares or circles with the entity name inside.</a:t>
            </a:r>
          </a:p>
          <a:p>
            <a:pPr marL="0" indent="0">
              <a:buNone/>
            </a:pPr>
            <a:r>
              <a:rPr lang="en-US" dirty="0"/>
              <a:t>DFDs can be used to model a wide range of systems or processes, from simple to complex. They can be used to identify and analyze data flows, improve system efficiency, and communicate system requirements to stakeholders.</a:t>
            </a:r>
          </a:p>
        </p:txBody>
      </p:sp>
    </p:spTree>
    <p:extLst>
      <p:ext uri="{BB962C8B-B14F-4D97-AF65-F5344CB8AC3E}">
        <p14:creationId xmlns:p14="http://schemas.microsoft.com/office/powerpoint/2010/main" val="2726770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7AE3F-EBF7-36E1-A91F-328F6E266C60}"/>
              </a:ext>
            </a:extLst>
          </p:cNvPr>
          <p:cNvSpPr>
            <a:spLocks noGrp="1"/>
          </p:cNvSpPr>
          <p:nvPr>
            <p:ph type="title"/>
          </p:nvPr>
        </p:nvSpPr>
        <p:spPr/>
        <p:txBody>
          <a:bodyPr/>
          <a:lstStyle/>
          <a:p>
            <a:r>
              <a:rPr lang="en-US" b="1" dirty="0"/>
              <a:t>Levels in DFD</a:t>
            </a:r>
          </a:p>
        </p:txBody>
      </p:sp>
      <p:sp>
        <p:nvSpPr>
          <p:cNvPr id="3" name="Content Placeholder 2">
            <a:extLst>
              <a:ext uri="{FF2B5EF4-FFF2-40B4-BE49-F238E27FC236}">
                <a16:creationId xmlns:a16="http://schemas.microsoft.com/office/drawing/2014/main" id="{A3413204-0158-4201-AAC0-6A0093CEDD70}"/>
              </a:ext>
            </a:extLst>
          </p:cNvPr>
          <p:cNvSpPr>
            <a:spLocks noGrp="1"/>
          </p:cNvSpPr>
          <p:nvPr>
            <p:ph idx="1"/>
          </p:nvPr>
        </p:nvSpPr>
        <p:spPr/>
        <p:txBody>
          <a:bodyPr/>
          <a:lstStyle/>
          <a:p>
            <a:pPr algn="just">
              <a:buFont typeface="+mj-lt"/>
              <a:buAutoNum type="arabicPeriod"/>
            </a:pPr>
            <a:r>
              <a:rPr lang="en-US" b="1" dirty="0"/>
              <a:t>Level of Detail</a:t>
            </a:r>
            <a:r>
              <a:rPr lang="en-US" dirty="0"/>
              <a:t>: Varies by </a:t>
            </a:r>
            <a:r>
              <a:rPr lang="en-US" dirty="0" err="1"/>
              <a:t>level:</a:t>
            </a:r>
            <a:r>
              <a:rPr lang="en-US" b="1" dirty="0" err="1"/>
              <a:t>Level</a:t>
            </a:r>
            <a:r>
              <a:rPr lang="en-US" b="1" dirty="0"/>
              <a:t> 0 (Context Diagram)</a:t>
            </a:r>
            <a:r>
              <a:rPr lang="en-US" dirty="0"/>
              <a:t>: Equivalent to the context diagram, showing the system as a single process.</a:t>
            </a:r>
          </a:p>
          <a:p>
            <a:pPr algn="just">
              <a:buFont typeface="+mj-lt"/>
              <a:buAutoNum type="arabicPeriod"/>
            </a:pPr>
            <a:r>
              <a:rPr lang="en-US" b="1" dirty="0"/>
              <a:t>Level 1 DFD</a:t>
            </a:r>
            <a:r>
              <a:rPr lang="en-US" dirty="0"/>
              <a:t>: Breaks the system into major processes, data stores, and data flows.</a:t>
            </a:r>
          </a:p>
          <a:p>
            <a:pPr algn="just">
              <a:buFont typeface="+mj-lt"/>
              <a:buAutoNum type="arabicPeriod"/>
            </a:pPr>
            <a:r>
              <a:rPr lang="en-US" b="1" dirty="0"/>
              <a:t>Level 2 and Beyond</a:t>
            </a:r>
            <a:r>
              <a:rPr lang="en-US" dirty="0"/>
              <a:t>: Further decomposes processes into sub-processes for greater detail.</a:t>
            </a:r>
          </a:p>
          <a:p>
            <a:pPr algn="just"/>
            <a:endParaRPr lang="en-US" dirty="0"/>
          </a:p>
        </p:txBody>
      </p:sp>
    </p:spTree>
    <p:extLst>
      <p:ext uri="{BB962C8B-B14F-4D97-AF65-F5344CB8AC3E}">
        <p14:creationId xmlns:p14="http://schemas.microsoft.com/office/powerpoint/2010/main" val="1553818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Symbols of DFD</a:t>
            </a:r>
          </a:p>
        </p:txBody>
      </p:sp>
      <p:pic>
        <p:nvPicPr>
          <p:cNvPr id="1026" name="Picture 2" descr="What is Data Flow Diagram? Symbols and Example - 123projectlab.co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64180" y="1841024"/>
            <a:ext cx="6263640" cy="4320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2894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of DFD</a:t>
            </a:r>
          </a:p>
        </p:txBody>
      </p:sp>
      <p:pic>
        <p:nvPicPr>
          <p:cNvPr id="2050" name="Picture 2" descr="Context Level DFD Online Shopping System - 123projectlab.co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1005" y="1470581"/>
            <a:ext cx="8627844" cy="412894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300141" y="6058646"/>
            <a:ext cx="9407950" cy="646331"/>
          </a:xfrm>
          <a:prstGeom prst="rect">
            <a:avLst/>
          </a:prstGeom>
          <a:noFill/>
        </p:spPr>
        <p:txBody>
          <a:bodyPr wrap="square" rtlCol="0">
            <a:spAutoFit/>
          </a:bodyPr>
          <a:lstStyle/>
          <a:p>
            <a:r>
              <a:rPr lang="en-US" dirty="0"/>
              <a:t>For more detail:</a:t>
            </a:r>
          </a:p>
          <a:p>
            <a:r>
              <a:rPr lang="en-US" dirty="0"/>
              <a:t>https://www.visual-paradigm.com/guide/data-flow-diagram/what-is-data-flow-diagram/</a:t>
            </a:r>
          </a:p>
        </p:txBody>
      </p:sp>
    </p:spTree>
    <p:extLst>
      <p:ext uri="{BB962C8B-B14F-4D97-AF65-F5344CB8AC3E}">
        <p14:creationId xmlns:p14="http://schemas.microsoft.com/office/powerpoint/2010/main" val="1190427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Interaction Modeling</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Interaction modeling is a crucial step in software engineering that involves creating a representation of how users interact with a system or product. It helps designers and developers to understand the needs and expectations of users and design an interface that is intuitive, efficient, and enjoyable to use.</a:t>
            </a:r>
          </a:p>
          <a:p>
            <a:pPr marL="0" indent="0" algn="just">
              <a:buNone/>
            </a:pPr>
            <a:r>
              <a:rPr lang="en-US" dirty="0"/>
              <a:t>Interaction modeling typically includes the following steps:</a:t>
            </a:r>
          </a:p>
          <a:p>
            <a:pPr algn="just"/>
            <a:r>
              <a:rPr lang="en-US" b="1" dirty="0"/>
              <a:t>Identifying user personas: </a:t>
            </a:r>
            <a:r>
              <a:rPr lang="en-US" dirty="0"/>
              <a:t>This involves creating a detailed profile of the typical users who will interact with the system or product, including their goals, tasks, preferences, and limitations.</a:t>
            </a:r>
          </a:p>
          <a:p>
            <a:pPr algn="just"/>
            <a:r>
              <a:rPr lang="en-US" b="1" dirty="0"/>
              <a:t>Defining user scenarios: </a:t>
            </a:r>
            <a:r>
              <a:rPr lang="en-US" dirty="0"/>
              <a:t>This involves identifying the different ways in which users will interact with the system or product, including the steps they will take and the outcomes they expect.</a:t>
            </a:r>
          </a:p>
          <a:p>
            <a:pPr algn="just"/>
            <a:r>
              <a:rPr lang="en-US" b="1" dirty="0"/>
              <a:t>Creating interaction diagrams: </a:t>
            </a:r>
            <a:r>
              <a:rPr lang="en-US" dirty="0"/>
              <a:t>This involves using different types of diagrams, such as wireframes, flowcharts, sequence diagrams, and state diagrams, to represent the various interactions between the user and the system or product.</a:t>
            </a:r>
          </a:p>
          <a:p>
            <a:pPr algn="just"/>
            <a:endParaRPr lang="en-US" dirty="0"/>
          </a:p>
        </p:txBody>
      </p:sp>
    </p:spTree>
    <p:extLst>
      <p:ext uri="{BB962C8B-B14F-4D97-AF65-F5344CB8AC3E}">
        <p14:creationId xmlns:p14="http://schemas.microsoft.com/office/powerpoint/2010/main" val="1697330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Interaction Modeling</a:t>
            </a:r>
          </a:p>
        </p:txBody>
      </p:sp>
      <p:sp>
        <p:nvSpPr>
          <p:cNvPr id="3" name="Content Placeholder 2"/>
          <p:cNvSpPr>
            <a:spLocks noGrp="1"/>
          </p:cNvSpPr>
          <p:nvPr>
            <p:ph idx="1"/>
          </p:nvPr>
        </p:nvSpPr>
        <p:spPr/>
        <p:txBody>
          <a:bodyPr>
            <a:normAutofit/>
          </a:bodyPr>
          <a:lstStyle/>
          <a:p>
            <a:pPr algn="just"/>
            <a:r>
              <a:rPr lang="en-US" b="1" dirty="0"/>
              <a:t>Prototyping and testing: </a:t>
            </a:r>
            <a:r>
              <a:rPr lang="en-US" dirty="0"/>
              <a:t>This involves creating prototypes of the system or product, and testing them with real users to identify potential problems or areas for improvement.</a:t>
            </a:r>
          </a:p>
          <a:p>
            <a:pPr algn="just"/>
            <a:r>
              <a:rPr lang="en-US" b="1" dirty="0"/>
              <a:t>Iterating and refining: </a:t>
            </a:r>
            <a:r>
              <a:rPr lang="en-US" dirty="0"/>
              <a:t>This involves using the feedback from testing to refine the design, and repeating the testing process until the design is optimized for user needs.</a:t>
            </a:r>
          </a:p>
          <a:p>
            <a:pPr marL="0" indent="0" algn="just">
              <a:buNone/>
            </a:pPr>
            <a:r>
              <a:rPr lang="en-US" dirty="0"/>
              <a:t>Interaction modeling is a critical part of software engineering because it helps ensure that the system or product is designed to meet the needs and expectations of its users. By modeling the interactions between the user and the system or product, designers can identify potential problems and create a more user-friendly design.</a:t>
            </a:r>
          </a:p>
        </p:txBody>
      </p:sp>
    </p:spTree>
    <p:extLst>
      <p:ext uri="{BB962C8B-B14F-4D97-AF65-F5344CB8AC3E}">
        <p14:creationId xmlns:p14="http://schemas.microsoft.com/office/powerpoint/2010/main" val="1342803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Wireframes</a:t>
            </a:r>
          </a:p>
        </p:txBody>
      </p:sp>
      <p:sp>
        <p:nvSpPr>
          <p:cNvPr id="3" name="Content Placeholder 2"/>
          <p:cNvSpPr>
            <a:spLocks noGrp="1"/>
          </p:cNvSpPr>
          <p:nvPr>
            <p:ph idx="1"/>
          </p:nvPr>
        </p:nvSpPr>
        <p:spPr/>
        <p:txBody>
          <a:bodyPr>
            <a:normAutofit/>
          </a:bodyPr>
          <a:lstStyle/>
          <a:p>
            <a:pPr algn="just"/>
            <a:r>
              <a:rPr lang="en-US" dirty="0"/>
              <a:t>Wireframes are a type of visual design artifact that represent the skeletal structure of a user interface, without including the full visual design or graphic elements. They are typically used in software engineering and user experience design to help visualize and communicate the layout and functionality of a digital product or system.</a:t>
            </a:r>
          </a:p>
          <a:p>
            <a:pPr algn="just"/>
            <a:r>
              <a:rPr lang="en-US" dirty="0"/>
              <a:t>Wireframes can take many forms, including paper sketches, digital drawings, or interactive prototypes. They can be used to test and refine the layout, navigation, and functionality of the interface, and to ensure that the user experience meets the needs and expectations of the target audience.</a:t>
            </a:r>
          </a:p>
        </p:txBody>
      </p:sp>
    </p:spTree>
    <p:extLst>
      <p:ext uri="{BB962C8B-B14F-4D97-AF65-F5344CB8AC3E}">
        <p14:creationId xmlns:p14="http://schemas.microsoft.com/office/powerpoint/2010/main" val="120285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of Wireframe</a:t>
            </a:r>
          </a:p>
        </p:txBody>
      </p:sp>
      <p:pic>
        <p:nvPicPr>
          <p:cNvPr id="1026" name="Picture 2" descr="Wireframe | Definition and Overview"/>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3701" y="1487012"/>
            <a:ext cx="8597186" cy="4982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2106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Sequence Diagram</a:t>
            </a:r>
          </a:p>
        </p:txBody>
      </p:sp>
      <p:sp>
        <p:nvSpPr>
          <p:cNvPr id="3" name="Content Placeholder 2"/>
          <p:cNvSpPr>
            <a:spLocks noGrp="1"/>
          </p:cNvSpPr>
          <p:nvPr>
            <p:ph idx="1"/>
          </p:nvPr>
        </p:nvSpPr>
        <p:spPr/>
        <p:txBody>
          <a:bodyPr/>
          <a:lstStyle/>
          <a:p>
            <a:pPr algn="just"/>
            <a:r>
              <a:rPr lang="en-US" dirty="0"/>
              <a:t>A sequence diagram is a type of UML (Unified Modeling Language) diagram that illustrates </a:t>
            </a:r>
            <a:r>
              <a:rPr lang="en-US"/>
              <a:t>the interactions and behavior between </a:t>
            </a:r>
            <a:r>
              <a:rPr lang="en-US" dirty="0"/>
              <a:t>objects or components in a system over time. It is used to model the behavior of a system or process and is particularly useful in modeling complex interactions between objects or components.</a:t>
            </a:r>
          </a:p>
          <a:p>
            <a:pPr algn="just"/>
            <a:r>
              <a:rPr lang="en-US" dirty="0"/>
              <a:t>A sequence diagram consists of objects, messages, and lifelines. The objects represent the components or actors in the system, while the messages represent the interactions between them. The lifelines represent the lifespan of an object, and show how long an object is active in the system.</a:t>
            </a:r>
          </a:p>
          <a:p>
            <a:pPr algn="just"/>
            <a:endParaRPr lang="en-US" dirty="0"/>
          </a:p>
        </p:txBody>
      </p:sp>
    </p:spTree>
    <p:extLst>
      <p:ext uri="{BB962C8B-B14F-4D97-AF65-F5344CB8AC3E}">
        <p14:creationId xmlns:p14="http://schemas.microsoft.com/office/powerpoint/2010/main" val="370960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Symbols:</a:t>
            </a:r>
          </a:p>
        </p:txBody>
      </p:sp>
      <p:pic>
        <p:nvPicPr>
          <p:cNvPr id="1026" name="Picture 2" descr="UML Sequence diagram symbol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102170"/>
            <a:ext cx="10515600" cy="3798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4766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5" name="Content Placeholder 4"/>
          <p:cNvPicPr>
            <a:picLocks noGrp="1" noChangeAspect="1"/>
          </p:cNvPicPr>
          <p:nvPr>
            <p:ph idx="1"/>
          </p:nvPr>
        </p:nvPicPr>
        <p:blipFill>
          <a:blip r:embed="rId2"/>
          <a:stretch>
            <a:fillRect/>
          </a:stretch>
        </p:blipFill>
        <p:spPr>
          <a:xfrm>
            <a:off x="3341385" y="1890152"/>
            <a:ext cx="6453064" cy="4413991"/>
          </a:xfrm>
          <a:prstGeom prst="rect">
            <a:avLst/>
          </a:prstGeom>
        </p:spPr>
      </p:pic>
    </p:spTree>
    <p:extLst>
      <p:ext uri="{BB962C8B-B14F-4D97-AF65-F5344CB8AC3E}">
        <p14:creationId xmlns:p14="http://schemas.microsoft.com/office/powerpoint/2010/main" val="1798394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2759640" y="39318"/>
            <a:ext cx="7569257" cy="6592909"/>
          </a:xfrm>
          <a:prstGeom prst="rect">
            <a:avLst/>
          </a:prstGeom>
        </p:spPr>
      </p:pic>
    </p:spTree>
    <p:extLst>
      <p:ext uri="{BB962C8B-B14F-4D97-AF65-F5344CB8AC3E}">
        <p14:creationId xmlns:p14="http://schemas.microsoft.com/office/powerpoint/2010/main" val="11288194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657279" y="111262"/>
            <a:ext cx="7938448" cy="6660905"/>
          </a:xfrm>
          <a:prstGeom prst="rect">
            <a:avLst/>
          </a:prstGeom>
        </p:spPr>
      </p:pic>
    </p:spTree>
    <p:extLst>
      <p:ext uri="{BB962C8B-B14F-4D97-AF65-F5344CB8AC3E}">
        <p14:creationId xmlns:p14="http://schemas.microsoft.com/office/powerpoint/2010/main" val="124122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3207735" y="207390"/>
            <a:ext cx="6907226" cy="6504495"/>
          </a:xfrm>
          <a:prstGeom prst="rect">
            <a:avLst/>
          </a:prstGeom>
        </p:spPr>
      </p:pic>
    </p:spTree>
    <p:extLst>
      <p:ext uri="{BB962C8B-B14F-4D97-AF65-F5344CB8AC3E}">
        <p14:creationId xmlns:p14="http://schemas.microsoft.com/office/powerpoint/2010/main" val="3164162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Draw Sequence Diagram of your own project.</a:t>
            </a:r>
          </a:p>
        </p:txBody>
      </p:sp>
    </p:spTree>
    <p:extLst>
      <p:ext uri="{BB962C8B-B14F-4D97-AF65-F5344CB8AC3E}">
        <p14:creationId xmlns:p14="http://schemas.microsoft.com/office/powerpoint/2010/main" val="1943218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Structural model</a:t>
            </a:r>
          </a:p>
        </p:txBody>
      </p:sp>
      <p:sp>
        <p:nvSpPr>
          <p:cNvPr id="3" name="Content Placeholder 2"/>
          <p:cNvSpPr>
            <a:spLocks noGrp="1"/>
          </p:cNvSpPr>
          <p:nvPr>
            <p:ph idx="1"/>
          </p:nvPr>
        </p:nvSpPr>
        <p:spPr/>
        <p:txBody>
          <a:bodyPr/>
          <a:lstStyle/>
          <a:p>
            <a:pPr algn="just"/>
            <a:r>
              <a:rPr lang="en-US" dirty="0"/>
              <a:t>In software engineering, a structural model is a visual representation of the architecture of a software system, which shows the relationship between different components and how they interact with each other. It is used to depict the overall design of the system and provide a framework for software development.</a:t>
            </a:r>
          </a:p>
          <a:p>
            <a:pPr algn="just"/>
            <a:r>
              <a:rPr lang="en-US" dirty="0"/>
              <a:t>Structural models can be created using various modeling techniques, such as UML (Unified Modeling Language) or ER (Entity-Relationship) diagrams. These models help developers to better understand the requirements of the system and create a blueprint for software development.</a:t>
            </a:r>
          </a:p>
          <a:p>
            <a:pPr algn="just"/>
            <a:endParaRPr lang="en-US" dirty="0"/>
          </a:p>
        </p:txBody>
      </p:sp>
    </p:spTree>
    <p:extLst>
      <p:ext uri="{BB962C8B-B14F-4D97-AF65-F5344CB8AC3E}">
        <p14:creationId xmlns:p14="http://schemas.microsoft.com/office/powerpoint/2010/main" val="27579784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Some common types of structural models in software engineering include:</a:t>
            </a:r>
          </a:p>
        </p:txBody>
      </p:sp>
      <p:sp>
        <p:nvSpPr>
          <p:cNvPr id="3" name="Content Placeholder 2"/>
          <p:cNvSpPr>
            <a:spLocks noGrp="1"/>
          </p:cNvSpPr>
          <p:nvPr>
            <p:ph idx="1"/>
          </p:nvPr>
        </p:nvSpPr>
        <p:spPr/>
        <p:txBody>
          <a:bodyPr>
            <a:normAutofit/>
          </a:bodyPr>
          <a:lstStyle/>
          <a:p>
            <a:pPr algn="just"/>
            <a:r>
              <a:rPr lang="en-US" dirty="0"/>
              <a:t>Class Diagrams: These diagrams represent the classes and relationships between them in an object-oriented programming language.</a:t>
            </a:r>
          </a:p>
          <a:p>
            <a:pPr algn="just"/>
            <a:r>
              <a:rPr lang="en-US" dirty="0"/>
              <a:t>Component Diagrams: These diagrams represent the components of a system and how they interact with each other.</a:t>
            </a:r>
          </a:p>
          <a:p>
            <a:pPr algn="just"/>
            <a:r>
              <a:rPr lang="en-US" dirty="0"/>
              <a:t>Package Diagrams: These diagrams show the organization of software components into packages and how they are related to each other.</a:t>
            </a:r>
          </a:p>
          <a:p>
            <a:pPr algn="just"/>
            <a:r>
              <a:rPr lang="en-US" dirty="0"/>
              <a:t>Deployment Diagrams: These diagrams show how software components are deployed across different physical nodes.</a:t>
            </a:r>
          </a:p>
          <a:p>
            <a:pPr marL="0" indent="0" algn="just">
              <a:buNone/>
            </a:pPr>
            <a:r>
              <a:rPr lang="en-US" dirty="0"/>
              <a:t>Structural models are an important aspect of software engineering as they help in understanding the overall structure of the system, identifying potential design flaws, and providing a basis for further software development.</a:t>
            </a:r>
          </a:p>
        </p:txBody>
      </p:sp>
    </p:spTree>
    <p:extLst>
      <p:ext uri="{BB962C8B-B14F-4D97-AF65-F5344CB8AC3E}">
        <p14:creationId xmlns:p14="http://schemas.microsoft.com/office/powerpoint/2010/main" val="10170750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Diagram</a:t>
            </a:r>
          </a:p>
        </p:txBody>
      </p:sp>
      <p:sp>
        <p:nvSpPr>
          <p:cNvPr id="3" name="Content Placeholder 2"/>
          <p:cNvSpPr>
            <a:spLocks noGrp="1"/>
          </p:cNvSpPr>
          <p:nvPr>
            <p:ph idx="1"/>
          </p:nvPr>
        </p:nvSpPr>
        <p:spPr/>
        <p:txBody>
          <a:bodyPr/>
          <a:lstStyle/>
          <a:p>
            <a:pPr algn="just"/>
            <a:r>
              <a:rPr lang="en-US" dirty="0"/>
              <a:t>A class diagram is a type of structural diagram in software engineering that describes the structure of a system by showing the classes and their relationships to each other. It is a fundamental tool for object-oriented modeling, design, and programming, and is commonly used in the Unified Modeling Language (UML).</a:t>
            </a:r>
          </a:p>
          <a:p>
            <a:pPr algn="just"/>
            <a:r>
              <a:rPr lang="en-US" dirty="0"/>
              <a:t>In a class diagram, a class is represented as a rectangle, with the class name written inside. The class may have attributes, which are represented as lines that connect the rectangle to the attribute name, and methods, which are represented as lines that connect the rectangle to the method name.</a:t>
            </a:r>
          </a:p>
        </p:txBody>
      </p:sp>
    </p:spTree>
    <p:extLst>
      <p:ext uri="{BB962C8B-B14F-4D97-AF65-F5344CB8AC3E}">
        <p14:creationId xmlns:p14="http://schemas.microsoft.com/office/powerpoint/2010/main" val="28127375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Diagram Symbol</a:t>
            </a:r>
          </a:p>
        </p:txBody>
      </p:sp>
      <p:pic>
        <p:nvPicPr>
          <p:cNvPr id="1028" name="Picture 4" descr="UML - Basic Notation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02988" y="2104639"/>
            <a:ext cx="8148859" cy="4013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109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Diagram Symbol</a:t>
            </a:r>
          </a:p>
        </p:txBody>
      </p:sp>
      <p:pic>
        <p:nvPicPr>
          <p:cNvPr id="2050" name="Picture 2" descr="1: UML Class diagram notations and relationships | Download Scientific  Diagram"/>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38243" y="1467406"/>
            <a:ext cx="7682070" cy="520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8499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of Class Diagram</a:t>
            </a:r>
          </a:p>
        </p:txBody>
      </p:sp>
      <p:pic>
        <p:nvPicPr>
          <p:cNvPr id="3074" name="Picture 2" descr="UML Class Diagram Tutorial"/>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1226" y="1825625"/>
            <a:ext cx="778954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93906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78A80-7554-EF33-4000-A58E6E5A298A}"/>
              </a:ext>
            </a:extLst>
          </p:cNvPr>
          <p:cNvSpPr>
            <a:spLocks noGrp="1"/>
          </p:cNvSpPr>
          <p:nvPr>
            <p:ph type="title"/>
          </p:nvPr>
        </p:nvSpPr>
        <p:spPr/>
        <p:txBody>
          <a:bodyPr/>
          <a:lstStyle/>
          <a:p>
            <a:r>
              <a:rPr lang="en-US" b="1" dirty="0"/>
              <a:t>Component diagram</a:t>
            </a:r>
          </a:p>
        </p:txBody>
      </p:sp>
      <p:sp>
        <p:nvSpPr>
          <p:cNvPr id="3" name="Content Placeholder 2">
            <a:extLst>
              <a:ext uri="{FF2B5EF4-FFF2-40B4-BE49-F238E27FC236}">
                <a16:creationId xmlns:a16="http://schemas.microsoft.com/office/drawing/2014/main" id="{83300D34-A3EF-F7DC-3864-266F4E89FDB7}"/>
              </a:ext>
            </a:extLst>
          </p:cNvPr>
          <p:cNvSpPr>
            <a:spLocks noGrp="1"/>
          </p:cNvSpPr>
          <p:nvPr>
            <p:ph idx="1"/>
          </p:nvPr>
        </p:nvSpPr>
        <p:spPr/>
        <p:txBody>
          <a:bodyPr>
            <a:normAutofit/>
          </a:bodyPr>
          <a:lstStyle/>
          <a:p>
            <a:pPr marL="0" indent="0" algn="just" rtl="0" fontAlgn="base">
              <a:buNone/>
            </a:pPr>
            <a:r>
              <a:rPr lang="en-US" b="0" i="0" dirty="0">
                <a:effectLst/>
              </a:rPr>
              <a:t>One kind of structural diagram in the </a:t>
            </a:r>
            <a:r>
              <a:rPr lang="en-US" b="0" i="0" dirty="0">
                <a:effectLst/>
                <a:hlinkClick r:id="rId2">
                  <a:extLst>
                    <a:ext uri="{A12FA001-AC4F-418D-AE19-62706E023703}">
                      <ahyp:hlinkClr xmlns:ahyp="http://schemas.microsoft.com/office/drawing/2018/hyperlinkcolor" val="tx"/>
                    </a:ext>
                  </a:extLst>
                </a:hlinkClick>
              </a:rPr>
              <a:t>Unified Modeling Language (UML)</a:t>
            </a:r>
            <a:r>
              <a:rPr lang="en-US" b="0" i="0" dirty="0">
                <a:effectLst/>
              </a:rPr>
              <a:t> that shows how the components of a system are arranged and relate to one another is termed a component-based diagram, or simply a component diagram.</a:t>
            </a:r>
          </a:p>
          <a:p>
            <a:pPr lvl="1" algn="just" fontAlgn="base"/>
            <a:r>
              <a:rPr lang="en-US" b="0" i="0" dirty="0">
                <a:effectLst/>
              </a:rPr>
              <a:t>System components are modular units that offer a set of interfaces and encapsulate implementation.</a:t>
            </a:r>
          </a:p>
          <a:p>
            <a:pPr lvl="1" algn="just" fontAlgn="base"/>
            <a:r>
              <a:rPr lang="en-US" b="0" i="0" dirty="0">
                <a:effectLst/>
              </a:rPr>
              <a:t>These diagrams illustrate how components are wired together to form larger systems, detailing their dependencies and interactions.</a:t>
            </a:r>
          </a:p>
          <a:p>
            <a:pPr marL="0" indent="0" algn="just" rtl="0" fontAlgn="base">
              <a:buNone/>
            </a:pPr>
            <a:r>
              <a:rPr lang="en-US" b="0" i="0" dirty="0">
                <a:effectLst/>
              </a:rPr>
              <a:t>Component-Based Diagrams are widely used in system design to promote modularity, enhance understanding of system architecture</a:t>
            </a:r>
            <a:r>
              <a:rPr lang="en-US" b="1" i="0" dirty="0">
                <a:effectLst/>
              </a:rPr>
              <a:t>.</a:t>
            </a:r>
            <a:endParaRPr lang="en-US" b="0" i="0" dirty="0">
              <a:effectLst/>
            </a:endParaRPr>
          </a:p>
          <a:p>
            <a:pPr algn="just"/>
            <a:endParaRPr lang="en-US" dirty="0"/>
          </a:p>
        </p:txBody>
      </p:sp>
    </p:spTree>
    <p:extLst>
      <p:ext uri="{BB962C8B-B14F-4D97-AF65-F5344CB8AC3E}">
        <p14:creationId xmlns:p14="http://schemas.microsoft.com/office/powerpoint/2010/main" val="7025588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CAAD0-F79C-8FBA-CED5-3918B917608B}"/>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Components of Component-Based Diagram</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663B0360-1289-E7B9-D689-B7A9200F71C4}"/>
              </a:ext>
            </a:extLst>
          </p:cNvPr>
          <p:cNvSpPr>
            <a:spLocks noGrp="1"/>
          </p:cNvSpPr>
          <p:nvPr>
            <p:ph idx="1"/>
          </p:nvPr>
        </p:nvSpPr>
        <p:spPr>
          <a:xfrm>
            <a:off x="838200" y="1825625"/>
            <a:ext cx="6043863" cy="4351338"/>
          </a:xfrm>
        </p:spPr>
        <p:txBody>
          <a:bodyPr>
            <a:normAutofit/>
          </a:bodyPr>
          <a:lstStyle/>
          <a:p>
            <a:pPr marL="0" indent="0" algn="just" fontAlgn="base">
              <a:buNone/>
            </a:pPr>
            <a:r>
              <a:rPr lang="en-US" b="1" i="0" dirty="0">
                <a:solidFill>
                  <a:srgbClr val="273239"/>
                </a:solidFill>
                <a:effectLst/>
                <a:latin typeface="Nunito" pitchFamily="2" charset="0"/>
              </a:rPr>
              <a:t>Component</a:t>
            </a:r>
          </a:p>
          <a:p>
            <a:pPr algn="just" rtl="0" fontAlgn="base"/>
            <a:r>
              <a:rPr lang="en-US" b="0" i="0" dirty="0">
                <a:solidFill>
                  <a:srgbClr val="273239"/>
                </a:solidFill>
                <a:effectLst/>
                <a:latin typeface="Nunito" pitchFamily="2" charset="0"/>
              </a:rPr>
              <a:t>Represent modular parts of the system that encapsulate functionalities. Components can be software classes, collections of classes, or subsystems.</a:t>
            </a:r>
          </a:p>
          <a:p>
            <a:pPr algn="just" fontAlgn="base">
              <a:buFont typeface="Arial" panose="020B0604020202020204" pitchFamily="34" charset="0"/>
              <a:buChar char="•"/>
            </a:pPr>
            <a:r>
              <a:rPr lang="en-US" b="1" i="0" dirty="0">
                <a:solidFill>
                  <a:srgbClr val="273239"/>
                </a:solidFill>
                <a:effectLst/>
                <a:latin typeface="Nunito" pitchFamily="2" charset="0"/>
              </a:rPr>
              <a:t>Symbol:</a:t>
            </a:r>
            <a:r>
              <a:rPr lang="en-US" b="0" i="0" dirty="0">
                <a:solidFill>
                  <a:srgbClr val="273239"/>
                </a:solidFill>
                <a:effectLst/>
                <a:latin typeface="Nunito" pitchFamily="2" charset="0"/>
              </a:rPr>
              <a:t> Rectangles with the component stereotype («component»).</a:t>
            </a:r>
          </a:p>
          <a:p>
            <a:pPr algn="just" fontAlgn="base">
              <a:buFont typeface="Arial" panose="020B0604020202020204" pitchFamily="34" charset="0"/>
              <a:buChar char="•"/>
            </a:pPr>
            <a:r>
              <a:rPr lang="en-US" b="1" i="0" dirty="0">
                <a:solidFill>
                  <a:srgbClr val="273239"/>
                </a:solidFill>
                <a:effectLst/>
                <a:latin typeface="Nunito" pitchFamily="2" charset="0"/>
              </a:rPr>
              <a:t>Function:</a:t>
            </a:r>
            <a:r>
              <a:rPr lang="en-US" b="0" i="0" dirty="0">
                <a:solidFill>
                  <a:srgbClr val="273239"/>
                </a:solidFill>
                <a:effectLst/>
                <a:latin typeface="Nunito" pitchFamily="2" charset="0"/>
              </a:rPr>
              <a:t> Define and encapsulate functionality, ensuring modularity and reusability.</a:t>
            </a:r>
          </a:p>
          <a:p>
            <a:pPr algn="just"/>
            <a:endParaRPr lang="en-US" dirty="0"/>
          </a:p>
        </p:txBody>
      </p:sp>
      <p:pic>
        <p:nvPicPr>
          <p:cNvPr id="5" name="Picture 4">
            <a:extLst>
              <a:ext uri="{FF2B5EF4-FFF2-40B4-BE49-F238E27FC236}">
                <a16:creationId xmlns:a16="http://schemas.microsoft.com/office/drawing/2014/main" id="{3E0E891F-D0D9-4616-3D83-BEB7DA082658}"/>
              </a:ext>
            </a:extLst>
          </p:cNvPr>
          <p:cNvPicPr>
            <a:picLocks noChangeAspect="1"/>
          </p:cNvPicPr>
          <p:nvPr/>
        </p:nvPicPr>
        <p:blipFill>
          <a:blip r:embed="rId2"/>
          <a:stretch>
            <a:fillRect/>
          </a:stretch>
        </p:blipFill>
        <p:spPr>
          <a:xfrm>
            <a:off x="7620818" y="2726030"/>
            <a:ext cx="3419358" cy="2329128"/>
          </a:xfrm>
          <a:prstGeom prst="rect">
            <a:avLst/>
          </a:prstGeom>
        </p:spPr>
      </p:pic>
    </p:spTree>
    <p:extLst>
      <p:ext uri="{BB962C8B-B14F-4D97-AF65-F5344CB8AC3E}">
        <p14:creationId xmlns:p14="http://schemas.microsoft.com/office/powerpoint/2010/main" val="24329305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8D099-20E0-84D0-A081-40312077DB81}"/>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Components of Component-Based Diagram</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A34345A3-A3AD-D998-D8D3-9077156929D6}"/>
              </a:ext>
            </a:extLst>
          </p:cNvPr>
          <p:cNvSpPr>
            <a:spLocks noGrp="1"/>
          </p:cNvSpPr>
          <p:nvPr>
            <p:ph idx="1"/>
          </p:nvPr>
        </p:nvSpPr>
        <p:spPr>
          <a:xfrm>
            <a:off x="838200" y="1825625"/>
            <a:ext cx="5706979" cy="4351338"/>
          </a:xfrm>
        </p:spPr>
        <p:txBody>
          <a:bodyPr>
            <a:normAutofit/>
          </a:bodyPr>
          <a:lstStyle/>
          <a:p>
            <a:pPr marL="0" indent="0" algn="just" fontAlgn="base">
              <a:buNone/>
            </a:pPr>
            <a:r>
              <a:rPr lang="en-US" b="1" i="0" dirty="0">
                <a:solidFill>
                  <a:srgbClr val="273239"/>
                </a:solidFill>
                <a:effectLst/>
                <a:latin typeface="Nunito" pitchFamily="2" charset="0"/>
              </a:rPr>
              <a:t>Interfaces</a:t>
            </a:r>
          </a:p>
          <a:p>
            <a:pPr algn="just" rtl="0" fontAlgn="base"/>
            <a:r>
              <a:rPr lang="en-US" b="0" i="0" dirty="0">
                <a:solidFill>
                  <a:srgbClr val="273239"/>
                </a:solidFill>
                <a:effectLst/>
                <a:latin typeface="Nunito" pitchFamily="2" charset="0"/>
              </a:rPr>
              <a:t>Specify a set of operations that a component offers or requires, serving as a contract between the component and its environment.</a:t>
            </a:r>
          </a:p>
          <a:p>
            <a:pPr algn="just" fontAlgn="base">
              <a:buFont typeface="Arial" panose="020B0604020202020204" pitchFamily="34" charset="0"/>
              <a:buChar char="•"/>
            </a:pPr>
            <a:r>
              <a:rPr lang="en-US" b="1" i="0" dirty="0">
                <a:solidFill>
                  <a:srgbClr val="273239"/>
                </a:solidFill>
                <a:effectLst/>
                <a:latin typeface="Nunito" pitchFamily="2" charset="0"/>
              </a:rPr>
              <a:t>Symbol:</a:t>
            </a:r>
            <a:r>
              <a:rPr lang="en-US" b="0" i="0" dirty="0">
                <a:solidFill>
                  <a:srgbClr val="273239"/>
                </a:solidFill>
                <a:effectLst/>
                <a:latin typeface="Nunito" pitchFamily="2" charset="0"/>
              </a:rPr>
              <a:t> Circles (lollipops) for provided interfaces and half-circles (sockets) for required interfaces.</a:t>
            </a:r>
          </a:p>
          <a:p>
            <a:pPr algn="just" fontAlgn="base">
              <a:buFont typeface="Arial" panose="020B0604020202020204" pitchFamily="34" charset="0"/>
              <a:buChar char="•"/>
            </a:pPr>
            <a:r>
              <a:rPr lang="en-US" b="1" i="0" dirty="0">
                <a:solidFill>
                  <a:srgbClr val="273239"/>
                </a:solidFill>
                <a:effectLst/>
                <a:latin typeface="Nunito" pitchFamily="2" charset="0"/>
              </a:rPr>
              <a:t>Function:</a:t>
            </a:r>
            <a:r>
              <a:rPr lang="en-US" b="0" i="0" dirty="0">
                <a:solidFill>
                  <a:srgbClr val="273239"/>
                </a:solidFill>
                <a:effectLst/>
                <a:latin typeface="Nunito" pitchFamily="2" charset="0"/>
              </a:rPr>
              <a:t> Define how components communicate with each other, ensuring that components can be developed and maintained independently.</a:t>
            </a:r>
          </a:p>
          <a:p>
            <a:pPr algn="just"/>
            <a:endParaRPr lang="en-US" dirty="0"/>
          </a:p>
        </p:txBody>
      </p:sp>
      <p:pic>
        <p:nvPicPr>
          <p:cNvPr id="5" name="Picture 4">
            <a:extLst>
              <a:ext uri="{FF2B5EF4-FFF2-40B4-BE49-F238E27FC236}">
                <a16:creationId xmlns:a16="http://schemas.microsoft.com/office/drawing/2014/main" id="{4C1DCA6B-25A6-3BD1-7DA7-B424FB1E3D13}"/>
              </a:ext>
            </a:extLst>
          </p:cNvPr>
          <p:cNvPicPr>
            <a:picLocks noChangeAspect="1"/>
          </p:cNvPicPr>
          <p:nvPr/>
        </p:nvPicPr>
        <p:blipFill>
          <a:blip r:embed="rId2"/>
          <a:stretch>
            <a:fillRect/>
          </a:stretch>
        </p:blipFill>
        <p:spPr>
          <a:xfrm>
            <a:off x="6724241" y="2304978"/>
            <a:ext cx="5134692" cy="3191320"/>
          </a:xfrm>
          <a:prstGeom prst="rect">
            <a:avLst/>
          </a:prstGeom>
        </p:spPr>
      </p:pic>
    </p:spTree>
    <p:extLst>
      <p:ext uri="{BB962C8B-B14F-4D97-AF65-F5344CB8AC3E}">
        <p14:creationId xmlns:p14="http://schemas.microsoft.com/office/powerpoint/2010/main" val="42147671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A750-33EE-3976-B74A-BC14E140DBDF}"/>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Components of Component-Based Diagram</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06589845-3DD4-0842-1ADA-E57A48EB6203}"/>
              </a:ext>
            </a:extLst>
          </p:cNvPr>
          <p:cNvSpPr>
            <a:spLocks noGrp="1"/>
          </p:cNvSpPr>
          <p:nvPr>
            <p:ph idx="1"/>
          </p:nvPr>
        </p:nvSpPr>
        <p:spPr>
          <a:xfrm>
            <a:off x="838200" y="1825625"/>
            <a:ext cx="6063114" cy="4796556"/>
          </a:xfrm>
        </p:spPr>
        <p:txBody>
          <a:bodyPr>
            <a:normAutofit/>
          </a:bodyPr>
          <a:lstStyle/>
          <a:p>
            <a:pPr marL="0" indent="0" algn="just" fontAlgn="base">
              <a:buNone/>
            </a:pPr>
            <a:r>
              <a:rPr lang="en-US" b="1" i="0" dirty="0">
                <a:solidFill>
                  <a:srgbClr val="273239"/>
                </a:solidFill>
                <a:effectLst/>
                <a:latin typeface="Nunito" pitchFamily="2" charset="0"/>
              </a:rPr>
              <a:t>Relationships</a:t>
            </a:r>
          </a:p>
          <a:p>
            <a:pPr algn="just" rtl="0" fontAlgn="base"/>
            <a:r>
              <a:rPr lang="en-US" b="0" i="0" dirty="0">
                <a:solidFill>
                  <a:srgbClr val="273239"/>
                </a:solidFill>
                <a:effectLst/>
                <a:latin typeface="Nunito" pitchFamily="2" charset="0"/>
              </a:rPr>
              <a:t>Depict the connections and dependencies between components and interfaces.</a:t>
            </a:r>
          </a:p>
          <a:p>
            <a:pPr algn="just" fontAlgn="base">
              <a:buFont typeface="Arial" panose="020B0604020202020204" pitchFamily="34" charset="0"/>
              <a:buChar char="•"/>
            </a:pPr>
            <a:r>
              <a:rPr lang="en-US" b="1" i="0" dirty="0">
                <a:solidFill>
                  <a:srgbClr val="273239"/>
                </a:solidFill>
                <a:effectLst/>
                <a:latin typeface="Nunito" pitchFamily="2" charset="0"/>
              </a:rPr>
              <a:t>Symbol:</a:t>
            </a:r>
            <a:r>
              <a:rPr lang="en-US" b="0" i="0" dirty="0">
                <a:solidFill>
                  <a:srgbClr val="273239"/>
                </a:solidFill>
                <a:effectLst/>
                <a:latin typeface="Nunito" pitchFamily="2" charset="0"/>
              </a:rPr>
              <a:t> Lines and arrows.</a:t>
            </a:r>
          </a:p>
          <a:p>
            <a:pPr marL="742950" lvl="1" indent="-285750" algn="just" fontAlgn="base">
              <a:buFont typeface="Arial" panose="020B0604020202020204" pitchFamily="34" charset="0"/>
              <a:buChar char="•"/>
            </a:pPr>
            <a:r>
              <a:rPr lang="en-US" b="1" i="0" dirty="0">
                <a:solidFill>
                  <a:srgbClr val="273239"/>
                </a:solidFill>
                <a:effectLst/>
                <a:latin typeface="Nunito" pitchFamily="2" charset="0"/>
              </a:rPr>
              <a:t>Dependency (dashed arrow):</a:t>
            </a:r>
            <a:r>
              <a:rPr lang="en-US" b="0" i="0" dirty="0">
                <a:solidFill>
                  <a:srgbClr val="273239"/>
                </a:solidFill>
                <a:effectLst/>
                <a:latin typeface="Nunito" pitchFamily="2" charset="0"/>
              </a:rPr>
              <a:t> Indicates that one component relies on another.</a:t>
            </a:r>
          </a:p>
          <a:p>
            <a:pPr marL="742950" lvl="1" indent="-285750" algn="just" fontAlgn="base">
              <a:buFont typeface="Arial" panose="020B0604020202020204" pitchFamily="34" charset="0"/>
              <a:buChar char="•"/>
            </a:pPr>
            <a:r>
              <a:rPr lang="en-US" b="1" i="0" dirty="0">
                <a:solidFill>
                  <a:srgbClr val="273239"/>
                </a:solidFill>
                <a:effectLst/>
                <a:latin typeface="Nunito" pitchFamily="2" charset="0"/>
              </a:rPr>
              <a:t>Association (solid line):</a:t>
            </a:r>
            <a:r>
              <a:rPr lang="en-US" b="0" i="0" dirty="0">
                <a:solidFill>
                  <a:srgbClr val="273239"/>
                </a:solidFill>
                <a:effectLst/>
                <a:latin typeface="Nunito" pitchFamily="2" charset="0"/>
              </a:rPr>
              <a:t> Shows a more permanent relationship between components.</a:t>
            </a:r>
          </a:p>
          <a:p>
            <a:pPr marL="742950" lvl="1" indent="-285750" algn="just" fontAlgn="base">
              <a:buFont typeface="Arial" panose="020B0604020202020204" pitchFamily="34" charset="0"/>
              <a:buChar char="•"/>
            </a:pPr>
            <a:r>
              <a:rPr lang="en-US" b="1" i="0" dirty="0">
                <a:solidFill>
                  <a:srgbClr val="273239"/>
                </a:solidFill>
                <a:effectLst/>
                <a:latin typeface="Nunito" pitchFamily="2" charset="0"/>
              </a:rPr>
              <a:t>Assembly connector:</a:t>
            </a:r>
            <a:r>
              <a:rPr lang="en-US" b="0" i="0" dirty="0">
                <a:solidFill>
                  <a:srgbClr val="273239"/>
                </a:solidFill>
                <a:effectLst/>
                <a:latin typeface="Nunito" pitchFamily="2" charset="0"/>
              </a:rPr>
              <a:t> Connects a required interface of one component to a provided interface of another.</a:t>
            </a:r>
          </a:p>
          <a:p>
            <a:pPr algn="just" fontAlgn="base">
              <a:buFont typeface="Arial" panose="020B0604020202020204" pitchFamily="34" charset="0"/>
              <a:buChar char="•"/>
            </a:pPr>
            <a:r>
              <a:rPr lang="en-US" b="1" i="0" dirty="0">
                <a:solidFill>
                  <a:srgbClr val="273239"/>
                </a:solidFill>
                <a:effectLst/>
                <a:latin typeface="Nunito" pitchFamily="2" charset="0"/>
              </a:rPr>
              <a:t>Function:</a:t>
            </a:r>
            <a:r>
              <a:rPr lang="en-US" b="0" i="0" dirty="0">
                <a:solidFill>
                  <a:srgbClr val="273239"/>
                </a:solidFill>
                <a:effectLst/>
                <a:latin typeface="Nunito" pitchFamily="2" charset="0"/>
              </a:rPr>
              <a:t> Visualize how components interact and depend on each other, highlighting communication paths and potential points of failure.</a:t>
            </a:r>
          </a:p>
          <a:p>
            <a:pPr algn="just"/>
            <a:endParaRPr lang="en-US" dirty="0"/>
          </a:p>
        </p:txBody>
      </p:sp>
      <p:pic>
        <p:nvPicPr>
          <p:cNvPr id="5" name="Picture 4">
            <a:extLst>
              <a:ext uri="{FF2B5EF4-FFF2-40B4-BE49-F238E27FC236}">
                <a16:creationId xmlns:a16="http://schemas.microsoft.com/office/drawing/2014/main" id="{4316897A-C571-BE07-D68B-0A9929372D77}"/>
              </a:ext>
            </a:extLst>
          </p:cNvPr>
          <p:cNvPicPr>
            <a:picLocks noChangeAspect="1"/>
          </p:cNvPicPr>
          <p:nvPr/>
        </p:nvPicPr>
        <p:blipFill>
          <a:blip r:embed="rId3"/>
          <a:stretch>
            <a:fillRect/>
          </a:stretch>
        </p:blipFill>
        <p:spPr>
          <a:xfrm>
            <a:off x="7084194" y="2871384"/>
            <a:ext cx="4900717" cy="2626922"/>
          </a:xfrm>
          <a:prstGeom prst="rect">
            <a:avLst/>
          </a:prstGeom>
        </p:spPr>
      </p:pic>
    </p:spTree>
    <p:extLst>
      <p:ext uri="{BB962C8B-B14F-4D97-AF65-F5344CB8AC3E}">
        <p14:creationId xmlns:p14="http://schemas.microsoft.com/office/powerpoint/2010/main" val="24832792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132BD-4A60-132F-42D2-F3EB158DA439}"/>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Components of Component-Based Diagram</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4CD99F00-580B-047A-F90E-CE427C362989}"/>
              </a:ext>
            </a:extLst>
          </p:cNvPr>
          <p:cNvSpPr>
            <a:spLocks noGrp="1"/>
          </p:cNvSpPr>
          <p:nvPr>
            <p:ph idx="1"/>
          </p:nvPr>
        </p:nvSpPr>
        <p:spPr>
          <a:xfrm>
            <a:off x="838200" y="1825625"/>
            <a:ext cx="5649227" cy="4351338"/>
          </a:xfrm>
        </p:spPr>
        <p:txBody>
          <a:bodyPr>
            <a:normAutofit/>
          </a:bodyPr>
          <a:lstStyle/>
          <a:p>
            <a:pPr marL="0" indent="0" algn="just" fontAlgn="base">
              <a:buNone/>
            </a:pPr>
            <a:r>
              <a:rPr lang="en-US" b="1" i="0" dirty="0">
                <a:solidFill>
                  <a:srgbClr val="273239"/>
                </a:solidFill>
                <a:effectLst/>
                <a:latin typeface="Nunito" pitchFamily="2" charset="0"/>
              </a:rPr>
              <a:t>Ports</a:t>
            </a:r>
          </a:p>
          <a:p>
            <a:pPr algn="just" rtl="0" fontAlgn="base"/>
            <a:r>
              <a:rPr lang="en-US" b="1" i="0" dirty="0">
                <a:solidFill>
                  <a:srgbClr val="273239"/>
                </a:solidFill>
                <a:effectLst/>
                <a:latin typeface="Nunito" pitchFamily="2" charset="0"/>
              </a:rPr>
              <a:t>Role:</a:t>
            </a:r>
            <a:r>
              <a:rPr lang="en-US" b="0" i="0" dirty="0">
                <a:solidFill>
                  <a:srgbClr val="273239"/>
                </a:solidFill>
                <a:effectLst/>
                <a:latin typeface="Nunito" pitchFamily="2" charset="0"/>
              </a:rPr>
              <a:t> Represent specific interaction points on the boundary of a component where interfaces are provided or required.</a:t>
            </a:r>
          </a:p>
          <a:p>
            <a:pPr algn="just" fontAlgn="base">
              <a:buFont typeface="Arial" panose="020B0604020202020204" pitchFamily="34" charset="0"/>
              <a:buChar char="•"/>
            </a:pPr>
            <a:r>
              <a:rPr lang="en-US" b="1" i="0" dirty="0">
                <a:solidFill>
                  <a:srgbClr val="273239"/>
                </a:solidFill>
                <a:effectLst/>
                <a:latin typeface="Nunito" pitchFamily="2" charset="0"/>
              </a:rPr>
              <a:t>Symbol:</a:t>
            </a:r>
            <a:r>
              <a:rPr lang="en-US" b="0" i="0" dirty="0">
                <a:solidFill>
                  <a:srgbClr val="273239"/>
                </a:solidFill>
                <a:effectLst/>
                <a:latin typeface="Nunito" pitchFamily="2" charset="0"/>
              </a:rPr>
              <a:t> Small squares on the component boundary.</a:t>
            </a:r>
          </a:p>
          <a:p>
            <a:pPr algn="just" fontAlgn="base">
              <a:buFont typeface="Arial" panose="020B0604020202020204" pitchFamily="34" charset="0"/>
              <a:buChar char="•"/>
            </a:pPr>
            <a:r>
              <a:rPr lang="en-US" b="1" i="0" dirty="0">
                <a:solidFill>
                  <a:srgbClr val="273239"/>
                </a:solidFill>
                <a:effectLst/>
                <a:latin typeface="Nunito" pitchFamily="2" charset="0"/>
              </a:rPr>
              <a:t>Function:</a:t>
            </a:r>
            <a:r>
              <a:rPr lang="en-US" b="0" i="0" dirty="0">
                <a:solidFill>
                  <a:srgbClr val="273239"/>
                </a:solidFill>
                <a:effectLst/>
                <a:latin typeface="Nunito" pitchFamily="2" charset="0"/>
              </a:rPr>
              <a:t> Allow for more precise specification of interaction points, facilitating detailed design and implementation.</a:t>
            </a:r>
          </a:p>
          <a:p>
            <a:pPr algn="just"/>
            <a:endParaRPr lang="en-US" dirty="0"/>
          </a:p>
        </p:txBody>
      </p:sp>
      <p:pic>
        <p:nvPicPr>
          <p:cNvPr id="5" name="Picture 4">
            <a:extLst>
              <a:ext uri="{FF2B5EF4-FFF2-40B4-BE49-F238E27FC236}">
                <a16:creationId xmlns:a16="http://schemas.microsoft.com/office/drawing/2014/main" id="{3BC74135-1B3F-D6B8-16F9-036E34ABA589}"/>
              </a:ext>
            </a:extLst>
          </p:cNvPr>
          <p:cNvPicPr>
            <a:picLocks noChangeAspect="1"/>
          </p:cNvPicPr>
          <p:nvPr/>
        </p:nvPicPr>
        <p:blipFill>
          <a:blip r:embed="rId3"/>
          <a:stretch>
            <a:fillRect/>
          </a:stretch>
        </p:blipFill>
        <p:spPr>
          <a:xfrm>
            <a:off x="6487427" y="2261515"/>
            <a:ext cx="5163271" cy="3162741"/>
          </a:xfrm>
          <a:prstGeom prst="rect">
            <a:avLst/>
          </a:prstGeom>
        </p:spPr>
      </p:pic>
    </p:spTree>
    <p:extLst>
      <p:ext uri="{BB962C8B-B14F-4D97-AF65-F5344CB8AC3E}">
        <p14:creationId xmlns:p14="http://schemas.microsoft.com/office/powerpoint/2010/main" val="2878711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149E8-86A2-D3F2-5FDA-459D0CC9D71B}"/>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Components of Component-Based Diagram</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D425B231-C840-1955-DEF2-09C25405275A}"/>
              </a:ext>
            </a:extLst>
          </p:cNvPr>
          <p:cNvSpPr>
            <a:spLocks noGrp="1"/>
          </p:cNvSpPr>
          <p:nvPr>
            <p:ph idx="1"/>
          </p:nvPr>
        </p:nvSpPr>
        <p:spPr>
          <a:xfrm>
            <a:off x="838200" y="1825625"/>
            <a:ext cx="5610726" cy="4351338"/>
          </a:xfrm>
        </p:spPr>
        <p:txBody>
          <a:bodyPr/>
          <a:lstStyle/>
          <a:p>
            <a:pPr marL="0" indent="0" algn="just" fontAlgn="base">
              <a:buNone/>
            </a:pPr>
            <a:r>
              <a:rPr lang="en-US" b="1" i="0" dirty="0">
                <a:solidFill>
                  <a:srgbClr val="273239"/>
                </a:solidFill>
                <a:effectLst/>
                <a:latin typeface="Nunito" pitchFamily="2" charset="0"/>
              </a:rPr>
              <a:t>Artifacts</a:t>
            </a:r>
          </a:p>
          <a:p>
            <a:pPr algn="just" rtl="0" fontAlgn="base"/>
            <a:r>
              <a:rPr lang="en-US" b="0" i="0" dirty="0">
                <a:solidFill>
                  <a:srgbClr val="273239"/>
                </a:solidFill>
                <a:effectLst/>
                <a:latin typeface="Nunito" pitchFamily="2" charset="0"/>
              </a:rPr>
              <a:t>Represent physical files or data that are deployed on nodes.</a:t>
            </a:r>
          </a:p>
          <a:p>
            <a:pPr algn="just" fontAlgn="base">
              <a:buFont typeface="Arial" panose="020B0604020202020204" pitchFamily="34" charset="0"/>
              <a:buChar char="•"/>
            </a:pPr>
            <a:r>
              <a:rPr lang="en-US" b="1" i="0" dirty="0">
                <a:solidFill>
                  <a:srgbClr val="273239"/>
                </a:solidFill>
                <a:effectLst/>
                <a:latin typeface="Nunito" pitchFamily="2" charset="0"/>
              </a:rPr>
              <a:t>Symbol:</a:t>
            </a:r>
            <a:r>
              <a:rPr lang="en-US" b="0" i="0" dirty="0">
                <a:solidFill>
                  <a:srgbClr val="273239"/>
                </a:solidFill>
                <a:effectLst/>
                <a:latin typeface="Nunito" pitchFamily="2" charset="0"/>
              </a:rPr>
              <a:t> Rectangles with the artifact stereotype («artifact»).</a:t>
            </a:r>
          </a:p>
          <a:p>
            <a:pPr algn="just" fontAlgn="base">
              <a:buFont typeface="Arial" panose="020B0604020202020204" pitchFamily="34" charset="0"/>
              <a:buChar char="•"/>
            </a:pPr>
            <a:r>
              <a:rPr lang="en-US" b="1" i="0" dirty="0">
                <a:solidFill>
                  <a:srgbClr val="273239"/>
                </a:solidFill>
                <a:effectLst/>
                <a:latin typeface="Nunito" pitchFamily="2" charset="0"/>
              </a:rPr>
              <a:t>Function:</a:t>
            </a:r>
            <a:r>
              <a:rPr lang="en-US" b="0" i="0" dirty="0">
                <a:solidFill>
                  <a:srgbClr val="273239"/>
                </a:solidFill>
                <a:effectLst/>
                <a:latin typeface="Nunito" pitchFamily="2" charset="0"/>
              </a:rPr>
              <a:t> Show how software artifacts, like executables or data files, relate to the components.</a:t>
            </a:r>
          </a:p>
          <a:p>
            <a:pPr algn="just"/>
            <a:endParaRPr lang="en-US" dirty="0"/>
          </a:p>
        </p:txBody>
      </p:sp>
      <p:pic>
        <p:nvPicPr>
          <p:cNvPr id="5" name="Picture 4">
            <a:extLst>
              <a:ext uri="{FF2B5EF4-FFF2-40B4-BE49-F238E27FC236}">
                <a16:creationId xmlns:a16="http://schemas.microsoft.com/office/drawing/2014/main" id="{BC35FD12-71F4-006F-C212-7F58BCD6C8CC}"/>
              </a:ext>
            </a:extLst>
          </p:cNvPr>
          <p:cNvPicPr>
            <a:picLocks noChangeAspect="1"/>
          </p:cNvPicPr>
          <p:nvPr/>
        </p:nvPicPr>
        <p:blipFill>
          <a:blip r:embed="rId3"/>
          <a:stretch>
            <a:fillRect/>
          </a:stretch>
        </p:blipFill>
        <p:spPr>
          <a:xfrm>
            <a:off x="6733530" y="2451746"/>
            <a:ext cx="4620270" cy="2724530"/>
          </a:xfrm>
          <a:prstGeom prst="rect">
            <a:avLst/>
          </a:prstGeom>
        </p:spPr>
      </p:pic>
    </p:spTree>
    <p:extLst>
      <p:ext uri="{BB962C8B-B14F-4D97-AF65-F5344CB8AC3E}">
        <p14:creationId xmlns:p14="http://schemas.microsoft.com/office/powerpoint/2010/main" val="1059878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C747-9AA0-6210-28A1-22FBDCC53745}"/>
              </a:ext>
            </a:extLst>
          </p:cNvPr>
          <p:cNvSpPr>
            <a:spLocks noGrp="1"/>
          </p:cNvSpPr>
          <p:nvPr>
            <p:ph type="title"/>
          </p:nvPr>
        </p:nvSpPr>
        <p:spPr/>
        <p:txBody>
          <a:bodyPr/>
          <a:lstStyle/>
          <a:p>
            <a:r>
              <a:rPr lang="en-US" b="1" dirty="0"/>
              <a:t>Example:</a:t>
            </a:r>
          </a:p>
        </p:txBody>
      </p:sp>
      <p:pic>
        <p:nvPicPr>
          <p:cNvPr id="1026" name="Picture 2" descr="UML component diagram shows components, provided and required interfaces,  ports, and relationships between them.">
            <a:extLst>
              <a:ext uri="{FF2B5EF4-FFF2-40B4-BE49-F238E27FC236}">
                <a16:creationId xmlns:a16="http://schemas.microsoft.com/office/drawing/2014/main" id="{24D1D86F-DD4C-5049-671A-8E1B03AA64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85746" y="1600367"/>
            <a:ext cx="8827171" cy="4892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1911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EE6A8-F1C5-731E-561B-221800FC0865}"/>
              </a:ext>
            </a:extLst>
          </p:cNvPr>
          <p:cNvSpPr>
            <a:spLocks noGrp="1"/>
          </p:cNvSpPr>
          <p:nvPr>
            <p:ph type="title"/>
          </p:nvPr>
        </p:nvSpPr>
        <p:spPr/>
        <p:txBody>
          <a:bodyPr/>
          <a:lstStyle/>
          <a:p>
            <a:r>
              <a:rPr lang="en-US" b="1" dirty="0"/>
              <a:t>Package diagram</a:t>
            </a:r>
          </a:p>
        </p:txBody>
      </p:sp>
      <p:sp>
        <p:nvSpPr>
          <p:cNvPr id="3" name="Content Placeholder 2">
            <a:extLst>
              <a:ext uri="{FF2B5EF4-FFF2-40B4-BE49-F238E27FC236}">
                <a16:creationId xmlns:a16="http://schemas.microsoft.com/office/drawing/2014/main" id="{11C4B289-0656-7B63-3608-0B6B83C507B8}"/>
              </a:ext>
            </a:extLst>
          </p:cNvPr>
          <p:cNvSpPr>
            <a:spLocks noGrp="1"/>
          </p:cNvSpPr>
          <p:nvPr>
            <p:ph idx="1"/>
          </p:nvPr>
        </p:nvSpPr>
        <p:spPr>
          <a:xfrm>
            <a:off x="838200" y="1825625"/>
            <a:ext cx="10663989" cy="1398838"/>
          </a:xfrm>
        </p:spPr>
        <p:txBody>
          <a:bodyPr>
            <a:normAutofit/>
          </a:bodyPr>
          <a:lstStyle/>
          <a:p>
            <a:pPr algn="just"/>
            <a:r>
              <a:rPr lang="en-US" dirty="0"/>
              <a:t>A </a:t>
            </a:r>
            <a:r>
              <a:rPr lang="en-US" b="1" dirty="0"/>
              <a:t>package diagram</a:t>
            </a:r>
            <a:r>
              <a:rPr lang="en-US" dirty="0"/>
              <a:t> is another type of UML diagram that focuses on the logical grouping of elements (such as classes, components, or use cases) into </a:t>
            </a:r>
            <a:r>
              <a:rPr lang="en-US" b="1" dirty="0"/>
              <a:t>packages</a:t>
            </a:r>
            <a:r>
              <a:rPr lang="en-US" dirty="0"/>
              <a:t>. It is primarily used to organize and manage the structure of a large system by showing the relationships between packages and their dependencies.</a:t>
            </a:r>
          </a:p>
        </p:txBody>
      </p:sp>
      <p:pic>
        <p:nvPicPr>
          <p:cNvPr id="5" name="Picture 4">
            <a:extLst>
              <a:ext uri="{FF2B5EF4-FFF2-40B4-BE49-F238E27FC236}">
                <a16:creationId xmlns:a16="http://schemas.microsoft.com/office/drawing/2014/main" id="{53705432-7629-40C7-AB59-C6CB5AE83B15}"/>
              </a:ext>
            </a:extLst>
          </p:cNvPr>
          <p:cNvPicPr>
            <a:picLocks noChangeAspect="1"/>
          </p:cNvPicPr>
          <p:nvPr/>
        </p:nvPicPr>
        <p:blipFill>
          <a:blip r:embed="rId2"/>
          <a:stretch>
            <a:fillRect/>
          </a:stretch>
        </p:blipFill>
        <p:spPr>
          <a:xfrm>
            <a:off x="2134525" y="3194050"/>
            <a:ext cx="7706423" cy="3660775"/>
          </a:xfrm>
          <a:prstGeom prst="rect">
            <a:avLst/>
          </a:prstGeom>
        </p:spPr>
      </p:pic>
      <p:sp>
        <p:nvSpPr>
          <p:cNvPr id="7" name="TextBox 6">
            <a:extLst>
              <a:ext uri="{FF2B5EF4-FFF2-40B4-BE49-F238E27FC236}">
                <a16:creationId xmlns:a16="http://schemas.microsoft.com/office/drawing/2014/main" id="{B2CB5BE2-0EAD-FA8E-505A-99BBBA64C217}"/>
              </a:ext>
            </a:extLst>
          </p:cNvPr>
          <p:cNvSpPr txBox="1"/>
          <p:nvPr/>
        </p:nvSpPr>
        <p:spPr>
          <a:xfrm>
            <a:off x="67377" y="5742164"/>
            <a:ext cx="3823635" cy="1200329"/>
          </a:xfrm>
          <a:prstGeom prst="rect">
            <a:avLst/>
          </a:prstGeom>
          <a:noFill/>
        </p:spPr>
        <p:txBody>
          <a:bodyPr wrap="square">
            <a:spAutoFit/>
          </a:bodyPr>
          <a:lstStyle/>
          <a:p>
            <a:r>
              <a:rPr lang="en-US" dirty="0"/>
              <a:t>For Detail:</a:t>
            </a:r>
          </a:p>
          <a:p>
            <a:r>
              <a:rPr lang="en-US" dirty="0"/>
              <a:t>https://www.geeksforgeeks.org/package-diagram-introduction-elements-use-cases-and-benefits/</a:t>
            </a:r>
          </a:p>
        </p:txBody>
      </p:sp>
    </p:spTree>
    <p:extLst>
      <p:ext uri="{BB962C8B-B14F-4D97-AF65-F5344CB8AC3E}">
        <p14:creationId xmlns:p14="http://schemas.microsoft.com/office/powerpoint/2010/main" val="36104184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980A6-FB2F-65CD-6E69-7C1121E049C9}"/>
              </a:ext>
            </a:extLst>
          </p:cNvPr>
          <p:cNvSpPr>
            <a:spLocks noGrp="1"/>
          </p:cNvSpPr>
          <p:nvPr>
            <p:ph type="title"/>
          </p:nvPr>
        </p:nvSpPr>
        <p:spPr/>
        <p:txBody>
          <a:bodyPr/>
          <a:lstStyle/>
          <a:p>
            <a:r>
              <a:rPr lang="en-US" b="1" dirty="0"/>
              <a:t>Deployment diagram</a:t>
            </a:r>
          </a:p>
        </p:txBody>
      </p:sp>
      <p:sp>
        <p:nvSpPr>
          <p:cNvPr id="3" name="Content Placeholder 2">
            <a:extLst>
              <a:ext uri="{FF2B5EF4-FFF2-40B4-BE49-F238E27FC236}">
                <a16:creationId xmlns:a16="http://schemas.microsoft.com/office/drawing/2014/main" id="{832BB573-C902-6AF3-1441-2DA74FE6F9F5}"/>
              </a:ext>
            </a:extLst>
          </p:cNvPr>
          <p:cNvSpPr>
            <a:spLocks noGrp="1"/>
          </p:cNvSpPr>
          <p:nvPr>
            <p:ph idx="1"/>
          </p:nvPr>
        </p:nvSpPr>
        <p:spPr>
          <a:xfrm>
            <a:off x="838200" y="1613869"/>
            <a:ext cx="10515600" cy="1603375"/>
          </a:xfrm>
        </p:spPr>
        <p:txBody>
          <a:bodyPr>
            <a:normAutofit/>
          </a:bodyPr>
          <a:lstStyle/>
          <a:p>
            <a:pPr marL="0" indent="0" algn="just">
              <a:buNone/>
            </a:pPr>
            <a:r>
              <a:rPr lang="en-US" dirty="0"/>
              <a:t>A </a:t>
            </a:r>
            <a:r>
              <a:rPr lang="en-US" b="1" dirty="0"/>
              <a:t>deployment diagram</a:t>
            </a:r>
            <a:r>
              <a:rPr lang="en-US" dirty="0"/>
              <a:t> is a type of UML diagram that represents the physical deployment of artifacts (e.g., software components, executables, or data) on hardware nodes. It focuses on the infrastructure of a system, showing how software and hardware work together to support the system's operation.</a:t>
            </a:r>
          </a:p>
        </p:txBody>
      </p:sp>
      <p:pic>
        <p:nvPicPr>
          <p:cNvPr id="5" name="Picture 4">
            <a:extLst>
              <a:ext uri="{FF2B5EF4-FFF2-40B4-BE49-F238E27FC236}">
                <a16:creationId xmlns:a16="http://schemas.microsoft.com/office/drawing/2014/main" id="{7FBF1D63-5463-6583-C20E-50B0AA5964CC}"/>
              </a:ext>
            </a:extLst>
          </p:cNvPr>
          <p:cNvPicPr>
            <a:picLocks noChangeAspect="1"/>
          </p:cNvPicPr>
          <p:nvPr/>
        </p:nvPicPr>
        <p:blipFill>
          <a:blip r:embed="rId2"/>
          <a:stretch>
            <a:fillRect/>
          </a:stretch>
        </p:blipFill>
        <p:spPr>
          <a:xfrm>
            <a:off x="2386286" y="3287645"/>
            <a:ext cx="7573432" cy="3362794"/>
          </a:xfrm>
          <a:prstGeom prst="rect">
            <a:avLst/>
          </a:prstGeom>
        </p:spPr>
      </p:pic>
      <p:sp>
        <p:nvSpPr>
          <p:cNvPr id="7" name="TextBox 6">
            <a:extLst>
              <a:ext uri="{FF2B5EF4-FFF2-40B4-BE49-F238E27FC236}">
                <a16:creationId xmlns:a16="http://schemas.microsoft.com/office/drawing/2014/main" id="{600F0915-C3B8-4CE5-1993-B11409C5736C}"/>
              </a:ext>
            </a:extLst>
          </p:cNvPr>
          <p:cNvSpPr txBox="1"/>
          <p:nvPr/>
        </p:nvSpPr>
        <p:spPr>
          <a:xfrm>
            <a:off x="209349" y="5797510"/>
            <a:ext cx="3313497" cy="923330"/>
          </a:xfrm>
          <a:prstGeom prst="rect">
            <a:avLst/>
          </a:prstGeom>
          <a:noFill/>
        </p:spPr>
        <p:txBody>
          <a:bodyPr wrap="square">
            <a:spAutoFit/>
          </a:bodyPr>
          <a:lstStyle/>
          <a:p>
            <a:r>
              <a:rPr lang="en-US" dirty="0"/>
              <a:t>https://www.geeksforgeeks.org/deployment-diagram-unified-modeling-languageuml/</a:t>
            </a:r>
          </a:p>
        </p:txBody>
      </p:sp>
    </p:spTree>
    <p:extLst>
      <p:ext uri="{BB962C8B-B14F-4D97-AF65-F5344CB8AC3E}">
        <p14:creationId xmlns:p14="http://schemas.microsoft.com/office/powerpoint/2010/main" val="15386096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Model-driven engineering (MDE)</a:t>
            </a:r>
          </a:p>
        </p:txBody>
      </p:sp>
      <p:sp>
        <p:nvSpPr>
          <p:cNvPr id="3" name="Content Placeholder 2"/>
          <p:cNvSpPr>
            <a:spLocks noGrp="1"/>
          </p:cNvSpPr>
          <p:nvPr>
            <p:ph idx="1"/>
          </p:nvPr>
        </p:nvSpPr>
        <p:spPr/>
        <p:txBody>
          <a:bodyPr>
            <a:normAutofit fontScale="77500" lnSpcReduction="20000"/>
          </a:bodyPr>
          <a:lstStyle/>
          <a:p>
            <a:pPr algn="just"/>
            <a:r>
              <a:rPr lang="en-US" dirty="0"/>
              <a:t>Model-driven engineering (MDE) is an approach to software development that emphasizes the use of models as a primary artifact for the design, analysis, and implementation of software systems. </a:t>
            </a:r>
          </a:p>
          <a:p>
            <a:pPr algn="just"/>
            <a:r>
              <a:rPr lang="en-US" dirty="0"/>
              <a:t>In MDE, models are used to represent different aspects of a system, such as its behavior, structure, and interactions with other systems. These models can be used to automatically generate code, documentation, and other artifacts, reducing the need for manual coding and increasing the level of automation in software development.</a:t>
            </a:r>
          </a:p>
          <a:p>
            <a:pPr marL="0" indent="0" algn="just">
              <a:buNone/>
            </a:pPr>
            <a:r>
              <a:rPr lang="en-US" dirty="0"/>
              <a:t>The process of MDE typically involves the following steps:</a:t>
            </a:r>
          </a:p>
          <a:p>
            <a:pPr algn="just"/>
            <a:r>
              <a:rPr lang="en-US" dirty="0"/>
              <a:t>Requirements modeling: In this step, the requirements of the system are captured and modeled using appropriate modeling languages and tools.</a:t>
            </a:r>
          </a:p>
          <a:p>
            <a:pPr algn="just"/>
            <a:r>
              <a:rPr lang="en-US" dirty="0"/>
              <a:t>Design modeling: In this step, the requirements are translated into a design model, which includes details such as the system architecture, behavior, and interactions with other systems.</a:t>
            </a:r>
          </a:p>
          <a:p>
            <a:pPr algn="just"/>
            <a:r>
              <a:rPr lang="en-US" i="0" dirty="0">
                <a:solidFill>
                  <a:srgbClr val="0D0D0D"/>
                </a:solidFill>
                <a:effectLst/>
                <a:latin typeface="Söhne"/>
              </a:rPr>
              <a:t>Domain Model: </a:t>
            </a:r>
            <a:r>
              <a:rPr lang="en-US" b="0" i="0" dirty="0">
                <a:solidFill>
                  <a:srgbClr val="0D0D0D"/>
                </a:solidFill>
                <a:effectLst/>
                <a:latin typeface="Söhne"/>
              </a:rPr>
              <a:t>Next, you create a domain model that represents the core entities and relationships in the system, such as tasks, users, deadlines, etc. This model could be represented using a modeling language specific to the problem domain, such as Entity-Relationship Diagrams (ERDs) for a database-centric approach.</a:t>
            </a:r>
            <a:endParaRPr lang="en-US" dirty="0"/>
          </a:p>
          <a:p>
            <a:pPr algn="just"/>
            <a:r>
              <a:rPr lang="en-US" dirty="0"/>
              <a:t>Code generation: Once the design model is complete, it can be automatically translated into code using code generation tools.</a:t>
            </a:r>
          </a:p>
          <a:p>
            <a:pPr algn="just"/>
            <a:endParaRPr lang="en-US" dirty="0"/>
          </a:p>
        </p:txBody>
      </p:sp>
    </p:spTree>
    <p:extLst>
      <p:ext uri="{BB962C8B-B14F-4D97-AF65-F5344CB8AC3E}">
        <p14:creationId xmlns:p14="http://schemas.microsoft.com/office/powerpoint/2010/main" val="10530364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84480"/>
            <a:ext cx="10515600" cy="4351338"/>
          </a:xfrm>
        </p:spPr>
        <p:txBody>
          <a:bodyPr>
            <a:normAutofit/>
          </a:bodyPr>
          <a:lstStyle/>
          <a:p>
            <a:pPr algn="just"/>
            <a:r>
              <a:rPr lang="en-US" dirty="0"/>
              <a:t>Testing and verification: The generated code is tested and verified to ensure that it meets the requirements and specifications of the system.</a:t>
            </a:r>
          </a:p>
          <a:p>
            <a:pPr algn="just"/>
            <a:r>
              <a:rPr lang="en-US" dirty="0"/>
              <a:t>Maintenance and evolution: Once the system is deployed, it may need to be updated or modified over time. In MDE, changes to the system can be made at the model level, and the code can be automatically regenerated based on the updated model.</a:t>
            </a:r>
          </a:p>
          <a:p>
            <a:pPr marL="0" indent="0" algn="just">
              <a:buNone/>
            </a:pPr>
            <a:r>
              <a:rPr lang="en-US" dirty="0"/>
              <a:t>MDE offers several benefits, including improved productivity, increased consistency and quality, and reduced time-to-market. It also promotes better communication between stakeholders by providing a common language and understanding of the system being developed. However, MDE also requires specialized skills and expertise, and may involve significant up-front costs for modeling and tooling.</a:t>
            </a:r>
          </a:p>
        </p:txBody>
      </p:sp>
    </p:spTree>
    <p:extLst>
      <p:ext uri="{BB962C8B-B14F-4D97-AF65-F5344CB8AC3E}">
        <p14:creationId xmlns:p14="http://schemas.microsoft.com/office/powerpoint/2010/main" val="36111457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E061C-DC39-4F16-BA73-3D452D51FA47}"/>
              </a:ext>
            </a:extLst>
          </p:cNvPr>
          <p:cNvSpPr>
            <a:spLocks noGrp="1"/>
          </p:cNvSpPr>
          <p:nvPr>
            <p:ph type="title"/>
          </p:nvPr>
        </p:nvSpPr>
        <p:spPr/>
        <p:txBody>
          <a:bodyPr/>
          <a:lstStyle/>
          <a:p>
            <a:r>
              <a:rPr lang="en-US" dirty="0"/>
              <a:t>End of unit 5</a:t>
            </a:r>
          </a:p>
        </p:txBody>
      </p:sp>
      <p:sp>
        <p:nvSpPr>
          <p:cNvPr id="2" name="Slide Number Placeholder 1">
            <a:extLst>
              <a:ext uri="{FF2B5EF4-FFF2-40B4-BE49-F238E27FC236}">
                <a16:creationId xmlns:a16="http://schemas.microsoft.com/office/drawing/2014/main" id="{60992EE2-28BE-4C3F-84F4-906D77A2E9EC}"/>
              </a:ext>
            </a:extLst>
          </p:cNvPr>
          <p:cNvSpPr>
            <a:spLocks noGrp="1"/>
          </p:cNvSpPr>
          <p:nvPr>
            <p:ph type="sldNum" sz="quarter" idx="12"/>
          </p:nvPr>
        </p:nvSpPr>
        <p:spPr/>
        <p:txBody>
          <a:bodyPr/>
          <a:lstStyle/>
          <a:p>
            <a:fld id="{255C45AA-988C-4610-8E25-9C545FF2A435}" type="slidenum">
              <a:rPr lang="en-US" smtClean="0"/>
              <a:t>53</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678</TotalTime>
  <Words>4519</Words>
  <Application>Microsoft Office PowerPoint</Application>
  <PresentationFormat>Widescreen</PresentationFormat>
  <Paragraphs>324</Paragraphs>
  <Slides>53</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Arial</vt:lpstr>
      <vt:lpstr>Calibri</vt:lpstr>
      <vt:lpstr>Nunito</vt:lpstr>
      <vt:lpstr>Rockwell</vt:lpstr>
      <vt:lpstr>Rockwell Condensed</vt:lpstr>
      <vt:lpstr>Söhne</vt:lpstr>
      <vt:lpstr>Times New Roman</vt:lpstr>
      <vt:lpstr>Wingdings</vt:lpstr>
      <vt:lpstr>Wood Type</vt:lpstr>
      <vt:lpstr>Unit 5  System Modeling </vt:lpstr>
      <vt:lpstr>Syllabus</vt:lpstr>
      <vt:lpstr>System Modeling</vt:lpstr>
      <vt:lpstr>Types of Modeling</vt:lpstr>
      <vt:lpstr>Behavioral modeling</vt:lpstr>
      <vt:lpstr>Types of behavioral modeling</vt:lpstr>
      <vt:lpstr>Activity Diagram</vt:lpstr>
      <vt:lpstr>Activity Diagram</vt:lpstr>
      <vt:lpstr>Example:</vt:lpstr>
      <vt:lpstr>Example:</vt:lpstr>
      <vt:lpstr>Question</vt:lpstr>
      <vt:lpstr>State Diagram</vt:lpstr>
      <vt:lpstr>Difference between state and activity diagram</vt:lpstr>
      <vt:lpstr>Symbols of State Diagram</vt:lpstr>
      <vt:lpstr>Example:</vt:lpstr>
      <vt:lpstr>Example of Bank ATM</vt:lpstr>
      <vt:lpstr>Question:</vt:lpstr>
      <vt:lpstr>Context Modeling</vt:lpstr>
      <vt:lpstr>Example of Context diagram</vt:lpstr>
      <vt:lpstr>Data Flow Diagram(DFD)</vt:lpstr>
      <vt:lpstr>Data Flow Diagram(DFD)</vt:lpstr>
      <vt:lpstr>Levels in DFD</vt:lpstr>
      <vt:lpstr>Symbols of DFD</vt:lpstr>
      <vt:lpstr>Example of DFD</vt:lpstr>
      <vt:lpstr>Interaction Modeling</vt:lpstr>
      <vt:lpstr>Interaction Modeling</vt:lpstr>
      <vt:lpstr>Wireframes</vt:lpstr>
      <vt:lpstr>Example of Wireframe</vt:lpstr>
      <vt:lpstr>Sequence Diagram</vt:lpstr>
      <vt:lpstr>Symbols:</vt:lpstr>
      <vt:lpstr>Example:</vt:lpstr>
      <vt:lpstr>PowerPoint Presentation</vt:lpstr>
      <vt:lpstr>PowerPoint Presentation</vt:lpstr>
      <vt:lpstr>PowerPoint Presentation</vt:lpstr>
      <vt:lpstr>Question</vt:lpstr>
      <vt:lpstr>Structural model</vt:lpstr>
      <vt:lpstr>Some common types of structural models in software engineering include:</vt:lpstr>
      <vt:lpstr>Class Diagram</vt:lpstr>
      <vt:lpstr>Class Diagram Symbol</vt:lpstr>
      <vt:lpstr>Class Diagram Symbol</vt:lpstr>
      <vt:lpstr>Example of Class Diagram</vt:lpstr>
      <vt:lpstr>Component diagram</vt:lpstr>
      <vt:lpstr>Components of Component-Based Diagram </vt:lpstr>
      <vt:lpstr>Components of Component-Based Diagram </vt:lpstr>
      <vt:lpstr>Components of Component-Based Diagram </vt:lpstr>
      <vt:lpstr>Components of Component-Based Diagram </vt:lpstr>
      <vt:lpstr>Components of Component-Based Diagram </vt:lpstr>
      <vt:lpstr>Example:</vt:lpstr>
      <vt:lpstr>Package diagram</vt:lpstr>
      <vt:lpstr>Deployment diagram</vt:lpstr>
      <vt:lpstr>Model-driven engineering (MDE)</vt:lpstr>
      <vt:lpstr>PowerPoint Presentation</vt:lpstr>
      <vt:lpstr>End of unit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Yachu</cp:lastModifiedBy>
  <cp:revision>97</cp:revision>
  <dcterms:created xsi:type="dcterms:W3CDTF">2026-06-22T07:06:56Z</dcterms:created>
  <dcterms:modified xsi:type="dcterms:W3CDTF">2026-07-28T06:32:52Z</dcterms:modified>
</cp:coreProperties>
</file>