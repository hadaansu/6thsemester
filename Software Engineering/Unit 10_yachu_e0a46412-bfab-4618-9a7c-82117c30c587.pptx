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37"/>
  </p:notesMasterIdLst>
  <p:sldIdLst>
    <p:sldId id="256" r:id="rId2"/>
    <p:sldId id="257" r:id="rId3"/>
    <p:sldId id="299" r:id="rId4"/>
    <p:sldId id="300" r:id="rId5"/>
    <p:sldId id="301" r:id="rId6"/>
    <p:sldId id="302" r:id="rId7"/>
    <p:sldId id="303" r:id="rId8"/>
    <p:sldId id="304" r:id="rId9"/>
    <p:sldId id="305" r:id="rId10"/>
    <p:sldId id="306" r:id="rId11"/>
    <p:sldId id="307" r:id="rId12"/>
    <p:sldId id="308" r:id="rId13"/>
    <p:sldId id="309" r:id="rId14"/>
    <p:sldId id="310" r:id="rId15"/>
    <p:sldId id="311" r:id="rId16"/>
    <p:sldId id="312" r:id="rId17"/>
    <p:sldId id="313" r:id="rId18"/>
    <p:sldId id="314" r:id="rId19"/>
    <p:sldId id="315" r:id="rId20"/>
    <p:sldId id="316" r:id="rId21"/>
    <p:sldId id="317" r:id="rId22"/>
    <p:sldId id="318" r:id="rId23"/>
    <p:sldId id="319" r:id="rId24"/>
    <p:sldId id="322" r:id="rId25"/>
    <p:sldId id="323" r:id="rId26"/>
    <p:sldId id="324" r:id="rId27"/>
    <p:sldId id="326" r:id="rId28"/>
    <p:sldId id="327" r:id="rId29"/>
    <p:sldId id="328" r:id="rId30"/>
    <p:sldId id="329" r:id="rId31"/>
    <p:sldId id="330" r:id="rId32"/>
    <p:sldId id="331" r:id="rId33"/>
    <p:sldId id="320" r:id="rId34"/>
    <p:sldId id="321" r:id="rId35"/>
    <p:sldId id="298"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D6B1576-DB5A-4005-800E-9F4E1A9C0144}">
          <p14:sldIdLst>
            <p14:sldId id="256"/>
            <p14:sldId id="257"/>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2"/>
            <p14:sldId id="323"/>
            <p14:sldId id="324"/>
            <p14:sldId id="326"/>
            <p14:sldId id="327"/>
            <p14:sldId id="328"/>
            <p14:sldId id="329"/>
            <p14:sldId id="330"/>
            <p14:sldId id="331"/>
            <p14:sldId id="320"/>
            <p14:sldId id="321"/>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1CF43-AC23-449C-9970-2574E72FAE5D}" type="datetimeFigureOut">
              <a:rPr lang="en-US" smtClean="0"/>
              <a:t>9/2/2026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2C457-EB94-446C-B827-529C14765A18}" type="slidenum">
              <a:rPr lang="en-US" smtClean="0"/>
              <a:t>‹#›</a:t>
            </a:fld>
            <a:endParaRPr lang="en-US"/>
          </a:p>
        </p:txBody>
      </p:sp>
    </p:spTree>
    <p:extLst>
      <p:ext uri="{BB962C8B-B14F-4D97-AF65-F5344CB8AC3E}">
        <p14:creationId xmlns:p14="http://schemas.microsoft.com/office/powerpoint/2010/main" val="2457178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EB6173-E67A-4ABF-9D07-B09534D3609E}"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825034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B46388-AE01-495E-A422-64DF783CA3B7}"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27487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9C16433-D5F8-4032-B388-28ED11946A35}" type="datetime1">
              <a:rPr lang="en-US" smtClean="0"/>
              <a:t>9/2/2026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1910801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504850-3495-4488-8FCD-CA2C2E246139}" type="datetime1">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41565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D61167-CE2C-4438-984C-13395A4B84EC}" type="datetime1">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968647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801522-C990-43F2-8182-0FD4A92B7E09}" type="datetime1">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126890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B2F88E-6C11-475F-BE2E-9D746C0DC1FA}" type="datetime1">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31332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5295CF-5C66-4080-A38E-555C4E259035}" type="datetime1">
              <a:rPr lang="en-US" smtClean="0"/>
              <a:t>9/2/2026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2685557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086953-5472-4DB2-8C9D-C55ADA395F85}" type="datetime1">
              <a:rPr lang="en-US" smtClean="0"/>
              <a:t>9/2/2026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4292410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472C30-6944-4E86-995E-211D9B5BF857}"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79860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799CB5-B776-4CF2-94FC-CA909301CA95}"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6180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1CA38CA-2EB5-43C2-81A6-FE170C4CF28A}" type="datetime1">
              <a:rPr lang="en-US" smtClean="0"/>
              <a:t>9/2/2026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255C45AA-988C-4610-8E25-9C545FF2A435}" type="slidenum">
              <a:rPr lang="en-US" smtClean="0"/>
              <a:t>‹#›</a:t>
            </a:fld>
            <a:endParaRPr lang="en-US"/>
          </a:p>
        </p:txBody>
      </p:sp>
    </p:spTree>
    <p:extLst>
      <p:ext uri="{BB962C8B-B14F-4D97-AF65-F5344CB8AC3E}">
        <p14:creationId xmlns:p14="http://schemas.microsoft.com/office/powerpoint/2010/main" val="110445423"/>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geeksforgeeks.org/software-engineering/software-engineering-cocomo-mode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DA0D-6E59-4383-9DF9-A8C233DC83C8}"/>
              </a:ext>
            </a:extLst>
          </p:cNvPr>
          <p:cNvSpPr>
            <a:spLocks noGrp="1"/>
          </p:cNvSpPr>
          <p:nvPr>
            <p:ph type="ctrTitle"/>
          </p:nvPr>
        </p:nvSpPr>
        <p:spPr/>
        <p:txBody>
          <a:bodyPr/>
          <a:lstStyle/>
          <a:p>
            <a:pPr>
              <a:lnSpc>
                <a:spcPct val="100000"/>
              </a:lnSpc>
            </a:pPr>
            <a:r>
              <a:rPr lang="en-US" sz="4800" dirty="0"/>
              <a:t>Unit 10</a:t>
            </a:r>
            <a:br>
              <a:rPr lang="en-US" sz="4800" dirty="0"/>
            </a:br>
            <a:br>
              <a:rPr lang="en-US" sz="6600" dirty="0"/>
            </a:br>
            <a:r>
              <a:rPr lang="en-US" sz="5400" dirty="0"/>
              <a:t>Software Management</a:t>
            </a:r>
            <a:br>
              <a:rPr lang="en-US" dirty="0"/>
            </a:br>
            <a:endParaRPr lang="en-US" dirty="0"/>
          </a:p>
        </p:txBody>
      </p:sp>
      <p:sp>
        <p:nvSpPr>
          <p:cNvPr id="8" name="Subtitle 7">
            <a:extLst>
              <a:ext uri="{FF2B5EF4-FFF2-40B4-BE49-F238E27FC236}">
                <a16:creationId xmlns:a16="http://schemas.microsoft.com/office/drawing/2014/main" id="{FD94B0D4-AD5E-4142-BB4C-606A9BFB8C8B}"/>
              </a:ext>
            </a:extLst>
          </p:cNvPr>
          <p:cNvSpPr>
            <a:spLocks noGrp="1"/>
          </p:cNvSpPr>
          <p:nvPr>
            <p:ph type="subTitle" idx="1"/>
          </p:nvPr>
        </p:nvSpPr>
        <p:spPr>
          <a:xfrm>
            <a:off x="1051560" y="4615363"/>
            <a:ext cx="7891272" cy="1069848"/>
          </a:xfrm>
        </p:spPr>
        <p:txBody>
          <a:bodyPr/>
          <a:lstStyle/>
          <a:p>
            <a:r>
              <a:rPr lang="en-US" dirty="0"/>
              <a:t>Software Engineering</a:t>
            </a:r>
          </a:p>
          <a:p>
            <a:r>
              <a:rPr lang="en-US" dirty="0"/>
              <a:t>CSIT 6</a:t>
            </a:r>
            <a:r>
              <a:rPr lang="en-US" baseline="30000" dirty="0"/>
              <a:t>th</a:t>
            </a:r>
            <a:r>
              <a:rPr lang="en-US" dirty="0"/>
              <a:t> Semester</a:t>
            </a:r>
          </a:p>
        </p:txBody>
      </p:sp>
      <p:sp>
        <p:nvSpPr>
          <p:cNvPr id="3" name="Slide Number Placeholder 2">
            <a:extLst>
              <a:ext uri="{FF2B5EF4-FFF2-40B4-BE49-F238E27FC236}">
                <a16:creationId xmlns:a16="http://schemas.microsoft.com/office/drawing/2014/main" id="{6E315391-4770-44DD-96B8-AB52F28EC26C}"/>
              </a:ext>
            </a:extLst>
          </p:cNvPr>
          <p:cNvSpPr>
            <a:spLocks noGrp="1"/>
          </p:cNvSpPr>
          <p:nvPr>
            <p:ph type="sldNum" sz="quarter" idx="12"/>
          </p:nvPr>
        </p:nvSpPr>
        <p:spPr/>
        <p:txBody>
          <a:bodyPr/>
          <a:lstStyle/>
          <a:p>
            <a:fld id="{255C45AA-988C-4610-8E25-9C545FF2A435}" type="slidenum">
              <a:rPr lang="en-US" smtClean="0"/>
              <a:t>1</a:t>
            </a:fld>
            <a:endParaRPr lang="en-US"/>
          </a:p>
        </p:txBody>
      </p:sp>
    </p:spTree>
    <p:extLst>
      <p:ext uri="{BB962C8B-B14F-4D97-AF65-F5344CB8AC3E}">
        <p14:creationId xmlns:p14="http://schemas.microsoft.com/office/powerpoint/2010/main" val="408215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85FA-53FE-49DA-95EE-BF8D71FB079D}"/>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34883A51-3C9B-4315-8D30-E190E9B94F5A}"/>
              </a:ext>
            </a:extLst>
          </p:cNvPr>
          <p:cNvSpPr>
            <a:spLocks noGrp="1"/>
          </p:cNvSpPr>
          <p:nvPr>
            <p:ph idx="1"/>
          </p:nvPr>
        </p:nvSpPr>
        <p:spPr>
          <a:xfrm>
            <a:off x="1069848" y="1753386"/>
            <a:ext cx="10058400" cy="4418814"/>
          </a:xfrm>
        </p:spPr>
        <p:txBody>
          <a:bodyPr>
            <a:normAutofit lnSpcReduction="10000"/>
          </a:bodyPr>
          <a:lstStyle/>
          <a:p>
            <a:r>
              <a:rPr lang="en-US" dirty="0"/>
              <a:t>Software Project Management; </a:t>
            </a:r>
          </a:p>
          <a:p>
            <a:r>
              <a:rPr lang="en-US" dirty="0"/>
              <a:t>Project Management Activities </a:t>
            </a:r>
          </a:p>
          <a:p>
            <a:pPr lvl="1"/>
            <a:r>
              <a:rPr lang="en-US" dirty="0"/>
              <a:t>Project Planning, </a:t>
            </a:r>
          </a:p>
          <a:p>
            <a:pPr lvl="1"/>
            <a:r>
              <a:rPr lang="en-US" dirty="0"/>
              <a:t>Risk Management,</a:t>
            </a:r>
          </a:p>
          <a:p>
            <a:pPr lvl="1"/>
            <a:r>
              <a:rPr lang="en-US" dirty="0"/>
              <a:t>People Management,</a:t>
            </a:r>
          </a:p>
          <a:p>
            <a:pPr lvl="1"/>
            <a:r>
              <a:rPr lang="en-US" dirty="0"/>
              <a:t>Reporting and Proposal Writing</a:t>
            </a:r>
          </a:p>
          <a:p>
            <a:r>
              <a:rPr lang="en-US" dirty="0"/>
              <a:t>Project Planning </a:t>
            </a:r>
          </a:p>
          <a:p>
            <a:pPr lvl="1"/>
            <a:r>
              <a:rPr lang="en-US" dirty="0"/>
              <a:t>Software Pricing, </a:t>
            </a:r>
          </a:p>
          <a:p>
            <a:pPr lvl="1"/>
            <a:r>
              <a:rPr lang="en-US" dirty="0"/>
              <a:t>Plan-Driven Development, </a:t>
            </a:r>
          </a:p>
          <a:p>
            <a:pPr lvl="1"/>
            <a:r>
              <a:rPr lang="en-US" dirty="0"/>
              <a:t>Project Scheduling, </a:t>
            </a:r>
          </a:p>
          <a:p>
            <a:pPr lvl="1"/>
            <a:r>
              <a:rPr lang="en-US" dirty="0"/>
              <a:t>Estimation Techniques, </a:t>
            </a:r>
          </a:p>
          <a:p>
            <a:pPr lvl="1"/>
            <a:r>
              <a:rPr lang="en-US" dirty="0"/>
              <a:t>COCOMO Cost Modeling </a:t>
            </a:r>
          </a:p>
          <a:p>
            <a:r>
              <a:rPr lang="en-US" dirty="0"/>
              <a:t>Introduction to Quality Management and Configuration Management</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C9B78AC-CDA8-45C3-B850-3A69787F6754}"/>
              </a:ext>
            </a:extLst>
          </p:cNvPr>
          <p:cNvSpPr>
            <a:spLocks noGrp="1"/>
          </p:cNvSpPr>
          <p:nvPr>
            <p:ph type="sldNum" sz="quarter" idx="12"/>
          </p:nvPr>
        </p:nvSpPr>
        <p:spPr/>
        <p:txBody>
          <a:bodyPr/>
          <a:lstStyle/>
          <a:p>
            <a:fld id="{255C45AA-988C-4610-8E25-9C545FF2A435}" type="slidenum">
              <a:rPr lang="en-US" smtClean="0"/>
              <a:t>2</a:t>
            </a:fld>
            <a:endParaRPr lang="en-US"/>
          </a:p>
        </p:txBody>
      </p:sp>
    </p:spTree>
    <p:extLst>
      <p:ext uri="{BB962C8B-B14F-4D97-AF65-F5344CB8AC3E}">
        <p14:creationId xmlns:p14="http://schemas.microsoft.com/office/powerpoint/2010/main" val="361983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443A6-9E6D-4868-A7E2-16EA00046CC7}"/>
              </a:ext>
            </a:extLst>
          </p:cNvPr>
          <p:cNvSpPr>
            <a:spLocks noGrp="1"/>
          </p:cNvSpPr>
          <p:nvPr>
            <p:ph type="title"/>
          </p:nvPr>
        </p:nvSpPr>
        <p:spPr>
          <a:xfrm>
            <a:off x="1069848" y="484632"/>
            <a:ext cx="10058400" cy="872828"/>
          </a:xfrm>
        </p:spPr>
        <p:txBody>
          <a:bodyPr>
            <a:normAutofit/>
          </a:bodyPr>
          <a:lstStyle/>
          <a:p>
            <a:r>
              <a:rPr lang="en-US" sz="4000" dirty="0"/>
              <a:t>Software project management</a:t>
            </a:r>
          </a:p>
        </p:txBody>
      </p:sp>
      <p:sp>
        <p:nvSpPr>
          <p:cNvPr id="3" name="Content Placeholder 2">
            <a:extLst>
              <a:ext uri="{FF2B5EF4-FFF2-40B4-BE49-F238E27FC236}">
                <a16:creationId xmlns:a16="http://schemas.microsoft.com/office/drawing/2014/main" id="{27A0ACDC-F6DF-43EC-B8EE-1A2B26920F5D}"/>
              </a:ext>
            </a:extLst>
          </p:cNvPr>
          <p:cNvSpPr>
            <a:spLocks noGrp="1"/>
          </p:cNvSpPr>
          <p:nvPr>
            <p:ph idx="1"/>
          </p:nvPr>
        </p:nvSpPr>
        <p:spPr>
          <a:xfrm>
            <a:off x="1069848" y="1357460"/>
            <a:ext cx="10058400" cy="4814740"/>
          </a:xfrm>
        </p:spPr>
        <p:txBody>
          <a:bodyPr/>
          <a:lstStyle/>
          <a:p>
            <a:r>
              <a:rPr lang="en-US" b="1" dirty="0"/>
              <a:t>Software Project Management (SPM)</a:t>
            </a:r>
            <a:r>
              <a:rPr lang="en-US" dirty="0"/>
              <a:t> is a proper way of planning and leading software projects in which software projects are planned, implemented, monitored and controlled to deliver quality products on time and within budget.</a:t>
            </a:r>
          </a:p>
          <a:p>
            <a:r>
              <a:rPr lang="en-US" b="1" dirty="0"/>
              <a:t>Software project management</a:t>
            </a:r>
            <a:r>
              <a:rPr lang="en-US" dirty="0"/>
              <a:t> is an essential part of software engineering. Good management cannot guarantee project success however bad management usually results in. Project failure i.e. software delivered late, cost more than originally estimated and fails to meet its requirement. </a:t>
            </a:r>
          </a:p>
          <a:p>
            <a:endParaRPr lang="en-US" dirty="0"/>
          </a:p>
        </p:txBody>
      </p:sp>
      <p:sp>
        <p:nvSpPr>
          <p:cNvPr id="4" name="Slide Number Placeholder 3">
            <a:extLst>
              <a:ext uri="{FF2B5EF4-FFF2-40B4-BE49-F238E27FC236}">
                <a16:creationId xmlns:a16="http://schemas.microsoft.com/office/drawing/2014/main" id="{257F959C-5C10-46E5-8C56-36338D4D1EFD}"/>
              </a:ext>
            </a:extLst>
          </p:cNvPr>
          <p:cNvSpPr>
            <a:spLocks noGrp="1"/>
          </p:cNvSpPr>
          <p:nvPr>
            <p:ph type="sldNum" sz="quarter" idx="12"/>
          </p:nvPr>
        </p:nvSpPr>
        <p:spPr/>
        <p:txBody>
          <a:bodyPr/>
          <a:lstStyle/>
          <a:p>
            <a:fld id="{255C45AA-988C-4610-8E25-9C545FF2A435}" type="slidenum">
              <a:rPr lang="en-US" smtClean="0"/>
              <a:t>3</a:t>
            </a:fld>
            <a:endParaRPr lang="en-US"/>
          </a:p>
        </p:txBody>
      </p:sp>
    </p:spTree>
    <p:extLst>
      <p:ext uri="{BB962C8B-B14F-4D97-AF65-F5344CB8AC3E}">
        <p14:creationId xmlns:p14="http://schemas.microsoft.com/office/powerpoint/2010/main" val="3468156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75BA-3F73-4029-9DCE-80E4770DEB16}"/>
              </a:ext>
            </a:extLst>
          </p:cNvPr>
          <p:cNvSpPr>
            <a:spLocks noGrp="1"/>
          </p:cNvSpPr>
          <p:nvPr>
            <p:ph type="title"/>
          </p:nvPr>
        </p:nvSpPr>
        <p:spPr/>
        <p:txBody>
          <a:bodyPr>
            <a:normAutofit/>
          </a:bodyPr>
          <a:lstStyle/>
          <a:p>
            <a:r>
              <a:rPr lang="en-US" sz="4800" dirty="0"/>
              <a:t>Software project manager</a:t>
            </a:r>
          </a:p>
        </p:txBody>
      </p:sp>
      <p:sp>
        <p:nvSpPr>
          <p:cNvPr id="3" name="Content Placeholder 2">
            <a:extLst>
              <a:ext uri="{FF2B5EF4-FFF2-40B4-BE49-F238E27FC236}">
                <a16:creationId xmlns:a16="http://schemas.microsoft.com/office/drawing/2014/main" id="{60BF037C-A1C5-40E4-9A1C-A3A55E256CB4}"/>
              </a:ext>
            </a:extLst>
          </p:cNvPr>
          <p:cNvSpPr>
            <a:spLocks noGrp="1"/>
          </p:cNvSpPr>
          <p:nvPr>
            <p:ph idx="1"/>
          </p:nvPr>
        </p:nvSpPr>
        <p:spPr/>
        <p:txBody>
          <a:bodyPr/>
          <a:lstStyle/>
          <a:p>
            <a:r>
              <a:rPr lang="en-US" dirty="0"/>
              <a:t>A software project manager is a person who undertakes the responsibility of planning, executing and controlling the software project. </a:t>
            </a:r>
          </a:p>
          <a:p>
            <a:r>
              <a:rPr lang="en-US" dirty="0"/>
              <a:t>A project manager closely monitors the development process, prepares and executes various plans, arranges necessary and adequate resources, maintains communication among all team members in order to address issues of cost, budget, resources, time, quality and customer satisfaction.</a:t>
            </a:r>
          </a:p>
        </p:txBody>
      </p:sp>
      <p:sp>
        <p:nvSpPr>
          <p:cNvPr id="4" name="Slide Number Placeholder 3">
            <a:extLst>
              <a:ext uri="{FF2B5EF4-FFF2-40B4-BE49-F238E27FC236}">
                <a16:creationId xmlns:a16="http://schemas.microsoft.com/office/drawing/2014/main" id="{BDE01288-9CE0-4C30-9290-FE2FD70769EB}"/>
              </a:ext>
            </a:extLst>
          </p:cNvPr>
          <p:cNvSpPr>
            <a:spLocks noGrp="1"/>
          </p:cNvSpPr>
          <p:nvPr>
            <p:ph type="sldNum" sz="quarter" idx="12"/>
          </p:nvPr>
        </p:nvSpPr>
        <p:spPr/>
        <p:txBody>
          <a:bodyPr/>
          <a:lstStyle/>
          <a:p>
            <a:fld id="{255C45AA-988C-4610-8E25-9C545FF2A435}" type="slidenum">
              <a:rPr lang="en-US" smtClean="0"/>
              <a:t>4</a:t>
            </a:fld>
            <a:endParaRPr lang="en-US"/>
          </a:p>
        </p:txBody>
      </p:sp>
    </p:spTree>
    <p:extLst>
      <p:ext uri="{BB962C8B-B14F-4D97-AF65-F5344CB8AC3E}">
        <p14:creationId xmlns:p14="http://schemas.microsoft.com/office/powerpoint/2010/main" val="1326526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E36F7-AD2E-4CCC-B837-5C95C4C5CAB8}"/>
              </a:ext>
            </a:extLst>
          </p:cNvPr>
          <p:cNvSpPr>
            <a:spLocks noGrp="1"/>
          </p:cNvSpPr>
          <p:nvPr>
            <p:ph type="title"/>
          </p:nvPr>
        </p:nvSpPr>
        <p:spPr>
          <a:xfrm>
            <a:off x="1069848" y="484632"/>
            <a:ext cx="10058400" cy="844547"/>
          </a:xfrm>
        </p:spPr>
        <p:txBody>
          <a:bodyPr>
            <a:normAutofit/>
          </a:bodyPr>
          <a:lstStyle/>
          <a:p>
            <a:r>
              <a:rPr lang="en-US" sz="4000" dirty="0"/>
              <a:t>Project management activities</a:t>
            </a:r>
          </a:p>
        </p:txBody>
      </p:sp>
      <p:sp>
        <p:nvSpPr>
          <p:cNvPr id="3" name="Content Placeholder 2">
            <a:extLst>
              <a:ext uri="{FF2B5EF4-FFF2-40B4-BE49-F238E27FC236}">
                <a16:creationId xmlns:a16="http://schemas.microsoft.com/office/drawing/2014/main" id="{EDE9EAA4-0FBF-402A-9A0F-180D2640107B}"/>
              </a:ext>
            </a:extLst>
          </p:cNvPr>
          <p:cNvSpPr>
            <a:spLocks noGrp="1"/>
          </p:cNvSpPr>
          <p:nvPr>
            <p:ph idx="1"/>
          </p:nvPr>
        </p:nvSpPr>
        <p:spPr>
          <a:xfrm>
            <a:off x="1069848" y="1329179"/>
            <a:ext cx="10058400" cy="4843021"/>
          </a:xfrm>
        </p:spPr>
        <p:txBody>
          <a:bodyPr/>
          <a:lstStyle/>
          <a:p>
            <a:r>
              <a:rPr lang="en-US" dirty="0"/>
              <a:t>Project manager's job varies depending on type of organization and software product being developed. So it is difficult to write standard job description for a software manager. </a:t>
            </a:r>
            <a:r>
              <a:rPr lang="en-US" b="1" dirty="0"/>
              <a:t>Some common activities of project managers </a:t>
            </a:r>
            <a:r>
              <a:rPr lang="en-US" dirty="0"/>
              <a:t>are as follows: </a:t>
            </a:r>
          </a:p>
          <a:p>
            <a:pPr marL="457200" indent="-457200">
              <a:buFont typeface="+mj-lt"/>
              <a:buAutoNum type="alphaLcParenR"/>
            </a:pPr>
            <a:r>
              <a:rPr lang="en-US" b="1" dirty="0"/>
              <a:t>Proposal writing:</a:t>
            </a:r>
            <a:r>
              <a:rPr lang="en-US" dirty="0"/>
              <a:t> Project manager have to write the project proposal to win a contract from the customer. Proposal writing is a skill that acquire through practice and experience. Proposal should include the objective of the project and how it will be carried out. It also includes cost and schedule estimates and justification why the project contract awarded to a particular organization or team. </a:t>
            </a:r>
          </a:p>
          <a:p>
            <a:pPr marL="457200" indent="-457200">
              <a:buFont typeface="+mj-lt"/>
              <a:buAutoNum type="alphaLcParenR"/>
            </a:pPr>
            <a:r>
              <a:rPr lang="en-US" b="1" dirty="0"/>
              <a:t>Project planning and scheduling:</a:t>
            </a:r>
            <a:r>
              <a:rPr lang="en-US" dirty="0"/>
              <a:t> Project planning is concerned with identifying activities, milestones and deliverable produced by a project. A plan is drawn up to guide the development team towards the project goals. </a:t>
            </a:r>
          </a:p>
          <a:p>
            <a:pPr marL="457200" indent="-457200">
              <a:buFont typeface="+mj-lt"/>
              <a:buAutoNum type="alphaLcParenR"/>
            </a:pPr>
            <a:r>
              <a:rPr lang="en-US" b="1" dirty="0"/>
              <a:t>Resource Management:</a:t>
            </a:r>
            <a:r>
              <a:rPr lang="en-US" dirty="0"/>
              <a:t> Assigning team members, hardware, software tools, and budgets to specific tasks based on availability and skill sets.</a:t>
            </a:r>
          </a:p>
          <a:p>
            <a:pPr marL="457200" indent="-457200">
              <a:buFont typeface="+mj-lt"/>
              <a:buAutoNum type="alphaLcParenR"/>
            </a:pPr>
            <a:r>
              <a:rPr lang="en-US" b="1" dirty="0"/>
              <a:t>Risk Management:</a:t>
            </a:r>
            <a:r>
              <a:rPr lang="en-US" dirty="0"/>
              <a:t> Identifying, analyzing, and mitigating potential risks—such as technical hurdles or schedule delays—before they harm the project</a:t>
            </a:r>
          </a:p>
        </p:txBody>
      </p:sp>
      <p:sp>
        <p:nvSpPr>
          <p:cNvPr id="4" name="Slide Number Placeholder 3">
            <a:extLst>
              <a:ext uri="{FF2B5EF4-FFF2-40B4-BE49-F238E27FC236}">
                <a16:creationId xmlns:a16="http://schemas.microsoft.com/office/drawing/2014/main" id="{D1140334-648E-4C24-9874-8F1A64A37987}"/>
              </a:ext>
            </a:extLst>
          </p:cNvPr>
          <p:cNvSpPr>
            <a:spLocks noGrp="1"/>
          </p:cNvSpPr>
          <p:nvPr>
            <p:ph type="sldNum" sz="quarter" idx="12"/>
          </p:nvPr>
        </p:nvSpPr>
        <p:spPr/>
        <p:txBody>
          <a:bodyPr/>
          <a:lstStyle/>
          <a:p>
            <a:fld id="{255C45AA-988C-4610-8E25-9C545FF2A435}" type="slidenum">
              <a:rPr lang="en-US" smtClean="0"/>
              <a:t>5</a:t>
            </a:fld>
            <a:endParaRPr lang="en-US"/>
          </a:p>
        </p:txBody>
      </p:sp>
    </p:spTree>
    <p:extLst>
      <p:ext uri="{BB962C8B-B14F-4D97-AF65-F5344CB8AC3E}">
        <p14:creationId xmlns:p14="http://schemas.microsoft.com/office/powerpoint/2010/main" val="4027598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E36F7-AD2E-4CCC-B837-5C95C4C5CAB8}"/>
              </a:ext>
            </a:extLst>
          </p:cNvPr>
          <p:cNvSpPr>
            <a:spLocks noGrp="1"/>
          </p:cNvSpPr>
          <p:nvPr>
            <p:ph type="title"/>
          </p:nvPr>
        </p:nvSpPr>
        <p:spPr>
          <a:xfrm>
            <a:off x="1069848" y="484632"/>
            <a:ext cx="10058400" cy="844547"/>
          </a:xfrm>
        </p:spPr>
        <p:txBody>
          <a:bodyPr>
            <a:normAutofit/>
          </a:bodyPr>
          <a:lstStyle/>
          <a:p>
            <a:r>
              <a:rPr lang="en-US" sz="4000" dirty="0"/>
              <a:t>Project management activities</a:t>
            </a:r>
          </a:p>
        </p:txBody>
      </p:sp>
      <p:sp>
        <p:nvSpPr>
          <p:cNvPr id="3" name="Content Placeholder 2">
            <a:extLst>
              <a:ext uri="{FF2B5EF4-FFF2-40B4-BE49-F238E27FC236}">
                <a16:creationId xmlns:a16="http://schemas.microsoft.com/office/drawing/2014/main" id="{EDE9EAA4-0FBF-402A-9A0F-180D2640107B}"/>
              </a:ext>
            </a:extLst>
          </p:cNvPr>
          <p:cNvSpPr>
            <a:spLocks noGrp="1"/>
          </p:cNvSpPr>
          <p:nvPr>
            <p:ph idx="1"/>
          </p:nvPr>
        </p:nvSpPr>
        <p:spPr>
          <a:xfrm>
            <a:off x="1069848" y="1329179"/>
            <a:ext cx="10058400" cy="4843021"/>
          </a:xfrm>
        </p:spPr>
        <p:txBody>
          <a:bodyPr>
            <a:normAutofit/>
          </a:bodyPr>
          <a:lstStyle/>
          <a:p>
            <a:pPr marL="457200" indent="-457200">
              <a:buFont typeface="+mj-lt"/>
              <a:buAutoNum type="alphaLcParenR" startAt="5"/>
            </a:pPr>
            <a:r>
              <a:rPr lang="en-US" b="1" dirty="0"/>
              <a:t>People management:</a:t>
            </a:r>
            <a:r>
              <a:rPr lang="en-US" dirty="0"/>
              <a:t> </a:t>
            </a:r>
          </a:p>
          <a:p>
            <a:pPr marL="274320" lvl="1" indent="0">
              <a:buNone/>
            </a:pPr>
            <a:r>
              <a:rPr lang="en-US" b="1" u="none" strike="noStrike" dirty="0">
                <a:effectLst/>
                <a:latin typeface="Google Sans"/>
              </a:rPr>
              <a:t>Role Definition:</a:t>
            </a:r>
            <a:r>
              <a:rPr lang="en-US" b="0" u="none" strike="noStrike" dirty="0">
                <a:effectLst/>
                <a:latin typeface="Google Sans"/>
              </a:rPr>
              <a:t> Assigning specific titles and clear responsibilities like Frontend Developer, QA Engineer, or DevOps Specialist.</a:t>
            </a:r>
          </a:p>
          <a:p>
            <a:pPr marL="274320" lvl="1" indent="0">
              <a:buNone/>
            </a:pPr>
            <a:r>
              <a:rPr lang="en-US" b="1" u="none" strike="noStrike" dirty="0">
                <a:effectLst/>
                <a:latin typeface="Google Sans"/>
              </a:rPr>
              <a:t>Team Composition</a:t>
            </a:r>
            <a:endParaRPr lang="en-US" b="0" u="none" strike="noStrike" dirty="0">
              <a:effectLst/>
              <a:latin typeface="Google Sans"/>
            </a:endParaRPr>
          </a:p>
          <a:p>
            <a:pPr marL="274320" lvl="1" indent="0">
              <a:buNone/>
            </a:pPr>
            <a:r>
              <a:rPr lang="en-US" b="1" u="none" strike="noStrike" dirty="0">
                <a:effectLst/>
                <a:latin typeface="Google Sans"/>
              </a:rPr>
              <a:t>Motivation and Engagement</a:t>
            </a:r>
          </a:p>
          <a:p>
            <a:pPr marL="274320" lvl="1" indent="0">
              <a:buNone/>
            </a:pPr>
            <a:r>
              <a:rPr lang="en-US" b="1" u="none" strike="noStrike" dirty="0">
                <a:effectLst/>
                <a:latin typeface="Google Sans"/>
              </a:rPr>
              <a:t>Conflict Resolution</a:t>
            </a:r>
            <a:endParaRPr lang="en-US" b="0" u="none" strike="noStrike" dirty="0">
              <a:effectLst/>
              <a:latin typeface="Google Sans"/>
            </a:endParaRPr>
          </a:p>
          <a:p>
            <a:pPr marL="274320" lvl="1" indent="0">
              <a:buNone/>
            </a:pPr>
            <a:r>
              <a:rPr lang="en-US" b="1" u="none" strike="noStrike" dirty="0">
                <a:effectLst/>
                <a:latin typeface="Google Sans"/>
              </a:rPr>
              <a:t>Performance Evaluation:</a:t>
            </a:r>
            <a:endParaRPr lang="en-US" b="0" u="none" strike="noStrike" dirty="0">
              <a:effectLst/>
              <a:latin typeface="Google Sans"/>
            </a:endParaRPr>
          </a:p>
          <a:p>
            <a:pPr marL="274320" lvl="1" indent="0">
              <a:buNone/>
            </a:pPr>
            <a:r>
              <a:rPr lang="en-US" b="1" u="none" strike="noStrike" dirty="0">
                <a:effectLst/>
                <a:latin typeface="Google Sans"/>
              </a:rPr>
              <a:t>Skill Development:</a:t>
            </a:r>
            <a:r>
              <a:rPr lang="en-US" b="0" u="none" strike="noStrike" dirty="0">
                <a:effectLst/>
                <a:latin typeface="Google Sans"/>
              </a:rPr>
              <a:t> </a:t>
            </a:r>
          </a:p>
          <a:p>
            <a:pPr marL="274320" lvl="1" indent="0">
              <a:buNone/>
            </a:pPr>
            <a:r>
              <a:rPr lang="en-US" b="1" u="none" strike="noStrike" dirty="0">
                <a:effectLst/>
                <a:latin typeface="Google Sans"/>
              </a:rPr>
              <a:t>Productive Environment:</a:t>
            </a:r>
            <a:endParaRPr lang="en-US" dirty="0"/>
          </a:p>
          <a:p>
            <a:pPr marL="457200" indent="-457200">
              <a:buFont typeface="+mj-lt"/>
              <a:buAutoNum type="alphaLcParenR" startAt="5"/>
            </a:pPr>
            <a:r>
              <a:rPr lang="en-US" b="1" dirty="0"/>
              <a:t>Reporting and Presentation: </a:t>
            </a:r>
            <a:r>
              <a:rPr lang="en-US" dirty="0"/>
              <a:t>Project managers are usually responsible for reporting on the project to both the client and contractor organization. They have to write concise, coherent documents that abstract critical information to detailed project report.</a:t>
            </a:r>
            <a:endParaRPr lang="en-US" b="1" dirty="0"/>
          </a:p>
        </p:txBody>
      </p:sp>
      <p:sp>
        <p:nvSpPr>
          <p:cNvPr id="4" name="Slide Number Placeholder 3">
            <a:extLst>
              <a:ext uri="{FF2B5EF4-FFF2-40B4-BE49-F238E27FC236}">
                <a16:creationId xmlns:a16="http://schemas.microsoft.com/office/drawing/2014/main" id="{D1140334-648E-4C24-9874-8F1A64A37987}"/>
              </a:ext>
            </a:extLst>
          </p:cNvPr>
          <p:cNvSpPr>
            <a:spLocks noGrp="1"/>
          </p:cNvSpPr>
          <p:nvPr>
            <p:ph type="sldNum" sz="quarter" idx="12"/>
          </p:nvPr>
        </p:nvSpPr>
        <p:spPr/>
        <p:txBody>
          <a:bodyPr/>
          <a:lstStyle/>
          <a:p>
            <a:fld id="{255C45AA-988C-4610-8E25-9C545FF2A435}" type="slidenum">
              <a:rPr lang="en-US" smtClean="0"/>
              <a:t>6</a:t>
            </a:fld>
            <a:endParaRPr lang="en-US"/>
          </a:p>
        </p:txBody>
      </p:sp>
    </p:spTree>
    <p:extLst>
      <p:ext uri="{BB962C8B-B14F-4D97-AF65-F5344CB8AC3E}">
        <p14:creationId xmlns:p14="http://schemas.microsoft.com/office/powerpoint/2010/main" val="2760626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A3918-332D-444B-9D11-C45D2BBF4E0D}"/>
              </a:ext>
            </a:extLst>
          </p:cNvPr>
          <p:cNvSpPr>
            <a:spLocks noGrp="1"/>
          </p:cNvSpPr>
          <p:nvPr>
            <p:ph type="title"/>
          </p:nvPr>
        </p:nvSpPr>
        <p:spPr/>
        <p:txBody>
          <a:bodyPr/>
          <a:lstStyle/>
          <a:p>
            <a:r>
              <a:rPr lang="en-US" dirty="0"/>
              <a:t>1.Project Planning</a:t>
            </a:r>
          </a:p>
        </p:txBody>
      </p:sp>
      <p:sp>
        <p:nvSpPr>
          <p:cNvPr id="3" name="Content Placeholder 2">
            <a:extLst>
              <a:ext uri="{FF2B5EF4-FFF2-40B4-BE49-F238E27FC236}">
                <a16:creationId xmlns:a16="http://schemas.microsoft.com/office/drawing/2014/main" id="{1322F09B-AC96-437F-94C5-98EE18056C96}"/>
              </a:ext>
            </a:extLst>
          </p:cNvPr>
          <p:cNvSpPr>
            <a:spLocks noGrp="1"/>
          </p:cNvSpPr>
          <p:nvPr>
            <p:ph idx="1"/>
          </p:nvPr>
        </p:nvSpPr>
        <p:spPr/>
        <p:txBody>
          <a:bodyPr/>
          <a:lstStyle/>
          <a:p>
            <a:r>
              <a:rPr lang="en-US" dirty="0"/>
              <a:t>it is a set of multiple processes, which facilitates software production to complete its completion in given set of resources and time frame. </a:t>
            </a:r>
          </a:p>
          <a:p>
            <a:r>
              <a:rPr lang="en-US" dirty="0"/>
              <a:t>The project plan sets out the resources available to the project, the work breakdown and a schedule for carrying out the work. So, effective management of software project depends on the thoroughly planning the progress of project. A plan drawn up at the starting of a project should be used as driver for the project. </a:t>
            </a:r>
          </a:p>
        </p:txBody>
      </p:sp>
      <p:sp>
        <p:nvSpPr>
          <p:cNvPr id="4" name="Slide Number Placeholder 3">
            <a:extLst>
              <a:ext uri="{FF2B5EF4-FFF2-40B4-BE49-F238E27FC236}">
                <a16:creationId xmlns:a16="http://schemas.microsoft.com/office/drawing/2014/main" id="{CAB866E5-A43B-4774-90CE-72686324222D}"/>
              </a:ext>
            </a:extLst>
          </p:cNvPr>
          <p:cNvSpPr>
            <a:spLocks noGrp="1"/>
          </p:cNvSpPr>
          <p:nvPr>
            <p:ph type="sldNum" sz="quarter" idx="12"/>
          </p:nvPr>
        </p:nvSpPr>
        <p:spPr/>
        <p:txBody>
          <a:bodyPr/>
          <a:lstStyle/>
          <a:p>
            <a:fld id="{255C45AA-988C-4610-8E25-9C545FF2A435}" type="slidenum">
              <a:rPr lang="en-US" smtClean="0"/>
              <a:t>7</a:t>
            </a:fld>
            <a:endParaRPr lang="en-US"/>
          </a:p>
        </p:txBody>
      </p:sp>
    </p:spTree>
    <p:extLst>
      <p:ext uri="{BB962C8B-B14F-4D97-AF65-F5344CB8AC3E}">
        <p14:creationId xmlns:p14="http://schemas.microsoft.com/office/powerpoint/2010/main" val="1182056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3E621-D2E0-44B3-8A7E-0E33F533D1E4}"/>
              </a:ext>
            </a:extLst>
          </p:cNvPr>
          <p:cNvSpPr>
            <a:spLocks noGrp="1"/>
          </p:cNvSpPr>
          <p:nvPr>
            <p:ph type="title"/>
          </p:nvPr>
        </p:nvSpPr>
        <p:spPr/>
        <p:txBody>
          <a:bodyPr/>
          <a:lstStyle/>
          <a:p>
            <a:r>
              <a:rPr lang="en-US" dirty="0"/>
              <a:t>Plan sections</a:t>
            </a:r>
          </a:p>
        </p:txBody>
      </p:sp>
      <p:sp>
        <p:nvSpPr>
          <p:cNvPr id="3" name="Content Placeholder 2">
            <a:extLst>
              <a:ext uri="{FF2B5EF4-FFF2-40B4-BE49-F238E27FC236}">
                <a16:creationId xmlns:a16="http://schemas.microsoft.com/office/drawing/2014/main" id="{9F043A95-CD10-4813-97FF-3F07B77772DD}"/>
              </a:ext>
            </a:extLst>
          </p:cNvPr>
          <p:cNvSpPr>
            <a:spLocks noGrp="1"/>
          </p:cNvSpPr>
          <p:nvPr>
            <p:ph idx="1"/>
          </p:nvPr>
        </p:nvSpPr>
        <p:spPr>
          <a:xfrm>
            <a:off x="1069848" y="1847654"/>
            <a:ext cx="10058400" cy="4324546"/>
          </a:xfrm>
        </p:spPr>
        <p:txBody>
          <a:bodyPr>
            <a:normAutofit fontScale="92500" lnSpcReduction="20000"/>
          </a:bodyPr>
          <a:lstStyle/>
          <a:p>
            <a:pPr marL="457200" indent="-457200">
              <a:buFont typeface="+mj-lt"/>
              <a:buAutoNum type="arabicPeriod"/>
            </a:pPr>
            <a:r>
              <a:rPr lang="en-US" b="1" dirty="0"/>
              <a:t>Introduction:</a:t>
            </a:r>
            <a:r>
              <a:rPr lang="en-US" dirty="0"/>
              <a:t> It describes the objectives of the projects and sets out the constraints like budget, time </a:t>
            </a:r>
            <a:r>
              <a:rPr lang="en-US" dirty="0" err="1"/>
              <a:t>etc</a:t>
            </a:r>
            <a:r>
              <a:rPr lang="en-US" dirty="0"/>
              <a:t> that affect the project management. </a:t>
            </a:r>
          </a:p>
          <a:p>
            <a:pPr marL="457200" indent="-457200">
              <a:buFont typeface="+mj-lt"/>
              <a:buAutoNum type="arabicPeriod"/>
            </a:pPr>
            <a:r>
              <a:rPr lang="en-US" b="1" dirty="0"/>
              <a:t>Project organization:</a:t>
            </a:r>
            <a:r>
              <a:rPr lang="en-US" dirty="0"/>
              <a:t> It describes the way in which development team is organized, the people involved and their role in the team. </a:t>
            </a:r>
          </a:p>
          <a:p>
            <a:pPr marL="457200" indent="-457200">
              <a:buFont typeface="+mj-lt"/>
              <a:buAutoNum type="arabicPeriod"/>
            </a:pPr>
            <a:r>
              <a:rPr lang="en-US" b="1" dirty="0"/>
              <a:t>Risk analysis:</a:t>
            </a:r>
            <a:r>
              <a:rPr lang="en-US" dirty="0"/>
              <a:t> This describes the possible project risk, the likelihood of these risks arising and the risk reduction strategies that are proposed. </a:t>
            </a:r>
          </a:p>
          <a:p>
            <a:pPr marL="457200" indent="-457200">
              <a:buFont typeface="+mj-lt"/>
              <a:buAutoNum type="arabicPeriod"/>
            </a:pPr>
            <a:r>
              <a:rPr lang="en-US" b="1" dirty="0"/>
              <a:t>Hardware and software resource requirement :</a:t>
            </a:r>
            <a:r>
              <a:rPr lang="en-US" dirty="0"/>
              <a:t>This specifies the hardware and software required to carry out the development. If the hardware has to be bought estimates of prices and delivery schedule may be included. </a:t>
            </a:r>
          </a:p>
          <a:p>
            <a:pPr marL="457200" indent="-457200">
              <a:buFont typeface="+mj-lt"/>
              <a:buAutoNum type="arabicPeriod"/>
            </a:pPr>
            <a:r>
              <a:rPr lang="en-US" b="1" dirty="0"/>
              <a:t>Work breakdown:</a:t>
            </a:r>
            <a:r>
              <a:rPr lang="en-US" dirty="0"/>
              <a:t> In this phase the project is breakdown into activities and identifies the milestones and deliverables associated with each activity. </a:t>
            </a:r>
          </a:p>
          <a:p>
            <a:pPr marL="457200" indent="-457200">
              <a:buFont typeface="+mj-lt"/>
              <a:buAutoNum type="arabicPeriod"/>
            </a:pPr>
            <a:r>
              <a:rPr lang="en-US" b="1" dirty="0"/>
              <a:t>Project schedule:</a:t>
            </a:r>
            <a:r>
              <a:rPr lang="en-US" dirty="0"/>
              <a:t> This phase shows the dependencies between activities the estimated time required to reach each milestone and allocation of people to each activity. </a:t>
            </a:r>
          </a:p>
          <a:p>
            <a:pPr marL="457200" indent="-457200">
              <a:buFont typeface="+mj-lt"/>
              <a:buAutoNum type="arabicPeriod"/>
            </a:pPr>
            <a:r>
              <a:rPr lang="en-US" b="1" dirty="0"/>
              <a:t>Monitoring and reporting mechanism:</a:t>
            </a:r>
            <a:r>
              <a:rPr lang="en-US" dirty="0"/>
              <a:t> This defines the management report that should be produced.</a:t>
            </a:r>
          </a:p>
        </p:txBody>
      </p:sp>
      <p:sp>
        <p:nvSpPr>
          <p:cNvPr id="4" name="Slide Number Placeholder 3">
            <a:extLst>
              <a:ext uri="{FF2B5EF4-FFF2-40B4-BE49-F238E27FC236}">
                <a16:creationId xmlns:a16="http://schemas.microsoft.com/office/drawing/2014/main" id="{AF183424-8F44-4917-AF68-CC67E3CE6417}"/>
              </a:ext>
            </a:extLst>
          </p:cNvPr>
          <p:cNvSpPr>
            <a:spLocks noGrp="1"/>
          </p:cNvSpPr>
          <p:nvPr>
            <p:ph type="sldNum" sz="quarter" idx="12"/>
          </p:nvPr>
        </p:nvSpPr>
        <p:spPr/>
        <p:txBody>
          <a:bodyPr/>
          <a:lstStyle/>
          <a:p>
            <a:fld id="{255C45AA-988C-4610-8E25-9C545FF2A435}" type="slidenum">
              <a:rPr lang="en-US" smtClean="0"/>
              <a:t>8</a:t>
            </a:fld>
            <a:endParaRPr lang="en-US"/>
          </a:p>
        </p:txBody>
      </p:sp>
    </p:spTree>
    <p:extLst>
      <p:ext uri="{BB962C8B-B14F-4D97-AF65-F5344CB8AC3E}">
        <p14:creationId xmlns:p14="http://schemas.microsoft.com/office/powerpoint/2010/main" val="1843863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FFD4F-C2CA-4D2E-94DB-0698EA32FCB5}"/>
              </a:ext>
            </a:extLst>
          </p:cNvPr>
          <p:cNvSpPr>
            <a:spLocks noGrp="1"/>
          </p:cNvSpPr>
          <p:nvPr>
            <p:ph type="title"/>
          </p:nvPr>
        </p:nvSpPr>
        <p:spPr/>
        <p:txBody>
          <a:bodyPr/>
          <a:lstStyle/>
          <a:p>
            <a:r>
              <a:rPr lang="en-US" dirty="0"/>
              <a:t>Types of Plan</a:t>
            </a:r>
          </a:p>
        </p:txBody>
      </p:sp>
      <p:sp>
        <p:nvSpPr>
          <p:cNvPr id="3" name="Content Placeholder 2">
            <a:extLst>
              <a:ext uri="{FF2B5EF4-FFF2-40B4-BE49-F238E27FC236}">
                <a16:creationId xmlns:a16="http://schemas.microsoft.com/office/drawing/2014/main" id="{B8B0AF82-F15E-4FCB-B127-BC6A7CAF652E}"/>
              </a:ext>
            </a:extLst>
          </p:cNvPr>
          <p:cNvSpPr>
            <a:spLocks noGrp="1"/>
          </p:cNvSpPr>
          <p:nvPr>
            <p:ph idx="1"/>
          </p:nvPr>
        </p:nvSpPr>
        <p:spPr/>
        <p:txBody>
          <a:bodyPr/>
          <a:lstStyle/>
          <a:p>
            <a:pPr marL="457200" indent="-457200">
              <a:buFont typeface="+mj-lt"/>
              <a:buAutoNum type="arabicPeriod"/>
            </a:pPr>
            <a:r>
              <a:rPr lang="en-US" b="1" dirty="0"/>
              <a:t>Validation plan: </a:t>
            </a:r>
            <a:r>
              <a:rPr lang="en-US" dirty="0"/>
              <a:t>It</a:t>
            </a:r>
            <a:r>
              <a:rPr lang="en-US" b="1" dirty="0"/>
              <a:t> </a:t>
            </a:r>
            <a:r>
              <a:rPr lang="en-US" dirty="0"/>
              <a:t>describes the approach, resources and schedule used for system validation. It is intended to show that the program does what the user requires. </a:t>
            </a:r>
          </a:p>
          <a:p>
            <a:pPr marL="457200" indent="-457200">
              <a:buFont typeface="+mj-lt"/>
              <a:buAutoNum type="arabicPeriod"/>
            </a:pPr>
            <a:r>
              <a:rPr lang="en-US" b="1" dirty="0"/>
              <a:t>Configuration and management plan:</a:t>
            </a:r>
            <a:r>
              <a:rPr lang="en-US" dirty="0"/>
              <a:t> This plan includes the management of system change. When a system is maintained the role of the CM team is to ensure that changes are incorporated in a controlled way. This plan includes configuration management procedures and structures to be used.</a:t>
            </a:r>
          </a:p>
          <a:p>
            <a:pPr marL="457200" indent="-457200">
              <a:buFont typeface="+mj-lt"/>
              <a:buAutoNum type="arabicPeriod"/>
            </a:pPr>
            <a:r>
              <a:rPr lang="en-US" b="1" dirty="0"/>
              <a:t>Maintenance plan:</a:t>
            </a:r>
            <a:r>
              <a:rPr lang="en-US" dirty="0"/>
              <a:t> It predicts the maintenance requirements of the system, maintenance cost and effort required.</a:t>
            </a:r>
          </a:p>
          <a:p>
            <a:pPr marL="457200" indent="-457200">
              <a:buFont typeface="+mj-lt"/>
              <a:buAutoNum type="arabicPeriod"/>
            </a:pPr>
            <a:r>
              <a:rPr lang="en-US" b="1" dirty="0"/>
              <a:t>Staff development plan:</a:t>
            </a:r>
            <a:r>
              <a:rPr lang="en-US" dirty="0"/>
              <a:t> It describes how the skill and experience of the project team member will be developed.</a:t>
            </a:r>
          </a:p>
        </p:txBody>
      </p:sp>
      <p:sp>
        <p:nvSpPr>
          <p:cNvPr id="4" name="Slide Number Placeholder 3">
            <a:extLst>
              <a:ext uri="{FF2B5EF4-FFF2-40B4-BE49-F238E27FC236}">
                <a16:creationId xmlns:a16="http://schemas.microsoft.com/office/drawing/2014/main" id="{04FBDA38-7355-4ADB-8B43-63106FE28700}"/>
              </a:ext>
            </a:extLst>
          </p:cNvPr>
          <p:cNvSpPr>
            <a:spLocks noGrp="1"/>
          </p:cNvSpPr>
          <p:nvPr>
            <p:ph type="sldNum" sz="quarter" idx="12"/>
          </p:nvPr>
        </p:nvSpPr>
        <p:spPr/>
        <p:txBody>
          <a:bodyPr/>
          <a:lstStyle/>
          <a:p>
            <a:fld id="{255C45AA-988C-4610-8E25-9C545FF2A435}" type="slidenum">
              <a:rPr lang="en-US" smtClean="0"/>
              <a:t>9</a:t>
            </a:fld>
            <a:endParaRPr lang="en-US"/>
          </a:p>
        </p:txBody>
      </p:sp>
    </p:spTree>
    <p:extLst>
      <p:ext uri="{BB962C8B-B14F-4D97-AF65-F5344CB8AC3E}">
        <p14:creationId xmlns:p14="http://schemas.microsoft.com/office/powerpoint/2010/main" val="2307059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DA0EA-45A4-4423-83C3-025EA8345FF6}"/>
              </a:ext>
            </a:extLst>
          </p:cNvPr>
          <p:cNvSpPr>
            <a:spLocks noGrp="1"/>
          </p:cNvSpPr>
          <p:nvPr>
            <p:ph type="title"/>
          </p:nvPr>
        </p:nvSpPr>
        <p:spPr/>
        <p:txBody>
          <a:bodyPr>
            <a:normAutofit/>
          </a:bodyPr>
          <a:lstStyle/>
          <a:p>
            <a:r>
              <a:rPr lang="en-US" sz="4800" dirty="0"/>
              <a:t>Milestone and deliverables</a:t>
            </a:r>
          </a:p>
        </p:txBody>
      </p:sp>
      <p:sp>
        <p:nvSpPr>
          <p:cNvPr id="3" name="Content Placeholder 2">
            <a:extLst>
              <a:ext uri="{FF2B5EF4-FFF2-40B4-BE49-F238E27FC236}">
                <a16:creationId xmlns:a16="http://schemas.microsoft.com/office/drawing/2014/main" id="{18D9A4B6-C441-4516-A292-2E6DD85A29D8}"/>
              </a:ext>
            </a:extLst>
          </p:cNvPr>
          <p:cNvSpPr>
            <a:spLocks noGrp="1"/>
          </p:cNvSpPr>
          <p:nvPr>
            <p:ph idx="1"/>
          </p:nvPr>
        </p:nvSpPr>
        <p:spPr>
          <a:xfrm>
            <a:off x="1069848" y="1828800"/>
            <a:ext cx="10241280" cy="4343400"/>
          </a:xfrm>
        </p:spPr>
        <p:txBody>
          <a:bodyPr/>
          <a:lstStyle/>
          <a:p>
            <a:r>
              <a:rPr lang="en-US" b="1" dirty="0"/>
              <a:t>Milestones:</a:t>
            </a:r>
            <a:r>
              <a:rPr lang="en-US" dirty="0"/>
              <a:t> Project milestones are the predictable outcome of an activity where some formal report of progress. Milestones are the recognizable end point of software process activity. Milestones should represent the end of a distinct, logical stage in the project. </a:t>
            </a:r>
          </a:p>
          <a:p>
            <a:pPr marL="0" indent="0">
              <a:buNone/>
            </a:pPr>
            <a:endParaRPr lang="en-US" dirty="0"/>
          </a:p>
          <a:p>
            <a:pPr marL="0" indent="0">
              <a:buNone/>
            </a:pPr>
            <a:endParaRPr lang="en-US" dirty="0"/>
          </a:p>
          <a:p>
            <a:pPr marL="0" indent="0">
              <a:buNone/>
            </a:pPr>
            <a:endParaRPr lang="en-US" dirty="0"/>
          </a:p>
          <a:p>
            <a:r>
              <a:rPr lang="en-US" b="1" dirty="0"/>
              <a:t>Deliverables:</a:t>
            </a:r>
            <a:r>
              <a:rPr lang="en-US" dirty="0"/>
              <a:t> A deliverable is a project report (result) that is delivered to the customer at the end of tome major project phase. Deliverables are usually milestones but milestones need to be deliverables. The project deliverable, which are delivered to customer are the requirement definition and requirement specification.</a:t>
            </a:r>
          </a:p>
        </p:txBody>
      </p:sp>
      <p:sp>
        <p:nvSpPr>
          <p:cNvPr id="4" name="Slide Number Placeholder 3">
            <a:extLst>
              <a:ext uri="{FF2B5EF4-FFF2-40B4-BE49-F238E27FC236}">
                <a16:creationId xmlns:a16="http://schemas.microsoft.com/office/drawing/2014/main" id="{917631DB-9F3F-4F6A-B917-F06DBB013D3A}"/>
              </a:ext>
            </a:extLst>
          </p:cNvPr>
          <p:cNvSpPr>
            <a:spLocks noGrp="1"/>
          </p:cNvSpPr>
          <p:nvPr>
            <p:ph type="sldNum" sz="quarter" idx="12"/>
          </p:nvPr>
        </p:nvSpPr>
        <p:spPr/>
        <p:txBody>
          <a:bodyPr/>
          <a:lstStyle/>
          <a:p>
            <a:fld id="{255C45AA-988C-4610-8E25-9C545FF2A435}" type="slidenum">
              <a:rPr lang="en-US" smtClean="0"/>
              <a:t>10</a:t>
            </a:fld>
            <a:endParaRPr lang="en-US"/>
          </a:p>
        </p:txBody>
      </p:sp>
      <p:pic>
        <p:nvPicPr>
          <p:cNvPr id="6" name="Picture 5">
            <a:extLst>
              <a:ext uri="{FF2B5EF4-FFF2-40B4-BE49-F238E27FC236}">
                <a16:creationId xmlns:a16="http://schemas.microsoft.com/office/drawing/2014/main" id="{CA7D446D-4F94-4317-A978-9737041BFFAF}"/>
              </a:ext>
            </a:extLst>
          </p:cNvPr>
          <p:cNvPicPr>
            <a:picLocks noChangeAspect="1"/>
          </p:cNvPicPr>
          <p:nvPr/>
        </p:nvPicPr>
        <p:blipFill>
          <a:blip r:embed="rId2"/>
          <a:stretch>
            <a:fillRect/>
          </a:stretch>
        </p:blipFill>
        <p:spPr>
          <a:xfrm>
            <a:off x="3299091" y="2921670"/>
            <a:ext cx="4845668" cy="1211417"/>
          </a:xfrm>
          <a:prstGeom prst="rect">
            <a:avLst/>
          </a:prstGeom>
        </p:spPr>
      </p:pic>
    </p:spTree>
    <p:extLst>
      <p:ext uri="{BB962C8B-B14F-4D97-AF65-F5344CB8AC3E}">
        <p14:creationId xmlns:p14="http://schemas.microsoft.com/office/powerpoint/2010/main" val="761381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552E3-3CA1-4B79-8872-7B3F41A6EB1F}"/>
              </a:ext>
            </a:extLst>
          </p:cNvPr>
          <p:cNvSpPr>
            <a:spLocks noGrp="1"/>
          </p:cNvSpPr>
          <p:nvPr>
            <p:ph type="title"/>
          </p:nvPr>
        </p:nvSpPr>
        <p:spPr/>
        <p:txBody>
          <a:bodyPr/>
          <a:lstStyle/>
          <a:p>
            <a:r>
              <a:rPr lang="en-US" dirty="0"/>
              <a:t>2. Project scheduling</a:t>
            </a:r>
          </a:p>
        </p:txBody>
      </p:sp>
      <p:sp>
        <p:nvSpPr>
          <p:cNvPr id="3" name="Content Placeholder 2">
            <a:extLst>
              <a:ext uri="{FF2B5EF4-FFF2-40B4-BE49-F238E27FC236}">
                <a16:creationId xmlns:a16="http://schemas.microsoft.com/office/drawing/2014/main" id="{5AE3C4DD-32FC-466D-BB01-BE63D8DBC141}"/>
              </a:ext>
            </a:extLst>
          </p:cNvPr>
          <p:cNvSpPr>
            <a:spLocks noGrp="1"/>
          </p:cNvSpPr>
          <p:nvPr>
            <p:ph idx="1"/>
          </p:nvPr>
        </p:nvSpPr>
        <p:spPr/>
        <p:txBody>
          <a:bodyPr/>
          <a:lstStyle/>
          <a:p>
            <a:r>
              <a:rPr lang="en-US" dirty="0"/>
              <a:t>The time and resources required to complete activities and organize them into a coherent sequence. </a:t>
            </a:r>
          </a:p>
          <a:p>
            <a:r>
              <a:rPr lang="en-US" dirty="0"/>
              <a:t>Project scheduling means separating the total work involved in a project into separate activities and organize the work so that the work force is optimal following are the principle for scheduling. </a:t>
            </a:r>
          </a:p>
          <a:p>
            <a:pPr lvl="1"/>
            <a:r>
              <a:rPr lang="en-US" dirty="0"/>
              <a:t>Compartmentalization: Define district task </a:t>
            </a:r>
          </a:p>
          <a:p>
            <a:pPr lvl="1"/>
            <a:r>
              <a:rPr lang="en-US" dirty="0"/>
              <a:t>Interdependency: Parallel and sequential task </a:t>
            </a:r>
          </a:p>
          <a:p>
            <a:pPr lvl="1"/>
            <a:r>
              <a:rPr lang="en-US" dirty="0"/>
              <a:t>Time allocation: Assigned, personals, resources, days, start time and end time </a:t>
            </a:r>
          </a:p>
          <a:p>
            <a:pPr lvl="1"/>
            <a:r>
              <a:rPr lang="en-US" dirty="0"/>
              <a:t>Effort validation : Be sure Resources are available </a:t>
            </a:r>
          </a:p>
          <a:p>
            <a:pPr lvl="1"/>
            <a:r>
              <a:rPr lang="en-US" dirty="0"/>
              <a:t>Defined responsibilities </a:t>
            </a:r>
          </a:p>
          <a:p>
            <a:pPr lvl="1"/>
            <a:r>
              <a:rPr lang="en-US" dirty="0"/>
              <a:t>Defined outcome : Each task must have an outcome</a:t>
            </a:r>
          </a:p>
        </p:txBody>
      </p:sp>
      <p:sp>
        <p:nvSpPr>
          <p:cNvPr id="4" name="Slide Number Placeholder 3">
            <a:extLst>
              <a:ext uri="{FF2B5EF4-FFF2-40B4-BE49-F238E27FC236}">
                <a16:creationId xmlns:a16="http://schemas.microsoft.com/office/drawing/2014/main" id="{9658FC33-2FC0-499D-AE54-E25282C4B35F}"/>
              </a:ext>
            </a:extLst>
          </p:cNvPr>
          <p:cNvSpPr>
            <a:spLocks noGrp="1"/>
          </p:cNvSpPr>
          <p:nvPr>
            <p:ph type="sldNum" sz="quarter" idx="12"/>
          </p:nvPr>
        </p:nvSpPr>
        <p:spPr/>
        <p:txBody>
          <a:bodyPr/>
          <a:lstStyle/>
          <a:p>
            <a:fld id="{255C45AA-988C-4610-8E25-9C545FF2A435}" type="slidenum">
              <a:rPr lang="en-US" smtClean="0"/>
              <a:t>11</a:t>
            </a:fld>
            <a:endParaRPr lang="en-US"/>
          </a:p>
        </p:txBody>
      </p:sp>
    </p:spTree>
    <p:extLst>
      <p:ext uri="{BB962C8B-B14F-4D97-AF65-F5344CB8AC3E}">
        <p14:creationId xmlns:p14="http://schemas.microsoft.com/office/powerpoint/2010/main" val="3310625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552E3-3CA1-4B79-8872-7B3F41A6EB1F}"/>
              </a:ext>
            </a:extLst>
          </p:cNvPr>
          <p:cNvSpPr>
            <a:spLocks noGrp="1"/>
          </p:cNvSpPr>
          <p:nvPr>
            <p:ph type="title"/>
          </p:nvPr>
        </p:nvSpPr>
        <p:spPr/>
        <p:txBody>
          <a:bodyPr/>
          <a:lstStyle/>
          <a:p>
            <a:r>
              <a:rPr lang="en-US" dirty="0"/>
              <a:t>2. Project scheduling</a:t>
            </a:r>
          </a:p>
        </p:txBody>
      </p:sp>
      <p:sp>
        <p:nvSpPr>
          <p:cNvPr id="3" name="Content Placeholder 2">
            <a:extLst>
              <a:ext uri="{FF2B5EF4-FFF2-40B4-BE49-F238E27FC236}">
                <a16:creationId xmlns:a16="http://schemas.microsoft.com/office/drawing/2014/main" id="{5AE3C4DD-32FC-466D-BB01-BE63D8DBC141}"/>
              </a:ext>
            </a:extLst>
          </p:cNvPr>
          <p:cNvSpPr>
            <a:spLocks noGrp="1"/>
          </p:cNvSpPr>
          <p:nvPr>
            <p:ph idx="1"/>
          </p:nvPr>
        </p:nvSpPr>
        <p:spPr/>
        <p:txBody>
          <a:bodyPr/>
          <a:lstStyle/>
          <a:p>
            <a:r>
              <a:rPr lang="en-US" dirty="0"/>
              <a:t>Project scheduling is done using graphical representations(bar chart, </a:t>
            </a:r>
            <a:r>
              <a:rPr lang="en-US" dirty="0" err="1"/>
              <a:t>gantt</a:t>
            </a:r>
            <a:r>
              <a:rPr lang="en-US" dirty="0"/>
              <a:t> chart, activity network diagram </a:t>
            </a:r>
            <a:r>
              <a:rPr lang="en-US" dirty="0" err="1"/>
              <a:t>etc</a:t>
            </a:r>
            <a:r>
              <a:rPr lang="en-US" dirty="0"/>
              <a:t>) showing project activities, their duration and staffing. </a:t>
            </a:r>
          </a:p>
          <a:p>
            <a:endParaRPr lang="en-US" dirty="0"/>
          </a:p>
        </p:txBody>
      </p:sp>
      <p:sp>
        <p:nvSpPr>
          <p:cNvPr id="4" name="Slide Number Placeholder 3">
            <a:extLst>
              <a:ext uri="{FF2B5EF4-FFF2-40B4-BE49-F238E27FC236}">
                <a16:creationId xmlns:a16="http://schemas.microsoft.com/office/drawing/2014/main" id="{9658FC33-2FC0-499D-AE54-E25282C4B35F}"/>
              </a:ext>
            </a:extLst>
          </p:cNvPr>
          <p:cNvSpPr>
            <a:spLocks noGrp="1"/>
          </p:cNvSpPr>
          <p:nvPr>
            <p:ph type="sldNum" sz="quarter" idx="12"/>
          </p:nvPr>
        </p:nvSpPr>
        <p:spPr/>
        <p:txBody>
          <a:bodyPr/>
          <a:lstStyle/>
          <a:p>
            <a:fld id="{255C45AA-988C-4610-8E25-9C545FF2A435}" type="slidenum">
              <a:rPr lang="en-US" smtClean="0"/>
              <a:t>12</a:t>
            </a:fld>
            <a:endParaRPr lang="en-US"/>
          </a:p>
        </p:txBody>
      </p:sp>
      <p:pic>
        <p:nvPicPr>
          <p:cNvPr id="6" name="Picture 5">
            <a:extLst>
              <a:ext uri="{FF2B5EF4-FFF2-40B4-BE49-F238E27FC236}">
                <a16:creationId xmlns:a16="http://schemas.microsoft.com/office/drawing/2014/main" id="{1F3B6F46-F453-4B1A-9F62-B8703F514FD2}"/>
              </a:ext>
            </a:extLst>
          </p:cNvPr>
          <p:cNvPicPr>
            <a:picLocks noChangeAspect="1"/>
          </p:cNvPicPr>
          <p:nvPr/>
        </p:nvPicPr>
        <p:blipFill>
          <a:blip r:embed="rId2"/>
          <a:stretch>
            <a:fillRect/>
          </a:stretch>
        </p:blipFill>
        <p:spPr>
          <a:xfrm>
            <a:off x="125649" y="2818614"/>
            <a:ext cx="5642698" cy="3900297"/>
          </a:xfrm>
          <a:prstGeom prst="rect">
            <a:avLst/>
          </a:prstGeom>
        </p:spPr>
      </p:pic>
      <p:pic>
        <p:nvPicPr>
          <p:cNvPr id="8" name="Picture 7">
            <a:extLst>
              <a:ext uri="{FF2B5EF4-FFF2-40B4-BE49-F238E27FC236}">
                <a16:creationId xmlns:a16="http://schemas.microsoft.com/office/drawing/2014/main" id="{4464AF6F-5B0C-4206-91D5-CA9852D2C4EB}"/>
              </a:ext>
            </a:extLst>
          </p:cNvPr>
          <p:cNvPicPr>
            <a:picLocks noChangeAspect="1"/>
          </p:cNvPicPr>
          <p:nvPr/>
        </p:nvPicPr>
        <p:blipFill>
          <a:blip r:embed="rId3"/>
          <a:stretch>
            <a:fillRect/>
          </a:stretch>
        </p:blipFill>
        <p:spPr>
          <a:xfrm>
            <a:off x="6263280" y="2818614"/>
            <a:ext cx="5047848" cy="3727547"/>
          </a:xfrm>
          <a:prstGeom prst="rect">
            <a:avLst/>
          </a:prstGeom>
        </p:spPr>
      </p:pic>
    </p:spTree>
    <p:extLst>
      <p:ext uri="{BB962C8B-B14F-4D97-AF65-F5344CB8AC3E}">
        <p14:creationId xmlns:p14="http://schemas.microsoft.com/office/powerpoint/2010/main" val="3584495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EF906-BF76-45CC-9478-9B55A17A019C}"/>
              </a:ext>
            </a:extLst>
          </p:cNvPr>
          <p:cNvSpPr>
            <a:spLocks noGrp="1"/>
          </p:cNvSpPr>
          <p:nvPr>
            <p:ph type="title"/>
          </p:nvPr>
        </p:nvSpPr>
        <p:spPr/>
        <p:txBody>
          <a:bodyPr/>
          <a:lstStyle/>
          <a:p>
            <a:r>
              <a:rPr lang="en-US" dirty="0"/>
              <a:t>3.Risk management</a:t>
            </a:r>
          </a:p>
        </p:txBody>
      </p:sp>
      <p:sp>
        <p:nvSpPr>
          <p:cNvPr id="3" name="Content Placeholder 2">
            <a:extLst>
              <a:ext uri="{FF2B5EF4-FFF2-40B4-BE49-F238E27FC236}">
                <a16:creationId xmlns:a16="http://schemas.microsoft.com/office/drawing/2014/main" id="{B7A64A91-95D1-45EC-B60F-D0F5F90DE3DF}"/>
              </a:ext>
            </a:extLst>
          </p:cNvPr>
          <p:cNvSpPr>
            <a:spLocks noGrp="1"/>
          </p:cNvSpPr>
          <p:nvPr>
            <p:ph idx="1"/>
          </p:nvPr>
        </p:nvSpPr>
        <p:spPr/>
        <p:txBody>
          <a:bodyPr/>
          <a:lstStyle/>
          <a:p>
            <a:r>
              <a:rPr lang="en-US" dirty="0"/>
              <a:t>The risk management is process of identifying risks that might affect the project schedule or quality of the project/software being developed and taking action to avoid these risks. </a:t>
            </a:r>
          </a:p>
          <a:p>
            <a:r>
              <a:rPr lang="en-US" dirty="0"/>
              <a:t>Risk management involves identifying and assessing major project risks to establish the probability that they will occur and the consequences for the project if that risk does arise.</a:t>
            </a:r>
          </a:p>
        </p:txBody>
      </p:sp>
      <p:sp>
        <p:nvSpPr>
          <p:cNvPr id="4" name="Slide Number Placeholder 3">
            <a:extLst>
              <a:ext uri="{FF2B5EF4-FFF2-40B4-BE49-F238E27FC236}">
                <a16:creationId xmlns:a16="http://schemas.microsoft.com/office/drawing/2014/main" id="{EC6E6875-4FD8-4E52-BE2C-AE760079A8A6}"/>
              </a:ext>
            </a:extLst>
          </p:cNvPr>
          <p:cNvSpPr>
            <a:spLocks noGrp="1"/>
          </p:cNvSpPr>
          <p:nvPr>
            <p:ph type="sldNum" sz="quarter" idx="12"/>
          </p:nvPr>
        </p:nvSpPr>
        <p:spPr/>
        <p:txBody>
          <a:bodyPr/>
          <a:lstStyle/>
          <a:p>
            <a:fld id="{255C45AA-988C-4610-8E25-9C545FF2A435}" type="slidenum">
              <a:rPr lang="en-US" smtClean="0"/>
              <a:t>13</a:t>
            </a:fld>
            <a:endParaRPr lang="en-US"/>
          </a:p>
        </p:txBody>
      </p:sp>
    </p:spTree>
    <p:extLst>
      <p:ext uri="{BB962C8B-B14F-4D97-AF65-F5344CB8AC3E}">
        <p14:creationId xmlns:p14="http://schemas.microsoft.com/office/powerpoint/2010/main" val="1148430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ECF03-3219-487D-B094-53AC98CEA844}"/>
              </a:ext>
            </a:extLst>
          </p:cNvPr>
          <p:cNvSpPr>
            <a:spLocks noGrp="1"/>
          </p:cNvSpPr>
          <p:nvPr>
            <p:ph type="title"/>
          </p:nvPr>
        </p:nvSpPr>
        <p:spPr/>
        <p:txBody>
          <a:bodyPr/>
          <a:lstStyle/>
          <a:p>
            <a:r>
              <a:rPr lang="en-US" dirty="0"/>
              <a:t>Types of risks in SPM</a:t>
            </a:r>
          </a:p>
        </p:txBody>
      </p:sp>
      <p:sp>
        <p:nvSpPr>
          <p:cNvPr id="3" name="Content Placeholder 2">
            <a:extLst>
              <a:ext uri="{FF2B5EF4-FFF2-40B4-BE49-F238E27FC236}">
                <a16:creationId xmlns:a16="http://schemas.microsoft.com/office/drawing/2014/main" id="{04F14DA2-387D-4B02-829E-13897D9E1FEF}"/>
              </a:ext>
            </a:extLst>
          </p:cNvPr>
          <p:cNvSpPr>
            <a:spLocks noGrp="1"/>
          </p:cNvSpPr>
          <p:nvPr>
            <p:ph idx="1"/>
          </p:nvPr>
        </p:nvSpPr>
        <p:spPr/>
        <p:txBody>
          <a:bodyPr/>
          <a:lstStyle/>
          <a:p>
            <a:r>
              <a:rPr lang="en-US" b="1" dirty="0"/>
              <a:t>Product Risk:</a:t>
            </a:r>
            <a:r>
              <a:rPr lang="en-US" dirty="0"/>
              <a:t> Product risks are the risks that influence the quality attributes as well as performance of software being developed. Example: failure of purchase component to perform as expected .</a:t>
            </a:r>
          </a:p>
          <a:p>
            <a:r>
              <a:rPr lang="en-US" b="1" dirty="0"/>
              <a:t>Project Risk:</a:t>
            </a:r>
            <a:r>
              <a:rPr lang="en-US" dirty="0"/>
              <a:t> Project risks are the risks that influences the schedule of software project and that if occur delay the development process. Example: staff turnover, hardware unavailability etc. </a:t>
            </a:r>
          </a:p>
          <a:p>
            <a:r>
              <a:rPr lang="en-US" b="1" dirty="0"/>
              <a:t>Business Risk:</a:t>
            </a:r>
            <a:r>
              <a:rPr lang="en-US" dirty="0"/>
              <a:t> Business risk is a risk that affects the organization business that is developing or procuring the software. it could be anything that has the potential of threatening the generation of profits at the predetermined  </a:t>
            </a:r>
            <a:r>
              <a:rPr lang="en-US" dirty="0" err="1"/>
              <a:t>boe</a:t>
            </a:r>
            <a:r>
              <a:rPr lang="en-US" dirty="0"/>
              <a:t> quite dangerous target levels. Business risks for the long-term </a:t>
            </a:r>
          </a:p>
        </p:txBody>
      </p:sp>
      <p:sp>
        <p:nvSpPr>
          <p:cNvPr id="4" name="Slide Number Placeholder 3">
            <a:extLst>
              <a:ext uri="{FF2B5EF4-FFF2-40B4-BE49-F238E27FC236}">
                <a16:creationId xmlns:a16="http://schemas.microsoft.com/office/drawing/2014/main" id="{81EB7F5A-CCB5-4820-A2C2-C74D99B94925}"/>
              </a:ext>
            </a:extLst>
          </p:cNvPr>
          <p:cNvSpPr>
            <a:spLocks noGrp="1"/>
          </p:cNvSpPr>
          <p:nvPr>
            <p:ph type="sldNum" sz="quarter" idx="12"/>
          </p:nvPr>
        </p:nvSpPr>
        <p:spPr/>
        <p:txBody>
          <a:bodyPr/>
          <a:lstStyle/>
          <a:p>
            <a:fld id="{255C45AA-988C-4610-8E25-9C545FF2A435}" type="slidenum">
              <a:rPr lang="en-US" smtClean="0"/>
              <a:t>14</a:t>
            </a:fld>
            <a:endParaRPr lang="en-US"/>
          </a:p>
        </p:txBody>
      </p:sp>
    </p:spTree>
    <p:extLst>
      <p:ext uri="{BB962C8B-B14F-4D97-AF65-F5344CB8AC3E}">
        <p14:creationId xmlns:p14="http://schemas.microsoft.com/office/powerpoint/2010/main" val="2625443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5232E-0B02-4AC1-BE34-D9C871ABE9C7}"/>
              </a:ext>
            </a:extLst>
          </p:cNvPr>
          <p:cNvSpPr>
            <a:spLocks noGrp="1"/>
          </p:cNvSpPr>
          <p:nvPr>
            <p:ph type="title"/>
          </p:nvPr>
        </p:nvSpPr>
        <p:spPr>
          <a:xfrm>
            <a:off x="1066799" y="199708"/>
            <a:ext cx="10058400" cy="972186"/>
          </a:xfrm>
        </p:spPr>
        <p:txBody>
          <a:bodyPr>
            <a:normAutofit/>
          </a:bodyPr>
          <a:lstStyle/>
          <a:p>
            <a:r>
              <a:rPr lang="en-US" sz="4800" dirty="0"/>
              <a:t>Risk management process</a:t>
            </a:r>
          </a:p>
        </p:txBody>
      </p:sp>
      <p:sp>
        <p:nvSpPr>
          <p:cNvPr id="4" name="Slide Number Placeholder 3">
            <a:extLst>
              <a:ext uri="{FF2B5EF4-FFF2-40B4-BE49-F238E27FC236}">
                <a16:creationId xmlns:a16="http://schemas.microsoft.com/office/drawing/2014/main" id="{EF28532E-2300-46F4-9267-7D15EE968315}"/>
              </a:ext>
            </a:extLst>
          </p:cNvPr>
          <p:cNvSpPr>
            <a:spLocks noGrp="1"/>
          </p:cNvSpPr>
          <p:nvPr>
            <p:ph type="sldNum" sz="quarter" idx="12"/>
          </p:nvPr>
        </p:nvSpPr>
        <p:spPr/>
        <p:txBody>
          <a:bodyPr/>
          <a:lstStyle/>
          <a:p>
            <a:fld id="{255C45AA-988C-4610-8E25-9C545FF2A435}" type="slidenum">
              <a:rPr lang="en-US" smtClean="0"/>
              <a:t>15</a:t>
            </a:fld>
            <a:endParaRPr lang="en-US"/>
          </a:p>
        </p:txBody>
      </p:sp>
      <p:pic>
        <p:nvPicPr>
          <p:cNvPr id="6" name="Picture 5">
            <a:extLst>
              <a:ext uri="{FF2B5EF4-FFF2-40B4-BE49-F238E27FC236}">
                <a16:creationId xmlns:a16="http://schemas.microsoft.com/office/drawing/2014/main" id="{DD051417-1C54-47C3-90BC-3C5204EDDF7B}"/>
              </a:ext>
            </a:extLst>
          </p:cNvPr>
          <p:cNvPicPr>
            <a:picLocks noChangeAspect="1"/>
          </p:cNvPicPr>
          <p:nvPr/>
        </p:nvPicPr>
        <p:blipFill>
          <a:blip r:embed="rId2"/>
          <a:stretch>
            <a:fillRect/>
          </a:stretch>
        </p:blipFill>
        <p:spPr>
          <a:xfrm>
            <a:off x="2883892" y="905383"/>
            <a:ext cx="5072332" cy="2268409"/>
          </a:xfrm>
          <a:prstGeom prst="rect">
            <a:avLst/>
          </a:prstGeom>
        </p:spPr>
      </p:pic>
      <p:sp>
        <p:nvSpPr>
          <p:cNvPr id="7" name="Rectangle 1">
            <a:extLst>
              <a:ext uri="{FF2B5EF4-FFF2-40B4-BE49-F238E27FC236}">
                <a16:creationId xmlns:a16="http://schemas.microsoft.com/office/drawing/2014/main" id="{1BDF1FAE-9AAA-44B6-9908-CC9DDC911691}"/>
              </a:ext>
            </a:extLst>
          </p:cNvPr>
          <p:cNvSpPr>
            <a:spLocks noGrp="1" noChangeArrowheads="1"/>
          </p:cNvSpPr>
          <p:nvPr>
            <p:ph idx="1"/>
          </p:nvPr>
        </p:nvSpPr>
        <p:spPr bwMode="auto">
          <a:xfrm>
            <a:off x="1069975" y="3378264"/>
            <a:ext cx="9808557" cy="4124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Google Sans"/>
              </a:rPr>
              <a:t>Risk identification</a:t>
            </a:r>
            <a:r>
              <a:rPr kumimoji="0" lang="en-US" altLang="en-US" sz="1800" b="0" i="0" u="none" strike="noStrike" cap="none" normalizeH="0" baseline="0" dirty="0">
                <a:ln>
                  <a:noFill/>
                </a:ln>
                <a:solidFill>
                  <a:schemeClr val="tx1"/>
                </a:solidFill>
                <a:effectLst/>
                <a:latin typeface="Google Sans"/>
              </a:rPr>
              <a:t> is the first stage of project risk management that focuses on discovering potential project risks through brainstorming and past experience.</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Google Sans"/>
              </a:rPr>
              <a:t>Types of risk that may arise:</a:t>
            </a:r>
          </a:p>
          <a:p>
            <a:pPr marL="400050" marR="0" lvl="0" indent="-400050" algn="l" defTabSz="914400" rtl="0" eaLnBrk="0" fontAlgn="base" latinLnBrk="0" hangingPunct="0">
              <a:lnSpc>
                <a:spcPct val="100000"/>
              </a:lnSpc>
              <a:spcBef>
                <a:spcPct val="0"/>
              </a:spcBef>
              <a:spcAft>
                <a:spcPct val="0"/>
              </a:spcAft>
              <a:buClrTx/>
              <a:buSzTx/>
              <a:buFont typeface="+mj-lt"/>
              <a:buAutoNum type="romanLcPeriod"/>
              <a:tabLst/>
            </a:pPr>
            <a:r>
              <a:rPr lang="en-US" altLang="en-US" sz="1800" b="1" dirty="0">
                <a:latin typeface="Google Sans"/>
              </a:rPr>
              <a:t>Technology Risk:</a:t>
            </a:r>
            <a:r>
              <a:rPr lang="en-US" altLang="en-US" sz="1800" dirty="0">
                <a:latin typeface="Google Sans"/>
              </a:rPr>
              <a:t> The risk that derive from the software or hardware technology that are used to develop a system.</a:t>
            </a:r>
          </a:p>
          <a:p>
            <a:pPr marL="400050" marR="0" lvl="0" indent="-400050" algn="l" defTabSz="914400" rtl="0" eaLnBrk="0" fontAlgn="base" latinLnBrk="0" hangingPunct="0">
              <a:lnSpc>
                <a:spcPct val="100000"/>
              </a:lnSpc>
              <a:spcBef>
                <a:spcPct val="0"/>
              </a:spcBef>
              <a:spcAft>
                <a:spcPct val="0"/>
              </a:spcAft>
              <a:buClrTx/>
              <a:buSzTx/>
              <a:buFont typeface="+mj-lt"/>
              <a:buAutoNum type="romanLcPeriod"/>
              <a:tabLst/>
            </a:pPr>
            <a:r>
              <a:rPr lang="en-US" altLang="en-US" sz="1800" b="1" dirty="0">
                <a:latin typeface="Google Sans"/>
              </a:rPr>
              <a:t>People Risks:</a:t>
            </a:r>
            <a:r>
              <a:rPr lang="en-US" altLang="en-US" sz="1800" dirty="0">
                <a:latin typeface="Google Sans"/>
              </a:rPr>
              <a:t> The risk that are associated with the people in the development term are people risks.</a:t>
            </a:r>
          </a:p>
          <a:p>
            <a:pPr marL="400050" marR="0" lvl="0" indent="-400050" algn="l" defTabSz="914400" rtl="0" eaLnBrk="0" fontAlgn="base" latinLnBrk="0" hangingPunct="0">
              <a:lnSpc>
                <a:spcPct val="100000"/>
              </a:lnSpc>
              <a:spcBef>
                <a:spcPct val="0"/>
              </a:spcBef>
              <a:spcAft>
                <a:spcPct val="0"/>
              </a:spcAft>
              <a:buClrTx/>
              <a:buSzTx/>
              <a:buFont typeface="+mj-lt"/>
              <a:buAutoNum type="romanLcPeriod"/>
              <a:tabLst/>
            </a:pPr>
            <a:r>
              <a:rPr lang="en-US" altLang="en-US" sz="1800" b="1" dirty="0">
                <a:latin typeface="Google Sans"/>
              </a:rPr>
              <a:t>Organizational risks:</a:t>
            </a:r>
            <a:r>
              <a:rPr lang="en-US" altLang="en-US" sz="1800" dirty="0">
                <a:latin typeface="Google Sans"/>
              </a:rPr>
              <a:t> Risks that derive from the organizational environment where the software being development.</a:t>
            </a:r>
          </a:p>
          <a:p>
            <a:pPr marL="400050" marR="0" lvl="0" indent="-400050" algn="l" defTabSz="914400" rtl="0" eaLnBrk="0" fontAlgn="base" latinLnBrk="0" hangingPunct="0">
              <a:lnSpc>
                <a:spcPct val="100000"/>
              </a:lnSpc>
              <a:spcBef>
                <a:spcPct val="0"/>
              </a:spcBef>
              <a:spcAft>
                <a:spcPct val="0"/>
              </a:spcAft>
              <a:buClrTx/>
              <a:buSzTx/>
              <a:buFont typeface="+mj-lt"/>
              <a:buAutoNum type="romanLcPeriod"/>
              <a:tabLst/>
            </a:pPr>
            <a:r>
              <a:rPr lang="en-US" altLang="en-US" sz="1800" b="1" dirty="0">
                <a:latin typeface="Google Sans"/>
              </a:rPr>
              <a:t>Tool Risks:</a:t>
            </a:r>
            <a:r>
              <a:rPr lang="en-US" altLang="en-US" sz="1800" dirty="0">
                <a:latin typeface="Google Sans"/>
              </a:rPr>
              <a:t> Risks that derive from the CASE tools and other support software used to develop the system.</a:t>
            </a:r>
          </a:p>
          <a:p>
            <a:pPr marL="400050" marR="0" lvl="0" indent="-400050" algn="l" defTabSz="914400" rtl="0" eaLnBrk="0" fontAlgn="base" latinLnBrk="0" hangingPunct="0">
              <a:lnSpc>
                <a:spcPct val="100000"/>
              </a:lnSpc>
              <a:spcBef>
                <a:spcPct val="0"/>
              </a:spcBef>
              <a:spcAft>
                <a:spcPct val="0"/>
              </a:spcAft>
              <a:buClrTx/>
              <a:buSzTx/>
              <a:buFont typeface="+mj-lt"/>
              <a:buAutoNum type="romanLcPeriod"/>
              <a:tabLst/>
            </a:pPr>
            <a:r>
              <a:rPr lang="en-US" altLang="en-US" sz="1800" b="1" dirty="0">
                <a:latin typeface="Google Sans"/>
              </a:rPr>
              <a:t>Requirement Risks:</a:t>
            </a:r>
            <a:r>
              <a:rPr lang="en-US" altLang="en-US" sz="1800" dirty="0">
                <a:latin typeface="Google Sans"/>
              </a:rPr>
              <a:t> Risks that derive from the change to the customer requirement and the process of managing the requirement change.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04284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5232E-0B02-4AC1-BE34-D9C871ABE9C7}"/>
              </a:ext>
            </a:extLst>
          </p:cNvPr>
          <p:cNvSpPr>
            <a:spLocks noGrp="1"/>
          </p:cNvSpPr>
          <p:nvPr>
            <p:ph type="title"/>
          </p:nvPr>
        </p:nvSpPr>
        <p:spPr>
          <a:xfrm>
            <a:off x="1066799" y="199708"/>
            <a:ext cx="10058400" cy="972186"/>
          </a:xfrm>
        </p:spPr>
        <p:txBody>
          <a:bodyPr>
            <a:normAutofit/>
          </a:bodyPr>
          <a:lstStyle/>
          <a:p>
            <a:r>
              <a:rPr lang="en-US" sz="4800" dirty="0"/>
              <a:t>Risk management process</a:t>
            </a:r>
          </a:p>
        </p:txBody>
      </p:sp>
      <p:sp>
        <p:nvSpPr>
          <p:cNvPr id="4" name="Slide Number Placeholder 3">
            <a:extLst>
              <a:ext uri="{FF2B5EF4-FFF2-40B4-BE49-F238E27FC236}">
                <a16:creationId xmlns:a16="http://schemas.microsoft.com/office/drawing/2014/main" id="{EF28532E-2300-46F4-9267-7D15EE968315}"/>
              </a:ext>
            </a:extLst>
          </p:cNvPr>
          <p:cNvSpPr>
            <a:spLocks noGrp="1"/>
          </p:cNvSpPr>
          <p:nvPr>
            <p:ph type="sldNum" sz="quarter" idx="12"/>
          </p:nvPr>
        </p:nvSpPr>
        <p:spPr/>
        <p:txBody>
          <a:bodyPr/>
          <a:lstStyle/>
          <a:p>
            <a:fld id="{255C45AA-988C-4610-8E25-9C545FF2A435}" type="slidenum">
              <a:rPr lang="en-US" smtClean="0"/>
              <a:t>16</a:t>
            </a:fld>
            <a:endParaRPr lang="en-US"/>
          </a:p>
        </p:txBody>
      </p:sp>
      <p:pic>
        <p:nvPicPr>
          <p:cNvPr id="6" name="Picture 5">
            <a:extLst>
              <a:ext uri="{FF2B5EF4-FFF2-40B4-BE49-F238E27FC236}">
                <a16:creationId xmlns:a16="http://schemas.microsoft.com/office/drawing/2014/main" id="{DD051417-1C54-47C3-90BC-3C5204EDDF7B}"/>
              </a:ext>
            </a:extLst>
          </p:cNvPr>
          <p:cNvPicPr>
            <a:picLocks noChangeAspect="1"/>
          </p:cNvPicPr>
          <p:nvPr/>
        </p:nvPicPr>
        <p:blipFill>
          <a:blip r:embed="rId2"/>
          <a:stretch>
            <a:fillRect/>
          </a:stretch>
        </p:blipFill>
        <p:spPr>
          <a:xfrm>
            <a:off x="2855610" y="883945"/>
            <a:ext cx="6424217" cy="2872989"/>
          </a:xfrm>
          <a:prstGeom prst="rect">
            <a:avLst/>
          </a:prstGeom>
        </p:spPr>
      </p:pic>
      <p:sp>
        <p:nvSpPr>
          <p:cNvPr id="7" name="Rectangle 1">
            <a:extLst>
              <a:ext uri="{FF2B5EF4-FFF2-40B4-BE49-F238E27FC236}">
                <a16:creationId xmlns:a16="http://schemas.microsoft.com/office/drawing/2014/main" id="{1BDF1FAE-9AAA-44B6-9908-CC9DDC911691}"/>
              </a:ext>
            </a:extLst>
          </p:cNvPr>
          <p:cNvSpPr>
            <a:spLocks noGrp="1" noChangeArrowheads="1"/>
          </p:cNvSpPr>
          <p:nvPr>
            <p:ph idx="1"/>
          </p:nvPr>
        </p:nvSpPr>
        <p:spPr bwMode="auto">
          <a:xfrm>
            <a:off x="1066799" y="4670926"/>
            <a:ext cx="9808557"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Google Sans"/>
              </a:rPr>
              <a:t>2. Risk Analysis:</a:t>
            </a:r>
            <a:r>
              <a:rPr kumimoji="0" lang="en-US" altLang="en-US" b="0" i="0" u="none" strike="noStrike" cap="none" normalizeH="0" baseline="0" dirty="0">
                <a:ln>
                  <a:noFill/>
                </a:ln>
                <a:solidFill>
                  <a:schemeClr val="tx1"/>
                </a:solidFill>
                <a:effectLst/>
                <a:latin typeface="Google Sans"/>
              </a:rPr>
              <a:t> In this phase all identified risks are considered and make a judgment about problems causing risk in the project, identify probability of occurrence of risk and the impact of the risk. The probability of risks may be accessed as very low (&lt;10%), low(10-25%), moderate (26-50%), high(51-75%) and very high(&gt;75%). Risks are tabulated in order according to the seriousness of the risk.</a:t>
            </a:r>
          </a:p>
        </p:txBody>
      </p:sp>
    </p:spTree>
    <p:extLst>
      <p:ext uri="{BB962C8B-B14F-4D97-AF65-F5344CB8AC3E}">
        <p14:creationId xmlns:p14="http://schemas.microsoft.com/office/powerpoint/2010/main" val="275425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5232E-0B02-4AC1-BE34-D9C871ABE9C7}"/>
              </a:ext>
            </a:extLst>
          </p:cNvPr>
          <p:cNvSpPr>
            <a:spLocks noGrp="1"/>
          </p:cNvSpPr>
          <p:nvPr>
            <p:ph type="title"/>
          </p:nvPr>
        </p:nvSpPr>
        <p:spPr>
          <a:xfrm>
            <a:off x="1066799" y="199708"/>
            <a:ext cx="10058400" cy="972186"/>
          </a:xfrm>
        </p:spPr>
        <p:txBody>
          <a:bodyPr>
            <a:normAutofit/>
          </a:bodyPr>
          <a:lstStyle/>
          <a:p>
            <a:r>
              <a:rPr lang="en-US" sz="4800" dirty="0"/>
              <a:t>Risk management process</a:t>
            </a:r>
          </a:p>
        </p:txBody>
      </p:sp>
      <p:sp>
        <p:nvSpPr>
          <p:cNvPr id="4" name="Slide Number Placeholder 3">
            <a:extLst>
              <a:ext uri="{FF2B5EF4-FFF2-40B4-BE49-F238E27FC236}">
                <a16:creationId xmlns:a16="http://schemas.microsoft.com/office/drawing/2014/main" id="{EF28532E-2300-46F4-9267-7D15EE968315}"/>
              </a:ext>
            </a:extLst>
          </p:cNvPr>
          <p:cNvSpPr>
            <a:spLocks noGrp="1"/>
          </p:cNvSpPr>
          <p:nvPr>
            <p:ph type="sldNum" sz="quarter" idx="12"/>
          </p:nvPr>
        </p:nvSpPr>
        <p:spPr/>
        <p:txBody>
          <a:bodyPr/>
          <a:lstStyle/>
          <a:p>
            <a:fld id="{255C45AA-988C-4610-8E25-9C545FF2A435}" type="slidenum">
              <a:rPr lang="en-US" smtClean="0"/>
              <a:t>17</a:t>
            </a:fld>
            <a:endParaRPr lang="en-US"/>
          </a:p>
        </p:txBody>
      </p:sp>
      <p:pic>
        <p:nvPicPr>
          <p:cNvPr id="6" name="Picture 5">
            <a:extLst>
              <a:ext uri="{FF2B5EF4-FFF2-40B4-BE49-F238E27FC236}">
                <a16:creationId xmlns:a16="http://schemas.microsoft.com/office/drawing/2014/main" id="{DD051417-1C54-47C3-90BC-3C5204EDDF7B}"/>
              </a:ext>
            </a:extLst>
          </p:cNvPr>
          <p:cNvPicPr>
            <a:picLocks noChangeAspect="1"/>
          </p:cNvPicPr>
          <p:nvPr/>
        </p:nvPicPr>
        <p:blipFill>
          <a:blip r:embed="rId2"/>
          <a:stretch>
            <a:fillRect/>
          </a:stretch>
        </p:blipFill>
        <p:spPr>
          <a:xfrm>
            <a:off x="3754670" y="1163464"/>
            <a:ext cx="4626097" cy="2068849"/>
          </a:xfrm>
          <a:prstGeom prst="rect">
            <a:avLst/>
          </a:prstGeom>
        </p:spPr>
      </p:pic>
      <p:sp>
        <p:nvSpPr>
          <p:cNvPr id="7" name="Rectangle 1">
            <a:extLst>
              <a:ext uri="{FF2B5EF4-FFF2-40B4-BE49-F238E27FC236}">
                <a16:creationId xmlns:a16="http://schemas.microsoft.com/office/drawing/2014/main" id="{1BDF1FAE-9AAA-44B6-9908-CC9DDC911691}"/>
              </a:ext>
            </a:extLst>
          </p:cNvPr>
          <p:cNvSpPr>
            <a:spLocks noGrp="1" noChangeArrowheads="1"/>
          </p:cNvSpPr>
          <p:nvPr>
            <p:ph idx="1"/>
          </p:nvPr>
        </p:nvSpPr>
        <p:spPr bwMode="auto">
          <a:xfrm>
            <a:off x="1069975" y="3437883"/>
            <a:ext cx="9808557"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b="1" dirty="0">
                <a:latin typeface="Google Sans"/>
              </a:rPr>
              <a:t>3. Risk planning:</a:t>
            </a:r>
            <a:r>
              <a:rPr lang="en-US" altLang="en-US" dirty="0">
                <a:latin typeface="Google Sans"/>
              </a:rPr>
              <a:t> Risk planning is the process of consideration of the key risks that have been identified and formulation of strategies to manage the risk. It is not a simple process; it depends on the judgment and experience of the project manager. the strategies to manage the risk are as follows:</a:t>
            </a:r>
          </a:p>
          <a:p>
            <a:pPr marL="0" marR="0" lvl="0" indent="0" algn="l" defTabSz="914400" rtl="0" eaLnBrk="0" fontAlgn="base" latinLnBrk="0" hangingPunct="0">
              <a:lnSpc>
                <a:spcPct val="100000"/>
              </a:lnSpc>
              <a:spcBef>
                <a:spcPct val="0"/>
              </a:spcBef>
              <a:spcAft>
                <a:spcPct val="0"/>
              </a:spcAft>
              <a:buClrTx/>
              <a:buSzTx/>
              <a:buNone/>
              <a:tabLst/>
            </a:pPr>
            <a:r>
              <a:rPr lang="en-US" altLang="en-US" b="1" dirty="0" err="1">
                <a:latin typeface="Google Sans"/>
              </a:rPr>
              <a:t>i</a:t>
            </a:r>
            <a:r>
              <a:rPr lang="en-US" altLang="en-US" b="1" dirty="0">
                <a:latin typeface="Google Sans"/>
              </a:rPr>
              <a:t>. Avoidance Strategies:</a:t>
            </a:r>
            <a:r>
              <a:rPr lang="en-US" altLang="en-US" dirty="0">
                <a:latin typeface="Google Sans"/>
              </a:rPr>
              <a:t> This strategy tells that the probability that the risk will arise will be reduced. Example: The strategy for dealing with defective components.</a:t>
            </a:r>
          </a:p>
          <a:p>
            <a:pPr marL="0" marR="0" lvl="0" indent="0" algn="l" defTabSz="914400" rtl="0" eaLnBrk="0" fontAlgn="base" latinLnBrk="0" hangingPunct="0">
              <a:lnSpc>
                <a:spcPct val="100000"/>
              </a:lnSpc>
              <a:spcBef>
                <a:spcPct val="0"/>
              </a:spcBef>
              <a:spcAft>
                <a:spcPct val="0"/>
              </a:spcAft>
              <a:buClrTx/>
              <a:buSzTx/>
              <a:buNone/>
              <a:tabLst/>
            </a:pPr>
            <a:r>
              <a:rPr lang="en-US" altLang="en-US" b="1" dirty="0">
                <a:latin typeface="Google Sans"/>
              </a:rPr>
              <a:t>ii. Minimization Strategies:</a:t>
            </a:r>
            <a:r>
              <a:rPr lang="en-US" altLang="en-US" dirty="0">
                <a:latin typeface="Google Sans"/>
              </a:rPr>
              <a:t> These strategies mean that the impact of the risk will be reduced.</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Google Sans"/>
              </a:rPr>
              <a:t>Example: Staff illness, Reorganize team so that there is more overlap of work and people therefore understand each other's job.</a:t>
            </a:r>
          </a:p>
          <a:p>
            <a:pPr marL="0" marR="0" lvl="0" indent="0" algn="l" defTabSz="914400" rtl="0" eaLnBrk="0" fontAlgn="base" latinLnBrk="0" hangingPunct="0">
              <a:lnSpc>
                <a:spcPct val="100000"/>
              </a:lnSpc>
              <a:spcBef>
                <a:spcPct val="0"/>
              </a:spcBef>
              <a:spcAft>
                <a:spcPct val="0"/>
              </a:spcAft>
              <a:buClrTx/>
              <a:buSzTx/>
              <a:buNone/>
              <a:tabLst/>
            </a:pPr>
            <a:r>
              <a:rPr lang="en-US" altLang="en-US" b="1" dirty="0">
                <a:latin typeface="Google Sans"/>
              </a:rPr>
              <a:t>iii. Contingency Plans:</a:t>
            </a:r>
            <a:r>
              <a:rPr lang="en-US" altLang="en-US" dirty="0">
                <a:latin typeface="Google Sans"/>
              </a:rPr>
              <a:t> These strategies means that you are prepared for the worst and have a strategy in place to deal with it.</a:t>
            </a:r>
            <a:endParaRPr kumimoji="0" lang="en-US" altLang="en-US"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02528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5232E-0B02-4AC1-BE34-D9C871ABE9C7}"/>
              </a:ext>
            </a:extLst>
          </p:cNvPr>
          <p:cNvSpPr>
            <a:spLocks noGrp="1"/>
          </p:cNvSpPr>
          <p:nvPr>
            <p:ph type="title"/>
          </p:nvPr>
        </p:nvSpPr>
        <p:spPr>
          <a:xfrm>
            <a:off x="1066799" y="199708"/>
            <a:ext cx="10058400" cy="972186"/>
          </a:xfrm>
        </p:spPr>
        <p:txBody>
          <a:bodyPr>
            <a:normAutofit/>
          </a:bodyPr>
          <a:lstStyle/>
          <a:p>
            <a:r>
              <a:rPr lang="en-US" sz="4800" dirty="0"/>
              <a:t>Risk management process</a:t>
            </a:r>
          </a:p>
        </p:txBody>
      </p:sp>
      <p:sp>
        <p:nvSpPr>
          <p:cNvPr id="4" name="Slide Number Placeholder 3">
            <a:extLst>
              <a:ext uri="{FF2B5EF4-FFF2-40B4-BE49-F238E27FC236}">
                <a16:creationId xmlns:a16="http://schemas.microsoft.com/office/drawing/2014/main" id="{EF28532E-2300-46F4-9267-7D15EE968315}"/>
              </a:ext>
            </a:extLst>
          </p:cNvPr>
          <p:cNvSpPr>
            <a:spLocks noGrp="1"/>
          </p:cNvSpPr>
          <p:nvPr>
            <p:ph type="sldNum" sz="quarter" idx="12"/>
          </p:nvPr>
        </p:nvSpPr>
        <p:spPr/>
        <p:txBody>
          <a:bodyPr/>
          <a:lstStyle/>
          <a:p>
            <a:fld id="{255C45AA-988C-4610-8E25-9C545FF2A435}" type="slidenum">
              <a:rPr lang="en-US" smtClean="0"/>
              <a:t>18</a:t>
            </a:fld>
            <a:endParaRPr lang="en-US"/>
          </a:p>
        </p:txBody>
      </p:sp>
      <p:pic>
        <p:nvPicPr>
          <p:cNvPr id="6" name="Picture 5">
            <a:extLst>
              <a:ext uri="{FF2B5EF4-FFF2-40B4-BE49-F238E27FC236}">
                <a16:creationId xmlns:a16="http://schemas.microsoft.com/office/drawing/2014/main" id="{DD051417-1C54-47C3-90BC-3C5204EDDF7B}"/>
              </a:ext>
            </a:extLst>
          </p:cNvPr>
          <p:cNvPicPr>
            <a:picLocks noChangeAspect="1"/>
          </p:cNvPicPr>
          <p:nvPr/>
        </p:nvPicPr>
        <p:blipFill>
          <a:blip r:embed="rId2"/>
          <a:stretch>
            <a:fillRect/>
          </a:stretch>
        </p:blipFill>
        <p:spPr>
          <a:xfrm>
            <a:off x="3537971" y="1066554"/>
            <a:ext cx="5059495" cy="2262669"/>
          </a:xfrm>
          <a:prstGeom prst="rect">
            <a:avLst/>
          </a:prstGeom>
        </p:spPr>
      </p:pic>
      <p:sp>
        <p:nvSpPr>
          <p:cNvPr id="7" name="Rectangle 1">
            <a:extLst>
              <a:ext uri="{FF2B5EF4-FFF2-40B4-BE49-F238E27FC236}">
                <a16:creationId xmlns:a16="http://schemas.microsoft.com/office/drawing/2014/main" id="{1BDF1FAE-9AAA-44B6-9908-CC9DDC911691}"/>
              </a:ext>
            </a:extLst>
          </p:cNvPr>
          <p:cNvSpPr>
            <a:spLocks noGrp="1" noChangeArrowheads="1"/>
          </p:cNvSpPr>
          <p:nvPr>
            <p:ph idx="1"/>
          </p:nvPr>
        </p:nvSpPr>
        <p:spPr bwMode="auto">
          <a:xfrm>
            <a:off x="1191720" y="3995254"/>
            <a:ext cx="9808557"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b="1" dirty="0"/>
              <a:t>4. Risk monitoring:</a:t>
            </a:r>
            <a:r>
              <a:rPr lang="en-US" dirty="0"/>
              <a:t> Risk monitoring means regularly assessing each of the identified risk to decide whether or not the risk is becoming more or less portable and whether the effect of the risk have changed. It should be a continuous process, and at every management progress review.</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54534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A486A-1683-4854-8C1B-E2359B635CB9}"/>
              </a:ext>
            </a:extLst>
          </p:cNvPr>
          <p:cNvSpPr>
            <a:spLocks noGrp="1"/>
          </p:cNvSpPr>
          <p:nvPr>
            <p:ph type="title"/>
          </p:nvPr>
        </p:nvSpPr>
        <p:spPr>
          <a:xfrm>
            <a:off x="1069848" y="475205"/>
            <a:ext cx="10058400" cy="1609344"/>
          </a:xfrm>
        </p:spPr>
        <p:txBody>
          <a:bodyPr>
            <a:normAutofit/>
          </a:bodyPr>
          <a:lstStyle/>
          <a:p>
            <a:r>
              <a:rPr lang="en-US" sz="4800" dirty="0"/>
              <a:t>Plan driven development</a:t>
            </a:r>
          </a:p>
        </p:txBody>
      </p:sp>
      <p:sp>
        <p:nvSpPr>
          <p:cNvPr id="3" name="Content Placeholder 2">
            <a:extLst>
              <a:ext uri="{FF2B5EF4-FFF2-40B4-BE49-F238E27FC236}">
                <a16:creationId xmlns:a16="http://schemas.microsoft.com/office/drawing/2014/main" id="{ED15F3BA-B780-4F6B-B7D7-2D0A0F5F5F37}"/>
              </a:ext>
            </a:extLst>
          </p:cNvPr>
          <p:cNvSpPr>
            <a:spLocks noGrp="1"/>
          </p:cNvSpPr>
          <p:nvPr>
            <p:ph idx="1"/>
          </p:nvPr>
        </p:nvSpPr>
        <p:spPr/>
        <p:txBody>
          <a:bodyPr/>
          <a:lstStyle/>
          <a:p>
            <a:r>
              <a:rPr lang="en-US" b="0" u="none" strike="noStrike" dirty="0">
                <a:effectLst/>
                <a:latin typeface="Google Sans"/>
              </a:rPr>
              <a:t>Plan-driven development is an approach where the development process is thoroughly planned in advance, and progress is measured against this baseline plan. It is often contrasted with Agile.</a:t>
            </a:r>
          </a:p>
          <a:p>
            <a:pPr>
              <a:buFont typeface="Arial" panose="020B0604020202020204" pitchFamily="34" charset="0"/>
              <a:buChar char="•"/>
            </a:pPr>
            <a:r>
              <a:rPr lang="en-US" b="1" u="none" strike="noStrike" dirty="0">
                <a:effectLst/>
                <a:latin typeface="Google Sans"/>
              </a:rPr>
              <a:t>Upfront Specification:</a:t>
            </a:r>
            <a:r>
              <a:rPr lang="en-US" b="0" u="none" strike="noStrike" dirty="0">
                <a:effectLst/>
                <a:latin typeface="Google Sans"/>
              </a:rPr>
              <a:t> Requirements, architecture, and design are finalized and documented before major development starts.</a:t>
            </a:r>
          </a:p>
          <a:p>
            <a:pPr>
              <a:buFont typeface="Arial" panose="020B0604020202020204" pitchFamily="34" charset="0"/>
              <a:buChar char="•"/>
            </a:pPr>
            <a:r>
              <a:rPr lang="en-US" b="1" u="none" strike="noStrike" dirty="0">
                <a:effectLst/>
                <a:latin typeface="Google Sans"/>
              </a:rPr>
              <a:t>Predictability:</a:t>
            </a:r>
            <a:r>
              <a:rPr lang="en-US" b="0" u="none" strike="noStrike" dirty="0">
                <a:effectLst/>
                <a:latin typeface="Google Sans"/>
              </a:rPr>
              <a:t> Focuses on minimizing changes, making it ideal for large, critical systems (like aerospace or medical software) where safety and compliance are paramount.</a:t>
            </a:r>
          </a:p>
          <a:p>
            <a:pPr>
              <a:buFont typeface="Arial" panose="020B0604020202020204" pitchFamily="34" charset="0"/>
              <a:buChar char="•"/>
            </a:pPr>
            <a:r>
              <a:rPr lang="en-US" b="1" u="none" strike="noStrike" dirty="0">
                <a:effectLst/>
                <a:latin typeface="Google Sans"/>
              </a:rPr>
              <a:t>Process Phases:</a:t>
            </a:r>
            <a:r>
              <a:rPr lang="en-US" b="0" u="none" strike="noStrike" dirty="0">
                <a:effectLst/>
                <a:latin typeface="Google Sans"/>
              </a:rPr>
              <a:t> Follows structured, sequential phases (e.g., Requirements → Design → Implementation → Testing → Maintenance).</a:t>
            </a:r>
          </a:p>
          <a:p>
            <a:endParaRPr lang="en-US" dirty="0"/>
          </a:p>
        </p:txBody>
      </p:sp>
      <p:sp>
        <p:nvSpPr>
          <p:cNvPr id="4" name="Slide Number Placeholder 3">
            <a:extLst>
              <a:ext uri="{FF2B5EF4-FFF2-40B4-BE49-F238E27FC236}">
                <a16:creationId xmlns:a16="http://schemas.microsoft.com/office/drawing/2014/main" id="{3B71D96F-4019-4C55-BE3C-E28236121FA6}"/>
              </a:ext>
            </a:extLst>
          </p:cNvPr>
          <p:cNvSpPr>
            <a:spLocks noGrp="1"/>
          </p:cNvSpPr>
          <p:nvPr>
            <p:ph type="sldNum" sz="quarter" idx="12"/>
          </p:nvPr>
        </p:nvSpPr>
        <p:spPr/>
        <p:txBody>
          <a:bodyPr/>
          <a:lstStyle/>
          <a:p>
            <a:fld id="{255C45AA-988C-4610-8E25-9C545FF2A435}" type="slidenum">
              <a:rPr lang="en-US" smtClean="0"/>
              <a:t>19</a:t>
            </a:fld>
            <a:endParaRPr lang="en-US"/>
          </a:p>
        </p:txBody>
      </p:sp>
    </p:spTree>
    <p:extLst>
      <p:ext uri="{BB962C8B-B14F-4D97-AF65-F5344CB8AC3E}">
        <p14:creationId xmlns:p14="http://schemas.microsoft.com/office/powerpoint/2010/main" val="244148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D9F5-D343-4FAE-B8D7-BF30D5359265}"/>
              </a:ext>
            </a:extLst>
          </p:cNvPr>
          <p:cNvSpPr>
            <a:spLocks noGrp="1"/>
          </p:cNvSpPr>
          <p:nvPr>
            <p:ph type="title"/>
          </p:nvPr>
        </p:nvSpPr>
        <p:spPr/>
        <p:txBody>
          <a:bodyPr/>
          <a:lstStyle/>
          <a:p>
            <a:r>
              <a:rPr lang="en-US" dirty="0"/>
              <a:t>Software pricing</a:t>
            </a:r>
          </a:p>
        </p:txBody>
      </p:sp>
      <p:sp>
        <p:nvSpPr>
          <p:cNvPr id="3" name="Content Placeholder 2">
            <a:extLst>
              <a:ext uri="{FF2B5EF4-FFF2-40B4-BE49-F238E27FC236}">
                <a16:creationId xmlns:a16="http://schemas.microsoft.com/office/drawing/2014/main" id="{BB812896-1B7E-4609-8E78-20CC4A4AD384}"/>
              </a:ext>
            </a:extLst>
          </p:cNvPr>
          <p:cNvSpPr>
            <a:spLocks noGrp="1"/>
          </p:cNvSpPr>
          <p:nvPr>
            <p:ph idx="1"/>
          </p:nvPr>
        </p:nvSpPr>
        <p:spPr/>
        <p:txBody>
          <a:bodyPr>
            <a:normAutofit lnSpcReduction="10000"/>
          </a:bodyPr>
          <a:lstStyle/>
          <a:p>
            <a:r>
              <a:rPr lang="en-US" dirty="0"/>
              <a:t>Software pricing must take into account broader organizational, economic, political and business consideration. The major factors that affect the software pricing are as follows: </a:t>
            </a:r>
          </a:p>
          <a:p>
            <a:pPr>
              <a:buFont typeface="Wingdings" panose="05000000000000000000" pitchFamily="2" charset="2"/>
              <a:buChar char="Ø"/>
            </a:pPr>
            <a:r>
              <a:rPr lang="en-US" dirty="0"/>
              <a:t>Development organization quotes a low price if want to move into a new segment of software market. Accepting low profit in one project may give the opportunity of more profit later. </a:t>
            </a:r>
          </a:p>
          <a:p>
            <a:pPr>
              <a:buFont typeface="Wingdings" panose="05000000000000000000" pitchFamily="2" charset="2"/>
              <a:buChar char="Ø"/>
            </a:pPr>
            <a:r>
              <a:rPr lang="en-US" dirty="0"/>
              <a:t>If an organization has no idea about cost estimation then it may increase its price by some contingency. </a:t>
            </a:r>
          </a:p>
          <a:p>
            <a:pPr>
              <a:buFont typeface="Wingdings" panose="05000000000000000000" pitchFamily="2" charset="2"/>
              <a:buChar char="Ø"/>
            </a:pPr>
            <a:r>
              <a:rPr lang="en-US" dirty="0"/>
              <a:t>It the customer is not clear about their requirement then there is chance of changing requirement at that time organization may lower its price. After contract is awarded then high prices may be charged for changes to the requirement. </a:t>
            </a:r>
          </a:p>
          <a:p>
            <a:pPr>
              <a:buFont typeface="Wingdings" panose="05000000000000000000" pitchFamily="2" charset="2"/>
              <a:buChar char="Ø"/>
            </a:pPr>
            <a:r>
              <a:rPr lang="en-US" dirty="0"/>
              <a:t>If the financial health of the organization is not good then they may lower their price to gain contract and establish themselves in business.</a:t>
            </a:r>
          </a:p>
        </p:txBody>
      </p:sp>
      <p:sp>
        <p:nvSpPr>
          <p:cNvPr id="4" name="Slide Number Placeholder 3">
            <a:extLst>
              <a:ext uri="{FF2B5EF4-FFF2-40B4-BE49-F238E27FC236}">
                <a16:creationId xmlns:a16="http://schemas.microsoft.com/office/drawing/2014/main" id="{3CA3B52B-8CFD-446F-856A-CFE4AAEE0B1A}"/>
              </a:ext>
            </a:extLst>
          </p:cNvPr>
          <p:cNvSpPr>
            <a:spLocks noGrp="1"/>
          </p:cNvSpPr>
          <p:nvPr>
            <p:ph type="sldNum" sz="quarter" idx="12"/>
          </p:nvPr>
        </p:nvSpPr>
        <p:spPr/>
        <p:txBody>
          <a:bodyPr/>
          <a:lstStyle/>
          <a:p>
            <a:fld id="{255C45AA-988C-4610-8E25-9C545FF2A435}" type="slidenum">
              <a:rPr lang="en-US" smtClean="0"/>
              <a:t>20</a:t>
            </a:fld>
            <a:endParaRPr lang="en-US"/>
          </a:p>
        </p:txBody>
      </p:sp>
    </p:spTree>
    <p:extLst>
      <p:ext uri="{BB962C8B-B14F-4D97-AF65-F5344CB8AC3E}">
        <p14:creationId xmlns:p14="http://schemas.microsoft.com/office/powerpoint/2010/main" val="1502663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665C-C236-4DA7-9252-219336DA6231}"/>
              </a:ext>
            </a:extLst>
          </p:cNvPr>
          <p:cNvSpPr>
            <a:spLocks noGrp="1"/>
          </p:cNvSpPr>
          <p:nvPr>
            <p:ph type="title"/>
          </p:nvPr>
        </p:nvSpPr>
        <p:spPr/>
        <p:txBody>
          <a:bodyPr/>
          <a:lstStyle/>
          <a:p>
            <a:r>
              <a:rPr lang="en-US" b="1" dirty="0"/>
              <a:t>Estimation techniques</a:t>
            </a:r>
          </a:p>
        </p:txBody>
      </p:sp>
      <p:sp>
        <p:nvSpPr>
          <p:cNvPr id="3" name="Content Placeholder 2">
            <a:extLst>
              <a:ext uri="{FF2B5EF4-FFF2-40B4-BE49-F238E27FC236}">
                <a16:creationId xmlns:a16="http://schemas.microsoft.com/office/drawing/2014/main" id="{0715F0E4-FC6B-481F-8D0A-57D44390E1A4}"/>
              </a:ext>
            </a:extLst>
          </p:cNvPr>
          <p:cNvSpPr>
            <a:spLocks noGrp="1"/>
          </p:cNvSpPr>
          <p:nvPr>
            <p:ph idx="1"/>
          </p:nvPr>
        </p:nvSpPr>
        <p:spPr/>
        <p:txBody>
          <a:bodyPr>
            <a:normAutofit fontScale="92500" lnSpcReduction="20000"/>
          </a:bodyPr>
          <a:lstStyle/>
          <a:p>
            <a:pPr marL="0" indent="0" rtl="0">
              <a:buNone/>
            </a:pPr>
            <a:r>
              <a:rPr lang="en-US" dirty="0">
                <a:latin typeface="Google Sans"/>
              </a:rPr>
              <a:t>T</a:t>
            </a:r>
            <a:r>
              <a:rPr lang="en-US" b="0" u="none" strike="noStrike" dirty="0">
                <a:effectLst/>
                <a:latin typeface="Google Sans"/>
              </a:rPr>
              <a:t>he software estimation process includes estimating the size of software product, effort required, and overall cost of the project. The approaches to cost estimation can be tackled using either top-down or a bottom up approach.</a:t>
            </a:r>
          </a:p>
          <a:p>
            <a:pPr marL="0" indent="0" rtl="0">
              <a:buNone/>
            </a:pPr>
            <a:r>
              <a:rPr lang="en-US" b="1" u="none" strike="noStrike" dirty="0">
                <a:effectLst/>
                <a:latin typeface="Google Sans"/>
              </a:rPr>
              <a:t>1) Top-down Approach:</a:t>
            </a:r>
            <a:r>
              <a:rPr lang="en-US" b="0" u="none" strike="noStrike" dirty="0">
                <a:effectLst/>
                <a:latin typeface="Google Sans"/>
              </a:rPr>
              <a:t> Top-down estimating method is also called Macro Model. Using this method, an overall cost estimation for the project is derived from the global properties of the software project, and then the project </a:t>
            </a:r>
            <a:r>
              <a:rPr lang="en-US" dirty="0">
                <a:latin typeface="Google Sans"/>
              </a:rPr>
              <a:t>is</a:t>
            </a:r>
            <a:r>
              <a:rPr lang="en-US" b="0" u="none" strike="noStrike" dirty="0">
                <a:effectLst/>
                <a:latin typeface="Google Sans"/>
              </a:rPr>
              <a:t> partitioned into various low-level components, This method is more applicable to early cast estimation when only global properties are known. This approach starts at system level.</a:t>
            </a:r>
          </a:p>
          <a:p>
            <a:pPr rtl="0"/>
            <a:r>
              <a:rPr lang="en-US" b="1" u="none" strike="noStrike" dirty="0">
                <a:effectLst/>
                <a:latin typeface="Google Sans"/>
              </a:rPr>
              <a:t>Advantages:</a:t>
            </a:r>
          </a:p>
          <a:p>
            <a:pPr rtl="0"/>
            <a:r>
              <a:rPr lang="en-US" b="0" u="none" strike="noStrike" dirty="0">
                <a:effectLst/>
                <a:latin typeface="Google Sans"/>
              </a:rPr>
              <a:t> It will not miss the cast of system-level functions.</a:t>
            </a:r>
          </a:p>
          <a:p>
            <a:pPr rtl="0"/>
            <a:r>
              <a:rPr lang="en-US" b="0" u="none" strike="noStrike" dirty="0">
                <a:effectLst/>
                <a:latin typeface="Google Sans"/>
              </a:rPr>
              <a:t>It requires minimal project detail, and at is usually faster, </a:t>
            </a:r>
            <a:r>
              <a:rPr lang="en-US" dirty="0">
                <a:latin typeface="Google Sans"/>
              </a:rPr>
              <a:t>e</a:t>
            </a:r>
            <a:r>
              <a:rPr lang="en-US" b="0" u="none" strike="noStrike" dirty="0">
                <a:effectLst/>
                <a:latin typeface="Google Sans"/>
              </a:rPr>
              <a:t>asier to implement. </a:t>
            </a:r>
          </a:p>
          <a:p>
            <a:pPr rtl="0"/>
            <a:r>
              <a:rPr lang="en-US" b="1" u="none" strike="noStrike" dirty="0">
                <a:effectLst/>
                <a:latin typeface="Google Sans"/>
              </a:rPr>
              <a:t>Disadvantages:</a:t>
            </a:r>
          </a:p>
          <a:p>
            <a:pPr rtl="0"/>
            <a:r>
              <a:rPr lang="en-US" b="0" u="none" strike="noStrike" dirty="0">
                <a:effectLst/>
                <a:latin typeface="Google Sans"/>
              </a:rPr>
              <a:t>It often does not identify difficult low-level problems.</a:t>
            </a:r>
          </a:p>
          <a:p>
            <a:pPr rtl="0"/>
            <a:r>
              <a:rPr lang="en-US" b="0" u="none" strike="noStrike" dirty="0">
                <a:effectLst/>
                <a:latin typeface="Google Sans"/>
              </a:rPr>
              <a:t>It provides no detailed bases for justifying estimates</a:t>
            </a:r>
          </a:p>
          <a:p>
            <a:endParaRPr lang="en-US" dirty="0"/>
          </a:p>
        </p:txBody>
      </p:sp>
      <p:sp>
        <p:nvSpPr>
          <p:cNvPr id="4" name="Slide Number Placeholder 3">
            <a:extLst>
              <a:ext uri="{FF2B5EF4-FFF2-40B4-BE49-F238E27FC236}">
                <a16:creationId xmlns:a16="http://schemas.microsoft.com/office/drawing/2014/main" id="{07D1FD00-69CC-44C8-9890-3EA852C6B310}"/>
              </a:ext>
            </a:extLst>
          </p:cNvPr>
          <p:cNvSpPr>
            <a:spLocks noGrp="1"/>
          </p:cNvSpPr>
          <p:nvPr>
            <p:ph type="sldNum" sz="quarter" idx="12"/>
          </p:nvPr>
        </p:nvSpPr>
        <p:spPr/>
        <p:txBody>
          <a:bodyPr/>
          <a:lstStyle/>
          <a:p>
            <a:fld id="{255C45AA-988C-4610-8E25-9C545FF2A435}" type="slidenum">
              <a:rPr lang="en-US" smtClean="0"/>
              <a:t>21</a:t>
            </a:fld>
            <a:endParaRPr lang="en-US"/>
          </a:p>
        </p:txBody>
      </p:sp>
    </p:spTree>
    <p:extLst>
      <p:ext uri="{BB962C8B-B14F-4D97-AF65-F5344CB8AC3E}">
        <p14:creationId xmlns:p14="http://schemas.microsoft.com/office/powerpoint/2010/main" val="620109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665C-C236-4DA7-9252-219336DA6231}"/>
              </a:ext>
            </a:extLst>
          </p:cNvPr>
          <p:cNvSpPr>
            <a:spLocks noGrp="1"/>
          </p:cNvSpPr>
          <p:nvPr>
            <p:ph type="title"/>
          </p:nvPr>
        </p:nvSpPr>
        <p:spPr/>
        <p:txBody>
          <a:bodyPr/>
          <a:lstStyle/>
          <a:p>
            <a:r>
              <a:rPr lang="en-US" b="1" dirty="0"/>
              <a:t>Estimation techniques</a:t>
            </a:r>
          </a:p>
        </p:txBody>
      </p:sp>
      <p:sp>
        <p:nvSpPr>
          <p:cNvPr id="3" name="Content Placeholder 2">
            <a:extLst>
              <a:ext uri="{FF2B5EF4-FFF2-40B4-BE49-F238E27FC236}">
                <a16:creationId xmlns:a16="http://schemas.microsoft.com/office/drawing/2014/main" id="{0715F0E4-FC6B-481F-8D0A-57D44390E1A4}"/>
              </a:ext>
            </a:extLst>
          </p:cNvPr>
          <p:cNvSpPr>
            <a:spLocks noGrp="1"/>
          </p:cNvSpPr>
          <p:nvPr>
            <p:ph idx="1"/>
          </p:nvPr>
        </p:nvSpPr>
        <p:spPr/>
        <p:txBody>
          <a:bodyPr>
            <a:normAutofit fontScale="92500" lnSpcReduction="20000"/>
          </a:bodyPr>
          <a:lstStyle/>
          <a:p>
            <a:pPr marL="0" indent="0">
              <a:buNone/>
            </a:pPr>
            <a:r>
              <a:rPr lang="en-US" b="1" dirty="0"/>
              <a:t>2) Bottom-up Approach:</a:t>
            </a:r>
          </a:p>
          <a:p>
            <a:r>
              <a:rPr lang="en-US" dirty="0"/>
              <a:t>Using this method, the cost of each software components is estimated and then combines the results to arrive at an estimated cost of overall project. It aims at constructing the estimate of a system from the knowledge gained about small software. components and their interactions. The approach is COCOMO's detailed model. leading method using this.</a:t>
            </a:r>
          </a:p>
          <a:p>
            <a:r>
              <a:rPr lang="en-US" dirty="0"/>
              <a:t>Advantages: </a:t>
            </a:r>
          </a:p>
          <a:p>
            <a:r>
              <a:rPr lang="en-US" dirty="0"/>
              <a:t>It allows software group to handle an estimate in an almost traditional fashion.</a:t>
            </a:r>
          </a:p>
          <a:p>
            <a:r>
              <a:rPr lang="en-US" dirty="0"/>
              <a:t>It is more stable because the estimation errors in the various component's have a chance to balance out.</a:t>
            </a:r>
          </a:p>
          <a:p>
            <a:r>
              <a:rPr lang="en-US" dirty="0"/>
              <a:t>Disadvantages:</a:t>
            </a:r>
          </a:p>
          <a:p>
            <a:r>
              <a:rPr lang="en-US" dirty="0"/>
              <a:t>It tends to be more time-consuming</a:t>
            </a:r>
          </a:p>
          <a:p>
            <a:r>
              <a:rPr lang="en-US" dirty="0"/>
              <a:t>It may not be accurate because the necessary information may not be available in the early phase.</a:t>
            </a:r>
          </a:p>
        </p:txBody>
      </p:sp>
      <p:sp>
        <p:nvSpPr>
          <p:cNvPr id="4" name="Slide Number Placeholder 3">
            <a:extLst>
              <a:ext uri="{FF2B5EF4-FFF2-40B4-BE49-F238E27FC236}">
                <a16:creationId xmlns:a16="http://schemas.microsoft.com/office/drawing/2014/main" id="{07D1FD00-69CC-44C8-9890-3EA852C6B310}"/>
              </a:ext>
            </a:extLst>
          </p:cNvPr>
          <p:cNvSpPr>
            <a:spLocks noGrp="1"/>
          </p:cNvSpPr>
          <p:nvPr>
            <p:ph type="sldNum" sz="quarter" idx="12"/>
          </p:nvPr>
        </p:nvSpPr>
        <p:spPr/>
        <p:txBody>
          <a:bodyPr/>
          <a:lstStyle/>
          <a:p>
            <a:fld id="{255C45AA-988C-4610-8E25-9C545FF2A435}" type="slidenum">
              <a:rPr lang="en-US" smtClean="0"/>
              <a:t>22</a:t>
            </a:fld>
            <a:endParaRPr lang="en-US"/>
          </a:p>
        </p:txBody>
      </p:sp>
    </p:spTree>
    <p:extLst>
      <p:ext uri="{BB962C8B-B14F-4D97-AF65-F5344CB8AC3E}">
        <p14:creationId xmlns:p14="http://schemas.microsoft.com/office/powerpoint/2010/main" val="2616962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8EE91-B25B-4B25-B41D-4C838FAFFFE1}"/>
              </a:ext>
            </a:extLst>
          </p:cNvPr>
          <p:cNvSpPr>
            <a:spLocks noGrp="1"/>
          </p:cNvSpPr>
          <p:nvPr>
            <p:ph type="title"/>
          </p:nvPr>
        </p:nvSpPr>
        <p:spPr/>
        <p:txBody>
          <a:bodyPr/>
          <a:lstStyle/>
          <a:p>
            <a:r>
              <a:rPr lang="en-US" b="1" dirty="0"/>
              <a:t>Cocomo model</a:t>
            </a:r>
          </a:p>
        </p:txBody>
      </p:sp>
      <p:sp>
        <p:nvSpPr>
          <p:cNvPr id="4" name="Slide Number Placeholder 3">
            <a:extLst>
              <a:ext uri="{FF2B5EF4-FFF2-40B4-BE49-F238E27FC236}">
                <a16:creationId xmlns:a16="http://schemas.microsoft.com/office/drawing/2014/main" id="{F2680E17-BA6B-4FC6-9104-6F304CCDDD65}"/>
              </a:ext>
            </a:extLst>
          </p:cNvPr>
          <p:cNvSpPr>
            <a:spLocks noGrp="1"/>
          </p:cNvSpPr>
          <p:nvPr>
            <p:ph type="sldNum" sz="quarter" idx="12"/>
          </p:nvPr>
        </p:nvSpPr>
        <p:spPr/>
        <p:txBody>
          <a:bodyPr/>
          <a:lstStyle/>
          <a:p>
            <a:fld id="{255C45AA-988C-4610-8E25-9C545FF2A435}" type="slidenum">
              <a:rPr lang="en-US" smtClean="0"/>
              <a:t>23</a:t>
            </a:fld>
            <a:endParaRPr lang="en-US"/>
          </a:p>
        </p:txBody>
      </p:sp>
      <p:sp>
        <p:nvSpPr>
          <p:cNvPr id="5" name="Rectangle 1">
            <a:extLst>
              <a:ext uri="{FF2B5EF4-FFF2-40B4-BE49-F238E27FC236}">
                <a16:creationId xmlns:a16="http://schemas.microsoft.com/office/drawing/2014/main" id="{35B11F53-20A7-4A8D-A4DC-6B8B68F9EDB9}"/>
              </a:ext>
            </a:extLst>
          </p:cNvPr>
          <p:cNvSpPr>
            <a:spLocks noGrp="1" noChangeArrowheads="1"/>
          </p:cNvSpPr>
          <p:nvPr>
            <p:ph idx="1"/>
          </p:nvPr>
        </p:nvSpPr>
        <p:spPr bwMode="auto">
          <a:xfrm>
            <a:off x="800445" y="1696519"/>
            <a:ext cx="10591109"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Google Sans"/>
              </a:rPr>
              <a:t>COCOMO Model:</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Google Sans"/>
              </a:rPr>
              <a:t>The </a:t>
            </a:r>
            <a:r>
              <a:rPr kumimoji="0" lang="en-US" altLang="en-US" b="1" i="0" u="none" strike="noStrike" cap="none" normalizeH="0" baseline="0" dirty="0">
                <a:ln>
                  <a:noFill/>
                </a:ln>
                <a:solidFill>
                  <a:schemeClr val="tx1"/>
                </a:solidFill>
                <a:effectLst/>
                <a:latin typeface="Google Sans"/>
              </a:rPr>
              <a:t>Constructive Cost Model (COCOMO)</a:t>
            </a:r>
            <a:r>
              <a:rPr kumimoji="0" lang="en-US" altLang="en-US" b="0" i="0" u="none" strike="noStrike" cap="none" normalizeH="0" baseline="0" dirty="0">
                <a:ln>
                  <a:noFill/>
                </a:ln>
                <a:solidFill>
                  <a:schemeClr val="tx1"/>
                </a:solidFill>
                <a:effectLst/>
                <a:latin typeface="Google Sans"/>
              </a:rPr>
              <a:t> is an algorithmic software cost estimation model. This model predicts or estimates the effort required for the project, total project cost, and scheduled time for the project. This model depends on the number of lines of code for software product development.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Google Sans"/>
              </a:rPr>
              <a:t>In COCOMO, projects are categorized into three types:</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Google Sans"/>
              </a:rPr>
              <a:t>Organic:</a:t>
            </a:r>
            <a:r>
              <a:rPr kumimoji="0" lang="en-US" altLang="en-US" b="0" i="0" u="none" strike="noStrike" cap="none" normalizeH="0" baseline="0" dirty="0">
                <a:ln>
                  <a:noFill/>
                </a:ln>
                <a:solidFill>
                  <a:schemeClr val="tx1"/>
                </a:solidFill>
                <a:effectLst/>
                <a:latin typeface="Google Sans"/>
              </a:rPr>
              <a:t> A software project is said to be an organic type if the team size required is adequately small, the problem is well understood, and has been solved in the past. Example of this type of projects are simple business systems, simple inventory management systems, and data processing systems.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Google Sans"/>
              </a:rPr>
              <a:t>Semi-detached:</a:t>
            </a:r>
            <a:r>
              <a:rPr kumimoji="0" lang="en-US" altLang="en-US" b="0" i="0" u="none" strike="noStrike" cap="none" normalizeH="0" baseline="0" dirty="0">
                <a:ln>
                  <a:noFill/>
                </a:ln>
                <a:solidFill>
                  <a:schemeClr val="tx1"/>
                </a:solidFill>
                <a:effectLst/>
                <a:latin typeface="Google Sans"/>
              </a:rPr>
              <a:t> In this type the development consists of a mixture of experienced and inexperienced staff. Example of semi-detached system includes developing a new operating system, a database management system, and complex inventory management system.</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Google Sans"/>
              </a:rPr>
              <a:t>Embedded:</a:t>
            </a:r>
            <a:r>
              <a:rPr kumimoji="0" lang="en-US" altLang="en-US" b="0" i="0" u="none" strike="noStrike" cap="none" normalizeH="0" baseline="0" dirty="0">
                <a:ln>
                  <a:noFill/>
                </a:ln>
                <a:solidFill>
                  <a:schemeClr val="tx1"/>
                </a:solidFill>
                <a:effectLst/>
                <a:latin typeface="Google Sans"/>
              </a:rPr>
              <a:t> A software project with requiring the highest level of complexity, creativity, and experience requirement fall under this category. For example: ATM, Air Traffic control.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31444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63D48F-9BD4-426E-93D6-74372CE7270E}"/>
              </a:ext>
            </a:extLst>
          </p:cNvPr>
          <p:cNvSpPr>
            <a:spLocks noGrp="1"/>
          </p:cNvSpPr>
          <p:nvPr>
            <p:ph type="sldNum" sz="quarter" idx="12"/>
          </p:nvPr>
        </p:nvSpPr>
        <p:spPr/>
        <p:txBody>
          <a:bodyPr/>
          <a:lstStyle/>
          <a:p>
            <a:fld id="{255C45AA-988C-4610-8E25-9C545FF2A435}" type="slidenum">
              <a:rPr lang="en-US" smtClean="0"/>
              <a:t>24</a:t>
            </a:fld>
            <a:endParaRPr lang="en-US"/>
          </a:p>
        </p:txBody>
      </p:sp>
      <p:pic>
        <p:nvPicPr>
          <p:cNvPr id="6" name="Picture 5">
            <a:extLst>
              <a:ext uri="{FF2B5EF4-FFF2-40B4-BE49-F238E27FC236}">
                <a16:creationId xmlns:a16="http://schemas.microsoft.com/office/drawing/2014/main" id="{89D74954-F5AC-42F2-BE5C-938358167F36}"/>
              </a:ext>
            </a:extLst>
          </p:cNvPr>
          <p:cNvPicPr>
            <a:picLocks noChangeAspect="1"/>
          </p:cNvPicPr>
          <p:nvPr/>
        </p:nvPicPr>
        <p:blipFill>
          <a:blip r:embed="rId2"/>
          <a:stretch>
            <a:fillRect/>
          </a:stretch>
        </p:blipFill>
        <p:spPr>
          <a:xfrm>
            <a:off x="1555647" y="361684"/>
            <a:ext cx="8420830" cy="6134632"/>
          </a:xfrm>
          <a:prstGeom prst="rect">
            <a:avLst/>
          </a:prstGeom>
        </p:spPr>
      </p:pic>
    </p:spTree>
    <p:extLst>
      <p:ext uri="{BB962C8B-B14F-4D97-AF65-F5344CB8AC3E}">
        <p14:creationId xmlns:p14="http://schemas.microsoft.com/office/powerpoint/2010/main" val="249722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F220E-41BF-4BF4-906A-3634BCCF0164}"/>
              </a:ext>
            </a:extLst>
          </p:cNvPr>
          <p:cNvSpPr>
            <a:spLocks noGrp="1"/>
          </p:cNvSpPr>
          <p:nvPr>
            <p:ph type="title"/>
          </p:nvPr>
        </p:nvSpPr>
        <p:spPr/>
        <p:txBody>
          <a:bodyPr/>
          <a:lstStyle/>
          <a:p>
            <a:r>
              <a:rPr lang="en-US" dirty="0"/>
              <a:t>Types of </a:t>
            </a:r>
            <a:r>
              <a:rPr lang="en-US" dirty="0" err="1"/>
              <a:t>cocomo</a:t>
            </a:r>
            <a:r>
              <a:rPr lang="en-US" dirty="0"/>
              <a:t> model</a:t>
            </a:r>
          </a:p>
        </p:txBody>
      </p:sp>
      <p:sp>
        <p:nvSpPr>
          <p:cNvPr id="3" name="Content Placeholder 2">
            <a:extLst>
              <a:ext uri="{FF2B5EF4-FFF2-40B4-BE49-F238E27FC236}">
                <a16:creationId xmlns:a16="http://schemas.microsoft.com/office/drawing/2014/main" id="{C2A14399-6332-4635-B8EF-4CC6F5992CE5}"/>
              </a:ext>
            </a:extLst>
          </p:cNvPr>
          <p:cNvSpPr>
            <a:spLocks noGrp="1"/>
          </p:cNvSpPr>
          <p:nvPr>
            <p:ph idx="1"/>
          </p:nvPr>
        </p:nvSpPr>
        <p:spPr/>
        <p:txBody>
          <a:bodyPr/>
          <a:lstStyle/>
          <a:p>
            <a:r>
              <a:rPr lang="en-US" dirty="0"/>
              <a:t>Basic </a:t>
            </a:r>
            <a:r>
              <a:rPr lang="en-US" dirty="0" err="1"/>
              <a:t>Cocomo</a:t>
            </a:r>
            <a:r>
              <a:rPr lang="en-US" dirty="0"/>
              <a:t> Model</a:t>
            </a:r>
          </a:p>
          <a:p>
            <a:r>
              <a:rPr lang="en-US" dirty="0"/>
              <a:t>Intermediate </a:t>
            </a:r>
            <a:r>
              <a:rPr lang="en-US" dirty="0" err="1"/>
              <a:t>Cocomo</a:t>
            </a:r>
            <a:r>
              <a:rPr lang="en-US" dirty="0"/>
              <a:t> Model</a:t>
            </a:r>
          </a:p>
          <a:p>
            <a:r>
              <a:rPr lang="en-US" dirty="0" err="1"/>
              <a:t>Detaile</a:t>
            </a:r>
            <a:r>
              <a:rPr lang="en-US" dirty="0"/>
              <a:t> </a:t>
            </a:r>
            <a:r>
              <a:rPr lang="en-US" dirty="0" err="1"/>
              <a:t>Cocomo</a:t>
            </a:r>
            <a:r>
              <a:rPr lang="en-US" dirty="0"/>
              <a:t> Model</a:t>
            </a:r>
          </a:p>
        </p:txBody>
      </p:sp>
      <p:sp>
        <p:nvSpPr>
          <p:cNvPr id="4" name="Slide Number Placeholder 3">
            <a:extLst>
              <a:ext uri="{FF2B5EF4-FFF2-40B4-BE49-F238E27FC236}">
                <a16:creationId xmlns:a16="http://schemas.microsoft.com/office/drawing/2014/main" id="{D5ACBB1A-DE84-4D66-BF6B-B755A1813F83}"/>
              </a:ext>
            </a:extLst>
          </p:cNvPr>
          <p:cNvSpPr>
            <a:spLocks noGrp="1"/>
          </p:cNvSpPr>
          <p:nvPr>
            <p:ph type="sldNum" sz="quarter" idx="12"/>
          </p:nvPr>
        </p:nvSpPr>
        <p:spPr/>
        <p:txBody>
          <a:bodyPr/>
          <a:lstStyle/>
          <a:p>
            <a:fld id="{255C45AA-988C-4610-8E25-9C545FF2A435}" type="slidenum">
              <a:rPr lang="en-US" smtClean="0"/>
              <a:t>25</a:t>
            </a:fld>
            <a:endParaRPr lang="en-US"/>
          </a:p>
        </p:txBody>
      </p:sp>
    </p:spTree>
    <p:extLst>
      <p:ext uri="{BB962C8B-B14F-4D97-AF65-F5344CB8AC3E}">
        <p14:creationId xmlns:p14="http://schemas.microsoft.com/office/powerpoint/2010/main" val="3213105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16C1F-8852-4C98-A9CF-F56EFD15104B}"/>
              </a:ext>
            </a:extLst>
          </p:cNvPr>
          <p:cNvSpPr>
            <a:spLocks noGrp="1"/>
          </p:cNvSpPr>
          <p:nvPr>
            <p:ph type="title"/>
          </p:nvPr>
        </p:nvSpPr>
        <p:spPr/>
        <p:txBody>
          <a:bodyPr/>
          <a:lstStyle/>
          <a:p>
            <a:r>
              <a:rPr lang="en-US" dirty="0"/>
              <a:t>Basic </a:t>
            </a:r>
            <a:r>
              <a:rPr lang="en-US" dirty="0" err="1"/>
              <a:t>cocomo</a:t>
            </a:r>
            <a:r>
              <a:rPr lang="en-US" dirty="0"/>
              <a:t> model</a:t>
            </a:r>
          </a:p>
        </p:txBody>
      </p:sp>
      <p:sp>
        <p:nvSpPr>
          <p:cNvPr id="3" name="Content Placeholder 2">
            <a:extLst>
              <a:ext uri="{FF2B5EF4-FFF2-40B4-BE49-F238E27FC236}">
                <a16:creationId xmlns:a16="http://schemas.microsoft.com/office/drawing/2014/main" id="{A27A3F5F-915F-449B-AD75-988B14E14737}"/>
              </a:ext>
            </a:extLst>
          </p:cNvPr>
          <p:cNvSpPr>
            <a:spLocks noGrp="1"/>
          </p:cNvSpPr>
          <p:nvPr>
            <p:ph idx="1"/>
          </p:nvPr>
        </p:nvSpPr>
        <p:spPr/>
        <p:txBody>
          <a:bodyPr>
            <a:normAutofit/>
          </a:bodyPr>
          <a:lstStyle/>
          <a:p>
            <a:r>
              <a:rPr lang="en-US" dirty="0"/>
              <a:t>It is the one type of static model to estimates software development effort quickly and roughly. It mainly deals with the number of lines of code and the level of estimation accuracy is less as we don't consider the all parameters belongs to the project. The estimated effort and scheduled time for the project are given by the relation:</a:t>
            </a:r>
          </a:p>
          <a:p>
            <a:r>
              <a:rPr lang="en-US" dirty="0"/>
              <a:t> Effort (E) = a * (KLOC)</a:t>
            </a:r>
            <a:r>
              <a:rPr lang="en-US" baseline="30000" dirty="0">
                <a:latin typeface="+mj-lt"/>
              </a:rPr>
              <a:t>b</a:t>
            </a:r>
            <a:r>
              <a:rPr lang="en-US" dirty="0"/>
              <a:t>  PМ </a:t>
            </a:r>
          </a:p>
          <a:p>
            <a:r>
              <a:rPr lang="en-US" dirty="0"/>
              <a:t>Scheduled Time (D) = c*(Effort)</a:t>
            </a:r>
            <a:r>
              <a:rPr lang="en-US" baseline="30000" dirty="0"/>
              <a:t>d</a:t>
            </a:r>
            <a:r>
              <a:rPr lang="en-US" dirty="0"/>
              <a:t> Months(M) </a:t>
            </a:r>
          </a:p>
          <a:p>
            <a:pPr>
              <a:buFont typeface="Courier New" panose="02070309020205020404" pitchFamily="49" charset="0"/>
              <a:buChar char="o"/>
            </a:pPr>
            <a:r>
              <a:rPr lang="en-US" sz="1200" dirty="0"/>
              <a:t>Where, E = Total effort required for the project in Person-Months (PМ or MM). </a:t>
            </a:r>
          </a:p>
          <a:p>
            <a:pPr>
              <a:buFont typeface="Courier New" panose="02070309020205020404" pitchFamily="49" charset="0"/>
              <a:buChar char="o"/>
            </a:pPr>
            <a:r>
              <a:rPr lang="en-US" sz="1200" dirty="0"/>
              <a:t>D = Total time required for project development in Months (M). </a:t>
            </a:r>
          </a:p>
          <a:p>
            <a:pPr>
              <a:buFont typeface="Courier New" panose="02070309020205020404" pitchFamily="49" charset="0"/>
              <a:buChar char="o"/>
            </a:pPr>
            <a:r>
              <a:rPr lang="en-US" sz="1200" dirty="0"/>
              <a:t>KLOC = the size of the code for the project in Kilo lines of code. </a:t>
            </a:r>
          </a:p>
          <a:p>
            <a:pPr>
              <a:buFont typeface="Courier New" panose="02070309020205020404" pitchFamily="49" charset="0"/>
              <a:buChar char="o"/>
            </a:pPr>
            <a:r>
              <a:rPr lang="en-US" sz="1200" dirty="0"/>
              <a:t>a, b, c, d = The constant parameters for a software project.</a:t>
            </a:r>
          </a:p>
        </p:txBody>
      </p:sp>
      <p:sp>
        <p:nvSpPr>
          <p:cNvPr id="4" name="Slide Number Placeholder 3">
            <a:extLst>
              <a:ext uri="{FF2B5EF4-FFF2-40B4-BE49-F238E27FC236}">
                <a16:creationId xmlns:a16="http://schemas.microsoft.com/office/drawing/2014/main" id="{98356FFC-8842-442C-8480-3CD40B161B3B}"/>
              </a:ext>
            </a:extLst>
          </p:cNvPr>
          <p:cNvSpPr>
            <a:spLocks noGrp="1"/>
          </p:cNvSpPr>
          <p:nvPr>
            <p:ph type="sldNum" sz="quarter" idx="12"/>
          </p:nvPr>
        </p:nvSpPr>
        <p:spPr/>
        <p:txBody>
          <a:bodyPr/>
          <a:lstStyle/>
          <a:p>
            <a:fld id="{255C45AA-988C-4610-8E25-9C545FF2A435}" type="slidenum">
              <a:rPr lang="en-US" smtClean="0"/>
              <a:t>26</a:t>
            </a:fld>
            <a:endParaRPr lang="en-US"/>
          </a:p>
        </p:txBody>
      </p:sp>
      <p:pic>
        <p:nvPicPr>
          <p:cNvPr id="8" name="Picture 7">
            <a:extLst>
              <a:ext uri="{FF2B5EF4-FFF2-40B4-BE49-F238E27FC236}">
                <a16:creationId xmlns:a16="http://schemas.microsoft.com/office/drawing/2014/main" id="{CE5C1A57-FB68-43B6-8FEC-18A7C534D989}"/>
              </a:ext>
            </a:extLst>
          </p:cNvPr>
          <p:cNvPicPr>
            <a:picLocks noChangeAspect="1"/>
          </p:cNvPicPr>
          <p:nvPr/>
        </p:nvPicPr>
        <p:blipFill>
          <a:blip r:embed="rId2"/>
          <a:stretch>
            <a:fillRect/>
          </a:stretch>
        </p:blipFill>
        <p:spPr>
          <a:xfrm rot="154685">
            <a:off x="7009916" y="4239705"/>
            <a:ext cx="4808637" cy="1234547"/>
          </a:xfrm>
          <a:prstGeom prst="rect">
            <a:avLst/>
          </a:prstGeom>
        </p:spPr>
      </p:pic>
    </p:spTree>
    <p:extLst>
      <p:ext uri="{BB962C8B-B14F-4D97-AF65-F5344CB8AC3E}">
        <p14:creationId xmlns:p14="http://schemas.microsoft.com/office/powerpoint/2010/main" val="30430882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DEF94-D87E-44EF-ADE2-87F9DA6BFF49}"/>
              </a:ext>
            </a:extLst>
          </p:cNvPr>
          <p:cNvSpPr>
            <a:spLocks noGrp="1"/>
          </p:cNvSpPr>
          <p:nvPr>
            <p:ph type="title"/>
          </p:nvPr>
        </p:nvSpPr>
        <p:spPr/>
        <p:txBody>
          <a:bodyPr/>
          <a:lstStyle/>
          <a:p>
            <a:r>
              <a:rPr lang="en-US" dirty="0"/>
              <a:t>numerical</a:t>
            </a:r>
          </a:p>
        </p:txBody>
      </p:sp>
      <p:sp>
        <p:nvSpPr>
          <p:cNvPr id="3" name="Content Placeholder 2">
            <a:extLst>
              <a:ext uri="{FF2B5EF4-FFF2-40B4-BE49-F238E27FC236}">
                <a16:creationId xmlns:a16="http://schemas.microsoft.com/office/drawing/2014/main" id="{72952F16-E456-4CE8-9839-9A3A1C10C000}"/>
              </a:ext>
            </a:extLst>
          </p:cNvPr>
          <p:cNvSpPr>
            <a:spLocks noGrp="1"/>
          </p:cNvSpPr>
          <p:nvPr>
            <p:ph idx="1"/>
          </p:nvPr>
        </p:nvSpPr>
        <p:spPr>
          <a:xfrm>
            <a:off x="975580" y="1716055"/>
            <a:ext cx="10058400" cy="4050792"/>
          </a:xfrm>
        </p:spPr>
        <p:txBody>
          <a:bodyPr/>
          <a:lstStyle/>
          <a:p>
            <a:r>
              <a:rPr lang="en-US" dirty="0"/>
              <a:t>Example: For a given project was estimated with a size of 300 KLOC. Calculate the Effort, Scheduled time for development. Also, calculate the Average resource size and Productivity of the software for Organic project type. </a:t>
            </a:r>
          </a:p>
          <a:p>
            <a:endParaRPr lang="en-US" dirty="0"/>
          </a:p>
        </p:txBody>
      </p:sp>
      <p:sp>
        <p:nvSpPr>
          <p:cNvPr id="4" name="Slide Number Placeholder 3">
            <a:extLst>
              <a:ext uri="{FF2B5EF4-FFF2-40B4-BE49-F238E27FC236}">
                <a16:creationId xmlns:a16="http://schemas.microsoft.com/office/drawing/2014/main" id="{39B39E8E-2F36-4A7C-A783-CADA4216C63F}"/>
              </a:ext>
            </a:extLst>
          </p:cNvPr>
          <p:cNvSpPr>
            <a:spLocks noGrp="1"/>
          </p:cNvSpPr>
          <p:nvPr>
            <p:ph type="sldNum" sz="quarter" idx="12"/>
          </p:nvPr>
        </p:nvSpPr>
        <p:spPr/>
        <p:txBody>
          <a:bodyPr/>
          <a:lstStyle/>
          <a:p>
            <a:fld id="{255C45AA-988C-4610-8E25-9C545FF2A435}" type="slidenum">
              <a:rPr lang="en-US" smtClean="0"/>
              <a:t>27</a:t>
            </a:fld>
            <a:endParaRPr lang="en-US"/>
          </a:p>
        </p:txBody>
      </p:sp>
      <p:pic>
        <p:nvPicPr>
          <p:cNvPr id="6" name="Picture 5">
            <a:extLst>
              <a:ext uri="{FF2B5EF4-FFF2-40B4-BE49-F238E27FC236}">
                <a16:creationId xmlns:a16="http://schemas.microsoft.com/office/drawing/2014/main" id="{1B5D40D9-71AE-491C-A37C-B55D4ABC50DA}"/>
              </a:ext>
            </a:extLst>
          </p:cNvPr>
          <p:cNvPicPr>
            <a:picLocks noChangeAspect="1"/>
          </p:cNvPicPr>
          <p:nvPr/>
        </p:nvPicPr>
        <p:blipFill>
          <a:blip r:embed="rId2"/>
          <a:stretch>
            <a:fillRect/>
          </a:stretch>
        </p:blipFill>
        <p:spPr>
          <a:xfrm>
            <a:off x="1561469" y="2614867"/>
            <a:ext cx="6225071" cy="4150048"/>
          </a:xfrm>
          <a:prstGeom prst="rect">
            <a:avLst/>
          </a:prstGeom>
        </p:spPr>
      </p:pic>
    </p:spTree>
    <p:extLst>
      <p:ext uri="{BB962C8B-B14F-4D97-AF65-F5344CB8AC3E}">
        <p14:creationId xmlns:p14="http://schemas.microsoft.com/office/powerpoint/2010/main" val="29763311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5EF15-02A7-488A-B459-32A73980FD62}"/>
              </a:ext>
            </a:extLst>
          </p:cNvPr>
          <p:cNvSpPr>
            <a:spLocks noGrp="1"/>
          </p:cNvSpPr>
          <p:nvPr>
            <p:ph type="title"/>
          </p:nvPr>
        </p:nvSpPr>
        <p:spPr/>
        <p:txBody>
          <a:bodyPr/>
          <a:lstStyle/>
          <a:p>
            <a:r>
              <a:rPr lang="en-US" dirty="0"/>
              <a:t>Intermediate </a:t>
            </a:r>
            <a:r>
              <a:rPr lang="en-US" dirty="0" err="1"/>
              <a:t>cocomo</a:t>
            </a:r>
            <a:endParaRPr lang="en-US" dirty="0"/>
          </a:p>
        </p:txBody>
      </p:sp>
      <p:sp>
        <p:nvSpPr>
          <p:cNvPr id="3" name="Content Placeholder 2">
            <a:extLst>
              <a:ext uri="{FF2B5EF4-FFF2-40B4-BE49-F238E27FC236}">
                <a16:creationId xmlns:a16="http://schemas.microsoft.com/office/drawing/2014/main" id="{18EAED55-6D0B-41BB-979F-BC7266D2DF6E}"/>
              </a:ext>
            </a:extLst>
          </p:cNvPr>
          <p:cNvSpPr>
            <a:spLocks noGrp="1"/>
          </p:cNvSpPr>
          <p:nvPr>
            <p:ph idx="1"/>
          </p:nvPr>
        </p:nvSpPr>
        <p:spPr/>
        <p:txBody>
          <a:bodyPr/>
          <a:lstStyle/>
          <a:p>
            <a:r>
              <a:rPr lang="en-US" dirty="0"/>
              <a:t>The Intermediate COCOMO (Constructive Cost Model) predicts software development effort and schedule by multiplying a basic size-based estimate by an </a:t>
            </a:r>
            <a:r>
              <a:rPr lang="en-US" b="0" u="none" strike="noStrike" dirty="0">
                <a:solidFill>
                  <a:srgbClr val="002060"/>
                </a:solidFill>
                <a:effectLst/>
                <a:latin typeface="Google Sans"/>
                <a:hlinkClick r:id="rId2">
                  <a:extLst>
                    <a:ext uri="{A12FA001-AC4F-418D-AE19-62706E023703}">
                      <ahyp:hlinkClr xmlns:ahyp="http://schemas.microsoft.com/office/drawing/2018/hyperlinkcolor" val="tx"/>
                    </a:ext>
                  </a:extLst>
                </a:hlinkClick>
              </a:rPr>
              <a:t>Effort Adjustment Factor (EAF</a:t>
            </a:r>
            <a:r>
              <a:rPr lang="en-US" b="0" u="none" strike="noStrike" dirty="0">
                <a:solidFill>
                  <a:srgbClr val="CC9900"/>
                </a:solidFill>
                <a:effectLst/>
                <a:latin typeface="Google Sans"/>
                <a:hlinkClick r:id="rId2">
                  <a:extLst>
                    <a:ext uri="{A12FA001-AC4F-418D-AE19-62706E023703}">
                      <ahyp:hlinkClr xmlns:ahyp="http://schemas.microsoft.com/office/drawing/2018/hyperlinkcolor" val="tx"/>
                    </a:ext>
                  </a:extLst>
                </a:hlinkClick>
              </a:rPr>
              <a:t>)</a:t>
            </a:r>
            <a:r>
              <a:rPr lang="en-US" dirty="0"/>
              <a:t> derived from 15 specific cost drivers</a:t>
            </a:r>
          </a:p>
          <a:p>
            <a:endParaRPr lang="en-US" dirty="0"/>
          </a:p>
        </p:txBody>
      </p:sp>
      <p:sp>
        <p:nvSpPr>
          <p:cNvPr id="4" name="Slide Number Placeholder 3">
            <a:extLst>
              <a:ext uri="{FF2B5EF4-FFF2-40B4-BE49-F238E27FC236}">
                <a16:creationId xmlns:a16="http://schemas.microsoft.com/office/drawing/2014/main" id="{064A1D94-6FC8-44D6-925E-35694DCB07A9}"/>
              </a:ext>
            </a:extLst>
          </p:cNvPr>
          <p:cNvSpPr>
            <a:spLocks noGrp="1"/>
          </p:cNvSpPr>
          <p:nvPr>
            <p:ph type="sldNum" sz="quarter" idx="12"/>
          </p:nvPr>
        </p:nvSpPr>
        <p:spPr/>
        <p:txBody>
          <a:bodyPr/>
          <a:lstStyle/>
          <a:p>
            <a:fld id="{255C45AA-988C-4610-8E25-9C545FF2A435}" type="slidenum">
              <a:rPr lang="en-US" smtClean="0"/>
              <a:t>28</a:t>
            </a:fld>
            <a:endParaRPr lang="en-US"/>
          </a:p>
        </p:txBody>
      </p:sp>
      <p:pic>
        <p:nvPicPr>
          <p:cNvPr id="8" name="Picture 7">
            <a:extLst>
              <a:ext uri="{FF2B5EF4-FFF2-40B4-BE49-F238E27FC236}">
                <a16:creationId xmlns:a16="http://schemas.microsoft.com/office/drawing/2014/main" id="{215CA745-D834-4D32-99AB-C8CD728533C4}"/>
              </a:ext>
            </a:extLst>
          </p:cNvPr>
          <p:cNvPicPr>
            <a:picLocks noChangeAspect="1"/>
          </p:cNvPicPr>
          <p:nvPr/>
        </p:nvPicPr>
        <p:blipFill>
          <a:blip r:embed="rId3"/>
          <a:stretch>
            <a:fillRect/>
          </a:stretch>
        </p:blipFill>
        <p:spPr>
          <a:xfrm>
            <a:off x="1374836" y="3074052"/>
            <a:ext cx="8806112" cy="3381294"/>
          </a:xfrm>
          <a:prstGeom prst="rect">
            <a:avLst/>
          </a:prstGeom>
        </p:spPr>
      </p:pic>
    </p:spTree>
    <p:extLst>
      <p:ext uri="{BB962C8B-B14F-4D97-AF65-F5344CB8AC3E}">
        <p14:creationId xmlns:p14="http://schemas.microsoft.com/office/powerpoint/2010/main" val="2989230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5EF15-02A7-488A-B459-32A73980FD62}"/>
              </a:ext>
            </a:extLst>
          </p:cNvPr>
          <p:cNvSpPr>
            <a:spLocks noGrp="1"/>
          </p:cNvSpPr>
          <p:nvPr>
            <p:ph type="title"/>
          </p:nvPr>
        </p:nvSpPr>
        <p:spPr/>
        <p:txBody>
          <a:bodyPr/>
          <a:lstStyle/>
          <a:p>
            <a:r>
              <a:rPr lang="en-US" dirty="0"/>
              <a:t>Intermediate </a:t>
            </a:r>
            <a:r>
              <a:rPr lang="en-US" dirty="0" err="1"/>
              <a:t>cocomo</a:t>
            </a:r>
            <a:endParaRPr lang="en-US" dirty="0"/>
          </a:p>
        </p:txBody>
      </p:sp>
      <p:sp>
        <p:nvSpPr>
          <p:cNvPr id="4" name="Slide Number Placeholder 3">
            <a:extLst>
              <a:ext uri="{FF2B5EF4-FFF2-40B4-BE49-F238E27FC236}">
                <a16:creationId xmlns:a16="http://schemas.microsoft.com/office/drawing/2014/main" id="{064A1D94-6FC8-44D6-925E-35694DCB07A9}"/>
              </a:ext>
            </a:extLst>
          </p:cNvPr>
          <p:cNvSpPr>
            <a:spLocks noGrp="1"/>
          </p:cNvSpPr>
          <p:nvPr>
            <p:ph type="sldNum" sz="quarter" idx="12"/>
          </p:nvPr>
        </p:nvSpPr>
        <p:spPr/>
        <p:txBody>
          <a:bodyPr/>
          <a:lstStyle/>
          <a:p>
            <a:fld id="{255C45AA-988C-4610-8E25-9C545FF2A435}" type="slidenum">
              <a:rPr lang="en-US" smtClean="0"/>
              <a:t>29</a:t>
            </a:fld>
            <a:endParaRPr lang="en-US"/>
          </a:p>
        </p:txBody>
      </p:sp>
      <p:sp>
        <p:nvSpPr>
          <p:cNvPr id="5" name="Rectangle 1">
            <a:extLst>
              <a:ext uri="{FF2B5EF4-FFF2-40B4-BE49-F238E27FC236}">
                <a16:creationId xmlns:a16="http://schemas.microsoft.com/office/drawing/2014/main" id="{CB07C55A-FF84-44E6-854E-856A0AEC9F81}"/>
              </a:ext>
            </a:extLst>
          </p:cNvPr>
          <p:cNvSpPr>
            <a:spLocks noGrp="1" noChangeArrowheads="1"/>
          </p:cNvSpPr>
          <p:nvPr>
            <p:ph idx="1"/>
          </p:nvPr>
        </p:nvSpPr>
        <p:spPr bwMode="auto">
          <a:xfrm>
            <a:off x="1069848" y="1610241"/>
            <a:ext cx="10881360" cy="5073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6176" rIns="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Google Sans"/>
              </a:rPr>
              <a:t>15 Cost Drivers</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Google Sans"/>
              </a:rPr>
              <a:t>The cost drivers are grouped into four major categories, rated on a scale from </a:t>
            </a:r>
            <a:r>
              <a:rPr kumimoji="0" lang="en-US" altLang="en-US" sz="1400" b="0" i="1" u="none" strike="noStrike" cap="none" normalizeH="0" baseline="0" dirty="0">
                <a:ln>
                  <a:noFill/>
                </a:ln>
                <a:solidFill>
                  <a:schemeClr val="tx1"/>
                </a:solidFill>
                <a:effectLst/>
                <a:latin typeface="Google Sans"/>
              </a:rPr>
              <a:t>Very Low</a:t>
            </a:r>
            <a:r>
              <a:rPr kumimoji="0" lang="en-US" altLang="en-US" sz="1400" b="0" i="0" u="none" strike="noStrike" cap="none" normalizeH="0" baseline="0" dirty="0">
                <a:ln>
                  <a:noFill/>
                </a:ln>
                <a:solidFill>
                  <a:schemeClr val="tx1"/>
                </a:solidFill>
                <a:effectLst/>
                <a:latin typeface="Google Sans"/>
              </a:rPr>
              <a:t> to </a:t>
            </a:r>
            <a:r>
              <a:rPr kumimoji="0" lang="en-US" altLang="en-US" sz="1400" b="0" i="1" u="none" strike="noStrike" cap="none" normalizeH="0" baseline="0" dirty="0">
                <a:ln>
                  <a:noFill/>
                </a:ln>
                <a:solidFill>
                  <a:schemeClr val="tx1"/>
                </a:solidFill>
                <a:effectLst/>
                <a:latin typeface="Google Sans"/>
              </a:rPr>
              <a:t>Extra High</a:t>
            </a:r>
            <a:r>
              <a:rPr kumimoji="0" lang="en-US" altLang="en-US" sz="1400" b="0" i="0" u="none" strike="noStrike" cap="none" normalizeH="0" baseline="0" dirty="0">
                <a:ln>
                  <a:noFill/>
                </a:ln>
                <a:solidFill>
                  <a:schemeClr val="tx1"/>
                </a:solidFill>
                <a:effectLst/>
                <a:latin typeface="Google Sans"/>
              </a:rPr>
              <a:t>: </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Google Sans"/>
              </a:rPr>
              <a:t>Product Attributes:</a:t>
            </a:r>
            <a:endParaRPr kumimoji="0" lang="en-US" altLang="en-US" sz="1400" b="0" i="0" u="none" strike="noStrike" cap="none" normalizeH="0" baseline="0" dirty="0">
              <a:ln>
                <a:noFill/>
              </a:ln>
              <a:solidFill>
                <a:schemeClr val="tx1"/>
              </a:solidFill>
              <a:effectLst/>
              <a:latin typeface="Google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a:rPr>
              <a:t>Required software reliability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a:rPr>
              <a:t>Size of application database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a:rPr>
              <a:t>Product complexity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Google Sans"/>
              </a:rPr>
              <a:t>Hardware Attributes:</a:t>
            </a:r>
            <a:endParaRPr kumimoji="0" lang="en-US" altLang="en-US" sz="1400" b="0" i="0" u="none" strike="noStrike" cap="none" normalizeH="0" baseline="0" dirty="0">
              <a:ln>
                <a:noFill/>
              </a:ln>
              <a:solidFill>
                <a:schemeClr val="tx1"/>
              </a:solidFill>
              <a:effectLst/>
              <a:latin typeface="Google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a:rPr>
              <a:t>Run-time performance constraints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a:rPr>
              <a:t>Memory constraints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a:rPr>
              <a:t>Environment volatility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a:rPr>
              <a:t>Required turn-around time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Google Sans"/>
              </a:rPr>
              <a:t>Personnel Attributes:</a:t>
            </a:r>
            <a:endParaRPr kumimoji="0" lang="en-US" altLang="en-US" sz="1400" b="0" i="0" u="none" strike="noStrike" cap="none" normalizeH="0" baseline="0" dirty="0">
              <a:ln>
                <a:noFill/>
              </a:ln>
              <a:solidFill>
                <a:schemeClr val="tx1"/>
              </a:solidFill>
              <a:effectLst/>
              <a:latin typeface="Google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a:rPr>
              <a:t>Analyst capability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a:rPr>
              <a:t>Application experience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a:rPr>
              <a:t>Programmer capability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a:rPr>
              <a:t>Virtual machine experience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a:rPr>
              <a:t>Programming language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Google Sans"/>
              </a:rPr>
              <a:t>Project Attributes:</a:t>
            </a:r>
            <a:endParaRPr kumimoji="0" lang="en-US" altLang="en-US" sz="1400" b="0" i="0" u="none" strike="noStrike" cap="none" normalizeH="0" baseline="0" dirty="0">
              <a:ln>
                <a:noFill/>
              </a:ln>
              <a:solidFill>
                <a:schemeClr val="tx1"/>
              </a:solidFill>
              <a:effectLst/>
              <a:latin typeface="Google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a:rPr>
              <a:t>Use of software tools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a:rPr>
              <a:t>Application of software engineering methods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a:rPr>
              <a:t>Required development schedule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3407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5EF15-02A7-488A-B459-32A73980FD62}"/>
              </a:ext>
            </a:extLst>
          </p:cNvPr>
          <p:cNvSpPr>
            <a:spLocks noGrp="1"/>
          </p:cNvSpPr>
          <p:nvPr>
            <p:ph type="title"/>
          </p:nvPr>
        </p:nvSpPr>
        <p:spPr/>
        <p:txBody>
          <a:bodyPr/>
          <a:lstStyle/>
          <a:p>
            <a:r>
              <a:rPr lang="en-US" dirty="0"/>
              <a:t>Intermediate </a:t>
            </a:r>
            <a:r>
              <a:rPr lang="en-US" dirty="0" err="1"/>
              <a:t>cocomo</a:t>
            </a:r>
            <a:endParaRPr lang="en-US" dirty="0"/>
          </a:p>
        </p:txBody>
      </p:sp>
      <p:sp>
        <p:nvSpPr>
          <p:cNvPr id="4" name="Slide Number Placeholder 3">
            <a:extLst>
              <a:ext uri="{FF2B5EF4-FFF2-40B4-BE49-F238E27FC236}">
                <a16:creationId xmlns:a16="http://schemas.microsoft.com/office/drawing/2014/main" id="{064A1D94-6FC8-44D6-925E-35694DCB07A9}"/>
              </a:ext>
            </a:extLst>
          </p:cNvPr>
          <p:cNvSpPr>
            <a:spLocks noGrp="1"/>
          </p:cNvSpPr>
          <p:nvPr>
            <p:ph type="sldNum" sz="quarter" idx="12"/>
          </p:nvPr>
        </p:nvSpPr>
        <p:spPr/>
        <p:txBody>
          <a:bodyPr/>
          <a:lstStyle/>
          <a:p>
            <a:fld id="{255C45AA-988C-4610-8E25-9C545FF2A435}" type="slidenum">
              <a:rPr lang="en-US" smtClean="0"/>
              <a:t>30</a:t>
            </a:fld>
            <a:endParaRPr lang="en-US"/>
          </a:p>
        </p:txBody>
      </p:sp>
      <p:sp>
        <p:nvSpPr>
          <p:cNvPr id="6" name="Title 1">
            <a:extLst>
              <a:ext uri="{FF2B5EF4-FFF2-40B4-BE49-F238E27FC236}">
                <a16:creationId xmlns:a16="http://schemas.microsoft.com/office/drawing/2014/main" id="{33B67D0A-1BEC-47D4-84D5-5280813858AA}"/>
              </a:ext>
            </a:extLst>
          </p:cNvPr>
          <p:cNvSpPr txBox="1">
            <a:spLocks/>
          </p:cNvSpPr>
          <p:nvPr/>
        </p:nvSpPr>
        <p:spPr>
          <a:xfrm>
            <a:off x="1069848" y="475205"/>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a:t>Intermediate cocomo</a:t>
            </a:r>
            <a:endParaRPr lang="en-US" dirty="0"/>
          </a:p>
        </p:txBody>
      </p:sp>
      <p:pic>
        <p:nvPicPr>
          <p:cNvPr id="8" name="Picture 7">
            <a:extLst>
              <a:ext uri="{FF2B5EF4-FFF2-40B4-BE49-F238E27FC236}">
                <a16:creationId xmlns:a16="http://schemas.microsoft.com/office/drawing/2014/main" id="{5832EDBF-C3E4-499D-8C3D-1C628403C5B9}"/>
              </a:ext>
            </a:extLst>
          </p:cNvPr>
          <p:cNvPicPr>
            <a:picLocks noChangeAspect="1"/>
          </p:cNvPicPr>
          <p:nvPr/>
        </p:nvPicPr>
        <p:blipFill>
          <a:blip r:embed="rId3"/>
          <a:stretch>
            <a:fillRect/>
          </a:stretch>
        </p:blipFill>
        <p:spPr>
          <a:xfrm>
            <a:off x="1640963" y="1631135"/>
            <a:ext cx="6515665" cy="5006774"/>
          </a:xfrm>
          <a:prstGeom prst="rect">
            <a:avLst/>
          </a:prstGeom>
        </p:spPr>
      </p:pic>
    </p:spTree>
    <p:extLst>
      <p:ext uri="{BB962C8B-B14F-4D97-AF65-F5344CB8AC3E}">
        <p14:creationId xmlns:p14="http://schemas.microsoft.com/office/powerpoint/2010/main" val="42768292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5EF15-02A7-488A-B459-32A73980FD62}"/>
              </a:ext>
            </a:extLst>
          </p:cNvPr>
          <p:cNvSpPr>
            <a:spLocks noGrp="1"/>
          </p:cNvSpPr>
          <p:nvPr>
            <p:ph type="title"/>
          </p:nvPr>
        </p:nvSpPr>
        <p:spPr/>
        <p:txBody>
          <a:bodyPr/>
          <a:lstStyle/>
          <a:p>
            <a:r>
              <a:rPr lang="en-US" dirty="0"/>
              <a:t>Intermediate </a:t>
            </a:r>
            <a:r>
              <a:rPr lang="en-US" dirty="0" err="1"/>
              <a:t>cocomo</a:t>
            </a:r>
            <a:endParaRPr lang="en-US" dirty="0"/>
          </a:p>
        </p:txBody>
      </p:sp>
      <p:sp>
        <p:nvSpPr>
          <p:cNvPr id="4" name="Slide Number Placeholder 3">
            <a:extLst>
              <a:ext uri="{FF2B5EF4-FFF2-40B4-BE49-F238E27FC236}">
                <a16:creationId xmlns:a16="http://schemas.microsoft.com/office/drawing/2014/main" id="{064A1D94-6FC8-44D6-925E-35694DCB07A9}"/>
              </a:ext>
            </a:extLst>
          </p:cNvPr>
          <p:cNvSpPr>
            <a:spLocks noGrp="1"/>
          </p:cNvSpPr>
          <p:nvPr>
            <p:ph type="sldNum" sz="quarter" idx="12"/>
          </p:nvPr>
        </p:nvSpPr>
        <p:spPr/>
        <p:txBody>
          <a:bodyPr/>
          <a:lstStyle/>
          <a:p>
            <a:fld id="{255C45AA-988C-4610-8E25-9C545FF2A435}" type="slidenum">
              <a:rPr lang="en-US" smtClean="0"/>
              <a:t>31</a:t>
            </a:fld>
            <a:endParaRPr lang="en-US"/>
          </a:p>
        </p:txBody>
      </p:sp>
      <p:sp>
        <p:nvSpPr>
          <p:cNvPr id="6" name="Title 1">
            <a:extLst>
              <a:ext uri="{FF2B5EF4-FFF2-40B4-BE49-F238E27FC236}">
                <a16:creationId xmlns:a16="http://schemas.microsoft.com/office/drawing/2014/main" id="{33B67D0A-1BEC-47D4-84D5-5280813858AA}"/>
              </a:ext>
            </a:extLst>
          </p:cNvPr>
          <p:cNvSpPr txBox="1">
            <a:spLocks/>
          </p:cNvSpPr>
          <p:nvPr/>
        </p:nvSpPr>
        <p:spPr>
          <a:xfrm>
            <a:off x="1069848" y="475205"/>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a:t>Intermediate cocomo</a:t>
            </a:r>
            <a:endParaRPr lang="en-US" dirty="0"/>
          </a:p>
        </p:txBody>
      </p:sp>
      <p:pic>
        <p:nvPicPr>
          <p:cNvPr id="5" name="Picture 4">
            <a:extLst>
              <a:ext uri="{FF2B5EF4-FFF2-40B4-BE49-F238E27FC236}">
                <a16:creationId xmlns:a16="http://schemas.microsoft.com/office/drawing/2014/main" id="{84277C84-C7CC-400D-A86C-3755748F340C}"/>
              </a:ext>
            </a:extLst>
          </p:cNvPr>
          <p:cNvPicPr>
            <a:picLocks noChangeAspect="1"/>
          </p:cNvPicPr>
          <p:nvPr/>
        </p:nvPicPr>
        <p:blipFill>
          <a:blip r:embed="rId3"/>
          <a:stretch>
            <a:fillRect/>
          </a:stretch>
        </p:blipFill>
        <p:spPr>
          <a:xfrm>
            <a:off x="2395726" y="1616227"/>
            <a:ext cx="6759526" cy="4839119"/>
          </a:xfrm>
          <a:prstGeom prst="rect">
            <a:avLst/>
          </a:prstGeom>
        </p:spPr>
      </p:pic>
    </p:spTree>
    <p:extLst>
      <p:ext uri="{BB962C8B-B14F-4D97-AF65-F5344CB8AC3E}">
        <p14:creationId xmlns:p14="http://schemas.microsoft.com/office/powerpoint/2010/main" val="71669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12BCC-586E-4750-94FF-0E70E149CFA1}"/>
              </a:ext>
            </a:extLst>
          </p:cNvPr>
          <p:cNvSpPr>
            <a:spLocks noGrp="1"/>
          </p:cNvSpPr>
          <p:nvPr>
            <p:ph type="title"/>
          </p:nvPr>
        </p:nvSpPr>
        <p:spPr/>
        <p:txBody>
          <a:bodyPr/>
          <a:lstStyle/>
          <a:p>
            <a:r>
              <a:rPr lang="en-US" dirty="0"/>
              <a:t>Detailed </a:t>
            </a:r>
            <a:r>
              <a:rPr lang="en-US" dirty="0" err="1"/>
              <a:t>cocomo</a:t>
            </a:r>
            <a:endParaRPr lang="en-US" dirty="0"/>
          </a:p>
        </p:txBody>
      </p:sp>
      <p:sp>
        <p:nvSpPr>
          <p:cNvPr id="3" name="Content Placeholder 2">
            <a:extLst>
              <a:ext uri="{FF2B5EF4-FFF2-40B4-BE49-F238E27FC236}">
                <a16:creationId xmlns:a16="http://schemas.microsoft.com/office/drawing/2014/main" id="{EDF24464-C957-47CA-BBF4-5B1DB32FFFE7}"/>
              </a:ext>
            </a:extLst>
          </p:cNvPr>
          <p:cNvSpPr>
            <a:spLocks noGrp="1"/>
          </p:cNvSpPr>
          <p:nvPr>
            <p:ph idx="1"/>
          </p:nvPr>
        </p:nvSpPr>
        <p:spPr/>
        <p:txBody>
          <a:bodyPr>
            <a:normAutofit fontScale="92500" lnSpcReduction="10000"/>
          </a:bodyPr>
          <a:lstStyle/>
          <a:p>
            <a:r>
              <a:rPr lang="en-US" dirty="0"/>
              <a:t>The detailed COCOMO (Constructive Cost Model) is an advanced software cost-estimation framework that refines intermediate estimates by breaking a project into individual phases and applying phase-specific cost drivers to separate system modules</a:t>
            </a:r>
          </a:p>
          <a:p>
            <a:r>
              <a:rPr lang="en-US" b="1" dirty="0"/>
              <a:t>Six Phases of Detailed COCOMO</a:t>
            </a:r>
          </a:p>
          <a:p>
            <a:r>
              <a:rPr lang="en-US" dirty="0"/>
              <a:t>The software engineering process is divided into six distinct hierarchical phases:</a:t>
            </a:r>
          </a:p>
          <a:p>
            <a:pPr marL="457200" indent="-457200">
              <a:buFont typeface="+mj-lt"/>
              <a:buAutoNum type="arabicPeriod"/>
            </a:pPr>
            <a:r>
              <a:rPr lang="en-US" sz="1900" b="1" dirty="0"/>
              <a:t>Planning and Requirements:</a:t>
            </a:r>
            <a:r>
              <a:rPr lang="en-US" sz="1900" dirty="0"/>
              <a:t> Defining scope, goals, and system specifications.</a:t>
            </a:r>
          </a:p>
          <a:p>
            <a:pPr marL="457200" indent="-457200">
              <a:buFont typeface="+mj-lt"/>
              <a:buAutoNum type="arabicPeriod"/>
            </a:pPr>
            <a:r>
              <a:rPr lang="en-US" sz="1900" b="1" dirty="0"/>
              <a:t>System Structure:</a:t>
            </a:r>
            <a:r>
              <a:rPr lang="en-US" sz="1900" dirty="0"/>
              <a:t> High-level architectural design and database layout.</a:t>
            </a:r>
          </a:p>
          <a:p>
            <a:pPr marL="457200" indent="-457200">
              <a:buFont typeface="+mj-lt"/>
              <a:buAutoNum type="arabicPeriod"/>
            </a:pPr>
            <a:r>
              <a:rPr lang="en-US" sz="1900" b="1" dirty="0"/>
              <a:t>Component Structure:</a:t>
            </a:r>
            <a:r>
              <a:rPr lang="en-US" sz="1900" dirty="0"/>
              <a:t> Detailed subsystem and module design.</a:t>
            </a:r>
          </a:p>
          <a:p>
            <a:pPr marL="457200" indent="-457200">
              <a:buFont typeface="+mj-lt"/>
              <a:buAutoNum type="arabicPeriod"/>
            </a:pPr>
            <a:r>
              <a:rPr lang="en-US" sz="1900" b="1" dirty="0"/>
              <a:t>Module Code and Test:</a:t>
            </a:r>
            <a:r>
              <a:rPr lang="en-US" sz="1900" dirty="0"/>
              <a:t> Individual unit coding and testing.</a:t>
            </a:r>
          </a:p>
          <a:p>
            <a:pPr marL="457200" indent="-457200">
              <a:buFont typeface="+mj-lt"/>
              <a:buAutoNum type="arabicPeriod"/>
            </a:pPr>
            <a:r>
              <a:rPr lang="en-US" sz="1900" b="1" dirty="0"/>
              <a:t>Integration and Test:</a:t>
            </a:r>
            <a:r>
              <a:rPr lang="en-US" sz="1900" dirty="0"/>
              <a:t> Putting modules together to verify overall system behavior.</a:t>
            </a:r>
          </a:p>
          <a:p>
            <a:pPr marL="457200" indent="-457200">
              <a:buFont typeface="+mj-lt"/>
              <a:buAutoNum type="arabicPeriod"/>
            </a:pPr>
            <a:r>
              <a:rPr lang="en-US" sz="1900" b="1" dirty="0"/>
              <a:t>Cost Constructive Model (Operation/Maintenance)</a:t>
            </a:r>
            <a:r>
              <a:rPr lang="en-US" sz="1900" dirty="0"/>
              <a:t>: Final tuning, deployment, and lifecycle adjustments.</a:t>
            </a:r>
          </a:p>
        </p:txBody>
      </p:sp>
      <p:sp>
        <p:nvSpPr>
          <p:cNvPr id="4" name="Slide Number Placeholder 3">
            <a:extLst>
              <a:ext uri="{FF2B5EF4-FFF2-40B4-BE49-F238E27FC236}">
                <a16:creationId xmlns:a16="http://schemas.microsoft.com/office/drawing/2014/main" id="{47C00A9E-3D18-4AC9-99FC-FF353A48FD1A}"/>
              </a:ext>
            </a:extLst>
          </p:cNvPr>
          <p:cNvSpPr>
            <a:spLocks noGrp="1"/>
          </p:cNvSpPr>
          <p:nvPr>
            <p:ph type="sldNum" sz="quarter" idx="12"/>
          </p:nvPr>
        </p:nvSpPr>
        <p:spPr/>
        <p:txBody>
          <a:bodyPr/>
          <a:lstStyle/>
          <a:p>
            <a:fld id="{255C45AA-988C-4610-8E25-9C545FF2A435}" type="slidenum">
              <a:rPr lang="en-US" smtClean="0"/>
              <a:t>32</a:t>
            </a:fld>
            <a:endParaRPr lang="en-US"/>
          </a:p>
        </p:txBody>
      </p:sp>
    </p:spTree>
    <p:extLst>
      <p:ext uri="{BB962C8B-B14F-4D97-AF65-F5344CB8AC3E}">
        <p14:creationId xmlns:p14="http://schemas.microsoft.com/office/powerpoint/2010/main" val="9094437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Quality Management</a:t>
            </a:r>
            <a:endParaRPr lang="en-US" dirty="0"/>
          </a:p>
        </p:txBody>
      </p:sp>
      <p:sp>
        <p:nvSpPr>
          <p:cNvPr id="5" name="Rectangle 2">
            <a:extLst>
              <a:ext uri="{FF2B5EF4-FFF2-40B4-BE49-F238E27FC236}">
                <a16:creationId xmlns:a16="http://schemas.microsoft.com/office/drawing/2014/main" id="{DD2FF1D2-C5A6-44FF-A46B-14FECF532AC2}"/>
              </a:ext>
            </a:extLst>
          </p:cNvPr>
          <p:cNvSpPr>
            <a:spLocks noGrp="1" noChangeArrowheads="1"/>
          </p:cNvSpPr>
          <p:nvPr>
            <p:ph idx="1"/>
          </p:nvPr>
        </p:nvSpPr>
        <p:spPr bwMode="auto">
          <a:xfrm>
            <a:off x="737370" y="2146992"/>
            <a:ext cx="10515600" cy="3262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Google Sans"/>
              </a:rPr>
              <a:t>Software Quality Management ensures the required level of quality is achieved by submitting improvements to the product development process.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Google Sans"/>
              </a:rPr>
              <a:t>Core Activities</a:t>
            </a:r>
            <a:endParaRPr kumimoji="0" lang="en-US" altLang="en-US"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Google Sans"/>
              </a:rPr>
              <a:t>1) Quality Assurance:</a:t>
            </a:r>
            <a:r>
              <a:rPr kumimoji="0" lang="en-US" altLang="en-US" b="0" i="0" u="none" strike="noStrike" cap="none" normalizeH="0" baseline="0" dirty="0">
                <a:ln>
                  <a:noFill/>
                </a:ln>
                <a:solidFill>
                  <a:schemeClr val="tx1"/>
                </a:solidFill>
                <a:effectLst/>
                <a:latin typeface="Google Sans"/>
              </a:rPr>
              <a:t> Developing organizational procedures and standards for quality at an organizational level.</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Google Sans"/>
              </a:rPr>
              <a:t>2) Quality Planning:</a:t>
            </a:r>
            <a:r>
              <a:rPr kumimoji="0" lang="en-US" altLang="en-US" b="0" i="0" u="none" strike="noStrike" cap="none" normalizeH="0" baseline="0" dirty="0">
                <a:ln>
                  <a:noFill/>
                </a:ln>
                <a:solidFill>
                  <a:schemeClr val="tx1"/>
                </a:solidFill>
                <a:effectLst/>
                <a:latin typeface="Google Sans"/>
              </a:rPr>
              <a:t> Selecting and tailoring standards and procedures to create a project-specific quality plan.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Google Sans"/>
              </a:rPr>
              <a:t>3) Quality Control:</a:t>
            </a:r>
            <a:r>
              <a:rPr kumimoji="0" lang="en-US" altLang="en-US" b="0" i="0" u="none" strike="noStrike" cap="none" normalizeH="0" baseline="0" dirty="0">
                <a:ln>
                  <a:noFill/>
                </a:ln>
                <a:solidFill>
                  <a:schemeClr val="tx1"/>
                </a:solidFill>
                <a:effectLst/>
                <a:latin typeface="Google Sans"/>
              </a:rPr>
              <a:t> Monitoring and verifying that the team follows established best practices during development.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909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643D7-D21A-4750-9A03-CC8062BD0CD0}"/>
              </a:ext>
            </a:extLst>
          </p:cNvPr>
          <p:cNvSpPr>
            <a:spLocks noGrp="1"/>
          </p:cNvSpPr>
          <p:nvPr>
            <p:ph type="title"/>
          </p:nvPr>
        </p:nvSpPr>
        <p:spPr/>
        <p:txBody>
          <a:bodyPr>
            <a:normAutofit/>
          </a:bodyPr>
          <a:lstStyle/>
          <a:p>
            <a:r>
              <a:rPr lang="en-US" sz="4800" b="1" dirty="0"/>
              <a:t>Configuration management</a:t>
            </a:r>
          </a:p>
        </p:txBody>
      </p:sp>
      <p:sp>
        <p:nvSpPr>
          <p:cNvPr id="4" name="Slide Number Placeholder 3">
            <a:extLst>
              <a:ext uri="{FF2B5EF4-FFF2-40B4-BE49-F238E27FC236}">
                <a16:creationId xmlns:a16="http://schemas.microsoft.com/office/drawing/2014/main" id="{8095D881-61D8-4685-B626-53C9D22CE17E}"/>
              </a:ext>
            </a:extLst>
          </p:cNvPr>
          <p:cNvSpPr>
            <a:spLocks noGrp="1"/>
          </p:cNvSpPr>
          <p:nvPr>
            <p:ph type="sldNum" sz="quarter" idx="12"/>
          </p:nvPr>
        </p:nvSpPr>
        <p:spPr/>
        <p:txBody>
          <a:bodyPr/>
          <a:lstStyle/>
          <a:p>
            <a:fld id="{255C45AA-988C-4610-8E25-9C545FF2A435}" type="slidenum">
              <a:rPr lang="en-US" smtClean="0"/>
              <a:t>34</a:t>
            </a:fld>
            <a:endParaRPr lang="en-US"/>
          </a:p>
        </p:txBody>
      </p:sp>
      <p:sp>
        <p:nvSpPr>
          <p:cNvPr id="5" name="Rectangle 1">
            <a:extLst>
              <a:ext uri="{FF2B5EF4-FFF2-40B4-BE49-F238E27FC236}">
                <a16:creationId xmlns:a16="http://schemas.microsoft.com/office/drawing/2014/main" id="{30E8AEA6-A2C2-4A31-B4E2-C1C174508B99}"/>
              </a:ext>
            </a:extLst>
          </p:cNvPr>
          <p:cNvSpPr>
            <a:spLocks noGrp="1" noChangeArrowheads="1"/>
          </p:cNvSpPr>
          <p:nvPr>
            <p:ph idx="1"/>
          </p:nvPr>
        </p:nvSpPr>
        <p:spPr bwMode="auto">
          <a:xfrm>
            <a:off x="1069848" y="2115482"/>
            <a:ext cx="1024128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a:rPr>
              <a:t>Configuration management is the process of handling changes and keeping track of different versions in software systems. </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Google Sans"/>
              </a:rPr>
              <a:t>It involves the policies, processes, and tools used to manage evolving software systems.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Google Sans"/>
              </a:rPr>
              <a:t>It prevents loss of track regarding which component versions and modifications belong to each system release.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Google Sans"/>
              </a:rPr>
              <a:t>Core Activities</a:t>
            </a:r>
            <a:endParaRPr kumimoji="0" lang="en-US" altLang="en-US" sz="105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Google Sans"/>
              </a:rPr>
              <a:t>Change Management:</a:t>
            </a:r>
            <a:r>
              <a:rPr kumimoji="0" lang="en-US" altLang="en-US" sz="1800" b="0" i="0" u="none" strike="noStrike" cap="none" normalizeH="0" baseline="0" dirty="0">
                <a:ln>
                  <a:noFill/>
                </a:ln>
                <a:solidFill>
                  <a:schemeClr val="tx1"/>
                </a:solidFill>
                <a:effectLst/>
                <a:latin typeface="Google Sans"/>
              </a:rPr>
              <a:t> Keeps track of requests for changes to the software and assesses their impact.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Google Sans"/>
              </a:rPr>
              <a:t>Version Management:</a:t>
            </a:r>
            <a:r>
              <a:rPr kumimoji="0" lang="en-US" altLang="en-US" sz="1800" b="0" i="0" u="none" strike="noStrike" cap="none" normalizeH="0" baseline="0" dirty="0">
                <a:ln>
                  <a:noFill/>
                </a:ln>
                <a:solidFill>
                  <a:schemeClr val="tx1"/>
                </a:solidFill>
                <a:effectLst/>
                <a:latin typeface="Google Sans"/>
              </a:rPr>
              <a:t> Manages multiple versions of software components and ensures that changes made by different developers do not conflict.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Google Sans"/>
              </a:rPr>
              <a:t>System Building:</a:t>
            </a:r>
            <a:r>
              <a:rPr kumimoji="0" lang="en-US" altLang="en-US" sz="1800" b="0" i="0" u="none" strike="noStrike" cap="none" normalizeH="0" baseline="0" dirty="0">
                <a:ln>
                  <a:noFill/>
                </a:ln>
                <a:solidFill>
                  <a:schemeClr val="tx1"/>
                </a:solidFill>
                <a:effectLst/>
                <a:latin typeface="Google Sans"/>
              </a:rPr>
              <a:t> Combines program components, libraries, and configuration data to create an executable system.</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Google Sans"/>
              </a:rPr>
              <a:t>Release Management:</a:t>
            </a:r>
            <a:r>
              <a:rPr kumimoji="0" lang="en-US" altLang="en-US" sz="1800" b="0" i="0" u="none" strike="noStrike" cap="none" normalizeH="0" baseline="0" dirty="0">
                <a:ln>
                  <a:noFill/>
                </a:ln>
                <a:solidFill>
                  <a:schemeClr val="tx1"/>
                </a:solidFill>
                <a:effectLst/>
                <a:latin typeface="Google Sans"/>
              </a:rPr>
              <a:t> Prepares software for external or internal distribution, including packaging and documenting the release.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544653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CE061C-DC39-4F16-BA73-3D452D51FA47}"/>
              </a:ext>
            </a:extLst>
          </p:cNvPr>
          <p:cNvSpPr>
            <a:spLocks noGrp="1"/>
          </p:cNvSpPr>
          <p:nvPr>
            <p:ph type="title"/>
          </p:nvPr>
        </p:nvSpPr>
        <p:spPr/>
        <p:txBody>
          <a:bodyPr/>
          <a:lstStyle/>
          <a:p>
            <a:r>
              <a:rPr lang="en-US" dirty="0"/>
              <a:t>End of unit 10</a:t>
            </a:r>
          </a:p>
        </p:txBody>
      </p:sp>
      <p:sp>
        <p:nvSpPr>
          <p:cNvPr id="2" name="Slide Number Placeholder 1">
            <a:extLst>
              <a:ext uri="{FF2B5EF4-FFF2-40B4-BE49-F238E27FC236}">
                <a16:creationId xmlns:a16="http://schemas.microsoft.com/office/drawing/2014/main" id="{60992EE2-28BE-4C3F-84F4-906D77A2E9EC}"/>
              </a:ext>
            </a:extLst>
          </p:cNvPr>
          <p:cNvSpPr>
            <a:spLocks noGrp="1"/>
          </p:cNvSpPr>
          <p:nvPr>
            <p:ph type="sldNum" sz="quarter" idx="12"/>
          </p:nvPr>
        </p:nvSpPr>
        <p:spPr/>
        <p:txBody>
          <a:bodyPr/>
          <a:lstStyle/>
          <a:p>
            <a:fld id="{255C45AA-988C-4610-8E25-9C545FF2A435}" type="slidenum">
              <a:rPr lang="en-US" smtClean="0"/>
              <a:t>35</a:t>
            </a:fld>
            <a:endParaRPr lang="en-US"/>
          </a:p>
        </p:txBody>
      </p:sp>
    </p:spTree>
    <p:extLst>
      <p:ext uri="{BB962C8B-B14F-4D97-AF65-F5344CB8AC3E}">
        <p14:creationId xmlns:p14="http://schemas.microsoft.com/office/powerpoint/2010/main" val="33554693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1606</TotalTime>
  <Words>3159</Words>
  <Application>Microsoft Office PowerPoint</Application>
  <PresentationFormat>Widescreen</PresentationFormat>
  <Paragraphs>235</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Courier New</vt:lpstr>
      <vt:lpstr>Google Sans</vt:lpstr>
      <vt:lpstr>Times New Roman</vt:lpstr>
      <vt:lpstr>Wingdings</vt:lpstr>
      <vt:lpstr>Wood Type</vt:lpstr>
      <vt:lpstr>Unit 10  Software Management </vt:lpstr>
      <vt:lpstr>Syllabus</vt:lpstr>
      <vt:lpstr>Software project management</vt:lpstr>
      <vt:lpstr>Software project manager</vt:lpstr>
      <vt:lpstr>Project management activities</vt:lpstr>
      <vt:lpstr>Project management activities</vt:lpstr>
      <vt:lpstr>1.Project Planning</vt:lpstr>
      <vt:lpstr>Plan sections</vt:lpstr>
      <vt:lpstr>Types of Plan</vt:lpstr>
      <vt:lpstr>Milestone and deliverables</vt:lpstr>
      <vt:lpstr>2. Project scheduling</vt:lpstr>
      <vt:lpstr>2. Project scheduling</vt:lpstr>
      <vt:lpstr>3.Risk management</vt:lpstr>
      <vt:lpstr>Types of risks in SPM</vt:lpstr>
      <vt:lpstr>Risk management process</vt:lpstr>
      <vt:lpstr>Risk management process</vt:lpstr>
      <vt:lpstr>Risk management process</vt:lpstr>
      <vt:lpstr>Risk management process</vt:lpstr>
      <vt:lpstr>Plan driven development</vt:lpstr>
      <vt:lpstr>Software pricing</vt:lpstr>
      <vt:lpstr>Estimation techniques</vt:lpstr>
      <vt:lpstr>Estimation techniques</vt:lpstr>
      <vt:lpstr>Cocomo model</vt:lpstr>
      <vt:lpstr>PowerPoint Presentation</vt:lpstr>
      <vt:lpstr>Types of cocomo model</vt:lpstr>
      <vt:lpstr>Basic cocomo model</vt:lpstr>
      <vt:lpstr>numerical</vt:lpstr>
      <vt:lpstr>Intermediate cocomo</vt:lpstr>
      <vt:lpstr>Intermediate cocomo</vt:lpstr>
      <vt:lpstr>Intermediate cocomo</vt:lpstr>
      <vt:lpstr>Intermediate cocomo</vt:lpstr>
      <vt:lpstr>Detailed cocomo</vt:lpstr>
      <vt:lpstr>Quality Management</vt:lpstr>
      <vt:lpstr>Configuration management</vt:lpstr>
      <vt:lpstr>End of unit 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Yachu</dc:creator>
  <cp:lastModifiedBy>Yachu</cp:lastModifiedBy>
  <cp:revision>215</cp:revision>
  <dcterms:created xsi:type="dcterms:W3CDTF">2026-06-22T07:06:56Z</dcterms:created>
  <dcterms:modified xsi:type="dcterms:W3CDTF">2026-09-02T04:25:11Z</dcterms:modified>
</cp:coreProperties>
</file>