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31"/>
  </p:notesMasterIdLst>
  <p:sldIdLst>
    <p:sldId id="256" r:id="rId2"/>
    <p:sldId id="257" r:id="rId3"/>
    <p:sldId id="269" r:id="rId4"/>
    <p:sldId id="270" r:id="rId5"/>
    <p:sldId id="282" r:id="rId6"/>
    <p:sldId id="299" r:id="rId7"/>
    <p:sldId id="258" r:id="rId8"/>
    <p:sldId id="259" r:id="rId9"/>
    <p:sldId id="273" r:id="rId10"/>
    <p:sldId id="274" r:id="rId11"/>
    <p:sldId id="275" r:id="rId12"/>
    <p:sldId id="260" r:id="rId13"/>
    <p:sldId id="261" r:id="rId14"/>
    <p:sldId id="262" r:id="rId15"/>
    <p:sldId id="263" r:id="rId16"/>
    <p:sldId id="264" r:id="rId17"/>
    <p:sldId id="265" r:id="rId18"/>
    <p:sldId id="266" r:id="rId19"/>
    <p:sldId id="267" r:id="rId20"/>
    <p:sldId id="268" r:id="rId21"/>
    <p:sldId id="301" r:id="rId22"/>
    <p:sldId id="271" r:id="rId23"/>
    <p:sldId id="278" r:id="rId24"/>
    <p:sldId id="279" r:id="rId25"/>
    <p:sldId id="300" r:id="rId26"/>
    <p:sldId id="280" r:id="rId27"/>
    <p:sldId id="276" r:id="rId28"/>
    <p:sldId id="277" r:id="rId29"/>
    <p:sldId id="298"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6B1576-DB5A-4005-800E-9F4E1A9C0144}">
          <p14:sldIdLst>
            <p14:sldId id="256"/>
            <p14:sldId id="257"/>
            <p14:sldId id="269"/>
            <p14:sldId id="270"/>
            <p14:sldId id="282"/>
            <p14:sldId id="299"/>
            <p14:sldId id="258"/>
            <p14:sldId id="259"/>
            <p14:sldId id="273"/>
            <p14:sldId id="274"/>
            <p14:sldId id="275"/>
            <p14:sldId id="260"/>
            <p14:sldId id="261"/>
            <p14:sldId id="262"/>
            <p14:sldId id="263"/>
            <p14:sldId id="264"/>
            <p14:sldId id="265"/>
            <p14:sldId id="266"/>
            <p14:sldId id="267"/>
            <p14:sldId id="268"/>
            <p14:sldId id="301"/>
            <p14:sldId id="271"/>
            <p14:sldId id="278"/>
            <p14:sldId id="279"/>
            <p14:sldId id="300"/>
            <p14:sldId id="280"/>
            <p14:sldId id="276"/>
            <p14:sldId id="27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1CF43-AC23-449C-9970-2574E72FAE5D}"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2C457-EB94-446C-B827-529C14765A18}" type="slidenum">
              <a:rPr lang="en-US" smtClean="0"/>
              <a:t>‹#›</a:t>
            </a:fld>
            <a:endParaRPr lang="en-US"/>
          </a:p>
        </p:txBody>
      </p:sp>
    </p:spTree>
    <p:extLst>
      <p:ext uri="{BB962C8B-B14F-4D97-AF65-F5344CB8AC3E}">
        <p14:creationId xmlns:p14="http://schemas.microsoft.com/office/powerpoint/2010/main" val="2457178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evolution refers to the process of </a:t>
            </a:r>
            <a:r>
              <a:rPr lang="en-US" b="1" dirty="0"/>
              <a:t>continuous development, modification, and adaptation of a system over time to meet changing requirements, improve performance, enhance security, and integrate new technologies.</a:t>
            </a:r>
          </a:p>
          <a:p>
            <a:endParaRPr lang="en-US" b="1" dirty="0"/>
          </a:p>
          <a:p>
            <a:r>
              <a:rPr lang="en-US" b="1" dirty="0"/>
              <a:t>Example:</a:t>
            </a:r>
          </a:p>
          <a:p>
            <a:r>
              <a:rPr lang="en-US" dirty="0"/>
              <a:t>Microsoft Windows has undergone significant evolution since its first release in 1985. Each version has introduced new features, improved performance, and adapted to changing user needs and technological advancements.</a:t>
            </a:r>
          </a:p>
          <a:p>
            <a:r>
              <a:rPr lang="en-US" b="1" dirty="0"/>
              <a:t>Key Stages in Windows Evolution:</a:t>
            </a:r>
          </a:p>
          <a:p>
            <a:r>
              <a:rPr lang="en-US" b="1" dirty="0"/>
              <a:t>1. Early Versions (1985 – 1995)</a:t>
            </a:r>
          </a:p>
          <a:p>
            <a:pPr>
              <a:buFont typeface="Arial" panose="020B0604020202020204" pitchFamily="34" charset="0"/>
              <a:buChar char="•"/>
            </a:pPr>
            <a:r>
              <a:rPr lang="en-US" b="1" dirty="0"/>
              <a:t>Windows 1.0 (1985)</a:t>
            </a:r>
            <a:r>
              <a:rPr lang="en-US" dirty="0"/>
              <a:t> – First graphical user interface (GUI) for MS-DOS.</a:t>
            </a:r>
          </a:p>
          <a:p>
            <a:pPr>
              <a:buFont typeface="Arial" panose="020B0604020202020204" pitchFamily="34" charset="0"/>
              <a:buChar char="•"/>
            </a:pPr>
            <a:r>
              <a:rPr lang="en-US" b="1" dirty="0"/>
              <a:t>Windows 3.0 &amp; 3.1 (1990 – 1992)</a:t>
            </a:r>
            <a:r>
              <a:rPr lang="en-US" dirty="0"/>
              <a:t> – Improved multitasking, icons, and better performance.</a:t>
            </a:r>
          </a:p>
          <a:p>
            <a:r>
              <a:rPr lang="en-US" b="1" dirty="0"/>
              <a:t>2. Windows 95 to Windows XP (1995 – 2001)</a:t>
            </a:r>
          </a:p>
          <a:p>
            <a:pPr>
              <a:buFont typeface="Arial" panose="020B0604020202020204" pitchFamily="34" charset="0"/>
              <a:buChar char="•"/>
            </a:pPr>
            <a:r>
              <a:rPr lang="en-US" b="1" dirty="0"/>
              <a:t>Windows 95 (1995)</a:t>
            </a:r>
            <a:r>
              <a:rPr lang="en-US" dirty="0"/>
              <a:t> – Introduced the </a:t>
            </a:r>
            <a:r>
              <a:rPr lang="en-US" b="1" dirty="0"/>
              <a:t>Start Menu</a:t>
            </a:r>
            <a:r>
              <a:rPr lang="en-US" dirty="0"/>
              <a:t>, Taskbar, and Plug-and-Play support.</a:t>
            </a:r>
          </a:p>
          <a:p>
            <a:pPr>
              <a:buFont typeface="Arial" panose="020B0604020202020204" pitchFamily="34" charset="0"/>
              <a:buChar char="•"/>
            </a:pPr>
            <a:r>
              <a:rPr lang="en-US" b="1" dirty="0"/>
              <a:t>Windows 98 (1998)</a:t>
            </a:r>
            <a:r>
              <a:rPr lang="en-US" dirty="0"/>
              <a:t> – Improved Internet integration with Internet Explorer.</a:t>
            </a:r>
          </a:p>
          <a:p>
            <a:pPr>
              <a:buFont typeface="Arial" panose="020B0604020202020204" pitchFamily="34" charset="0"/>
              <a:buChar char="•"/>
            </a:pPr>
            <a:r>
              <a:rPr lang="en-US" b="1" dirty="0"/>
              <a:t>Windows 2000 &amp; ME (2000)</a:t>
            </a:r>
            <a:r>
              <a:rPr lang="en-US" dirty="0"/>
              <a:t> – Stability improvements and multimedia enhancements.</a:t>
            </a:r>
          </a:p>
          <a:p>
            <a:pPr>
              <a:buFont typeface="Arial" panose="020B0604020202020204" pitchFamily="34" charset="0"/>
              <a:buChar char="•"/>
            </a:pPr>
            <a:r>
              <a:rPr lang="en-US" b="1" dirty="0"/>
              <a:t>Windows XP (2001)</a:t>
            </a:r>
            <a:r>
              <a:rPr lang="en-US" dirty="0"/>
              <a:t> – Highly popular, user-friendly UI, improved performance, and security.</a:t>
            </a:r>
          </a:p>
          <a:p>
            <a:r>
              <a:rPr lang="en-US" b="1" dirty="0"/>
              <a:t>3. Modern Windows (2007 – 2015)</a:t>
            </a:r>
          </a:p>
          <a:p>
            <a:pPr>
              <a:buFont typeface="Arial" panose="020B0604020202020204" pitchFamily="34" charset="0"/>
              <a:buChar char="•"/>
            </a:pPr>
            <a:r>
              <a:rPr lang="en-US" b="1" dirty="0"/>
              <a:t>Windows Vista (2007)</a:t>
            </a:r>
            <a:r>
              <a:rPr lang="en-US" dirty="0"/>
              <a:t> – Introduced the </a:t>
            </a:r>
            <a:r>
              <a:rPr lang="en-US" b="1" dirty="0"/>
              <a:t>Aero UI</a:t>
            </a:r>
            <a:r>
              <a:rPr lang="en-US" dirty="0"/>
              <a:t>, but criticized for performance issues.</a:t>
            </a:r>
          </a:p>
          <a:p>
            <a:pPr>
              <a:buFont typeface="Arial" panose="020B0604020202020204" pitchFamily="34" charset="0"/>
              <a:buChar char="•"/>
            </a:pPr>
            <a:r>
              <a:rPr lang="en-US" b="1" dirty="0"/>
              <a:t>Windows 7 (2009)</a:t>
            </a:r>
            <a:r>
              <a:rPr lang="en-US" dirty="0"/>
              <a:t> – Faster, more stable, with enhanced touch support.</a:t>
            </a:r>
          </a:p>
          <a:p>
            <a:pPr>
              <a:buFont typeface="Arial" panose="020B0604020202020204" pitchFamily="34" charset="0"/>
              <a:buChar char="•"/>
            </a:pPr>
            <a:r>
              <a:rPr lang="en-US" b="1" dirty="0"/>
              <a:t>Windows 8 &amp; 8.1 (2012 – 2013)</a:t>
            </a:r>
            <a:r>
              <a:rPr lang="en-US" dirty="0"/>
              <a:t> – Introduced </a:t>
            </a:r>
            <a:r>
              <a:rPr lang="en-US" b="1" dirty="0"/>
              <a:t>Metro UI</a:t>
            </a:r>
            <a:r>
              <a:rPr lang="en-US" dirty="0"/>
              <a:t>, Live Tiles, and removed Start Menu (which users disliked).</a:t>
            </a:r>
          </a:p>
          <a:p>
            <a:pPr>
              <a:buFont typeface="Arial" panose="020B0604020202020204" pitchFamily="34" charset="0"/>
              <a:buChar char="•"/>
            </a:pPr>
            <a:r>
              <a:rPr lang="en-US" b="1" dirty="0"/>
              <a:t>Windows 10 (2015)</a:t>
            </a:r>
            <a:r>
              <a:rPr lang="en-US" dirty="0"/>
              <a:t> – Brought back the Start Menu, virtual desktops, and Cortana voice assistant.</a:t>
            </a:r>
          </a:p>
          <a:p>
            <a:r>
              <a:rPr lang="en-US" b="1" dirty="0"/>
              <a:t>4. Latest Windows (2021 – Present)</a:t>
            </a:r>
          </a:p>
          <a:p>
            <a:pPr>
              <a:buFont typeface="Arial" panose="020B0604020202020204" pitchFamily="34" charset="0"/>
              <a:buChar char="•"/>
            </a:pPr>
            <a:r>
              <a:rPr lang="en-US" b="1" dirty="0"/>
              <a:t>Windows 11 (2021)</a:t>
            </a:r>
            <a:r>
              <a:rPr lang="en-US" dirty="0"/>
              <a:t> – Redesigned UI, centered Start Menu, enhanced performance, and better multitasking with </a:t>
            </a:r>
            <a:r>
              <a:rPr lang="en-US" b="1" dirty="0"/>
              <a:t>Snap Layouts</a:t>
            </a:r>
            <a:r>
              <a:rPr lang="en-US" dirty="0"/>
              <a:t>.</a:t>
            </a:r>
          </a:p>
          <a:p>
            <a:pPr>
              <a:buFont typeface="Arial" panose="020B0604020202020204" pitchFamily="34" charset="0"/>
              <a:buChar char="•"/>
            </a:pPr>
            <a:r>
              <a:rPr lang="en-US" b="1" dirty="0"/>
              <a:t>Future Windows</a:t>
            </a:r>
            <a:r>
              <a:rPr lang="en-US" dirty="0"/>
              <a:t> – Expected to integrate AI, better cloud computing, and VR/AR features.</a:t>
            </a:r>
          </a:p>
          <a:p>
            <a:endParaRPr lang="en-US" b="1" dirty="0"/>
          </a:p>
        </p:txBody>
      </p:sp>
      <p:sp>
        <p:nvSpPr>
          <p:cNvPr id="4" name="Slide Number Placeholder 3"/>
          <p:cNvSpPr>
            <a:spLocks noGrp="1"/>
          </p:cNvSpPr>
          <p:nvPr>
            <p:ph type="sldNum" sz="quarter" idx="5"/>
          </p:nvPr>
        </p:nvSpPr>
        <p:spPr/>
        <p:txBody>
          <a:bodyPr/>
          <a:lstStyle/>
          <a:p>
            <a:fld id="{CEF252C2-178E-45FF-987A-7BED46949438}" type="slidenum">
              <a:rPr lang="en-US" smtClean="0"/>
              <a:t>3</a:t>
            </a:fld>
            <a:endParaRPr lang="en-US"/>
          </a:p>
        </p:txBody>
      </p:sp>
    </p:spTree>
    <p:extLst>
      <p:ext uri="{BB962C8B-B14F-4D97-AF65-F5344CB8AC3E}">
        <p14:creationId xmlns:p14="http://schemas.microsoft.com/office/powerpoint/2010/main" val="1353729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4</a:t>
            </a:fld>
            <a:endParaRPr lang="en-US"/>
          </a:p>
        </p:txBody>
      </p:sp>
    </p:spTree>
    <p:extLst>
      <p:ext uri="{BB962C8B-B14F-4D97-AF65-F5344CB8AC3E}">
        <p14:creationId xmlns:p14="http://schemas.microsoft.com/office/powerpoint/2010/main" val="3045267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Change Requests:</a:t>
            </a:r>
            <a:endParaRPr lang="en-US" dirty="0"/>
          </a:p>
          <a:p>
            <a:pPr>
              <a:buFont typeface="Arial" panose="020B0604020202020204" pitchFamily="34" charset="0"/>
              <a:buChar char="•"/>
            </a:pPr>
            <a:r>
              <a:rPr lang="en-US" dirty="0"/>
              <a:t>These could be due to </a:t>
            </a:r>
            <a:r>
              <a:rPr lang="en-US" b="1" dirty="0"/>
              <a:t>faults, performance improvements, platform updates, or new features.</a:t>
            </a:r>
          </a:p>
          <a:p>
            <a:r>
              <a:rPr lang="en-US" b="1" dirty="0"/>
              <a:t>Impact Analysis:</a:t>
            </a:r>
            <a:endParaRPr lang="en-US" dirty="0"/>
          </a:p>
          <a:p>
            <a:pPr>
              <a:buFont typeface="Arial" panose="020B0604020202020204" pitchFamily="34" charset="0"/>
              <a:buChar char="•"/>
            </a:pPr>
            <a:r>
              <a:rPr lang="en-US" b="1" dirty="0"/>
              <a:t>their effects on the system, including cost, feasibility, and risks.</a:t>
            </a:r>
          </a:p>
          <a:p>
            <a:r>
              <a:rPr lang="en-US" b="1" dirty="0"/>
              <a:t>Release Planning:</a:t>
            </a:r>
            <a:endParaRPr lang="en-US" dirty="0"/>
          </a:p>
          <a:p>
            <a:pPr>
              <a:buFont typeface="Arial" panose="020B0604020202020204" pitchFamily="34" charset="0"/>
              <a:buChar char="•"/>
            </a:pPr>
            <a:r>
              <a:rPr lang="en-US" b="1" dirty="0"/>
              <a:t>scheduled for deployment.</a:t>
            </a:r>
          </a:p>
          <a:p>
            <a:r>
              <a:rPr lang="en-US" b="1" dirty="0"/>
              <a:t>Change Implementation:</a:t>
            </a:r>
            <a:endParaRPr lang="en-US" dirty="0"/>
          </a:p>
          <a:p>
            <a:pPr>
              <a:buFont typeface="Arial" panose="020B0604020202020204" pitchFamily="34" charset="0"/>
              <a:buChar char="•"/>
            </a:pPr>
            <a:r>
              <a:rPr lang="en-US" b="1" dirty="0"/>
              <a:t>This could involve fixing issues, adapting the system to new platforms, or enhancing functionality.</a:t>
            </a:r>
          </a:p>
          <a:p>
            <a:r>
              <a:rPr lang="en-US" b="1" dirty="0"/>
              <a:t>System Release:</a:t>
            </a:r>
            <a:endParaRPr lang="en-US" dirty="0"/>
          </a:p>
          <a:p>
            <a:pPr>
              <a:buFont typeface="Arial" panose="020B0604020202020204" pitchFamily="34" charset="0"/>
              <a:buChar char="•"/>
            </a:pPr>
            <a:r>
              <a:rPr lang="en-US" dirty="0"/>
              <a:t>The updated system is released to users after testing and validation.</a:t>
            </a:r>
          </a:p>
          <a:p>
            <a:endParaRPr lang="en-US" dirty="0"/>
          </a:p>
          <a:p>
            <a:r>
              <a:rPr lang="en-US" b="1" dirty="0"/>
              <a:t>Types of Changes:</a:t>
            </a:r>
          </a:p>
          <a:p>
            <a:r>
              <a:rPr lang="en-US" dirty="0"/>
              <a:t>The diagram shows three main categories of system changes:</a:t>
            </a:r>
          </a:p>
          <a:p>
            <a:pPr>
              <a:buFont typeface="Arial" panose="020B0604020202020204" pitchFamily="34" charset="0"/>
              <a:buChar char="•"/>
            </a:pPr>
            <a:r>
              <a:rPr lang="en-US" b="1" dirty="0"/>
              <a:t>Fault Repair:</a:t>
            </a:r>
            <a:r>
              <a:rPr lang="en-US" dirty="0"/>
              <a:t> Fixing errors and bugs.</a:t>
            </a:r>
          </a:p>
          <a:p>
            <a:pPr>
              <a:buFont typeface="Arial" panose="020B0604020202020204" pitchFamily="34" charset="0"/>
              <a:buChar char="•"/>
            </a:pPr>
            <a:r>
              <a:rPr lang="en-US" b="1" dirty="0"/>
              <a:t>Platform Adaptation:</a:t>
            </a:r>
            <a:r>
              <a:rPr lang="en-US" dirty="0"/>
              <a:t> Updating the system to work on new platforms or hardware.</a:t>
            </a:r>
          </a:p>
          <a:p>
            <a:pPr>
              <a:buFont typeface="Arial" panose="020B0604020202020204" pitchFamily="34" charset="0"/>
              <a:buChar char="•"/>
            </a:pPr>
            <a:r>
              <a:rPr lang="en-US" b="1" dirty="0"/>
              <a:t>System Enhancement:</a:t>
            </a:r>
            <a:r>
              <a:rPr lang="en-US" dirty="0"/>
              <a:t> Adding new features or improving existing ones.</a:t>
            </a:r>
          </a:p>
          <a:p>
            <a:pPr>
              <a:buFont typeface="Arial" panose="020B0604020202020204" pitchFamily="34" charset="0"/>
              <a:buChar char="•"/>
            </a:pPr>
            <a:endParaRPr lang="en-US" dirty="0"/>
          </a:p>
          <a:p>
            <a:r>
              <a:rPr lang="en-US" b="1" dirty="0"/>
              <a:t>The first-ever version of Windows needed 10 floppy disks to install!</a:t>
            </a:r>
            <a:r>
              <a:rPr lang="en-US" dirty="0"/>
              <a:t> 💾😲</a:t>
            </a:r>
          </a:p>
          <a:p>
            <a:r>
              <a:rPr lang="en-US" dirty="0"/>
              <a:t>When </a:t>
            </a:r>
            <a:r>
              <a:rPr lang="en-US" b="1" dirty="0"/>
              <a:t>Windows 1.0</a:t>
            </a:r>
            <a:r>
              <a:rPr lang="en-US" dirty="0"/>
              <a:t> was released in 1985, it required </a:t>
            </a:r>
            <a:r>
              <a:rPr lang="en-US" b="1" dirty="0"/>
              <a:t>ten 5.25-inch floppy disks</a:t>
            </a:r>
            <a:r>
              <a:rPr lang="en-US" dirty="0"/>
              <a:t> for installation. Each disk could only hold about </a:t>
            </a:r>
            <a:r>
              <a:rPr lang="en-US" b="1" dirty="0"/>
              <a:t>360 KB of data</a:t>
            </a:r>
            <a:r>
              <a:rPr lang="en-US" dirty="0"/>
              <a:t>, which is </a:t>
            </a:r>
            <a:r>
              <a:rPr lang="en-US" b="1" dirty="0"/>
              <a:t>millions of times less storage than modern computers</a:t>
            </a:r>
            <a:r>
              <a:rPr lang="en-US" dirty="0"/>
              <a:t>!</a:t>
            </a:r>
          </a:p>
          <a:p>
            <a:r>
              <a:rPr lang="en-US" dirty="0"/>
              <a:t>Compare that to </a:t>
            </a:r>
            <a:r>
              <a:rPr lang="en-US" b="1" dirty="0"/>
              <a:t>Windows 11</a:t>
            </a:r>
            <a:r>
              <a:rPr lang="en-US" dirty="0"/>
              <a:t>, which requires around </a:t>
            </a:r>
            <a:r>
              <a:rPr lang="en-US" b="1" dirty="0"/>
              <a:t>64 GB</a:t>
            </a:r>
            <a:r>
              <a:rPr lang="en-US" dirty="0"/>
              <a:t> of storage—showing just how far system evolution has come in terms of software size and complexity! 🚀🔥</a:t>
            </a:r>
          </a:p>
          <a:p>
            <a:pPr>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5</a:t>
            </a:fld>
            <a:endParaRPr lang="en-US"/>
          </a:p>
        </p:txBody>
      </p:sp>
    </p:spTree>
    <p:extLst>
      <p:ext uri="{BB962C8B-B14F-4D97-AF65-F5344CB8AC3E}">
        <p14:creationId xmlns:p14="http://schemas.microsoft.com/office/powerpoint/2010/main" val="2053205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Change Requests:</a:t>
            </a:r>
            <a:endParaRPr lang="en-US" dirty="0"/>
          </a:p>
          <a:p>
            <a:pPr>
              <a:buFont typeface="Arial" panose="020B0604020202020204" pitchFamily="34" charset="0"/>
              <a:buChar char="•"/>
            </a:pPr>
            <a:r>
              <a:rPr lang="en-US" dirty="0"/>
              <a:t>These could be due to </a:t>
            </a:r>
            <a:r>
              <a:rPr lang="en-US" b="1" dirty="0"/>
              <a:t>faults, performance improvements, platform updates, or new features.</a:t>
            </a:r>
          </a:p>
          <a:p>
            <a:r>
              <a:rPr lang="en-US" b="1" dirty="0"/>
              <a:t>Impact Analysis:</a:t>
            </a:r>
            <a:endParaRPr lang="en-US" dirty="0"/>
          </a:p>
          <a:p>
            <a:pPr>
              <a:buFont typeface="Arial" panose="020B0604020202020204" pitchFamily="34" charset="0"/>
              <a:buChar char="•"/>
            </a:pPr>
            <a:r>
              <a:rPr lang="en-US" b="1" dirty="0"/>
              <a:t>their effects on the system, including cost, feasibility, and risks.</a:t>
            </a:r>
          </a:p>
          <a:p>
            <a:r>
              <a:rPr lang="en-US" b="1" dirty="0"/>
              <a:t>Release Planning:</a:t>
            </a:r>
            <a:endParaRPr lang="en-US" dirty="0"/>
          </a:p>
          <a:p>
            <a:pPr>
              <a:buFont typeface="Arial" panose="020B0604020202020204" pitchFamily="34" charset="0"/>
              <a:buChar char="•"/>
            </a:pPr>
            <a:r>
              <a:rPr lang="en-US" b="1" dirty="0"/>
              <a:t>scheduled for deployment.</a:t>
            </a:r>
          </a:p>
          <a:p>
            <a:r>
              <a:rPr lang="en-US" b="1" dirty="0"/>
              <a:t>Change Implementation:</a:t>
            </a:r>
            <a:endParaRPr lang="en-US" dirty="0"/>
          </a:p>
          <a:p>
            <a:pPr>
              <a:buFont typeface="Arial" panose="020B0604020202020204" pitchFamily="34" charset="0"/>
              <a:buChar char="•"/>
            </a:pPr>
            <a:r>
              <a:rPr lang="en-US" b="1" dirty="0"/>
              <a:t>This could involve fixing issues, adapting the system to new platforms, or enhancing functionality.</a:t>
            </a:r>
          </a:p>
          <a:p>
            <a:r>
              <a:rPr lang="en-US" b="1" dirty="0"/>
              <a:t>System Release:</a:t>
            </a:r>
            <a:endParaRPr lang="en-US" dirty="0"/>
          </a:p>
          <a:p>
            <a:pPr>
              <a:buFont typeface="Arial" panose="020B0604020202020204" pitchFamily="34" charset="0"/>
              <a:buChar char="•"/>
            </a:pPr>
            <a:r>
              <a:rPr lang="en-US" dirty="0"/>
              <a:t>The updated system is released to users after testing and validation.</a:t>
            </a:r>
          </a:p>
          <a:p>
            <a:endParaRPr lang="en-US" dirty="0"/>
          </a:p>
          <a:p>
            <a:r>
              <a:rPr lang="en-US" b="1" dirty="0"/>
              <a:t>Types of Changes:</a:t>
            </a:r>
          </a:p>
          <a:p>
            <a:r>
              <a:rPr lang="en-US" dirty="0"/>
              <a:t>The diagram shows three main categories of system changes:</a:t>
            </a:r>
          </a:p>
          <a:p>
            <a:pPr>
              <a:buFont typeface="Arial" panose="020B0604020202020204" pitchFamily="34" charset="0"/>
              <a:buChar char="•"/>
            </a:pPr>
            <a:r>
              <a:rPr lang="en-US" b="1" dirty="0"/>
              <a:t>Fault Repair:</a:t>
            </a:r>
            <a:r>
              <a:rPr lang="en-US" dirty="0"/>
              <a:t> Fixing errors and bugs.</a:t>
            </a:r>
          </a:p>
          <a:p>
            <a:pPr>
              <a:buFont typeface="Arial" panose="020B0604020202020204" pitchFamily="34" charset="0"/>
              <a:buChar char="•"/>
            </a:pPr>
            <a:r>
              <a:rPr lang="en-US" b="1" dirty="0"/>
              <a:t>Platform Adaptation:</a:t>
            </a:r>
            <a:r>
              <a:rPr lang="en-US" dirty="0"/>
              <a:t> Updating the system to work on new platforms or hardware.</a:t>
            </a:r>
          </a:p>
          <a:p>
            <a:pPr>
              <a:buFont typeface="Arial" panose="020B0604020202020204" pitchFamily="34" charset="0"/>
              <a:buChar char="•"/>
            </a:pPr>
            <a:r>
              <a:rPr lang="en-US" b="1" dirty="0"/>
              <a:t>System Enhancement:</a:t>
            </a:r>
            <a:r>
              <a:rPr lang="en-US" dirty="0"/>
              <a:t> Adding new features or improving existing ones.</a:t>
            </a:r>
          </a:p>
          <a:p>
            <a:pPr>
              <a:buFont typeface="Arial" panose="020B0604020202020204" pitchFamily="34" charset="0"/>
              <a:buChar char="•"/>
            </a:pPr>
            <a:endParaRPr lang="en-US" dirty="0"/>
          </a:p>
          <a:p>
            <a:r>
              <a:rPr lang="en-US" b="1" dirty="0"/>
              <a:t>The first-ever version of Windows needed 10 floppy disks to install!</a:t>
            </a:r>
            <a:r>
              <a:rPr lang="en-US" dirty="0"/>
              <a:t> 💾😲</a:t>
            </a:r>
          </a:p>
          <a:p>
            <a:r>
              <a:rPr lang="en-US" dirty="0"/>
              <a:t>When </a:t>
            </a:r>
            <a:r>
              <a:rPr lang="en-US" b="1" dirty="0"/>
              <a:t>Windows 1.0</a:t>
            </a:r>
            <a:r>
              <a:rPr lang="en-US" dirty="0"/>
              <a:t> was released in 1985, it required </a:t>
            </a:r>
            <a:r>
              <a:rPr lang="en-US" b="1" dirty="0"/>
              <a:t>ten 5.25-inch floppy disks</a:t>
            </a:r>
            <a:r>
              <a:rPr lang="en-US" dirty="0"/>
              <a:t> for installation. Each disk could only hold about </a:t>
            </a:r>
            <a:r>
              <a:rPr lang="en-US" b="1" dirty="0"/>
              <a:t>360 KB of data</a:t>
            </a:r>
            <a:r>
              <a:rPr lang="en-US" dirty="0"/>
              <a:t>, which is </a:t>
            </a:r>
            <a:r>
              <a:rPr lang="en-US" b="1" dirty="0"/>
              <a:t>millions of times less storage than modern computers</a:t>
            </a:r>
            <a:r>
              <a:rPr lang="en-US" dirty="0"/>
              <a:t>!</a:t>
            </a:r>
          </a:p>
          <a:p>
            <a:r>
              <a:rPr lang="en-US" dirty="0"/>
              <a:t>Compare that to </a:t>
            </a:r>
            <a:r>
              <a:rPr lang="en-US" b="1" dirty="0"/>
              <a:t>Windows 11</a:t>
            </a:r>
            <a:r>
              <a:rPr lang="en-US" dirty="0"/>
              <a:t>, which requires around </a:t>
            </a:r>
            <a:r>
              <a:rPr lang="en-US" b="1" dirty="0"/>
              <a:t>64 GB</a:t>
            </a:r>
            <a:r>
              <a:rPr lang="en-US" dirty="0"/>
              <a:t> of storage—showing just how far system evolution has come in terms of software size and complexity! 🚀🔥</a:t>
            </a:r>
          </a:p>
          <a:p>
            <a:pPr>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6</a:t>
            </a:fld>
            <a:endParaRPr lang="en-US"/>
          </a:p>
        </p:txBody>
      </p:sp>
    </p:spTree>
    <p:extLst>
      <p:ext uri="{BB962C8B-B14F-4D97-AF65-F5344CB8AC3E}">
        <p14:creationId xmlns:p14="http://schemas.microsoft.com/office/powerpoint/2010/main" val="215445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Version Control Systems (VCS)</a:t>
            </a:r>
            <a:r>
              <a:rPr lang="en-US" dirty="0"/>
              <a:t> – Track and manage code changes (e.g., Git).</a:t>
            </a:r>
          </a:p>
          <a:p>
            <a:r>
              <a:rPr lang="en-US" b="1" dirty="0"/>
              <a:t>Agile Development</a:t>
            </a:r>
            <a:r>
              <a:rPr lang="en-US" dirty="0"/>
              <a:t> – Use iterative releases based on user feedback (e.g., Scrum, Kanban).</a:t>
            </a:r>
          </a:p>
          <a:p>
            <a:r>
              <a:rPr lang="en-US" b="1" dirty="0"/>
              <a:t>Continuous Integration/Deployment (CI/CD)</a:t>
            </a:r>
            <a:r>
              <a:rPr lang="en-US" dirty="0"/>
              <a:t> – Automate testing and deployment (e.g., Jenkins, </a:t>
            </a:r>
            <a:r>
              <a:rPr lang="en-US" dirty="0" err="1"/>
              <a:t>CircleCI</a:t>
            </a:r>
            <a:r>
              <a:rPr lang="en-US" dirty="0"/>
              <a:t>).</a:t>
            </a:r>
          </a:p>
          <a:p>
            <a:r>
              <a:rPr lang="en-US" b="1" dirty="0"/>
              <a:t>Modular Architecture/Microservices</a:t>
            </a:r>
            <a:r>
              <a:rPr lang="en-US" dirty="0"/>
              <a:t> – Break software into smaller, independent services.</a:t>
            </a:r>
          </a:p>
          <a:p>
            <a:r>
              <a:rPr lang="en-US" b="1" dirty="0"/>
              <a:t>Refactoring</a:t>
            </a:r>
            <a:r>
              <a:rPr lang="en-US" dirty="0"/>
              <a:t> – Improve code design and performance without changing functionality.</a:t>
            </a:r>
          </a:p>
          <a:p>
            <a:r>
              <a:rPr lang="en-US" b="1" dirty="0"/>
              <a:t>User Feedback/Data-Driven Development</a:t>
            </a:r>
            <a:r>
              <a:rPr lang="en-US" dirty="0"/>
              <a:t> – Collect and prioritize features based on user data.</a:t>
            </a:r>
          </a:p>
          <a:p>
            <a:r>
              <a:rPr lang="en-US" b="1" dirty="0"/>
              <a:t>Automated Testing and QA</a:t>
            </a:r>
            <a:r>
              <a:rPr lang="en-US" dirty="0"/>
              <a:t> – Ensure code remains functional and bug-free (e.g., unit tests).</a:t>
            </a:r>
          </a:p>
          <a:p>
            <a:r>
              <a:rPr lang="en-US" b="1" dirty="0"/>
              <a:t>Security Management</a:t>
            </a:r>
            <a:r>
              <a:rPr lang="en-US" dirty="0"/>
              <a:t> – Regularly update software to address new security threats.</a:t>
            </a:r>
          </a:p>
          <a:p>
            <a:r>
              <a:rPr lang="en-US" b="1" dirty="0"/>
              <a:t>Release Management</a:t>
            </a:r>
            <a:r>
              <a:rPr lang="en-US" dirty="0"/>
              <a:t> – Control and plan updates to avoid disruptions.</a:t>
            </a:r>
          </a:p>
          <a:p>
            <a:r>
              <a:rPr lang="en-US" b="1" dirty="0"/>
              <a:t>Documentation and Knowledge Sharing</a:t>
            </a:r>
            <a:r>
              <a:rPr lang="en-US" dirty="0"/>
              <a:t> – Keep documentation up to date for easier collaboration and understanding.</a:t>
            </a:r>
          </a:p>
        </p:txBody>
      </p:sp>
      <p:sp>
        <p:nvSpPr>
          <p:cNvPr id="4" name="Slide Number Placeholder 3"/>
          <p:cNvSpPr>
            <a:spLocks noGrp="1"/>
          </p:cNvSpPr>
          <p:nvPr>
            <p:ph type="sldNum" sz="quarter" idx="5"/>
          </p:nvPr>
        </p:nvSpPr>
        <p:spPr/>
        <p:txBody>
          <a:bodyPr/>
          <a:lstStyle/>
          <a:p>
            <a:fld id="{CEF252C2-178E-45FF-987A-7BED46949438}" type="slidenum">
              <a:rPr lang="en-US" smtClean="0"/>
              <a:t>9</a:t>
            </a:fld>
            <a:endParaRPr lang="en-US"/>
          </a:p>
        </p:txBody>
      </p:sp>
    </p:spTree>
    <p:extLst>
      <p:ext uri="{BB962C8B-B14F-4D97-AF65-F5344CB8AC3E}">
        <p14:creationId xmlns:p14="http://schemas.microsoft.com/office/powerpoint/2010/main" val="2710401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US" b="1" dirty="0"/>
              <a:t>Law of Continuing Change: kunai </a:t>
            </a:r>
            <a:r>
              <a:rPr lang="en-US" b="1" dirty="0" err="1"/>
              <a:t>pani</a:t>
            </a:r>
            <a:r>
              <a:rPr lang="en-US" b="1" dirty="0"/>
              <a:t> app constantly </a:t>
            </a:r>
            <a:r>
              <a:rPr lang="en-US" b="1" dirty="0" err="1"/>
              <a:t>afno</a:t>
            </a:r>
            <a:r>
              <a:rPr lang="en-US" b="1" dirty="0"/>
              <a:t> feature </a:t>
            </a:r>
            <a:r>
              <a:rPr lang="en-US" b="1" dirty="0" err="1"/>
              <a:t>haru</a:t>
            </a:r>
            <a:r>
              <a:rPr lang="en-US" b="1" dirty="0"/>
              <a:t> </a:t>
            </a:r>
            <a:r>
              <a:rPr lang="en-US" b="1" dirty="0" err="1"/>
              <a:t>uptodate</a:t>
            </a:r>
            <a:r>
              <a:rPr lang="en-US" b="1" dirty="0"/>
              <a:t> </a:t>
            </a:r>
            <a:r>
              <a:rPr lang="en-US" b="1" dirty="0" err="1"/>
              <a:t>garerakhna</a:t>
            </a:r>
            <a:r>
              <a:rPr lang="en-US" b="1" dirty="0"/>
              <a:t> </a:t>
            </a:r>
            <a:r>
              <a:rPr lang="en-US" b="1" dirty="0" err="1"/>
              <a:t>parxa</a:t>
            </a:r>
            <a:r>
              <a:rPr lang="en-US" b="1" dirty="0"/>
              <a:t> </a:t>
            </a:r>
            <a:r>
              <a:rPr lang="en-US" b="1" dirty="0" err="1"/>
              <a:t>natra</a:t>
            </a:r>
            <a:r>
              <a:rPr lang="en-US" b="1" dirty="0"/>
              <a:t> </a:t>
            </a:r>
            <a:r>
              <a:rPr lang="en-US" b="1" dirty="0" err="1"/>
              <a:t>obsolute</a:t>
            </a:r>
            <a:r>
              <a:rPr lang="en-US" b="1" dirty="0"/>
              <a:t> </a:t>
            </a:r>
            <a:r>
              <a:rPr lang="en-US" b="1" dirty="0" err="1"/>
              <a:t>hunxa</a:t>
            </a:r>
            <a:endParaRPr lang="en-US" dirty="0"/>
          </a:p>
          <a:p>
            <a:pPr>
              <a:buFont typeface="Arial" panose="020B0604020202020204" pitchFamily="34" charset="0"/>
              <a:buChar char="•"/>
            </a:pPr>
            <a:r>
              <a:rPr lang="en-US" b="1" dirty="0"/>
              <a:t>Example:</a:t>
            </a:r>
            <a:r>
              <a:rPr lang="en-US" dirty="0"/>
              <a:t> A popular social media app like Instagram constantly updates its features, algorithm, and user interface. This is because user preferences change, new technologies emerge, and competitors introduce innovations. If Instagram didn't adapt, it would become obsolete.</a:t>
            </a:r>
          </a:p>
          <a:p>
            <a:pPr>
              <a:buFont typeface="+mj-lt"/>
              <a:buAutoNum type="arabicPeriod" startAt="2"/>
            </a:pPr>
            <a:r>
              <a:rPr lang="en-US" b="1" dirty="0"/>
              <a:t>Law of Increasing Complexity: </a:t>
            </a:r>
            <a:r>
              <a:rPr lang="en-US" b="1" dirty="0" err="1"/>
              <a:t>jati</a:t>
            </a:r>
            <a:r>
              <a:rPr lang="en-US" b="1" dirty="0"/>
              <a:t> evolve </a:t>
            </a:r>
            <a:r>
              <a:rPr lang="en-US" b="1" dirty="0" err="1"/>
              <a:t>vayo</a:t>
            </a:r>
            <a:r>
              <a:rPr lang="en-US" b="1" dirty="0"/>
              <a:t> </a:t>
            </a:r>
            <a:r>
              <a:rPr lang="en-US" b="1" dirty="0" err="1"/>
              <a:t>tyo</a:t>
            </a:r>
            <a:r>
              <a:rPr lang="en-US" b="1" dirty="0"/>
              <a:t> </a:t>
            </a:r>
            <a:r>
              <a:rPr lang="en-US" b="1" dirty="0" err="1"/>
              <a:t>anusar</a:t>
            </a:r>
            <a:r>
              <a:rPr lang="en-US" b="1" dirty="0"/>
              <a:t> complexity </a:t>
            </a:r>
            <a:r>
              <a:rPr lang="en-US" b="1" dirty="0" err="1"/>
              <a:t>ni</a:t>
            </a:r>
            <a:r>
              <a:rPr lang="en-US" b="1" dirty="0"/>
              <a:t> </a:t>
            </a:r>
            <a:r>
              <a:rPr lang="en-US" b="1" dirty="0" err="1"/>
              <a:t>badhxa</a:t>
            </a:r>
            <a:r>
              <a:rPr lang="en-US" b="1" dirty="0"/>
              <a:t> </a:t>
            </a:r>
            <a:endParaRPr lang="en-US" dirty="0"/>
          </a:p>
          <a:p>
            <a:pPr>
              <a:buFont typeface="Arial" panose="020B0604020202020204" pitchFamily="34" charset="0"/>
              <a:buChar char="•"/>
            </a:pPr>
            <a:r>
              <a:rPr lang="en-US" b="1" dirty="0"/>
              <a:t>Example:</a:t>
            </a:r>
            <a:r>
              <a:rPr lang="en-US" dirty="0"/>
              <a:t> Microsoft Word started as a simple word processor but has evolved into a complex suite with hundreds of features. This added complexity makes it harder to maintain, debug, and improve the software, sometimes leading to bloat and performance issues.</a:t>
            </a:r>
          </a:p>
          <a:p>
            <a:pPr>
              <a:buFont typeface="+mj-lt"/>
              <a:buAutoNum type="arabicPeriod" startAt="3"/>
            </a:pPr>
            <a:r>
              <a:rPr lang="en-US" b="1" dirty="0"/>
              <a:t>Law of Self-Regulation: profitable vanda </a:t>
            </a:r>
            <a:r>
              <a:rPr lang="en-US" b="1" dirty="0" err="1"/>
              <a:t>ni</a:t>
            </a:r>
            <a:r>
              <a:rPr lang="en-US" b="1" dirty="0"/>
              <a:t> highest quality software </a:t>
            </a:r>
            <a:r>
              <a:rPr lang="en-US" b="1" dirty="0" err="1"/>
              <a:t>banaune</a:t>
            </a:r>
            <a:r>
              <a:rPr lang="en-US" b="1" dirty="0"/>
              <a:t> through opensource.</a:t>
            </a:r>
            <a:endParaRPr lang="en-US" dirty="0"/>
          </a:p>
          <a:p>
            <a:pPr>
              <a:buFont typeface="Arial" panose="020B0604020202020204" pitchFamily="34" charset="0"/>
              <a:buChar char="•"/>
            </a:pPr>
            <a:r>
              <a:rPr lang="en-US" b="1" dirty="0"/>
              <a:t>Example:</a:t>
            </a:r>
            <a:r>
              <a:rPr lang="en-US" dirty="0"/>
              <a:t> Open-source projects like Linux have a community of developers who self-regulate the evolution of the software. Through discussions, code reviews, and testing, they ensure changes are aligned with the project's goals and maintain its stability.</a:t>
            </a:r>
          </a:p>
          <a:p>
            <a:pPr>
              <a:buFont typeface="+mj-lt"/>
              <a:buAutoNum type="arabicPeriod" startAt="4"/>
            </a:pPr>
            <a:r>
              <a:rPr lang="en-US" b="1" dirty="0"/>
              <a:t>Law of Organizational Stability: employee </a:t>
            </a:r>
            <a:r>
              <a:rPr lang="en-US" b="1" dirty="0" err="1"/>
              <a:t>lai</a:t>
            </a:r>
            <a:r>
              <a:rPr lang="en-US" b="1" dirty="0"/>
              <a:t> contract ma </a:t>
            </a:r>
            <a:r>
              <a:rPr lang="en-US" b="1" dirty="0" err="1"/>
              <a:t>rakhne</a:t>
            </a:r>
            <a:r>
              <a:rPr lang="en-US" b="1" dirty="0"/>
              <a:t> .. Intellectual property </a:t>
            </a:r>
            <a:r>
              <a:rPr lang="en-US" b="1" dirty="0" err="1"/>
              <a:t>kinera</a:t>
            </a:r>
            <a:r>
              <a:rPr lang="en-US" b="1" dirty="0"/>
              <a:t> </a:t>
            </a:r>
            <a:r>
              <a:rPr lang="en-US" b="1" dirty="0" err="1"/>
              <a:t>rakhne</a:t>
            </a:r>
            <a:r>
              <a:rPr lang="en-US" b="1" dirty="0"/>
              <a:t>.. Share dine .. Leapfrog le mac </a:t>
            </a:r>
            <a:r>
              <a:rPr lang="en-US" b="1" dirty="0" err="1"/>
              <a:t>dinxa</a:t>
            </a:r>
            <a:r>
              <a:rPr lang="en-US" b="1" dirty="0"/>
              <a:t> </a:t>
            </a:r>
            <a:r>
              <a:rPr lang="en-US" b="1" dirty="0" err="1"/>
              <a:t>cotiviti</a:t>
            </a:r>
            <a:r>
              <a:rPr lang="en-US" b="1" dirty="0"/>
              <a:t> le sun ko </a:t>
            </a:r>
            <a:r>
              <a:rPr lang="en-US" b="1" dirty="0" err="1"/>
              <a:t>sikka</a:t>
            </a:r>
            <a:r>
              <a:rPr lang="en-US" b="1" dirty="0"/>
              <a:t> </a:t>
            </a:r>
            <a:r>
              <a:rPr lang="en-US" b="1" dirty="0" err="1"/>
              <a:t>dinxa</a:t>
            </a:r>
            <a:endParaRPr lang="en-US" dirty="0"/>
          </a:p>
          <a:p>
            <a:pPr>
              <a:buFont typeface="Arial" panose="020B0604020202020204" pitchFamily="34" charset="0"/>
              <a:buChar char="•"/>
            </a:pPr>
            <a:r>
              <a:rPr lang="en-US" b="1" dirty="0"/>
              <a:t>Example:</a:t>
            </a:r>
            <a:r>
              <a:rPr lang="en-US" dirty="0"/>
              <a:t> Large companies like Google have established processes and teams dedicated to maintaining their core products like Search. These structures provide stability and consistency in the evolution of the software, even as the company grows and changes.</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10</a:t>
            </a:fld>
            <a:endParaRPr lang="en-US"/>
          </a:p>
        </p:txBody>
      </p:sp>
    </p:spTree>
    <p:extLst>
      <p:ext uri="{BB962C8B-B14F-4D97-AF65-F5344CB8AC3E}">
        <p14:creationId xmlns:p14="http://schemas.microsoft.com/office/powerpoint/2010/main" val="3401646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startAt="5"/>
            </a:pPr>
            <a:r>
              <a:rPr lang="en-US" b="1" dirty="0"/>
              <a:t>Law of Conservation of Familiarity:</a:t>
            </a:r>
            <a:endParaRPr lang="en-US" dirty="0"/>
          </a:p>
          <a:p>
            <a:pPr>
              <a:buFont typeface="Arial" panose="020B0604020202020204" pitchFamily="34" charset="0"/>
              <a:buChar char="•"/>
            </a:pPr>
            <a:r>
              <a:rPr lang="en-US" b="1" dirty="0"/>
              <a:t>Example:</a:t>
            </a:r>
            <a:r>
              <a:rPr lang="en-US" dirty="0"/>
              <a:t> When Facebook redesigned its user interface, </a:t>
            </a:r>
            <a:r>
              <a:rPr lang="en-US" b="1" dirty="0"/>
              <a:t>there was a backlash from users accustomed to the old design.</a:t>
            </a:r>
            <a:r>
              <a:rPr lang="en-US" dirty="0"/>
              <a:t> This illustrates the need to balance innovation with the need to maintain familiarity for users.</a:t>
            </a:r>
          </a:p>
          <a:p>
            <a:pPr>
              <a:buFont typeface="+mj-lt"/>
              <a:buAutoNum type="arabicPeriod" startAt="6"/>
            </a:pPr>
            <a:r>
              <a:rPr lang="en-US" b="1" dirty="0"/>
              <a:t>Law of Continuing Growth:</a:t>
            </a:r>
            <a:endParaRPr lang="en-US" dirty="0"/>
          </a:p>
          <a:p>
            <a:pPr>
              <a:buFont typeface="Arial" panose="020B0604020202020204" pitchFamily="34" charset="0"/>
              <a:buChar char="•"/>
            </a:pPr>
            <a:r>
              <a:rPr lang="en-US" b="1" dirty="0"/>
              <a:t>Example:</a:t>
            </a:r>
            <a:r>
              <a:rPr lang="en-US" dirty="0"/>
              <a:t> Video games like "Grand Theft Auto" release new versions with more content, features, and improved graphics to keep players engaged and attract new customers. This continuous growth is essential for the game's long-term success.</a:t>
            </a:r>
          </a:p>
          <a:p>
            <a:pPr>
              <a:buFont typeface="+mj-lt"/>
              <a:buAutoNum type="arabicPeriod" startAt="7"/>
            </a:pPr>
            <a:r>
              <a:rPr lang="en-US" b="1" dirty="0"/>
              <a:t>Law of Declining Quality:</a:t>
            </a:r>
            <a:endParaRPr lang="en-US" dirty="0"/>
          </a:p>
          <a:p>
            <a:pPr>
              <a:buFont typeface="Arial" panose="020B0604020202020204" pitchFamily="34" charset="0"/>
              <a:buChar char="•"/>
            </a:pPr>
            <a:r>
              <a:rPr lang="en-US" b="1" dirty="0"/>
              <a:t>Example:</a:t>
            </a:r>
            <a:r>
              <a:rPr lang="en-US" dirty="0"/>
              <a:t> Older software systems may suffer from performance issues, security vulnerabilities, and compatibility problems due to accumulated technical debt and lack of maintenance. This highlights the need for </a:t>
            </a:r>
            <a:r>
              <a:rPr lang="en-US" b="1" dirty="0"/>
              <a:t>continuous maintenance and adaptation to prevent quality decline.</a:t>
            </a:r>
          </a:p>
          <a:p>
            <a:pPr>
              <a:buFont typeface="+mj-lt"/>
              <a:buAutoNum type="arabicPeriod" startAt="8"/>
            </a:pPr>
            <a:r>
              <a:rPr lang="en-US" b="1" dirty="0"/>
              <a:t>Law of Feedback System:</a:t>
            </a:r>
            <a:endParaRPr lang="en-US" dirty="0"/>
          </a:p>
          <a:p>
            <a:pPr>
              <a:buFont typeface="Arial" panose="020B0604020202020204" pitchFamily="34" charset="0"/>
              <a:buChar char="•"/>
            </a:pPr>
            <a:r>
              <a:rPr lang="en-US" b="1" dirty="0"/>
              <a:t>Example:</a:t>
            </a:r>
            <a:r>
              <a:rPr lang="en-US" dirty="0"/>
              <a:t> Companies like Amazon heavily rely on customer reviews, feedback forms, and usage data to understand user needs and guide the evolution of their e-commerce platform.</a:t>
            </a:r>
          </a:p>
          <a:p>
            <a:pPr>
              <a:buFont typeface="Arial" panose="020B0604020202020204" pitchFamily="34" charset="0"/>
              <a:buChar char="•"/>
            </a:pPr>
            <a:r>
              <a:rPr lang="en-US" dirty="0"/>
              <a:t>This feedback loop is crucial for the platform's continuous improvement.</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11</a:t>
            </a:fld>
            <a:endParaRPr lang="en-US"/>
          </a:p>
        </p:txBody>
      </p:sp>
    </p:spTree>
    <p:extLst>
      <p:ext uri="{BB962C8B-B14F-4D97-AF65-F5344CB8AC3E}">
        <p14:creationId xmlns:p14="http://schemas.microsoft.com/office/powerpoint/2010/main" val="4019683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14</a:t>
            </a:fld>
            <a:endParaRPr lang="en-US"/>
          </a:p>
        </p:txBody>
      </p:sp>
    </p:spTree>
    <p:extLst>
      <p:ext uri="{BB962C8B-B14F-4D97-AF65-F5344CB8AC3E}">
        <p14:creationId xmlns:p14="http://schemas.microsoft.com/office/powerpoint/2010/main" val="3921017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Real-life Example:</a:t>
            </a:r>
            <a:r>
              <a:rPr lang="en-US" dirty="0"/>
              <a:t> In 2015, a popular social media  </a:t>
            </a:r>
            <a:r>
              <a:rPr lang="en-US" b="1" dirty="0" err="1"/>
              <a:t>facebook</a:t>
            </a:r>
            <a:r>
              <a:rPr lang="en-US" b="1" dirty="0"/>
              <a:t> platform experienced a memory leak </a:t>
            </a:r>
            <a:r>
              <a:rPr lang="en-US" dirty="0"/>
              <a:t>in their mobile app that affected performance. </a:t>
            </a:r>
          </a:p>
          <a:p>
            <a:r>
              <a:rPr lang="en-US" dirty="0"/>
              <a:t>As users interacted with the app, </a:t>
            </a:r>
            <a:r>
              <a:rPr lang="en-US" b="1" dirty="0"/>
              <a:t>their memory consumption increased, causing slower load times and eventually causing crashes. </a:t>
            </a:r>
          </a:p>
          <a:p>
            <a:r>
              <a:rPr lang="en-US" dirty="0"/>
              <a:t>The bug was traced back to improperly managed image caching and was fixed by optimizing the way images were stored and retrieved.</a:t>
            </a:r>
          </a:p>
        </p:txBody>
      </p:sp>
      <p:sp>
        <p:nvSpPr>
          <p:cNvPr id="4" name="Slide Number Placeholder 3"/>
          <p:cNvSpPr>
            <a:spLocks noGrp="1"/>
          </p:cNvSpPr>
          <p:nvPr>
            <p:ph type="sldNum" sz="quarter" idx="5"/>
          </p:nvPr>
        </p:nvSpPr>
        <p:spPr/>
        <p:txBody>
          <a:bodyPr/>
          <a:lstStyle/>
          <a:p>
            <a:fld id="{CEF252C2-178E-45FF-987A-7BED46949438}" type="slidenum">
              <a:rPr lang="en-US" smtClean="0"/>
              <a:t>15</a:t>
            </a:fld>
            <a:endParaRPr lang="en-US"/>
          </a:p>
        </p:txBody>
      </p:sp>
    </p:spTree>
    <p:extLst>
      <p:ext uri="{BB962C8B-B14F-4D97-AF65-F5344CB8AC3E}">
        <p14:creationId xmlns:p14="http://schemas.microsoft.com/office/powerpoint/2010/main" val="2688971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a:t>
            </a:r>
            <a:r>
              <a:rPr lang="en-US" b="1" dirty="0"/>
              <a:t>financial management software  </a:t>
            </a:r>
            <a:r>
              <a:rPr lang="en-US" b="1" dirty="0" err="1"/>
              <a:t>jasko</a:t>
            </a:r>
            <a:r>
              <a:rPr lang="en-US" b="1" dirty="0"/>
              <a:t> </a:t>
            </a:r>
            <a:r>
              <a:rPr lang="en-US" b="1" dirty="0" err="1"/>
              <a:t>lagi</a:t>
            </a:r>
            <a:r>
              <a:rPr lang="en-US" b="1" dirty="0"/>
              <a:t> chai new rule </a:t>
            </a:r>
            <a:r>
              <a:rPr lang="en-US" b="1" dirty="0" err="1"/>
              <a:t>haru</a:t>
            </a:r>
            <a:r>
              <a:rPr lang="en-US" b="1" dirty="0"/>
              <a:t> </a:t>
            </a:r>
            <a:r>
              <a:rPr lang="en-US" b="1" dirty="0" err="1"/>
              <a:t>aayo</a:t>
            </a:r>
            <a:r>
              <a:rPr lang="en-US" b="1" dirty="0"/>
              <a:t> re suppose </a:t>
            </a:r>
            <a:r>
              <a:rPr lang="en-US" dirty="0"/>
              <a:t>that helps businesses track transactions and generate reports. The software was originally developed to meet certain tax regulations, but new tax laws are passed in the country that require changes in how financial data must be reported or stored (for example, stricter data privacy laws like </a:t>
            </a:r>
            <a:r>
              <a:rPr lang="en-US" b="1" dirty="0"/>
              <a:t>GDPR</a:t>
            </a:r>
            <a:r>
              <a:rPr lang="en-US" dirty="0"/>
              <a:t> in the European Union).</a:t>
            </a:r>
          </a:p>
          <a:p>
            <a:r>
              <a:rPr lang="en-US" dirty="0"/>
              <a:t>To ensure the software continues to be legally compliant, the development team would perform adaptive maintenance, which might involve:</a:t>
            </a:r>
          </a:p>
          <a:p>
            <a:pPr>
              <a:buFont typeface="+mj-lt"/>
              <a:buAutoNum type="arabicPeriod"/>
            </a:pPr>
            <a:r>
              <a:rPr lang="en-US" b="1" dirty="0"/>
              <a:t>Updating the software</a:t>
            </a:r>
            <a:r>
              <a:rPr lang="en-US" dirty="0"/>
              <a:t> to include new data protection features (such as better encryption or user consent tracking).</a:t>
            </a:r>
          </a:p>
          <a:p>
            <a:pPr>
              <a:buFont typeface="+mj-lt"/>
              <a:buAutoNum type="arabicPeriod"/>
            </a:pPr>
            <a:r>
              <a:rPr lang="en-US" b="1" dirty="0"/>
              <a:t>Modifying report generation</a:t>
            </a:r>
            <a:r>
              <a:rPr lang="en-US" dirty="0"/>
              <a:t> features to include the new tax codes or data formatting required by the updated tax laws.</a:t>
            </a:r>
          </a:p>
          <a:p>
            <a:pPr>
              <a:buFont typeface="+mj-lt"/>
              <a:buAutoNum type="arabicPeriod"/>
            </a:pPr>
            <a:r>
              <a:rPr lang="en-US" b="1" dirty="0"/>
              <a:t>Ensuring data storage compliance</a:t>
            </a:r>
            <a:r>
              <a:rPr lang="en-US" dirty="0"/>
              <a:t> by changing how long certain data can be retained and where it is stored.</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16</a:t>
            </a:fld>
            <a:endParaRPr lang="en-US"/>
          </a:p>
        </p:txBody>
      </p:sp>
    </p:spTree>
    <p:extLst>
      <p:ext uri="{BB962C8B-B14F-4D97-AF65-F5344CB8AC3E}">
        <p14:creationId xmlns:p14="http://schemas.microsoft.com/office/powerpoint/2010/main" val="308458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a:t>
            </a:r>
            <a:r>
              <a:rPr lang="en-US" b="1" dirty="0"/>
              <a:t>video streaming platform</a:t>
            </a:r>
            <a:r>
              <a:rPr lang="en-US" dirty="0"/>
              <a:t> that allows users to watch movies and TV shows. Over time, as the platform gains more content and users, some users report slow load times or buffering issues, especially with high-definition (HD) videos.</a:t>
            </a:r>
          </a:p>
          <a:p>
            <a:r>
              <a:rPr lang="en-US" dirty="0"/>
              <a:t>To improve the user experience, the development team performs perfective maintenance by:</a:t>
            </a:r>
          </a:p>
          <a:p>
            <a:pPr>
              <a:buFont typeface="+mj-lt"/>
              <a:buAutoNum type="arabicPeriod"/>
            </a:pPr>
            <a:r>
              <a:rPr lang="en-US" b="1" dirty="0"/>
              <a:t>Optimizing video compression algorithms</a:t>
            </a:r>
            <a:r>
              <a:rPr lang="en-US" dirty="0"/>
              <a:t> to reduce the buffering time and make video streaming smoother.</a:t>
            </a:r>
          </a:p>
          <a:p>
            <a:pPr>
              <a:buFont typeface="+mj-lt"/>
              <a:buAutoNum type="arabicPeriod"/>
            </a:pPr>
            <a:r>
              <a:rPr lang="en-US" b="1" dirty="0"/>
              <a:t>Improving the app's caching mechanism</a:t>
            </a:r>
            <a:r>
              <a:rPr lang="en-US" dirty="0"/>
              <a:t> to store frequently watched videos locally, reducing the load time for repeated views.</a:t>
            </a:r>
          </a:p>
          <a:p>
            <a:pPr>
              <a:buFont typeface="+mj-lt"/>
              <a:buAutoNum type="arabicPeriod"/>
            </a:pPr>
            <a:r>
              <a:rPr lang="en-US" b="1" dirty="0"/>
              <a:t>Enhancing the backend infrastructure</a:t>
            </a:r>
            <a:r>
              <a:rPr lang="en-US" dirty="0"/>
              <a:t> to support increased traffic and reduce server load during peak usage times.</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17</a:t>
            </a:fld>
            <a:endParaRPr lang="en-US"/>
          </a:p>
        </p:txBody>
      </p:sp>
    </p:spTree>
    <p:extLst>
      <p:ext uri="{BB962C8B-B14F-4D97-AF65-F5344CB8AC3E}">
        <p14:creationId xmlns:p14="http://schemas.microsoft.com/office/powerpoint/2010/main" val="37421892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a:t>
            </a:r>
            <a:r>
              <a:rPr lang="en-US" b="1" dirty="0"/>
              <a:t>web application</a:t>
            </a:r>
            <a:r>
              <a:rPr lang="en-US" dirty="0"/>
              <a:t> that stores sensitive customer data, such as credit card information and personal details. The development team identifies a </a:t>
            </a:r>
            <a:r>
              <a:rPr lang="en-US" b="1" dirty="0"/>
              <a:t>security flaw</a:t>
            </a:r>
            <a:r>
              <a:rPr lang="en-US" dirty="0"/>
              <a:t> in the app where </a:t>
            </a:r>
            <a:r>
              <a:rPr lang="en-US" b="1" dirty="0"/>
              <a:t>SQL injection attacks</a:t>
            </a:r>
            <a:r>
              <a:rPr lang="en-US" dirty="0"/>
              <a:t> could be used to access the database and steal customer data.</a:t>
            </a:r>
          </a:p>
          <a:p>
            <a:r>
              <a:rPr lang="en-US" dirty="0"/>
              <a:t>To perform preventive maintenance, the development team takes the following actions:</a:t>
            </a:r>
          </a:p>
          <a:p>
            <a:pPr>
              <a:buFont typeface="+mj-lt"/>
              <a:buAutoNum type="arabicPeriod"/>
            </a:pPr>
            <a:r>
              <a:rPr lang="en-US" b="1" dirty="0"/>
              <a:t>Sanitizing user input</a:t>
            </a:r>
            <a:r>
              <a:rPr lang="en-US" dirty="0"/>
              <a:t> to prevent malicious SQL queries from being executed by the database.</a:t>
            </a:r>
          </a:p>
          <a:p>
            <a:pPr>
              <a:buFont typeface="+mj-lt"/>
              <a:buAutoNum type="arabicPeriod"/>
            </a:pPr>
            <a:r>
              <a:rPr lang="en-US" b="1" dirty="0"/>
              <a:t>Implementing stricter authentication protocols</a:t>
            </a:r>
            <a:r>
              <a:rPr lang="en-US" dirty="0"/>
              <a:t> to ensure only authorized users can access sensitive areas of the application.</a:t>
            </a:r>
          </a:p>
          <a:p>
            <a:pPr>
              <a:buFont typeface="+mj-lt"/>
              <a:buAutoNum type="arabicPeriod"/>
            </a:pPr>
            <a:r>
              <a:rPr lang="en-US" b="1" dirty="0"/>
              <a:t>Regularly updating third-party libraries</a:t>
            </a:r>
            <a:r>
              <a:rPr lang="en-US" dirty="0"/>
              <a:t> and frameworks to ensure no known vulnerabilities are present.</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18</a:t>
            </a:fld>
            <a:endParaRPr lang="en-US"/>
          </a:p>
        </p:txBody>
      </p:sp>
    </p:spTree>
    <p:extLst>
      <p:ext uri="{BB962C8B-B14F-4D97-AF65-F5344CB8AC3E}">
        <p14:creationId xmlns:p14="http://schemas.microsoft.com/office/powerpoint/2010/main" val="1067449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Legacy Management System</a:t>
            </a:r>
            <a:r>
              <a:rPr lang="en-US" dirty="0"/>
              <a:t> refers to outdated software or technology that is still in use within an organization, often because it is critical to operations despite being old, difficult to maintain, or incompatible with modern systems.</a:t>
            </a:r>
          </a:p>
          <a:p>
            <a:endParaRPr lang="en-US" dirty="0"/>
          </a:p>
          <a:p>
            <a:r>
              <a:rPr lang="en-US" b="1" dirty="0"/>
              <a:t>Challenges of Legacy Systems</a:t>
            </a:r>
          </a:p>
          <a:p>
            <a:pPr>
              <a:buFont typeface="+mj-lt"/>
              <a:buAutoNum type="arabicPeriod"/>
            </a:pPr>
            <a:r>
              <a:rPr lang="en-US" b="1" dirty="0"/>
              <a:t>Maintenance Costs</a:t>
            </a:r>
            <a:r>
              <a:rPr lang="en-US" dirty="0"/>
              <a:t> – Older systems require expensive upkeep and specialized knowledge.</a:t>
            </a:r>
          </a:p>
          <a:p>
            <a:pPr>
              <a:buFont typeface="+mj-lt"/>
              <a:buAutoNum type="arabicPeriod"/>
            </a:pPr>
            <a:r>
              <a:rPr lang="en-US" b="1" dirty="0"/>
              <a:t>Security Risks</a:t>
            </a:r>
            <a:r>
              <a:rPr lang="en-US" dirty="0"/>
              <a:t> – Legacy systems may lack modern security patches, making them vulnerable.</a:t>
            </a:r>
          </a:p>
          <a:p>
            <a:pPr>
              <a:buFont typeface="+mj-lt"/>
              <a:buAutoNum type="arabicPeriod"/>
            </a:pPr>
            <a:r>
              <a:rPr lang="en-US" b="1" dirty="0"/>
              <a:t>Compatibility Issues</a:t>
            </a:r>
            <a:r>
              <a:rPr lang="en-US" dirty="0"/>
              <a:t> – They often struggle to integrate with new technologies.</a:t>
            </a:r>
          </a:p>
          <a:p>
            <a:pPr>
              <a:buFont typeface="+mj-lt"/>
              <a:buAutoNum type="arabicPeriod"/>
            </a:pPr>
            <a:r>
              <a:rPr lang="en-US" b="1" dirty="0"/>
              <a:t>Limited Scalability</a:t>
            </a:r>
            <a:r>
              <a:rPr lang="en-US" dirty="0"/>
              <a:t> – Older architectures may not support business growth efficiently.</a:t>
            </a:r>
          </a:p>
          <a:p>
            <a:pPr>
              <a:buFont typeface="+mj-lt"/>
              <a:buAutoNum type="arabicPeriod"/>
            </a:pPr>
            <a:r>
              <a:rPr lang="en-US" b="1" dirty="0"/>
              <a:t>User Experience</a:t>
            </a:r>
            <a:r>
              <a:rPr lang="en-US" dirty="0"/>
              <a:t> – Outdated interfaces can reduce productivity and increase training costs.</a:t>
            </a:r>
          </a:p>
          <a:p>
            <a:pPr>
              <a:buFont typeface="+mj-lt"/>
              <a:buAutoNum type="arabicPeriod"/>
            </a:pPr>
            <a:endParaRPr lang="en-US" dirty="0"/>
          </a:p>
          <a:p>
            <a:r>
              <a:rPr lang="en-US" b="1" dirty="0"/>
              <a:t>Strategies for Managing Legacy Systems</a:t>
            </a:r>
          </a:p>
          <a:p>
            <a:pPr>
              <a:buFont typeface="+mj-lt"/>
              <a:buAutoNum type="arabicPeriod"/>
            </a:pPr>
            <a:r>
              <a:rPr lang="en-US" b="1" dirty="0"/>
              <a:t>Encapsulation</a:t>
            </a:r>
            <a:r>
              <a:rPr lang="en-US" dirty="0"/>
              <a:t> – Wrapping the system with APIs to enable integration with modern applications.</a:t>
            </a:r>
          </a:p>
          <a:p>
            <a:pPr>
              <a:buFont typeface="+mj-lt"/>
              <a:buAutoNum type="arabicPeriod"/>
            </a:pPr>
            <a:r>
              <a:rPr lang="en-US" b="1" dirty="0"/>
              <a:t>Rehosting</a:t>
            </a:r>
            <a:r>
              <a:rPr lang="en-US" dirty="0"/>
              <a:t> – Migrating the system to a cloud or virtualized environment without changing the code.</a:t>
            </a:r>
          </a:p>
          <a:p>
            <a:pPr>
              <a:buFont typeface="+mj-lt"/>
              <a:buAutoNum type="arabicPeriod"/>
            </a:pPr>
            <a:r>
              <a:rPr lang="en-US" b="1" dirty="0" err="1"/>
              <a:t>Replatforming</a:t>
            </a:r>
            <a:r>
              <a:rPr lang="en-US" dirty="0"/>
              <a:t> – Making minor updates to improve performance while keeping core functionality.</a:t>
            </a:r>
          </a:p>
          <a:p>
            <a:pPr>
              <a:buFont typeface="+mj-lt"/>
              <a:buAutoNum type="arabicPeriod"/>
            </a:pPr>
            <a:r>
              <a:rPr lang="en-US" b="1" dirty="0"/>
              <a:t>Refactoring</a:t>
            </a:r>
            <a:r>
              <a:rPr lang="en-US" dirty="0"/>
              <a:t> – Modifying the internal structure to improve efficiency while maintaining behavior.</a:t>
            </a:r>
          </a:p>
          <a:p>
            <a:pPr>
              <a:buFont typeface="+mj-lt"/>
              <a:buAutoNum type="arabicPeriod"/>
            </a:pPr>
            <a:r>
              <a:rPr lang="en-US" b="1" dirty="0"/>
              <a:t>Replacement</a:t>
            </a:r>
            <a:r>
              <a:rPr lang="en-US" dirty="0"/>
              <a:t> – Phasing out the legacy system in favor of a modern solution.</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23</a:t>
            </a:fld>
            <a:endParaRPr lang="en-US"/>
          </a:p>
        </p:txBody>
      </p:sp>
    </p:spTree>
    <p:extLst>
      <p:ext uri="{BB962C8B-B14F-4D97-AF65-F5344CB8AC3E}">
        <p14:creationId xmlns:p14="http://schemas.microsoft.com/office/powerpoint/2010/main" val="16881543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Banking Systems (Mainframes - COBOL)</a:t>
            </a:r>
            <a:endParaRPr lang="en-US" dirty="0"/>
          </a:p>
          <a:p>
            <a:pPr>
              <a:buFont typeface="Arial" panose="020B0604020202020204" pitchFamily="34" charset="0"/>
              <a:buChar char="•"/>
            </a:pPr>
            <a:r>
              <a:rPr lang="en-US" dirty="0"/>
              <a:t>Many banks still use </a:t>
            </a:r>
            <a:r>
              <a:rPr lang="en-US" b="1" dirty="0"/>
              <a:t>COBOL-based mainframe systems</a:t>
            </a:r>
            <a:r>
              <a:rPr lang="en-US" dirty="0"/>
              <a:t> from the 1970s and 1980s for core banking operations.</a:t>
            </a:r>
          </a:p>
          <a:p>
            <a:pPr>
              <a:buFont typeface="Arial" panose="020B0604020202020204" pitchFamily="34" charset="0"/>
              <a:buChar char="•"/>
            </a:pPr>
            <a:r>
              <a:rPr lang="en-US" dirty="0"/>
              <a:t>Example: </a:t>
            </a:r>
            <a:r>
              <a:rPr lang="en-US" b="1" dirty="0"/>
              <a:t>Bank of America &amp; JPMorgan Chase</a:t>
            </a:r>
            <a:r>
              <a:rPr lang="en-US" dirty="0"/>
              <a:t> still rely on COBOL for processing transactions.</a:t>
            </a:r>
          </a:p>
          <a:p>
            <a:pPr>
              <a:buFont typeface="Arial" panose="020B0604020202020204" pitchFamily="34" charset="0"/>
              <a:buChar char="•"/>
            </a:pPr>
            <a:r>
              <a:rPr lang="en-US" dirty="0"/>
              <a:t>Challenge: COBOL developers are retiring, making it hard to maintain.</a:t>
            </a:r>
          </a:p>
          <a:p>
            <a:pPr>
              <a:buFont typeface="Arial" panose="020B0604020202020204" pitchFamily="34" charset="0"/>
              <a:buChar char="•"/>
            </a:pPr>
            <a:r>
              <a:rPr lang="en-US" dirty="0"/>
              <a:t>Solution: Banks use </a:t>
            </a:r>
            <a:r>
              <a:rPr lang="en-US" b="1" dirty="0"/>
              <a:t>APIs</a:t>
            </a:r>
            <a:r>
              <a:rPr lang="en-US" dirty="0"/>
              <a:t> to integrate legacy systems with modern mobile banking apps.</a:t>
            </a:r>
          </a:p>
          <a:p>
            <a:endParaRPr lang="en-US" dirty="0"/>
          </a:p>
          <a:p>
            <a:r>
              <a:rPr lang="en-US" b="1" dirty="0"/>
              <a:t>Healthcare (NHS Patient Records - UK)</a:t>
            </a:r>
            <a:endParaRPr lang="en-US" dirty="0"/>
          </a:p>
          <a:p>
            <a:pPr>
              <a:buFont typeface="Arial" panose="020B0604020202020204" pitchFamily="34" charset="0"/>
              <a:buChar char="•"/>
            </a:pPr>
            <a:r>
              <a:rPr lang="en-US" dirty="0"/>
              <a:t>Many hospitals in the UK use </a:t>
            </a:r>
            <a:r>
              <a:rPr lang="en-US" b="1" dirty="0"/>
              <a:t>legacy Electronic Health Records (EHRs)</a:t>
            </a:r>
            <a:r>
              <a:rPr lang="en-US" dirty="0"/>
              <a:t> developed in the 1990s.</a:t>
            </a:r>
          </a:p>
          <a:p>
            <a:pPr>
              <a:buFont typeface="Arial" panose="020B0604020202020204" pitchFamily="34" charset="0"/>
              <a:buChar char="•"/>
            </a:pPr>
            <a:r>
              <a:rPr lang="en-US" dirty="0"/>
              <a:t>Challenge: Difficulty in integrating with new digital health platforms.</a:t>
            </a:r>
          </a:p>
          <a:p>
            <a:pPr>
              <a:buFont typeface="Arial" panose="020B0604020202020204" pitchFamily="34" charset="0"/>
              <a:buChar char="•"/>
            </a:pPr>
            <a:r>
              <a:rPr lang="en-US" dirty="0"/>
              <a:t>Solution: </a:t>
            </a:r>
            <a:r>
              <a:rPr lang="en-US" b="1" dirty="0"/>
              <a:t>Data migration</a:t>
            </a:r>
            <a:r>
              <a:rPr lang="en-US" dirty="0"/>
              <a:t> to cloud-based EHR solutions like </a:t>
            </a:r>
            <a:r>
              <a:rPr lang="en-US" b="1" dirty="0"/>
              <a:t>Epic</a:t>
            </a:r>
            <a:r>
              <a:rPr lang="en-US" dirty="0"/>
              <a:t> and </a:t>
            </a:r>
            <a:r>
              <a:rPr lang="en-US" b="1" dirty="0"/>
              <a:t>Cerner</a:t>
            </a:r>
            <a:r>
              <a:rPr lang="en-US" dirty="0"/>
              <a:t>.</a:t>
            </a:r>
          </a:p>
          <a:p>
            <a:pPr>
              <a:buFont typeface="Arial" panose="020B0604020202020204" pitchFamily="34" charset="0"/>
              <a:buChar char="•"/>
            </a:pPr>
            <a:endParaRPr lang="en-US" dirty="0"/>
          </a:p>
          <a:p>
            <a:r>
              <a:rPr lang="en-US" b="1" dirty="0"/>
              <a:t>Telecommunications (AT&amp;T, Verizon - SS7 Networks)</a:t>
            </a:r>
            <a:endParaRPr lang="en-US" dirty="0"/>
          </a:p>
          <a:p>
            <a:pPr>
              <a:buFont typeface="Arial" panose="020B0604020202020204" pitchFamily="34" charset="0"/>
              <a:buChar char="•"/>
            </a:pPr>
            <a:r>
              <a:rPr lang="en-US" dirty="0"/>
              <a:t>The </a:t>
            </a:r>
            <a:r>
              <a:rPr lang="en-US" b="1" dirty="0"/>
              <a:t>SS7 signaling protocol</a:t>
            </a:r>
            <a:r>
              <a:rPr lang="en-US" dirty="0"/>
              <a:t>, developed in the 1970s, is still used for </a:t>
            </a:r>
            <a:r>
              <a:rPr lang="en-US" b="1" dirty="0"/>
              <a:t>phone call routing</a:t>
            </a:r>
            <a:r>
              <a:rPr lang="en-US" dirty="0"/>
              <a:t> globally.</a:t>
            </a:r>
          </a:p>
          <a:p>
            <a:pPr>
              <a:buFont typeface="Arial" panose="020B0604020202020204" pitchFamily="34" charset="0"/>
              <a:buChar char="•"/>
            </a:pPr>
            <a:r>
              <a:rPr lang="en-US" dirty="0"/>
              <a:t>Challenge: Vulnerable to cyberattacks (e.g., location tracking &amp; call interception).</a:t>
            </a:r>
          </a:p>
          <a:p>
            <a:pPr>
              <a:buFont typeface="Arial" panose="020B0604020202020204" pitchFamily="34" charset="0"/>
              <a:buChar char="•"/>
            </a:pPr>
            <a:r>
              <a:rPr lang="en-US" dirty="0"/>
              <a:t>Solution: Telecom companies implement </a:t>
            </a:r>
            <a:r>
              <a:rPr lang="en-US" b="1" dirty="0"/>
              <a:t>security patches and firewalls</a:t>
            </a:r>
            <a:r>
              <a:rPr lang="en-US" dirty="0"/>
              <a:t> while transitioning to </a:t>
            </a:r>
            <a:r>
              <a:rPr lang="en-US" b="1" dirty="0"/>
              <a:t>5G networks</a:t>
            </a:r>
            <a:r>
              <a:rPr lang="en-US" dirty="0"/>
              <a:t>.</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24</a:t>
            </a:fld>
            <a:endParaRPr lang="en-US"/>
          </a:p>
        </p:txBody>
      </p:sp>
    </p:spTree>
    <p:extLst>
      <p:ext uri="{BB962C8B-B14F-4D97-AF65-F5344CB8AC3E}">
        <p14:creationId xmlns:p14="http://schemas.microsoft.com/office/powerpoint/2010/main" val="37237513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Banking Systems (Mainframes - COBOL)</a:t>
            </a:r>
            <a:endParaRPr lang="en-US" dirty="0"/>
          </a:p>
          <a:p>
            <a:pPr>
              <a:buFont typeface="Arial" panose="020B0604020202020204" pitchFamily="34" charset="0"/>
              <a:buChar char="•"/>
            </a:pPr>
            <a:r>
              <a:rPr lang="en-US" dirty="0"/>
              <a:t>Many banks still use </a:t>
            </a:r>
            <a:r>
              <a:rPr lang="en-US" b="1" dirty="0"/>
              <a:t>COBOL-based mainframe systems</a:t>
            </a:r>
            <a:r>
              <a:rPr lang="en-US" dirty="0"/>
              <a:t> from the 1970s and 1980s for core banking operations.</a:t>
            </a:r>
          </a:p>
          <a:p>
            <a:pPr>
              <a:buFont typeface="Arial" panose="020B0604020202020204" pitchFamily="34" charset="0"/>
              <a:buChar char="•"/>
            </a:pPr>
            <a:r>
              <a:rPr lang="en-US" dirty="0"/>
              <a:t>Example: </a:t>
            </a:r>
            <a:r>
              <a:rPr lang="en-US" b="1" dirty="0"/>
              <a:t>Bank of America &amp; JPMorgan Chase</a:t>
            </a:r>
            <a:r>
              <a:rPr lang="en-US" dirty="0"/>
              <a:t> still rely on COBOL for processing transactions.</a:t>
            </a:r>
          </a:p>
          <a:p>
            <a:pPr>
              <a:buFont typeface="Arial" panose="020B0604020202020204" pitchFamily="34" charset="0"/>
              <a:buChar char="•"/>
            </a:pPr>
            <a:r>
              <a:rPr lang="en-US" dirty="0"/>
              <a:t>Challenge: COBOL developers are retiring, making it hard to maintain.</a:t>
            </a:r>
          </a:p>
          <a:p>
            <a:pPr>
              <a:buFont typeface="Arial" panose="020B0604020202020204" pitchFamily="34" charset="0"/>
              <a:buChar char="•"/>
            </a:pPr>
            <a:r>
              <a:rPr lang="en-US" dirty="0"/>
              <a:t>Solution: Banks use </a:t>
            </a:r>
            <a:r>
              <a:rPr lang="en-US" b="1" dirty="0"/>
              <a:t>APIs</a:t>
            </a:r>
            <a:r>
              <a:rPr lang="en-US" dirty="0"/>
              <a:t> to integrate legacy systems with modern mobile banking apps.</a:t>
            </a:r>
          </a:p>
          <a:p>
            <a:endParaRPr lang="en-US" dirty="0"/>
          </a:p>
          <a:p>
            <a:r>
              <a:rPr lang="en-US" b="1" dirty="0"/>
              <a:t>Healthcare (NHS Patient Records - UK)</a:t>
            </a:r>
            <a:endParaRPr lang="en-US" dirty="0"/>
          </a:p>
          <a:p>
            <a:pPr>
              <a:buFont typeface="Arial" panose="020B0604020202020204" pitchFamily="34" charset="0"/>
              <a:buChar char="•"/>
            </a:pPr>
            <a:r>
              <a:rPr lang="en-US" dirty="0"/>
              <a:t>Many hospitals in the UK use </a:t>
            </a:r>
            <a:r>
              <a:rPr lang="en-US" b="1" dirty="0"/>
              <a:t>legacy Electronic Health Records (EHRs)</a:t>
            </a:r>
            <a:r>
              <a:rPr lang="en-US" dirty="0"/>
              <a:t> developed in the 1990s.</a:t>
            </a:r>
          </a:p>
          <a:p>
            <a:pPr>
              <a:buFont typeface="Arial" panose="020B0604020202020204" pitchFamily="34" charset="0"/>
              <a:buChar char="•"/>
            </a:pPr>
            <a:r>
              <a:rPr lang="en-US" dirty="0"/>
              <a:t>Challenge: Difficulty in integrating with new digital health platforms.</a:t>
            </a:r>
          </a:p>
          <a:p>
            <a:pPr>
              <a:buFont typeface="Arial" panose="020B0604020202020204" pitchFamily="34" charset="0"/>
              <a:buChar char="•"/>
            </a:pPr>
            <a:r>
              <a:rPr lang="en-US" dirty="0"/>
              <a:t>Solution: </a:t>
            </a:r>
            <a:r>
              <a:rPr lang="en-US" b="1" dirty="0"/>
              <a:t>Data migration</a:t>
            </a:r>
            <a:r>
              <a:rPr lang="en-US" dirty="0"/>
              <a:t> to cloud-based EHR solutions like </a:t>
            </a:r>
            <a:r>
              <a:rPr lang="en-US" b="1" dirty="0"/>
              <a:t>Epic</a:t>
            </a:r>
            <a:r>
              <a:rPr lang="en-US" dirty="0"/>
              <a:t> and </a:t>
            </a:r>
            <a:r>
              <a:rPr lang="en-US" b="1" dirty="0"/>
              <a:t>Cerner</a:t>
            </a:r>
            <a:r>
              <a:rPr lang="en-US" dirty="0"/>
              <a:t>.</a:t>
            </a:r>
          </a:p>
          <a:p>
            <a:pPr>
              <a:buFont typeface="Arial" panose="020B0604020202020204" pitchFamily="34" charset="0"/>
              <a:buChar char="•"/>
            </a:pPr>
            <a:endParaRPr lang="en-US" dirty="0"/>
          </a:p>
          <a:p>
            <a:r>
              <a:rPr lang="en-US" b="1" dirty="0"/>
              <a:t>Telecommunications (AT&amp;T, Verizon - SS7 Networks)</a:t>
            </a:r>
            <a:endParaRPr lang="en-US" dirty="0"/>
          </a:p>
          <a:p>
            <a:pPr>
              <a:buFont typeface="Arial" panose="020B0604020202020204" pitchFamily="34" charset="0"/>
              <a:buChar char="•"/>
            </a:pPr>
            <a:r>
              <a:rPr lang="en-US" dirty="0"/>
              <a:t>The </a:t>
            </a:r>
            <a:r>
              <a:rPr lang="en-US" b="1" dirty="0"/>
              <a:t>SS7 signaling protocol</a:t>
            </a:r>
            <a:r>
              <a:rPr lang="en-US" dirty="0"/>
              <a:t>, developed in the 1970s, is still used for </a:t>
            </a:r>
            <a:r>
              <a:rPr lang="en-US" b="1" dirty="0"/>
              <a:t>phone call routing</a:t>
            </a:r>
            <a:r>
              <a:rPr lang="en-US" dirty="0"/>
              <a:t> globally.</a:t>
            </a:r>
          </a:p>
          <a:p>
            <a:pPr>
              <a:buFont typeface="Arial" panose="020B0604020202020204" pitchFamily="34" charset="0"/>
              <a:buChar char="•"/>
            </a:pPr>
            <a:r>
              <a:rPr lang="en-US" dirty="0"/>
              <a:t>Challenge: Vulnerable to cyberattacks (e.g., location tracking &amp; call interception).</a:t>
            </a:r>
          </a:p>
          <a:p>
            <a:pPr>
              <a:buFont typeface="Arial" panose="020B0604020202020204" pitchFamily="34" charset="0"/>
              <a:buChar char="•"/>
            </a:pPr>
            <a:r>
              <a:rPr lang="en-US" dirty="0"/>
              <a:t>Solution: Telecom companies implement </a:t>
            </a:r>
            <a:r>
              <a:rPr lang="en-US" b="1" dirty="0"/>
              <a:t>security patches and firewalls</a:t>
            </a:r>
            <a:r>
              <a:rPr lang="en-US" dirty="0"/>
              <a:t> while transitioning to </a:t>
            </a:r>
            <a:r>
              <a:rPr lang="en-US" b="1" dirty="0"/>
              <a:t>5G networks</a:t>
            </a:r>
            <a:r>
              <a:rPr lang="en-US" dirty="0"/>
              <a:t>.</a:t>
            </a:r>
          </a:p>
          <a:p>
            <a:endParaRPr lang="en-US" dirty="0"/>
          </a:p>
        </p:txBody>
      </p:sp>
      <p:sp>
        <p:nvSpPr>
          <p:cNvPr id="4" name="Slide Number Placeholder 3"/>
          <p:cNvSpPr>
            <a:spLocks noGrp="1"/>
          </p:cNvSpPr>
          <p:nvPr>
            <p:ph type="sldNum" sz="quarter" idx="5"/>
          </p:nvPr>
        </p:nvSpPr>
        <p:spPr/>
        <p:txBody>
          <a:bodyPr/>
          <a:lstStyle/>
          <a:p>
            <a:fld id="{CEF252C2-178E-45FF-987A-7BED46949438}" type="slidenum">
              <a:rPr lang="en-US" smtClean="0"/>
              <a:t>25</a:t>
            </a:fld>
            <a:endParaRPr lang="en-US"/>
          </a:p>
        </p:txBody>
      </p:sp>
    </p:spTree>
    <p:extLst>
      <p:ext uri="{BB962C8B-B14F-4D97-AF65-F5344CB8AC3E}">
        <p14:creationId xmlns:p14="http://schemas.microsoft.com/office/powerpoint/2010/main" val="306933603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EB6173-E67A-4ABF-9D07-B09534D3609E}" type="datetime1">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B46388-AE01-495E-A422-64DF783CA3B7}" type="datetime1">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9C16433-D5F8-4032-B388-28ED11946A35}" type="datetime1">
              <a:rPr lang="en-US" smtClean="0"/>
              <a:t>8/31/2026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504850-3495-4488-8FCD-CA2C2E246139}" type="datetime1">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D61167-CE2C-4438-984C-13395A4B84EC}" type="datetime1">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801522-C990-43F2-8182-0FD4A92B7E09}" type="datetime1">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2F88E-6C11-475F-BE2E-9D746C0DC1FA}" type="datetime1">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295CF-5C66-4080-A38E-555C4E259035}" type="datetime1">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086953-5472-4DB2-8C9D-C55ADA395F85}" type="datetime1">
              <a:rPr lang="en-US" smtClean="0"/>
              <a:t>8/31/2026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472C30-6944-4E86-995E-211D9B5BF857}" type="datetime1">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799CB5-B776-4CF2-94FC-CA909301CA95}" type="datetime1">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1CA38CA-2EB5-43C2-81A6-FE170C4CF28A}" type="datetime1">
              <a:rPr lang="en-US" smtClean="0"/>
              <a:t>8/31/2026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DA0D-6E59-4383-9DF9-A8C233DC83C8}"/>
              </a:ext>
            </a:extLst>
          </p:cNvPr>
          <p:cNvSpPr>
            <a:spLocks noGrp="1"/>
          </p:cNvSpPr>
          <p:nvPr>
            <p:ph type="ctrTitle"/>
          </p:nvPr>
        </p:nvSpPr>
        <p:spPr/>
        <p:txBody>
          <a:bodyPr/>
          <a:lstStyle/>
          <a:p>
            <a:pPr>
              <a:lnSpc>
                <a:spcPct val="100000"/>
              </a:lnSpc>
            </a:pPr>
            <a:r>
              <a:rPr lang="en-US" sz="4800"/>
              <a:t>Unit 9</a:t>
            </a:r>
            <a:br>
              <a:rPr lang="en-US" sz="4800" dirty="0"/>
            </a:br>
            <a:br>
              <a:rPr lang="en-US" sz="6600" dirty="0"/>
            </a:br>
            <a:r>
              <a:rPr lang="en-US" sz="6600"/>
              <a:t>Software Evolution</a:t>
            </a:r>
            <a:br>
              <a:rPr lang="en-US" dirty="0"/>
            </a:br>
            <a:endParaRPr lang="en-US" dirty="0"/>
          </a:p>
        </p:txBody>
      </p:sp>
      <p:sp>
        <p:nvSpPr>
          <p:cNvPr id="8" name="Subtitle 7">
            <a:extLst>
              <a:ext uri="{FF2B5EF4-FFF2-40B4-BE49-F238E27FC236}">
                <a16:creationId xmlns:a16="http://schemas.microsoft.com/office/drawing/2014/main" id="{FD94B0D4-AD5E-4142-BB4C-606A9BFB8C8B}"/>
              </a:ext>
            </a:extLst>
          </p:cNvPr>
          <p:cNvSpPr>
            <a:spLocks noGrp="1"/>
          </p:cNvSpPr>
          <p:nvPr>
            <p:ph type="subTitle" idx="1"/>
          </p:nvPr>
        </p:nvSpPr>
        <p:spPr>
          <a:xfrm>
            <a:off x="1051560" y="4615363"/>
            <a:ext cx="7891272" cy="1069848"/>
          </a:xfrm>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id="{6E315391-4770-44DD-96B8-AB52F28EC26C}"/>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34883A51-3C9B-4315-8D30-E190E9B94F5A}"/>
              </a:ext>
            </a:extLst>
          </p:cNvPr>
          <p:cNvSpPr>
            <a:spLocks noGrp="1"/>
          </p:cNvSpPr>
          <p:nvPr>
            <p:ph idx="1"/>
          </p:nvPr>
        </p:nvSpPr>
        <p:spPr/>
        <p:txBody>
          <a:bodyPr>
            <a:normAutofit/>
          </a:bodyPr>
          <a:lstStyle/>
          <a:p>
            <a:r>
              <a:rPr lang="en-US" dirty="0"/>
              <a:t>Introduction</a:t>
            </a:r>
          </a:p>
          <a:p>
            <a:r>
              <a:rPr lang="en-US" dirty="0"/>
              <a:t>Evolution Process; </a:t>
            </a:r>
          </a:p>
          <a:p>
            <a:r>
              <a:rPr lang="en-US" dirty="0"/>
              <a:t>Legacy Systems; </a:t>
            </a:r>
          </a:p>
          <a:p>
            <a:r>
              <a:rPr lang="en-US" dirty="0"/>
              <a:t>Software Maintenance </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C9B78AC-CDA8-45C3-B850-3A69787F6754}"/>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Evolution</a:t>
            </a:r>
          </a:p>
        </p:txBody>
      </p:sp>
      <p:sp>
        <p:nvSpPr>
          <p:cNvPr id="3" name="Content Placeholder 2"/>
          <p:cNvSpPr>
            <a:spLocks noGrp="1"/>
          </p:cNvSpPr>
          <p:nvPr>
            <p:ph idx="1"/>
          </p:nvPr>
        </p:nvSpPr>
        <p:spPr/>
        <p:txBody>
          <a:bodyPr>
            <a:normAutofit/>
          </a:bodyPr>
          <a:lstStyle/>
          <a:p>
            <a:pPr marL="0" indent="0" algn="just">
              <a:buNone/>
            </a:pPr>
            <a:r>
              <a:rPr lang="en-US" dirty="0"/>
              <a:t>System evolution refers to the process of change that occurs in a system over time. This change can happen in various aspects of the system, including its </a:t>
            </a:r>
            <a:r>
              <a:rPr lang="en-US" b="1" dirty="0"/>
              <a:t>structure, function, behavior, and performance</a:t>
            </a:r>
            <a:r>
              <a:rPr lang="en-US" dirty="0"/>
              <a:t>. It can occur in a natural or intentional way, and it can be driven by internal or external factors.</a:t>
            </a:r>
          </a:p>
          <a:p>
            <a:pPr marL="0" indent="0" algn="just">
              <a:buNone/>
            </a:pPr>
            <a:r>
              <a:rPr lang="en-US" dirty="0"/>
              <a:t>There are many reasons why software change is inevitable: </a:t>
            </a:r>
          </a:p>
          <a:p>
            <a:pPr marL="0" indent="0" algn="just">
              <a:buNone/>
            </a:pPr>
            <a:r>
              <a:rPr lang="en-US" dirty="0"/>
              <a:t>• New requirements emerge when the software is used; </a:t>
            </a:r>
          </a:p>
          <a:p>
            <a:pPr marL="0" indent="0" algn="just">
              <a:buNone/>
            </a:pPr>
            <a:r>
              <a:rPr lang="en-US" dirty="0"/>
              <a:t>• The business environment changes; </a:t>
            </a:r>
          </a:p>
          <a:p>
            <a:pPr marL="0" indent="0" algn="just">
              <a:buNone/>
            </a:pPr>
            <a:r>
              <a:rPr lang="en-US" dirty="0"/>
              <a:t>• Errors must be repaired; </a:t>
            </a:r>
          </a:p>
          <a:p>
            <a:pPr marL="0" indent="0" algn="just">
              <a:buNone/>
            </a:pPr>
            <a:r>
              <a:rPr lang="en-US" dirty="0"/>
              <a:t>• The performance or reliability of the system may have to be improved.</a:t>
            </a:r>
          </a:p>
        </p:txBody>
      </p:sp>
    </p:spTree>
    <p:extLst>
      <p:ext uri="{BB962C8B-B14F-4D97-AF65-F5344CB8AC3E}">
        <p14:creationId xmlns:p14="http://schemas.microsoft.com/office/powerpoint/2010/main" val="3031911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Evolution</a:t>
            </a:r>
            <a:endParaRPr lang="en-US" dirty="0"/>
          </a:p>
        </p:txBody>
      </p:sp>
      <p:sp>
        <p:nvSpPr>
          <p:cNvPr id="3" name="Content Placeholder 2"/>
          <p:cNvSpPr>
            <a:spLocks noGrp="1"/>
          </p:cNvSpPr>
          <p:nvPr>
            <p:ph idx="1"/>
          </p:nvPr>
        </p:nvSpPr>
        <p:spPr>
          <a:xfrm>
            <a:off x="762786" y="2212124"/>
            <a:ext cx="5798270" cy="3971860"/>
          </a:xfrm>
        </p:spPr>
        <p:txBody>
          <a:bodyPr>
            <a:normAutofit/>
          </a:bodyPr>
          <a:lstStyle/>
          <a:p>
            <a:pPr algn="just"/>
            <a:r>
              <a:rPr lang="en-US" dirty="0"/>
              <a:t>Organizations have huge investments in their software systems - they are critical business assets. To maintain the value of these assets to the business, they must be changed and updated. The majority of the software budget in large companies is devoted to changing and evolving existing software rather than developing new software. </a:t>
            </a:r>
          </a:p>
          <a:p>
            <a:pPr algn="just"/>
            <a:r>
              <a:rPr lang="en-US" dirty="0"/>
              <a:t>A spiral model of development and evolution represents how a software system evolves through a sequence of multiple release</a:t>
            </a:r>
          </a:p>
        </p:txBody>
      </p:sp>
      <p:pic>
        <p:nvPicPr>
          <p:cNvPr id="4" name="Picture 3"/>
          <p:cNvPicPr>
            <a:picLocks noChangeAspect="1"/>
          </p:cNvPicPr>
          <p:nvPr/>
        </p:nvPicPr>
        <p:blipFill>
          <a:blip r:embed="rId3"/>
          <a:stretch>
            <a:fillRect/>
          </a:stretch>
        </p:blipFill>
        <p:spPr>
          <a:xfrm>
            <a:off x="6794691" y="2212124"/>
            <a:ext cx="4831942" cy="3789461"/>
          </a:xfrm>
          <a:prstGeom prst="rect">
            <a:avLst/>
          </a:prstGeom>
        </p:spPr>
      </p:pic>
    </p:spTree>
    <p:extLst>
      <p:ext uri="{BB962C8B-B14F-4D97-AF65-F5344CB8AC3E}">
        <p14:creationId xmlns:p14="http://schemas.microsoft.com/office/powerpoint/2010/main" val="281284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D1AEA-6BD2-B417-D9F9-BBCF44AFE907}"/>
              </a:ext>
            </a:extLst>
          </p:cNvPr>
          <p:cNvSpPr>
            <a:spLocks noGrp="1"/>
          </p:cNvSpPr>
          <p:nvPr>
            <p:ph type="title"/>
          </p:nvPr>
        </p:nvSpPr>
        <p:spPr/>
        <p:txBody>
          <a:bodyPr/>
          <a:lstStyle/>
          <a:p>
            <a:r>
              <a:rPr lang="en-US" b="1" dirty="0"/>
              <a:t>Evolution Process</a:t>
            </a:r>
          </a:p>
        </p:txBody>
      </p:sp>
      <p:sp>
        <p:nvSpPr>
          <p:cNvPr id="3" name="Content Placeholder 2">
            <a:extLst>
              <a:ext uri="{FF2B5EF4-FFF2-40B4-BE49-F238E27FC236}">
                <a16:creationId xmlns:a16="http://schemas.microsoft.com/office/drawing/2014/main" id="{03D82EF9-3951-ED3D-F7F7-A3972ADBC981}"/>
              </a:ext>
            </a:extLst>
          </p:cNvPr>
          <p:cNvSpPr>
            <a:spLocks noGrp="1"/>
          </p:cNvSpPr>
          <p:nvPr>
            <p:ph idx="1"/>
          </p:nvPr>
        </p:nvSpPr>
        <p:spPr>
          <a:xfrm>
            <a:off x="838200" y="1825625"/>
            <a:ext cx="11353800" cy="1466215"/>
          </a:xfrm>
        </p:spPr>
        <p:txBody>
          <a:bodyPr>
            <a:normAutofit fontScale="92500" lnSpcReduction="20000"/>
          </a:bodyPr>
          <a:lstStyle/>
          <a:p>
            <a:pPr algn="l"/>
            <a:r>
              <a:rPr lang="en-US" b="1" i="0" dirty="0">
                <a:solidFill>
                  <a:srgbClr val="000000"/>
                </a:solidFill>
                <a:effectLst/>
                <a:latin typeface="Tahoma" panose="020B0604030504040204" pitchFamily="34" charset="0"/>
              </a:rPr>
              <a:t>Software evolution processes</a:t>
            </a:r>
            <a:r>
              <a:rPr lang="en-US" b="0" i="0" dirty="0">
                <a:solidFill>
                  <a:srgbClr val="000000"/>
                </a:solidFill>
                <a:effectLst/>
                <a:latin typeface="Tahoma" panose="020B0604030504040204" pitchFamily="34" charset="0"/>
              </a:rPr>
              <a:t> depend on:</a:t>
            </a:r>
          </a:p>
          <a:p>
            <a:pPr algn="l">
              <a:buFont typeface="Arial" panose="020B0604020202020204" pitchFamily="34" charset="0"/>
              <a:buChar char="•"/>
            </a:pPr>
            <a:r>
              <a:rPr lang="en-US" b="0" i="0" dirty="0">
                <a:solidFill>
                  <a:srgbClr val="000000"/>
                </a:solidFill>
                <a:effectLst/>
                <a:latin typeface="Tahoma" panose="020B0604030504040204" pitchFamily="34" charset="0"/>
              </a:rPr>
              <a:t>The </a:t>
            </a:r>
            <a:r>
              <a:rPr lang="en-US" b="1" i="0" dirty="0">
                <a:solidFill>
                  <a:srgbClr val="000000"/>
                </a:solidFill>
                <a:effectLst/>
                <a:latin typeface="Tahoma" panose="020B0604030504040204" pitchFamily="34" charset="0"/>
              </a:rPr>
              <a:t>type of software</a:t>
            </a:r>
            <a:r>
              <a:rPr lang="en-US" b="0" i="0" dirty="0">
                <a:solidFill>
                  <a:srgbClr val="000000"/>
                </a:solidFill>
                <a:effectLst/>
                <a:latin typeface="Tahoma" panose="020B0604030504040204" pitchFamily="34" charset="0"/>
              </a:rPr>
              <a:t> being maintained;</a:t>
            </a:r>
          </a:p>
          <a:p>
            <a:pPr algn="l">
              <a:buFont typeface="Arial" panose="020B0604020202020204" pitchFamily="34" charset="0"/>
              <a:buChar char="•"/>
            </a:pPr>
            <a:r>
              <a:rPr lang="en-US" b="0" i="0" dirty="0">
                <a:solidFill>
                  <a:srgbClr val="000000"/>
                </a:solidFill>
                <a:effectLst/>
                <a:latin typeface="Tahoma" panose="020B0604030504040204" pitchFamily="34" charset="0"/>
              </a:rPr>
              <a:t>The </a:t>
            </a:r>
            <a:r>
              <a:rPr lang="en-US" b="1" i="0" dirty="0">
                <a:solidFill>
                  <a:srgbClr val="000000"/>
                </a:solidFill>
                <a:effectLst/>
                <a:latin typeface="Tahoma" panose="020B0604030504040204" pitchFamily="34" charset="0"/>
              </a:rPr>
              <a:t>development processes</a:t>
            </a:r>
            <a:r>
              <a:rPr lang="en-US" b="0" i="0" dirty="0">
                <a:solidFill>
                  <a:srgbClr val="000000"/>
                </a:solidFill>
                <a:effectLst/>
                <a:latin typeface="Tahoma" panose="020B0604030504040204" pitchFamily="34" charset="0"/>
              </a:rPr>
              <a:t> used;</a:t>
            </a:r>
          </a:p>
          <a:p>
            <a:pPr algn="l">
              <a:buFont typeface="Arial" panose="020B0604020202020204" pitchFamily="34" charset="0"/>
              <a:buChar char="•"/>
            </a:pPr>
            <a:r>
              <a:rPr lang="en-US" b="0" i="0" dirty="0">
                <a:solidFill>
                  <a:srgbClr val="000000"/>
                </a:solidFill>
                <a:effectLst/>
                <a:latin typeface="Tahoma" panose="020B0604030504040204" pitchFamily="34" charset="0"/>
              </a:rPr>
              <a:t>The </a:t>
            </a:r>
            <a:r>
              <a:rPr lang="en-US" b="1" i="0" dirty="0">
                <a:solidFill>
                  <a:srgbClr val="000000"/>
                </a:solidFill>
                <a:effectLst/>
                <a:latin typeface="Tahoma" panose="020B0604030504040204" pitchFamily="34" charset="0"/>
              </a:rPr>
              <a:t>skills and experience</a:t>
            </a:r>
            <a:r>
              <a:rPr lang="en-US" b="0" i="0" dirty="0">
                <a:solidFill>
                  <a:srgbClr val="000000"/>
                </a:solidFill>
                <a:effectLst/>
                <a:latin typeface="Tahoma" panose="020B0604030504040204" pitchFamily="34" charset="0"/>
              </a:rPr>
              <a:t> of the people involved.</a:t>
            </a:r>
          </a:p>
          <a:p>
            <a:endParaRPr lang="en-US" dirty="0"/>
          </a:p>
        </p:txBody>
      </p:sp>
      <p:pic>
        <p:nvPicPr>
          <p:cNvPr id="1026" name="Picture 2" descr="CS 410/510 - Software Engineering class notes">
            <a:extLst>
              <a:ext uri="{FF2B5EF4-FFF2-40B4-BE49-F238E27FC236}">
                <a16:creationId xmlns:a16="http://schemas.microsoft.com/office/drawing/2014/main" id="{99AC5B39-26DD-4510-27EC-A5C0840FB1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5822" y="3566161"/>
            <a:ext cx="8560356" cy="2417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345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D82EF9-3951-ED3D-F7F7-A3972ADBC981}"/>
              </a:ext>
            </a:extLst>
          </p:cNvPr>
          <p:cNvSpPr>
            <a:spLocks noGrp="1"/>
          </p:cNvSpPr>
          <p:nvPr>
            <p:ph idx="1"/>
          </p:nvPr>
        </p:nvSpPr>
        <p:spPr>
          <a:xfrm>
            <a:off x="838200" y="2460395"/>
            <a:ext cx="10747342" cy="3523273"/>
          </a:xfrm>
        </p:spPr>
        <p:txBody>
          <a:bodyPr>
            <a:normAutofit fontScale="92500" lnSpcReduction="20000"/>
          </a:bodyPr>
          <a:lstStyle/>
          <a:p>
            <a:pPr algn="l"/>
            <a:r>
              <a:rPr lang="en-US" dirty="0"/>
              <a:t>Evolution process starts from the change request process. </a:t>
            </a:r>
          </a:p>
          <a:p>
            <a:pPr algn="l"/>
            <a:r>
              <a:rPr lang="en-US" dirty="0"/>
              <a:t>After which the cost and impact of these changes are assessed to see how much of the system is affected by the change and how much it might cost to implement the change. </a:t>
            </a:r>
          </a:p>
          <a:p>
            <a:pPr algn="l"/>
            <a:r>
              <a:rPr lang="en-US" dirty="0"/>
              <a:t>If the proposed changes are accepted a new release of the system is planned. </a:t>
            </a:r>
          </a:p>
          <a:p>
            <a:pPr algn="l"/>
            <a:r>
              <a:rPr lang="en-US" dirty="0"/>
              <a:t>A decision is then made on which changes to implement in the next version of the system. </a:t>
            </a:r>
          </a:p>
          <a:p>
            <a:pPr algn="l"/>
            <a:r>
              <a:rPr lang="en-US" dirty="0"/>
              <a:t>The users suggest changes, on which several consecutive updates and maintenance keep on changing too. This process changes to the original software, till the desired software is accomplished. </a:t>
            </a:r>
          </a:p>
          <a:p>
            <a:pPr algn="l"/>
            <a:r>
              <a:rPr lang="en-US" dirty="0"/>
              <a:t>Even after the user has desired software in hand, the advancing technology and the changing requirements force the software product to change accordingly. Re-creating software from scratch and to go one-on-one with requirement is not feasible. The only feasible and economical solution is to update the existing software so that it matches the latest requirements.</a:t>
            </a:r>
          </a:p>
        </p:txBody>
      </p:sp>
      <p:pic>
        <p:nvPicPr>
          <p:cNvPr id="1026" name="Picture 2" descr="CS 410/510 - Software Engineering class notes">
            <a:extLst>
              <a:ext uri="{FF2B5EF4-FFF2-40B4-BE49-F238E27FC236}">
                <a16:creationId xmlns:a16="http://schemas.microsoft.com/office/drawing/2014/main" id="{99AC5B39-26DD-4510-27EC-A5C0840FB1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8154" y="118213"/>
            <a:ext cx="6875691" cy="1941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140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Deployment </a:t>
            </a:r>
            <a:endParaRPr lang="en-US" dirty="0"/>
          </a:p>
        </p:txBody>
      </p:sp>
      <p:sp>
        <p:nvSpPr>
          <p:cNvPr id="3" name="Content Placeholder 2"/>
          <p:cNvSpPr>
            <a:spLocks noGrp="1"/>
          </p:cNvSpPr>
          <p:nvPr>
            <p:ph idx="1"/>
          </p:nvPr>
        </p:nvSpPr>
        <p:spPr/>
        <p:txBody>
          <a:bodyPr/>
          <a:lstStyle/>
          <a:p>
            <a:pPr algn="just"/>
            <a:r>
              <a:rPr lang="en-US" dirty="0"/>
              <a:t>Software deployment includes all of the steps, processes, and activities that are required to make a software system or update available to its intended users. </a:t>
            </a:r>
          </a:p>
          <a:p>
            <a:pPr algn="just"/>
            <a:r>
              <a:rPr lang="en-US" dirty="0"/>
              <a:t>Today, most IT organizations and software developers deploy software updates, patches and new applications with a combination of manual and automated processes. </a:t>
            </a:r>
          </a:p>
          <a:p>
            <a:pPr algn="just"/>
            <a:r>
              <a:rPr lang="en-US" dirty="0"/>
              <a:t>Some of the most common activities of software deployment include software release, installation, testing and performance monitoring.</a:t>
            </a:r>
          </a:p>
        </p:txBody>
      </p:sp>
    </p:spTree>
    <p:extLst>
      <p:ext uri="{BB962C8B-B14F-4D97-AF65-F5344CB8AC3E}">
        <p14:creationId xmlns:p14="http://schemas.microsoft.com/office/powerpoint/2010/main" val="2027085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Popular companies for hosting deployments are:</a:t>
            </a:r>
          </a:p>
        </p:txBody>
      </p:sp>
      <p:sp>
        <p:nvSpPr>
          <p:cNvPr id="3" name="Content Placeholder 2"/>
          <p:cNvSpPr>
            <a:spLocks noGrp="1"/>
          </p:cNvSpPr>
          <p:nvPr>
            <p:ph idx="1"/>
          </p:nvPr>
        </p:nvSpPr>
        <p:spPr/>
        <p:txBody>
          <a:bodyPr/>
          <a:lstStyle/>
          <a:p>
            <a:r>
              <a:rPr lang="en-US" dirty="0" err="1"/>
              <a:t>Mercentile</a:t>
            </a:r>
            <a:endParaRPr lang="en-US" dirty="0"/>
          </a:p>
          <a:p>
            <a:r>
              <a:rPr lang="en-US" dirty="0" err="1"/>
              <a:t>GoDaddy</a:t>
            </a:r>
            <a:endParaRPr lang="en-US" dirty="0"/>
          </a:p>
          <a:p>
            <a:r>
              <a:rPr lang="en-US" dirty="0"/>
              <a:t>Himalayan Host</a:t>
            </a:r>
          </a:p>
          <a:p>
            <a:r>
              <a:rPr lang="en-US" dirty="0" err="1"/>
              <a:t>Prabhu</a:t>
            </a:r>
            <a:r>
              <a:rPr lang="en-US" dirty="0"/>
              <a:t> Host</a:t>
            </a:r>
          </a:p>
          <a:p>
            <a:r>
              <a:rPr lang="en-US" dirty="0"/>
              <a:t>Nep clouds</a:t>
            </a:r>
          </a:p>
          <a:p>
            <a:r>
              <a:rPr lang="en-US" dirty="0"/>
              <a:t>Cloud Himalaya</a:t>
            </a:r>
          </a:p>
        </p:txBody>
      </p:sp>
    </p:spTree>
    <p:extLst>
      <p:ext uri="{BB962C8B-B14F-4D97-AF65-F5344CB8AC3E}">
        <p14:creationId xmlns:p14="http://schemas.microsoft.com/office/powerpoint/2010/main" val="1146234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Program evolution dynamics</a:t>
            </a:r>
          </a:p>
        </p:txBody>
      </p:sp>
      <p:sp>
        <p:nvSpPr>
          <p:cNvPr id="3" name="Content Placeholder 2"/>
          <p:cNvSpPr>
            <a:spLocks noGrp="1"/>
          </p:cNvSpPr>
          <p:nvPr>
            <p:ph idx="1"/>
          </p:nvPr>
        </p:nvSpPr>
        <p:spPr/>
        <p:txBody>
          <a:bodyPr>
            <a:normAutofit/>
          </a:bodyPr>
          <a:lstStyle/>
          <a:p>
            <a:pPr algn="just"/>
            <a:r>
              <a:rPr lang="en-US" b="1" dirty="0"/>
              <a:t>Program Evolution Dynamics</a:t>
            </a:r>
            <a:r>
              <a:rPr lang="en-US" dirty="0"/>
              <a:t> refers to the study of how software programs change and evolve over time. It involves understanding the factors, processes, and patterns that drive the continuous development, adaptation, and maintenance of software systems.</a:t>
            </a:r>
          </a:p>
          <a:p>
            <a:pPr marL="0" indent="0" algn="just">
              <a:buNone/>
            </a:pPr>
            <a:endParaRPr lang="en-US" dirty="0"/>
          </a:p>
          <a:p>
            <a:pPr algn="just"/>
            <a:r>
              <a:rPr lang="en-US" dirty="0"/>
              <a:t>After several major empirical studies, Lehman and </a:t>
            </a:r>
            <a:r>
              <a:rPr lang="en-US" dirty="0" err="1"/>
              <a:t>Belady</a:t>
            </a:r>
            <a:r>
              <a:rPr lang="en-US" dirty="0"/>
              <a:t> proposed that there were a number of 'laws' which apply to all systems as they evolved. There are sensible observations rather than laws. They are applicable to large systems developed by large organizations. </a:t>
            </a:r>
          </a:p>
        </p:txBody>
      </p:sp>
    </p:spTree>
    <p:extLst>
      <p:ext uri="{BB962C8B-B14F-4D97-AF65-F5344CB8AC3E}">
        <p14:creationId xmlns:p14="http://schemas.microsoft.com/office/powerpoint/2010/main" val="625954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Lehman and Belady’s Law</a:t>
            </a:r>
          </a:p>
        </p:txBody>
      </p:sp>
      <p:pic>
        <p:nvPicPr>
          <p:cNvPr id="4" name="Content Placeholder 3"/>
          <p:cNvPicPr>
            <a:picLocks noGrp="1" noChangeAspect="1"/>
          </p:cNvPicPr>
          <p:nvPr>
            <p:ph idx="1"/>
          </p:nvPr>
        </p:nvPicPr>
        <p:blipFill>
          <a:blip r:embed="rId3"/>
          <a:stretch>
            <a:fillRect/>
          </a:stretch>
        </p:blipFill>
        <p:spPr>
          <a:xfrm>
            <a:off x="1790948" y="1960304"/>
            <a:ext cx="9044377" cy="4528907"/>
          </a:xfrm>
          <a:prstGeom prst="rect">
            <a:avLst/>
          </a:prstGeom>
        </p:spPr>
      </p:pic>
    </p:spTree>
    <p:extLst>
      <p:ext uri="{BB962C8B-B14F-4D97-AF65-F5344CB8AC3E}">
        <p14:creationId xmlns:p14="http://schemas.microsoft.com/office/powerpoint/2010/main" val="2523407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Lehman and Belady’s Law</a:t>
            </a:r>
            <a:endParaRPr lang="en-US" dirty="0"/>
          </a:p>
        </p:txBody>
      </p:sp>
      <p:pic>
        <p:nvPicPr>
          <p:cNvPr id="4" name="Content Placeholder 3"/>
          <p:cNvPicPr>
            <a:picLocks noGrp="1" noChangeAspect="1"/>
          </p:cNvPicPr>
          <p:nvPr>
            <p:ph idx="1"/>
          </p:nvPr>
        </p:nvPicPr>
        <p:blipFill>
          <a:blip r:embed="rId3"/>
          <a:stretch>
            <a:fillRect/>
          </a:stretch>
        </p:blipFill>
        <p:spPr>
          <a:xfrm>
            <a:off x="1460814" y="2188618"/>
            <a:ext cx="9457076" cy="3816256"/>
          </a:xfrm>
          <a:prstGeom prst="rect">
            <a:avLst/>
          </a:prstGeom>
        </p:spPr>
      </p:pic>
    </p:spTree>
    <p:extLst>
      <p:ext uri="{BB962C8B-B14F-4D97-AF65-F5344CB8AC3E}">
        <p14:creationId xmlns:p14="http://schemas.microsoft.com/office/powerpoint/2010/main" val="2252164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Maintenance </a:t>
            </a:r>
          </a:p>
        </p:txBody>
      </p:sp>
      <p:sp>
        <p:nvSpPr>
          <p:cNvPr id="3" name="Content Placeholder 2"/>
          <p:cNvSpPr>
            <a:spLocks noGrp="1"/>
          </p:cNvSpPr>
          <p:nvPr>
            <p:ph idx="1"/>
          </p:nvPr>
        </p:nvSpPr>
        <p:spPr/>
        <p:txBody>
          <a:bodyPr/>
          <a:lstStyle/>
          <a:p>
            <a:pPr algn="just"/>
            <a:r>
              <a:rPr lang="en-US" dirty="0"/>
              <a:t>The process of monitoring, evaluating, and modifying of existing information systems to make required or desirable improvements may be termed as System Maintenance.</a:t>
            </a:r>
          </a:p>
          <a:p>
            <a:pPr algn="just"/>
            <a:r>
              <a:rPr lang="en-US" dirty="0"/>
              <a:t>System maintenance is an ongoing activity, which covers a wide variety of activities, including removing program and design errors, updating documentation and test data and updating user support. </a:t>
            </a:r>
          </a:p>
        </p:txBody>
      </p:sp>
    </p:spTree>
    <p:extLst>
      <p:ext uri="{BB962C8B-B14F-4D97-AF65-F5344CB8AC3E}">
        <p14:creationId xmlns:p14="http://schemas.microsoft.com/office/powerpoint/2010/main" val="2450775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Need for Maintenance</a:t>
            </a:r>
            <a:endParaRPr lang="en-US" dirty="0"/>
          </a:p>
        </p:txBody>
      </p:sp>
      <p:sp>
        <p:nvSpPr>
          <p:cNvPr id="3" name="Content Placeholder 2"/>
          <p:cNvSpPr>
            <a:spLocks noGrp="1"/>
          </p:cNvSpPr>
          <p:nvPr>
            <p:ph idx="1"/>
          </p:nvPr>
        </p:nvSpPr>
        <p:spPr/>
        <p:txBody>
          <a:bodyPr/>
          <a:lstStyle/>
          <a:p>
            <a:r>
              <a:rPr lang="en-US" dirty="0"/>
              <a:t>Correction of ‘bugs’</a:t>
            </a:r>
          </a:p>
          <a:p>
            <a:r>
              <a:rPr lang="en-US" dirty="0"/>
              <a:t>Improving opportunities for a changing environment</a:t>
            </a:r>
          </a:p>
          <a:p>
            <a:r>
              <a:rPr lang="en-US" dirty="0"/>
              <a:t>Remove obsolete functions</a:t>
            </a:r>
          </a:p>
          <a:p>
            <a:r>
              <a:rPr lang="en-US" dirty="0"/>
              <a:t>Performance improvement</a:t>
            </a:r>
          </a:p>
          <a:p>
            <a:r>
              <a:rPr lang="en-US" dirty="0"/>
              <a:t>Improve the design.</a:t>
            </a:r>
          </a:p>
          <a:p>
            <a:endParaRPr lang="en-US" b="1" dirty="0"/>
          </a:p>
          <a:p>
            <a:endParaRPr lang="en-US" b="1" dirty="0"/>
          </a:p>
          <a:p>
            <a:endParaRPr lang="en-US" b="1" dirty="0"/>
          </a:p>
        </p:txBody>
      </p:sp>
    </p:spTree>
    <p:extLst>
      <p:ext uri="{BB962C8B-B14F-4D97-AF65-F5344CB8AC3E}">
        <p14:creationId xmlns:p14="http://schemas.microsoft.com/office/powerpoint/2010/main" val="2078039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418"/>
            <a:ext cx="10515600" cy="1325563"/>
          </a:xfrm>
        </p:spPr>
        <p:txBody>
          <a:bodyPr/>
          <a:lstStyle/>
          <a:p>
            <a:r>
              <a:rPr lang="en-US" b="1" dirty="0"/>
              <a:t>Types of Maintenance:</a:t>
            </a:r>
          </a:p>
        </p:txBody>
      </p:sp>
      <p:pic>
        <p:nvPicPr>
          <p:cNvPr id="4" name="Content Placeholder 3"/>
          <p:cNvPicPr>
            <a:picLocks noGrp="1" noChangeAspect="1"/>
          </p:cNvPicPr>
          <p:nvPr>
            <p:ph idx="1"/>
          </p:nvPr>
        </p:nvPicPr>
        <p:blipFill>
          <a:blip r:embed="rId3"/>
          <a:stretch>
            <a:fillRect/>
          </a:stretch>
        </p:blipFill>
        <p:spPr>
          <a:xfrm>
            <a:off x="3230396" y="2178327"/>
            <a:ext cx="6525536" cy="3258005"/>
          </a:xfrm>
          <a:prstGeom prst="rect">
            <a:avLst/>
          </a:prstGeom>
        </p:spPr>
      </p:pic>
      <p:sp>
        <p:nvSpPr>
          <p:cNvPr id="3" name="TextBox 2"/>
          <p:cNvSpPr txBox="1"/>
          <p:nvPr/>
        </p:nvSpPr>
        <p:spPr>
          <a:xfrm>
            <a:off x="5520964" y="3082566"/>
            <a:ext cx="575036" cy="369332"/>
          </a:xfrm>
          <a:prstGeom prst="rect">
            <a:avLst/>
          </a:prstGeom>
          <a:noFill/>
        </p:spPr>
        <p:txBody>
          <a:bodyPr wrap="square" rtlCol="0">
            <a:spAutoFit/>
          </a:bodyPr>
          <a:lstStyle/>
          <a:p>
            <a:r>
              <a:rPr lang="en-US" b="1" dirty="0"/>
              <a:t>5%</a:t>
            </a:r>
          </a:p>
        </p:txBody>
      </p:sp>
    </p:spTree>
    <p:extLst>
      <p:ext uri="{BB962C8B-B14F-4D97-AF65-F5344CB8AC3E}">
        <p14:creationId xmlns:p14="http://schemas.microsoft.com/office/powerpoint/2010/main" val="4230739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Corrective Maintenance</a:t>
            </a:r>
            <a:r>
              <a:rPr lang="en-US" dirty="0"/>
              <a:t>: </a:t>
            </a:r>
          </a:p>
        </p:txBody>
      </p:sp>
      <p:sp>
        <p:nvSpPr>
          <p:cNvPr id="3" name="Content Placeholder 2"/>
          <p:cNvSpPr>
            <a:spLocks noGrp="1"/>
          </p:cNvSpPr>
          <p:nvPr>
            <p:ph idx="1"/>
          </p:nvPr>
        </p:nvSpPr>
        <p:spPr/>
        <p:txBody>
          <a:bodyPr/>
          <a:lstStyle/>
          <a:p>
            <a:pPr algn="just"/>
            <a:r>
              <a:rPr lang="en-US" dirty="0"/>
              <a:t>This type of maintenance implies removing errors in a program, which might have sneaked in the system due to faulty design or wrong assumptions. Thus, in corrective maintenance, processing or performance failures are repaired.</a:t>
            </a:r>
          </a:p>
          <a:p>
            <a:pPr algn="just"/>
            <a:r>
              <a:rPr lang="en-US" dirty="0"/>
              <a:t>Corrective maintenance of a software product may be essential either to rectify some bugs observed while the system is in use, or to enhance the performance of the system. </a:t>
            </a:r>
          </a:p>
        </p:txBody>
      </p:sp>
    </p:spTree>
    <p:extLst>
      <p:ext uri="{BB962C8B-B14F-4D97-AF65-F5344CB8AC3E}">
        <p14:creationId xmlns:p14="http://schemas.microsoft.com/office/powerpoint/2010/main" val="4028704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Adaptive Maintenance</a:t>
            </a:r>
            <a:r>
              <a:rPr lang="en-US" dirty="0"/>
              <a:t>:</a:t>
            </a:r>
          </a:p>
        </p:txBody>
      </p:sp>
      <p:sp>
        <p:nvSpPr>
          <p:cNvPr id="3" name="Content Placeholder 2"/>
          <p:cNvSpPr>
            <a:spLocks noGrp="1"/>
          </p:cNvSpPr>
          <p:nvPr>
            <p:ph idx="1"/>
          </p:nvPr>
        </p:nvSpPr>
        <p:spPr/>
        <p:txBody>
          <a:bodyPr/>
          <a:lstStyle/>
          <a:p>
            <a:pPr algn="just"/>
            <a:r>
              <a:rPr lang="en-US" dirty="0"/>
              <a:t>Modification of a software product performed after delivery to keep a software product usable in a changed or changing environment. </a:t>
            </a:r>
          </a:p>
          <a:p>
            <a:pPr algn="just"/>
            <a:r>
              <a:rPr lang="en-US" dirty="0"/>
              <a:t>This includes modifications and updates when the customers need the product to run on new platforms, on new operating systems, or when they need the product to interface with new hardware and software. </a:t>
            </a:r>
          </a:p>
        </p:txBody>
      </p:sp>
    </p:spTree>
    <p:extLst>
      <p:ext uri="{BB962C8B-B14F-4D97-AF65-F5344CB8AC3E}">
        <p14:creationId xmlns:p14="http://schemas.microsoft.com/office/powerpoint/2010/main" val="4220650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Perfective Maintenance</a:t>
            </a:r>
            <a:r>
              <a:rPr lang="en-US" dirty="0"/>
              <a:t>:</a:t>
            </a:r>
          </a:p>
        </p:txBody>
      </p:sp>
      <p:sp>
        <p:nvSpPr>
          <p:cNvPr id="3" name="Content Placeholder 2"/>
          <p:cNvSpPr>
            <a:spLocks noGrp="1"/>
          </p:cNvSpPr>
          <p:nvPr>
            <p:ph idx="1"/>
          </p:nvPr>
        </p:nvSpPr>
        <p:spPr/>
        <p:txBody>
          <a:bodyPr>
            <a:normAutofit/>
          </a:bodyPr>
          <a:lstStyle/>
          <a:p>
            <a:pPr algn="just"/>
            <a:r>
              <a:rPr lang="en-US" dirty="0"/>
              <a:t>Perfective maintenance means adding new programs or modifying the existing programs to enhance the performance of the information system. </a:t>
            </a:r>
          </a:p>
          <a:p>
            <a:pPr algn="just"/>
            <a:r>
              <a:rPr lang="en-US" dirty="0"/>
              <a:t>This type of maintenance undertaken to respond to user’s additional needs which may be due to the changes within or outside of the organization. </a:t>
            </a:r>
          </a:p>
          <a:p>
            <a:pPr algn="just"/>
            <a:r>
              <a:rPr lang="en-US" dirty="0"/>
              <a:t>A software product needs maintenance to support the new features that the users want or to change different types of functionalities of the system according to the customer demands. </a:t>
            </a:r>
          </a:p>
        </p:txBody>
      </p:sp>
    </p:spTree>
    <p:extLst>
      <p:ext uri="{BB962C8B-B14F-4D97-AF65-F5344CB8AC3E}">
        <p14:creationId xmlns:p14="http://schemas.microsoft.com/office/powerpoint/2010/main" val="3028540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Preventive Maintenance</a:t>
            </a:r>
          </a:p>
        </p:txBody>
      </p:sp>
      <p:sp>
        <p:nvSpPr>
          <p:cNvPr id="3" name="Content Placeholder 2"/>
          <p:cNvSpPr>
            <a:spLocks noGrp="1"/>
          </p:cNvSpPr>
          <p:nvPr>
            <p:ph idx="1"/>
          </p:nvPr>
        </p:nvSpPr>
        <p:spPr/>
        <p:txBody>
          <a:bodyPr>
            <a:normAutofit/>
          </a:bodyPr>
          <a:lstStyle/>
          <a:p>
            <a:pPr algn="just"/>
            <a:r>
              <a:rPr lang="en-US" dirty="0"/>
              <a:t>Preventive maintenance involves performing activities to prevent the occurrence of errors. It tends to reduce the software complexity thereby improving program understandability and increasing software maintainability. </a:t>
            </a:r>
          </a:p>
          <a:p>
            <a:pPr algn="just"/>
            <a:r>
              <a:rPr lang="en-US" dirty="0"/>
              <a:t>This type of maintenance includes modifications and updates to prevent future problems of the software. It goals to attend problems, which are not significant at this moment but may cause serious issues in future. </a:t>
            </a:r>
          </a:p>
          <a:p>
            <a:pPr algn="just"/>
            <a:r>
              <a:rPr lang="en-US" dirty="0"/>
              <a:t>Code optimization involves modifying the programs for faster execution or efficient use of storage space. Code restructuring involves transforming the program structure for reducing the complexity in source code and making it easier to understand.</a:t>
            </a:r>
          </a:p>
        </p:txBody>
      </p:sp>
    </p:spTree>
    <p:extLst>
      <p:ext uri="{BB962C8B-B14F-4D97-AF65-F5344CB8AC3E}">
        <p14:creationId xmlns:p14="http://schemas.microsoft.com/office/powerpoint/2010/main" val="2753607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Maintenance in other words:</a:t>
            </a:r>
          </a:p>
        </p:txBody>
      </p:sp>
      <p:sp>
        <p:nvSpPr>
          <p:cNvPr id="3" name="Content Placeholder 2"/>
          <p:cNvSpPr>
            <a:spLocks noGrp="1"/>
          </p:cNvSpPr>
          <p:nvPr>
            <p:ph idx="1"/>
          </p:nvPr>
        </p:nvSpPr>
        <p:spPr/>
        <p:txBody>
          <a:bodyPr>
            <a:normAutofit/>
          </a:bodyPr>
          <a:lstStyle/>
          <a:p>
            <a:pPr marL="0" indent="0" algn="just">
              <a:buNone/>
            </a:pPr>
            <a:r>
              <a:rPr lang="en-US" dirty="0"/>
              <a:t>1. </a:t>
            </a:r>
            <a:r>
              <a:rPr lang="en-US" b="1" dirty="0"/>
              <a:t>Fault repairs: </a:t>
            </a:r>
            <a:r>
              <a:rPr lang="en-US" dirty="0"/>
              <a:t>Coding errors are usually relatively cheap to correct; design errors are more expensive as they may involve rewriting several program components. Requirements errors are the most expensive to repair because of the expensive system redesign which be necessary.</a:t>
            </a:r>
          </a:p>
          <a:p>
            <a:pPr marL="0" indent="0" algn="just">
              <a:buNone/>
            </a:pPr>
            <a:r>
              <a:rPr lang="en-US" dirty="0"/>
              <a:t>2.</a:t>
            </a:r>
            <a:r>
              <a:rPr lang="en-US" b="1" dirty="0"/>
              <a:t> Environmental adaptation:</a:t>
            </a:r>
            <a:r>
              <a:rPr lang="en-US" dirty="0"/>
              <a:t> This type of maintenance is required when some aspect of the system’s environment such as the hardware, the platform operating system, or other support software changes the application system must be modified to adapt it to cope with these environmental changes.</a:t>
            </a:r>
          </a:p>
          <a:p>
            <a:pPr marL="0" indent="0" algn="just">
              <a:buNone/>
            </a:pPr>
            <a:r>
              <a:rPr lang="en-US" dirty="0"/>
              <a:t>3. </a:t>
            </a:r>
            <a:r>
              <a:rPr lang="en-US" b="1" dirty="0"/>
              <a:t>Functionality addition:</a:t>
            </a:r>
            <a:r>
              <a:rPr lang="en-US" dirty="0"/>
              <a:t> This type of maintenance is necessary when the system requirements change in response to organizational or business change .the scale of the changes required to the software is often much greater than for the other types of maintenance.</a:t>
            </a:r>
          </a:p>
          <a:p>
            <a:pPr algn="just"/>
            <a:endParaRPr lang="en-US" dirty="0"/>
          </a:p>
        </p:txBody>
      </p:sp>
    </p:spTree>
    <p:extLst>
      <p:ext uri="{BB962C8B-B14F-4D97-AF65-F5344CB8AC3E}">
        <p14:creationId xmlns:p14="http://schemas.microsoft.com/office/powerpoint/2010/main" val="3504374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t>Why is it difficult to differentiate between the types of maintenance?</a:t>
            </a:r>
            <a:endParaRPr lang="en-US" sz="3600" dirty="0"/>
          </a:p>
        </p:txBody>
      </p:sp>
      <p:sp>
        <p:nvSpPr>
          <p:cNvPr id="3" name="Content Placeholder 2"/>
          <p:cNvSpPr>
            <a:spLocks noGrp="1"/>
          </p:cNvSpPr>
          <p:nvPr>
            <p:ph idx="1"/>
          </p:nvPr>
        </p:nvSpPr>
        <p:spPr/>
        <p:txBody>
          <a:bodyPr>
            <a:normAutofit/>
          </a:bodyPr>
          <a:lstStyle/>
          <a:p>
            <a:pPr marL="0" indent="0" algn="just">
              <a:buNone/>
            </a:pPr>
            <a:r>
              <a:rPr lang="en-US" dirty="0"/>
              <a:t>In practice, there is not a clear-cut distinction between these types of maintenance, when the system adapt to new environment, then add functionality to take advantage of new environmental features. Software faults are often exposed because users use the system in unanticipated ways. These types of maintenance are recognized but a different person sometimes gives them different names.</a:t>
            </a:r>
          </a:p>
          <a:p>
            <a:pPr algn="just"/>
            <a:r>
              <a:rPr lang="en-US" dirty="0"/>
              <a:t>‘Corrective maintenance’ is universally used to refer to maintenance for fault repair’</a:t>
            </a:r>
          </a:p>
          <a:p>
            <a:pPr algn="just"/>
            <a:r>
              <a:rPr lang="en-US" dirty="0"/>
              <a:t>“Adaptive maintenance’ sometimes means adapting to new environment and sometimes means adapting the software to new requirements.</a:t>
            </a:r>
          </a:p>
          <a:p>
            <a:pPr algn="just"/>
            <a:r>
              <a:rPr lang="en-US" dirty="0"/>
              <a:t>‘Perfective maintenance’ sometimes means perfecting the software by implementing new requirements; in other cases it means maintaining the functionality of the system but improving its structure and performance.</a:t>
            </a:r>
          </a:p>
          <a:p>
            <a:pPr algn="just"/>
            <a:r>
              <a:rPr lang="en-US" dirty="0"/>
              <a:t>‘Preventive maintenance’ some time means maintenance prediction .</a:t>
            </a:r>
          </a:p>
          <a:p>
            <a:pPr algn="just"/>
            <a:endParaRPr lang="en-US" b="1" dirty="0"/>
          </a:p>
        </p:txBody>
      </p:sp>
    </p:spTree>
    <p:extLst>
      <p:ext uri="{BB962C8B-B14F-4D97-AF65-F5344CB8AC3E}">
        <p14:creationId xmlns:p14="http://schemas.microsoft.com/office/powerpoint/2010/main" val="2596030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77618-18F5-4600-8A8E-A4F6477E8B25}"/>
              </a:ext>
            </a:extLst>
          </p:cNvPr>
          <p:cNvSpPr>
            <a:spLocks noGrp="1"/>
          </p:cNvSpPr>
          <p:nvPr>
            <p:ph type="title"/>
          </p:nvPr>
        </p:nvSpPr>
        <p:spPr/>
        <p:txBody>
          <a:bodyPr/>
          <a:lstStyle/>
          <a:p>
            <a:r>
              <a:rPr lang="en-US" b="1" dirty="0"/>
              <a:t>Cost of maintenance</a:t>
            </a:r>
          </a:p>
        </p:txBody>
      </p:sp>
      <p:sp>
        <p:nvSpPr>
          <p:cNvPr id="3" name="Content Placeholder 2">
            <a:extLst>
              <a:ext uri="{FF2B5EF4-FFF2-40B4-BE49-F238E27FC236}">
                <a16:creationId xmlns:a16="http://schemas.microsoft.com/office/drawing/2014/main" id="{B19216A2-9E2E-4CD6-89C9-2BD1653BE4B6}"/>
              </a:ext>
            </a:extLst>
          </p:cNvPr>
          <p:cNvSpPr>
            <a:spLocks noGrp="1"/>
          </p:cNvSpPr>
          <p:nvPr>
            <p:ph idx="1"/>
          </p:nvPr>
        </p:nvSpPr>
        <p:spPr>
          <a:xfrm>
            <a:off x="1069848" y="1753386"/>
            <a:ext cx="10058400" cy="4392607"/>
          </a:xfrm>
        </p:spPr>
        <p:txBody>
          <a:bodyPr>
            <a:normAutofit fontScale="85000" lnSpcReduction="20000"/>
          </a:bodyPr>
          <a:lstStyle/>
          <a:p>
            <a:pPr>
              <a:lnSpc>
                <a:spcPct val="120000"/>
              </a:lnSpc>
            </a:pPr>
            <a:r>
              <a:rPr lang="en-US" dirty="0"/>
              <a:t>The cost of maintenance, represent a large proportion of the budget of most organization that use the software system. For some, organizations, as much as 60 to 80 percent of their Information systems budget is allocated to maintenance activities. These huge maintenance costs are due to the fact that many organizations have accumulated more and more older legacy systems that require more and more maintenance.</a:t>
            </a:r>
          </a:p>
          <a:p>
            <a:r>
              <a:rPr lang="en-US" dirty="0"/>
              <a:t>Factors influencing Maintenance Cost:</a:t>
            </a:r>
          </a:p>
          <a:p>
            <a:pPr marL="457200" indent="-457200">
              <a:buFont typeface="+mj-lt"/>
              <a:buAutoNum type="alphaLcParenR"/>
            </a:pPr>
            <a:r>
              <a:rPr lang="en-US" b="1" dirty="0"/>
              <a:t>Latent defects:</a:t>
            </a:r>
            <a:r>
              <a:rPr lang="en-US" dirty="0"/>
              <a:t> This is the number of unknown errors existing in the system after it is installed.</a:t>
            </a:r>
          </a:p>
          <a:p>
            <a:pPr marL="457200" indent="-457200">
              <a:buFont typeface="+mj-lt"/>
              <a:buAutoNum type="alphaLcParenR"/>
            </a:pPr>
            <a:r>
              <a:rPr lang="en-US" b="1" dirty="0"/>
              <a:t>No. of customers:</a:t>
            </a:r>
            <a:r>
              <a:rPr lang="en-US" dirty="0"/>
              <a:t> Greater the number of customers in the system, greater the maintenance costs..</a:t>
            </a:r>
          </a:p>
          <a:p>
            <a:pPr marL="457200" indent="-457200">
              <a:buFont typeface="+mj-lt"/>
              <a:buAutoNum type="alphaLcParenR"/>
            </a:pPr>
            <a:r>
              <a:rPr lang="en-US" b="1" dirty="0"/>
              <a:t>Quality of system documentation:</a:t>
            </a:r>
            <a:r>
              <a:rPr lang="en-US" dirty="0"/>
              <a:t> Higher the quality of system documentation, lower the maintenance costs.</a:t>
            </a:r>
          </a:p>
          <a:p>
            <a:pPr marL="457200" indent="-457200">
              <a:buFont typeface="+mj-lt"/>
              <a:buAutoNum type="alphaLcParenR"/>
            </a:pPr>
            <a:r>
              <a:rPr lang="en-US" b="1" dirty="0"/>
              <a:t>Tools:</a:t>
            </a:r>
            <a:r>
              <a:rPr lang="en-US" dirty="0"/>
              <a:t> Tools that can automatically produce system documentation can also lower maintenance costs.</a:t>
            </a:r>
          </a:p>
          <a:p>
            <a:pPr marL="457200" indent="-457200">
              <a:buFont typeface="+mj-lt"/>
              <a:buAutoNum type="alphaLcParenR"/>
            </a:pPr>
            <a:r>
              <a:rPr lang="en-US" b="1" dirty="0"/>
              <a:t>Well-structured programs:</a:t>
            </a:r>
            <a:r>
              <a:rPr lang="en-US" dirty="0"/>
              <a:t> Well-designed system is easier to understand and fix. So, more well-structured programs in system leads to laver maintenance costs</a:t>
            </a:r>
          </a:p>
        </p:txBody>
      </p:sp>
      <p:sp>
        <p:nvSpPr>
          <p:cNvPr id="4" name="Slide Number Placeholder 3">
            <a:extLst>
              <a:ext uri="{FF2B5EF4-FFF2-40B4-BE49-F238E27FC236}">
                <a16:creationId xmlns:a16="http://schemas.microsoft.com/office/drawing/2014/main" id="{DE91E863-30A2-4A11-96D0-B4D5FD7EFFA9}"/>
              </a:ext>
            </a:extLst>
          </p:cNvPr>
          <p:cNvSpPr>
            <a:spLocks noGrp="1"/>
          </p:cNvSpPr>
          <p:nvPr>
            <p:ph type="sldNum" sz="quarter" idx="12"/>
          </p:nvPr>
        </p:nvSpPr>
        <p:spPr/>
        <p:txBody>
          <a:bodyPr/>
          <a:lstStyle/>
          <a:p>
            <a:fld id="{255C45AA-988C-4610-8E25-9C545FF2A435}" type="slidenum">
              <a:rPr lang="en-US" smtClean="0"/>
              <a:t>21</a:t>
            </a:fld>
            <a:endParaRPr lang="en-US"/>
          </a:p>
        </p:txBody>
      </p:sp>
    </p:spTree>
    <p:extLst>
      <p:ext uri="{BB962C8B-B14F-4D97-AF65-F5344CB8AC3E}">
        <p14:creationId xmlns:p14="http://schemas.microsoft.com/office/powerpoint/2010/main" val="7970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System Evolution? Explain with some real world example.</a:t>
            </a:r>
          </a:p>
          <a:p>
            <a:r>
              <a:rPr lang="en-US" dirty="0"/>
              <a:t>What is System Maintenance? Explain its types.</a:t>
            </a:r>
          </a:p>
          <a:p>
            <a:r>
              <a:rPr lang="en-US" dirty="0"/>
              <a:t>What is Program Evolution Dynamics? Explain Lehman and </a:t>
            </a:r>
            <a:r>
              <a:rPr lang="en-US" dirty="0" err="1"/>
              <a:t>Belady’s</a:t>
            </a:r>
            <a:r>
              <a:rPr lang="en-US" dirty="0"/>
              <a:t> Law.</a:t>
            </a:r>
          </a:p>
        </p:txBody>
      </p:sp>
    </p:spTree>
    <p:extLst>
      <p:ext uri="{BB962C8B-B14F-4D97-AF65-F5344CB8AC3E}">
        <p14:creationId xmlns:p14="http://schemas.microsoft.com/office/powerpoint/2010/main" val="630037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Legacy management systems</a:t>
            </a:r>
          </a:p>
        </p:txBody>
      </p:sp>
      <p:sp>
        <p:nvSpPr>
          <p:cNvPr id="3" name="Content Placeholder 2"/>
          <p:cNvSpPr>
            <a:spLocks noGrp="1"/>
          </p:cNvSpPr>
          <p:nvPr>
            <p:ph idx="1"/>
          </p:nvPr>
        </p:nvSpPr>
        <p:spPr/>
        <p:txBody>
          <a:bodyPr>
            <a:normAutofit lnSpcReduction="10000"/>
          </a:bodyPr>
          <a:lstStyle/>
          <a:p>
            <a:pPr algn="just"/>
            <a:r>
              <a:rPr lang="en-US" dirty="0"/>
              <a:t>Legacy management systems are software systems that have been in use for a long time and have become difficult to maintain or update. </a:t>
            </a:r>
          </a:p>
          <a:p>
            <a:pPr algn="just"/>
            <a:r>
              <a:rPr lang="en-US" dirty="0"/>
              <a:t>These systems often play critical roles in business operations and may contain valuable data, but their outdated technology, architecture, or design can make them challenging to manage and evolve.</a:t>
            </a:r>
          </a:p>
          <a:p>
            <a:pPr algn="just"/>
            <a:r>
              <a:rPr lang="en-US" dirty="0"/>
              <a:t>For example: in a bank, banking management system was one of their earliest systems. Organization policies and procedures may rely on this system. If we replace the banking management system there would be a serious business risk. If the replacement system did not work properly. So, they are maintained because it is too risky to replace.</a:t>
            </a:r>
          </a:p>
          <a:p>
            <a:pPr algn="just"/>
            <a:r>
              <a:rPr lang="en-US" dirty="0"/>
              <a:t>Effective management of legacy systems is critical for many organizations, as these systems can have a significant impact on business operations, customer experience, and revenue. Some common challenges of managing legacy systems include:</a:t>
            </a:r>
          </a:p>
        </p:txBody>
      </p:sp>
    </p:spTree>
    <p:extLst>
      <p:ext uri="{BB962C8B-B14F-4D97-AF65-F5344CB8AC3E}">
        <p14:creationId xmlns:p14="http://schemas.microsoft.com/office/powerpoint/2010/main" val="3731419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t>Challenges of managing Legacy management systems</a:t>
            </a:r>
            <a:endParaRPr lang="en-US" sz="4000" dirty="0"/>
          </a:p>
        </p:txBody>
      </p:sp>
      <p:sp>
        <p:nvSpPr>
          <p:cNvPr id="3" name="Content Placeholder 2"/>
          <p:cNvSpPr>
            <a:spLocks noGrp="1"/>
          </p:cNvSpPr>
          <p:nvPr>
            <p:ph idx="1"/>
          </p:nvPr>
        </p:nvSpPr>
        <p:spPr/>
        <p:txBody>
          <a:bodyPr>
            <a:normAutofit/>
          </a:bodyPr>
          <a:lstStyle/>
          <a:p>
            <a:pPr algn="just"/>
            <a:r>
              <a:rPr lang="en-US" b="1" dirty="0"/>
              <a:t>Maintenance:</a:t>
            </a:r>
            <a:r>
              <a:rPr lang="en-US" dirty="0"/>
              <a:t> Legacy systems often require a significant amount of effort and resources to maintain, as the technology, programming languages, and frameworks used to develop them may no longer be supported.</a:t>
            </a:r>
          </a:p>
          <a:p>
            <a:pPr algn="just"/>
            <a:r>
              <a:rPr lang="en-US" b="1" dirty="0"/>
              <a:t>Integration:</a:t>
            </a:r>
            <a:r>
              <a:rPr lang="en-US" dirty="0"/>
              <a:t> Integrating legacy systems with modern technologies or other systems can be challenging, as these systems may use proprietary data formats or communication protocols.</a:t>
            </a:r>
          </a:p>
          <a:p>
            <a:pPr algn="just"/>
            <a:r>
              <a:rPr lang="en-US" b="1" dirty="0"/>
              <a:t>Security:</a:t>
            </a:r>
            <a:r>
              <a:rPr lang="en-US" dirty="0"/>
              <a:t> Legacy systems can be vulnerable to security breaches due to outdated security measures and a lack of support for modern security standards.</a:t>
            </a:r>
          </a:p>
          <a:p>
            <a:pPr algn="just"/>
            <a:r>
              <a:rPr lang="en-US" b="1" dirty="0"/>
              <a:t>Cost:</a:t>
            </a:r>
            <a:r>
              <a:rPr lang="en-US" dirty="0"/>
              <a:t> Maintaining and updating legacy systems can be expensive, as the resources required to support these systems may be limited or difficult to find.</a:t>
            </a:r>
          </a:p>
        </p:txBody>
      </p:sp>
    </p:spTree>
    <p:extLst>
      <p:ext uri="{BB962C8B-B14F-4D97-AF65-F5344CB8AC3E}">
        <p14:creationId xmlns:p14="http://schemas.microsoft.com/office/powerpoint/2010/main" val="1278802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656011"/>
          </a:xfrm>
        </p:spPr>
        <p:txBody>
          <a:bodyPr>
            <a:normAutofit fontScale="90000"/>
          </a:bodyPr>
          <a:lstStyle/>
          <a:p>
            <a:r>
              <a:rPr lang="en-US" sz="4400" b="1" dirty="0"/>
              <a:t>Legacy management systems</a:t>
            </a:r>
            <a:endParaRPr lang="en-US" sz="4400" dirty="0"/>
          </a:p>
        </p:txBody>
      </p:sp>
      <p:sp>
        <p:nvSpPr>
          <p:cNvPr id="3" name="Content Placeholder 2"/>
          <p:cNvSpPr>
            <a:spLocks noGrp="1"/>
          </p:cNvSpPr>
          <p:nvPr>
            <p:ph idx="1"/>
          </p:nvPr>
        </p:nvSpPr>
        <p:spPr>
          <a:xfrm>
            <a:off x="1069848" y="1282045"/>
            <a:ext cx="10058400" cy="4890155"/>
          </a:xfrm>
        </p:spPr>
        <p:txBody>
          <a:bodyPr>
            <a:normAutofit lnSpcReduction="10000"/>
          </a:bodyPr>
          <a:lstStyle/>
          <a:p>
            <a:pPr algn="just"/>
            <a:r>
              <a:rPr lang="en-US" dirty="0"/>
              <a:t>The organizations have to decide how to get the best return investment from such legacy systems. This involves making a realistic assessment of their legacy systems and then deciding on the most appropriate strategies for evolving these systems there are four strategic options:</a:t>
            </a:r>
          </a:p>
          <a:p>
            <a:pPr marL="457200" indent="-457200" algn="just">
              <a:buFont typeface="+mj-lt"/>
              <a:buAutoNum type="alphaLcParenR"/>
            </a:pPr>
            <a:r>
              <a:rPr lang="en-US" b="1" dirty="0"/>
              <a:t>Scrap the system completely:</a:t>
            </a:r>
            <a:r>
              <a:rPr lang="en-US" dirty="0"/>
              <a:t> In this method, when the system is not making an effective contribution to business processes due to change in business process then system will be scrapped.</a:t>
            </a:r>
          </a:p>
          <a:p>
            <a:pPr marL="457200" indent="-457200" algn="just">
              <a:buFont typeface="+mj-lt"/>
              <a:buAutoNum type="alphaLcParenR"/>
            </a:pPr>
            <a:r>
              <a:rPr lang="en-US" b="1" dirty="0"/>
              <a:t>Reengineer the system to improve its maintainability:</a:t>
            </a:r>
            <a:r>
              <a:rPr lang="en-US" dirty="0"/>
              <a:t> this method is valid when the system quality has been degraded by change and where a new change to the system is still being proposed.</a:t>
            </a:r>
          </a:p>
          <a:p>
            <a:pPr marL="457200" indent="-457200" algn="just">
              <a:buFont typeface="+mj-lt"/>
              <a:buAutoNum type="alphaLcParenR"/>
            </a:pPr>
            <a:r>
              <a:rPr lang="en-US" b="1" dirty="0"/>
              <a:t>Leave the system unchanged and continues with regular maintenance:</a:t>
            </a:r>
            <a:r>
              <a:rPr lang="en-US" dirty="0"/>
              <a:t> This option is chosen when the system is still required but is fairly stable and the system users make relatively few change requests.</a:t>
            </a:r>
          </a:p>
          <a:p>
            <a:pPr marL="457200" indent="-457200" algn="just">
              <a:buFont typeface="+mj-lt"/>
              <a:buAutoNum type="alphaLcParenR"/>
            </a:pPr>
            <a:r>
              <a:rPr lang="en-US" b="1" dirty="0"/>
              <a:t>Replace all or Part of the system with a new system:</a:t>
            </a:r>
            <a:r>
              <a:rPr lang="en-US" dirty="0"/>
              <a:t> This option should be chosen when factors, such as new hardware, mean that the old system cannot continue in operation or where off-the shelf systems would allow the new system to be developed at a reasonable cost.</a:t>
            </a:r>
          </a:p>
        </p:txBody>
      </p:sp>
    </p:spTree>
    <p:extLst>
      <p:ext uri="{BB962C8B-B14F-4D97-AF65-F5344CB8AC3E}">
        <p14:creationId xmlns:p14="http://schemas.microsoft.com/office/powerpoint/2010/main" val="741635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90024"/>
          </a:xfrm>
        </p:spPr>
        <p:txBody>
          <a:bodyPr>
            <a:normAutofit fontScale="90000"/>
          </a:bodyPr>
          <a:lstStyle/>
          <a:p>
            <a:pPr algn="ctr"/>
            <a:r>
              <a:rPr lang="en-US" sz="4000" b="1" dirty="0"/>
              <a:t>Legacy management systems</a:t>
            </a:r>
            <a:endParaRPr lang="en-US" sz="4000" dirty="0"/>
          </a:p>
        </p:txBody>
      </p:sp>
      <p:pic>
        <p:nvPicPr>
          <p:cNvPr id="1026" name="Picture 2" descr="A Model to Identify Solutions to Legacy Systems Increasing Maintenance  Costs | by Antoine Buteau | The PNR | Mediu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2291" y="1391992"/>
            <a:ext cx="686741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1096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reengineering</a:t>
            </a:r>
          </a:p>
        </p:txBody>
      </p:sp>
      <p:sp>
        <p:nvSpPr>
          <p:cNvPr id="3" name="Content Placeholder 2"/>
          <p:cNvSpPr>
            <a:spLocks noGrp="1"/>
          </p:cNvSpPr>
          <p:nvPr>
            <p:ph idx="1"/>
          </p:nvPr>
        </p:nvSpPr>
        <p:spPr/>
        <p:txBody>
          <a:bodyPr>
            <a:normAutofit/>
          </a:bodyPr>
          <a:lstStyle/>
          <a:p>
            <a:pPr marL="0" indent="0" algn="just">
              <a:buNone/>
            </a:pPr>
            <a:r>
              <a:rPr lang="en-US" dirty="0"/>
              <a:t>Software reengineering, also known as software reverse engineering or software renovation, is the process of analyzing and modifying existing software systems to improve their functionality, maintainability, and performance.</a:t>
            </a:r>
          </a:p>
          <a:p>
            <a:pPr marL="0" indent="0" algn="just">
              <a:buNone/>
            </a:pPr>
            <a:r>
              <a:rPr lang="en-US" dirty="0"/>
              <a:t>The goal of software reengineering is to update or improve existing software systems that are no longer effective or have become difficult to maintain. This may involve a range of activities, such as:</a:t>
            </a:r>
          </a:p>
          <a:p>
            <a:pPr algn="just"/>
            <a:r>
              <a:rPr lang="en-US" b="1" dirty="0"/>
              <a:t>Reverse engineering:</a:t>
            </a:r>
            <a:r>
              <a:rPr lang="en-US" dirty="0"/>
              <a:t> Analyzing existing software to understand its structure, behavior, and functionality.</a:t>
            </a:r>
          </a:p>
          <a:p>
            <a:pPr algn="just"/>
            <a:r>
              <a:rPr lang="en-US" b="1" dirty="0"/>
              <a:t>Restructuring:</a:t>
            </a:r>
            <a:r>
              <a:rPr lang="en-US" dirty="0"/>
              <a:t> Modifying the code structure to make it more modular and easier to maintain.</a:t>
            </a:r>
          </a:p>
          <a:p>
            <a:pPr algn="just"/>
            <a:r>
              <a:rPr lang="en-US" b="1" dirty="0"/>
              <a:t>Refactoring:</a:t>
            </a:r>
            <a:r>
              <a:rPr lang="en-US" dirty="0"/>
              <a:t> Improving the code quality by making it more readable, maintainable, and efficient.</a:t>
            </a:r>
          </a:p>
        </p:txBody>
      </p:sp>
    </p:spTree>
    <p:extLst>
      <p:ext uri="{BB962C8B-B14F-4D97-AF65-F5344CB8AC3E}">
        <p14:creationId xmlns:p14="http://schemas.microsoft.com/office/powerpoint/2010/main" val="1924281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reengineering</a:t>
            </a:r>
            <a:endParaRPr lang="en-US" dirty="0"/>
          </a:p>
        </p:txBody>
      </p:sp>
      <p:sp>
        <p:nvSpPr>
          <p:cNvPr id="3" name="Content Placeholder 2"/>
          <p:cNvSpPr>
            <a:spLocks noGrp="1"/>
          </p:cNvSpPr>
          <p:nvPr>
            <p:ph idx="1"/>
          </p:nvPr>
        </p:nvSpPr>
        <p:spPr/>
        <p:txBody>
          <a:bodyPr/>
          <a:lstStyle/>
          <a:p>
            <a:pPr algn="just"/>
            <a:r>
              <a:rPr lang="en-US" b="1" dirty="0"/>
              <a:t>Migration: </a:t>
            </a:r>
            <a:r>
              <a:rPr lang="en-US" dirty="0"/>
              <a:t>Moving the software system to a new platform or architecture to improve its performance or scalability.</a:t>
            </a:r>
          </a:p>
          <a:p>
            <a:pPr algn="just"/>
            <a:r>
              <a:rPr lang="en-US" b="1" dirty="0"/>
              <a:t>Re-documentation:</a:t>
            </a:r>
            <a:r>
              <a:rPr lang="en-US" dirty="0"/>
              <a:t> Updating the documentation to reflect the changes made during the reengineering process.</a:t>
            </a:r>
          </a:p>
          <a:p>
            <a:pPr marL="0" indent="0" algn="just">
              <a:buNone/>
            </a:pPr>
            <a:r>
              <a:rPr lang="en-US" dirty="0"/>
              <a:t>Software reengineering is often necessary for legacy software systems that have been in use for many years and have become difficult to maintain or update. By reengineering these systems, developers can improve their functionality, maintainability, and performance, making them more effective and valuable to the organizations that use them.</a:t>
            </a:r>
          </a:p>
        </p:txBody>
      </p:sp>
    </p:spTree>
    <p:extLst>
      <p:ext uri="{BB962C8B-B14F-4D97-AF65-F5344CB8AC3E}">
        <p14:creationId xmlns:p14="http://schemas.microsoft.com/office/powerpoint/2010/main" val="2515378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CE061C-DC39-4F16-BA73-3D452D51FA47}"/>
              </a:ext>
            </a:extLst>
          </p:cNvPr>
          <p:cNvSpPr>
            <a:spLocks noGrp="1"/>
          </p:cNvSpPr>
          <p:nvPr>
            <p:ph type="title"/>
          </p:nvPr>
        </p:nvSpPr>
        <p:spPr/>
        <p:txBody>
          <a:bodyPr/>
          <a:lstStyle/>
          <a:p>
            <a:r>
              <a:rPr lang="en-US" dirty="0"/>
              <a:t>End of </a:t>
            </a:r>
            <a:r>
              <a:rPr lang="en-US"/>
              <a:t>unit 9</a:t>
            </a:r>
            <a:endParaRPr lang="en-US" dirty="0"/>
          </a:p>
        </p:txBody>
      </p:sp>
      <p:sp>
        <p:nvSpPr>
          <p:cNvPr id="2" name="Slide Number Placeholder 1">
            <a:extLst>
              <a:ext uri="{FF2B5EF4-FFF2-40B4-BE49-F238E27FC236}">
                <a16:creationId xmlns:a16="http://schemas.microsoft.com/office/drawing/2014/main" id="{60992EE2-28BE-4C3F-84F4-906D77A2E9EC}"/>
              </a:ext>
            </a:extLst>
          </p:cNvPr>
          <p:cNvSpPr>
            <a:spLocks noGrp="1"/>
          </p:cNvSpPr>
          <p:nvPr>
            <p:ph type="sldNum" sz="quarter" idx="12"/>
          </p:nvPr>
        </p:nvSpPr>
        <p:spPr/>
        <p:txBody>
          <a:bodyPr/>
          <a:lstStyle/>
          <a:p>
            <a:fld id="{255C45AA-988C-4610-8E25-9C545FF2A435}" type="slidenum">
              <a:rPr lang="en-US" smtClean="0"/>
              <a:t>29</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1368</TotalTime>
  <Words>4536</Words>
  <Application>Microsoft Office PowerPoint</Application>
  <PresentationFormat>Widescreen</PresentationFormat>
  <Paragraphs>292</Paragraphs>
  <Slides>29</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Tahoma</vt:lpstr>
      <vt:lpstr>Times New Roman</vt:lpstr>
      <vt:lpstr>Wingdings</vt:lpstr>
      <vt:lpstr>Wood Type</vt:lpstr>
      <vt:lpstr>Unit 9  Software Evolution </vt:lpstr>
      <vt:lpstr>Syllabus</vt:lpstr>
      <vt:lpstr>System Evolution</vt:lpstr>
      <vt:lpstr>System Evolution</vt:lpstr>
      <vt:lpstr>Evolution Process</vt:lpstr>
      <vt:lpstr>PowerPoint Presentation</vt:lpstr>
      <vt:lpstr>Software Deployment </vt:lpstr>
      <vt:lpstr>Popular companies for hosting deployments are:</vt:lpstr>
      <vt:lpstr>Program evolution dynamics</vt:lpstr>
      <vt:lpstr>Lehman and Belady’s Law</vt:lpstr>
      <vt:lpstr>Lehman and Belady’s Law</vt:lpstr>
      <vt:lpstr>System Maintenance </vt:lpstr>
      <vt:lpstr>Need for Maintenance</vt:lpstr>
      <vt:lpstr>Types of Maintenance:</vt:lpstr>
      <vt:lpstr>Corrective Maintenance: </vt:lpstr>
      <vt:lpstr>Adaptive Maintenance:</vt:lpstr>
      <vt:lpstr>Perfective Maintenance:</vt:lpstr>
      <vt:lpstr>Preventive Maintenance</vt:lpstr>
      <vt:lpstr>Types of Maintenance in other words:</vt:lpstr>
      <vt:lpstr>Why is it difficult to differentiate between the types of maintenance?</vt:lpstr>
      <vt:lpstr>Cost of maintenance</vt:lpstr>
      <vt:lpstr>Question</vt:lpstr>
      <vt:lpstr>Legacy management systems</vt:lpstr>
      <vt:lpstr>Challenges of managing Legacy management systems</vt:lpstr>
      <vt:lpstr>Legacy management systems</vt:lpstr>
      <vt:lpstr>Legacy management systems</vt:lpstr>
      <vt:lpstr>Software reengineering</vt:lpstr>
      <vt:lpstr>Software reengineering</vt:lpstr>
      <vt:lpstr>End of unit 9</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Yachu</cp:lastModifiedBy>
  <cp:revision>163</cp:revision>
  <dcterms:created xsi:type="dcterms:W3CDTF">2026-06-22T07:06:56Z</dcterms:created>
  <dcterms:modified xsi:type="dcterms:W3CDTF">2026-08-31T04:32:34Z</dcterms:modified>
</cp:coreProperties>
</file>