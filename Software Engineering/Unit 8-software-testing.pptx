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notesMasterIdLst>
    <p:notesMasterId r:id="rId47"/>
  </p:notesMasterIdLst>
  <p:sldIdLst>
    <p:sldId id="256" r:id="rId2"/>
    <p:sldId id="257" r:id="rId3"/>
    <p:sldId id="258" r:id="rId4"/>
    <p:sldId id="259" r:id="rId5"/>
    <p:sldId id="260" r:id="rId6"/>
    <p:sldId id="261" r:id="rId7"/>
    <p:sldId id="262" r:id="rId8"/>
    <p:sldId id="263" r:id="rId9"/>
    <p:sldId id="302" r:id="rId10"/>
    <p:sldId id="303" r:id="rId11"/>
    <p:sldId id="304" r:id="rId12"/>
    <p:sldId id="305" r:id="rId13"/>
    <p:sldId id="306" r:id="rId14"/>
    <p:sldId id="270" r:id="rId15"/>
    <p:sldId id="271" r:id="rId16"/>
    <p:sldId id="272" r:id="rId17"/>
    <p:sldId id="273" r:id="rId18"/>
    <p:sldId id="274" r:id="rId19"/>
    <p:sldId id="275" r:id="rId20"/>
    <p:sldId id="276" r:id="rId21"/>
    <p:sldId id="277" r:id="rId22"/>
    <p:sldId id="278" r:id="rId23"/>
    <p:sldId id="279" r:id="rId24"/>
    <p:sldId id="280" r:id="rId25"/>
    <p:sldId id="30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7" r:id="rId39"/>
    <p:sldId id="299" r:id="rId40"/>
    <p:sldId id="301" r:id="rId41"/>
    <p:sldId id="293" r:id="rId42"/>
    <p:sldId id="294" r:id="rId43"/>
    <p:sldId id="295" r:id="rId44"/>
    <p:sldId id="296" r:id="rId45"/>
    <p:sldId id="298"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D6B1576-DB5A-4005-800E-9F4E1A9C0144}">
          <p14:sldIdLst>
            <p14:sldId id="256"/>
            <p14:sldId id="257"/>
            <p14:sldId id="258"/>
            <p14:sldId id="259"/>
            <p14:sldId id="260"/>
            <p14:sldId id="261"/>
            <p14:sldId id="262"/>
            <p14:sldId id="263"/>
            <p14:sldId id="302"/>
            <p14:sldId id="303"/>
            <p14:sldId id="304"/>
            <p14:sldId id="305"/>
            <p14:sldId id="306"/>
            <p14:sldId id="270"/>
            <p14:sldId id="271"/>
            <p14:sldId id="272"/>
            <p14:sldId id="273"/>
            <p14:sldId id="274"/>
            <p14:sldId id="275"/>
            <p14:sldId id="276"/>
            <p14:sldId id="277"/>
            <p14:sldId id="278"/>
            <p14:sldId id="279"/>
            <p14:sldId id="280"/>
            <p14:sldId id="300"/>
            <p14:sldId id="281"/>
            <p14:sldId id="282"/>
            <p14:sldId id="283"/>
            <p14:sldId id="284"/>
            <p14:sldId id="285"/>
            <p14:sldId id="286"/>
            <p14:sldId id="287"/>
            <p14:sldId id="288"/>
            <p14:sldId id="289"/>
            <p14:sldId id="290"/>
            <p14:sldId id="291"/>
            <p14:sldId id="292"/>
            <p14:sldId id="297"/>
            <p14:sldId id="299"/>
            <p14:sldId id="301"/>
            <p14:sldId id="293"/>
            <p14:sldId id="294"/>
            <p14:sldId id="295"/>
            <p14:sldId id="296"/>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1" d="100"/>
          <a:sy n="81"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1CF43-AC23-449C-9970-2574E72FAE5D}" type="datetimeFigureOut">
              <a:rPr lang="en-US" smtClean="0"/>
              <a:t>8/24/2026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72C457-EB94-446C-B827-529C14765A18}" type="slidenum">
              <a:rPr lang="en-US" smtClean="0"/>
              <a:t>‹#›</a:t>
            </a:fld>
            <a:endParaRPr lang="en-US"/>
          </a:p>
        </p:txBody>
      </p:sp>
    </p:spTree>
    <p:extLst>
      <p:ext uri="{BB962C8B-B14F-4D97-AF65-F5344CB8AC3E}">
        <p14:creationId xmlns:p14="http://schemas.microsoft.com/office/powerpoint/2010/main" val="2457178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Inspection : code quality check </a:t>
            </a:r>
            <a:r>
              <a:rPr lang="en-US" dirty="0" err="1"/>
              <a:t>garnu</a:t>
            </a:r>
            <a:r>
              <a:rPr lang="en-US" dirty="0"/>
              <a:t>, </a:t>
            </a:r>
            <a:r>
              <a:rPr lang="en-US" dirty="0" err="1"/>
              <a:t>srs</a:t>
            </a:r>
            <a:r>
              <a:rPr lang="en-US" dirty="0"/>
              <a:t> </a:t>
            </a:r>
            <a:r>
              <a:rPr lang="en-US" dirty="0" err="1"/>
              <a:t>mileko</a:t>
            </a:r>
            <a:r>
              <a:rPr lang="en-US" dirty="0"/>
              <a:t> </a:t>
            </a:r>
            <a:r>
              <a:rPr lang="en-US" dirty="0" err="1"/>
              <a:t>xa</a:t>
            </a:r>
            <a:r>
              <a:rPr lang="en-US" dirty="0"/>
              <a:t> </a:t>
            </a:r>
            <a:r>
              <a:rPr lang="en-US" dirty="0" err="1"/>
              <a:t>xaina</a:t>
            </a:r>
            <a:r>
              <a:rPr lang="en-US" dirty="0"/>
              <a:t> </a:t>
            </a:r>
            <a:r>
              <a:rPr lang="en-US" dirty="0" err="1"/>
              <a:t>hernu</a:t>
            </a:r>
            <a:endParaRPr lang="en-US" dirty="0"/>
          </a:p>
          <a:p>
            <a:r>
              <a:rPr lang="en-US" dirty="0"/>
              <a:t>Review: manpower ko review </a:t>
            </a:r>
            <a:r>
              <a:rPr lang="en-US" dirty="0" err="1"/>
              <a:t>garnu</a:t>
            </a:r>
            <a:r>
              <a:rPr lang="en-US" dirty="0"/>
              <a:t> development start </a:t>
            </a:r>
            <a:r>
              <a:rPr lang="en-US" dirty="0" err="1"/>
              <a:t>hunu</a:t>
            </a:r>
            <a:r>
              <a:rPr lang="en-US" dirty="0"/>
              <a:t> vanda </a:t>
            </a:r>
            <a:r>
              <a:rPr lang="en-US" dirty="0" err="1"/>
              <a:t>agade</a:t>
            </a:r>
            <a:r>
              <a:rPr lang="en-US" dirty="0"/>
              <a:t> or requirement review</a:t>
            </a:r>
          </a:p>
          <a:p>
            <a:r>
              <a:rPr lang="en-US" dirty="0"/>
              <a:t>Walkthroughs : double checking </a:t>
            </a:r>
            <a:r>
              <a:rPr lang="en-US" dirty="0" err="1"/>
              <a:t>garnu</a:t>
            </a:r>
            <a:r>
              <a:rPr lang="en-US" dirty="0"/>
              <a:t> junior le </a:t>
            </a:r>
            <a:r>
              <a:rPr lang="en-US" dirty="0" err="1"/>
              <a:t>kei</a:t>
            </a:r>
            <a:r>
              <a:rPr lang="en-US" dirty="0"/>
              <a:t> </a:t>
            </a:r>
            <a:r>
              <a:rPr lang="en-US" dirty="0" err="1"/>
              <a:t>lekheko</a:t>
            </a:r>
            <a:r>
              <a:rPr lang="en-US" dirty="0"/>
              <a:t> </a:t>
            </a:r>
            <a:r>
              <a:rPr lang="en-US" dirty="0" err="1"/>
              <a:t>xa</a:t>
            </a:r>
            <a:r>
              <a:rPr lang="en-US" dirty="0"/>
              <a:t> vane senior le </a:t>
            </a:r>
            <a:r>
              <a:rPr lang="en-US" dirty="0" err="1"/>
              <a:t>ni</a:t>
            </a:r>
            <a:r>
              <a:rPr lang="en-US" dirty="0"/>
              <a:t> </a:t>
            </a:r>
            <a:r>
              <a:rPr lang="en-US" dirty="0" err="1"/>
              <a:t>hernu</a:t>
            </a:r>
            <a:endParaRPr lang="en-US" dirty="0"/>
          </a:p>
          <a:p>
            <a:r>
              <a:rPr lang="en-US" dirty="0"/>
              <a:t>Desk checking: serially </a:t>
            </a:r>
            <a:r>
              <a:rPr lang="en-US" dirty="0" err="1"/>
              <a:t>manuaaly</a:t>
            </a:r>
            <a:r>
              <a:rPr lang="en-US" dirty="0"/>
              <a:t> </a:t>
            </a:r>
            <a:r>
              <a:rPr lang="en-US" dirty="0" err="1"/>
              <a:t>sabai</a:t>
            </a:r>
            <a:r>
              <a:rPr lang="en-US" dirty="0"/>
              <a:t> code </a:t>
            </a:r>
            <a:r>
              <a:rPr lang="en-US" dirty="0" err="1"/>
              <a:t>haru</a:t>
            </a:r>
            <a:r>
              <a:rPr lang="en-US" dirty="0"/>
              <a:t> check </a:t>
            </a:r>
            <a:r>
              <a:rPr lang="en-US" dirty="0" err="1"/>
              <a:t>garnu</a:t>
            </a:r>
            <a:endParaRPr lang="en-US" dirty="0"/>
          </a:p>
          <a:p>
            <a:endParaRPr lang="en-US" dirty="0"/>
          </a:p>
          <a:p>
            <a:pPr>
              <a:buFont typeface="Arial" panose="020B0604020202020204" pitchFamily="34" charset="0"/>
              <a:buChar char="•"/>
            </a:pPr>
            <a:r>
              <a:rPr lang="en-US" dirty="0"/>
              <a:t>During verification, you would check </a:t>
            </a:r>
            <a:r>
              <a:rPr lang="en-US" dirty="0" err="1"/>
              <a:t>if:The</a:t>
            </a:r>
            <a:r>
              <a:rPr lang="en-US" dirty="0"/>
              <a:t> form has the required fields.</a:t>
            </a:r>
          </a:p>
          <a:p>
            <a:pPr>
              <a:buFont typeface="Arial" panose="020B0604020202020204" pitchFamily="34" charset="0"/>
              <a:buChar char="•"/>
            </a:pPr>
            <a:r>
              <a:rPr lang="en-US" dirty="0"/>
              <a:t>The button works.</a:t>
            </a:r>
          </a:p>
          <a:p>
            <a:pPr>
              <a:buFont typeface="Arial" panose="020B0604020202020204" pitchFamily="34" charset="0"/>
              <a:buChar char="•"/>
            </a:pPr>
            <a:r>
              <a:rPr lang="en-US" dirty="0"/>
              <a:t>The form submits the data correctly to the backend.</a:t>
            </a:r>
          </a:p>
          <a:p>
            <a:pPr>
              <a:buFont typeface="Arial" panose="020B0604020202020204" pitchFamily="34" charset="0"/>
              <a:buChar char="•"/>
            </a:pPr>
            <a:r>
              <a:rPr lang="en-US" dirty="0"/>
              <a:t>You might do a code review to check if the form was built according to the design specifications.</a:t>
            </a:r>
          </a:p>
          <a:p>
            <a:endParaRPr lang="en-US" dirty="0"/>
          </a:p>
        </p:txBody>
      </p:sp>
      <p:sp>
        <p:nvSpPr>
          <p:cNvPr id="4" name="Slide Number Placeholder 3"/>
          <p:cNvSpPr>
            <a:spLocks noGrp="1"/>
          </p:cNvSpPr>
          <p:nvPr>
            <p:ph type="sldNum" sz="quarter" idx="5"/>
          </p:nvPr>
        </p:nvSpPr>
        <p:spPr/>
        <p:txBody>
          <a:bodyPr/>
          <a:lstStyle/>
          <a:p>
            <a:fld id="{0C1B08BE-7FC2-42F1-A16A-80EE23BAB1F4}" type="slidenum">
              <a:rPr lang="en-US" smtClean="0"/>
              <a:t>4</a:t>
            </a:fld>
            <a:endParaRPr lang="en-US"/>
          </a:p>
        </p:txBody>
      </p:sp>
    </p:spTree>
    <p:extLst>
      <p:ext uri="{BB962C8B-B14F-4D97-AF65-F5344CB8AC3E}">
        <p14:creationId xmlns:p14="http://schemas.microsoft.com/office/powerpoint/2010/main" val="892606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endParaRPr lang="en-US" dirty="0"/>
          </a:p>
          <a:p>
            <a:pPr>
              <a:buFont typeface="Arial" panose="020B0604020202020204" pitchFamily="34" charset="0"/>
              <a:buChar char="•"/>
            </a:pPr>
            <a:r>
              <a:rPr lang="en-US" dirty="0"/>
              <a:t>During validation, you </a:t>
            </a:r>
            <a:r>
              <a:rPr lang="en-US" dirty="0" err="1"/>
              <a:t>would:Test</a:t>
            </a:r>
            <a:r>
              <a:rPr lang="en-US" dirty="0"/>
              <a:t> the login functionality with valid credentials to make sure users can log in successfully.</a:t>
            </a:r>
          </a:p>
          <a:p>
            <a:pPr>
              <a:buFont typeface="Arial" panose="020B0604020202020204" pitchFamily="34" charset="0"/>
              <a:buChar char="•"/>
            </a:pPr>
            <a:r>
              <a:rPr lang="en-US" dirty="0"/>
              <a:t>Test with invalid credentials to check if the system denies access appropriately.</a:t>
            </a:r>
          </a:p>
          <a:p>
            <a:pPr>
              <a:buFont typeface="Arial" panose="020B0604020202020204" pitchFamily="34" charset="0"/>
              <a:buChar char="•"/>
            </a:pPr>
            <a:r>
              <a:rPr lang="en-US" dirty="0"/>
              <a:t>Test if error messages are shown correctly.</a:t>
            </a:r>
          </a:p>
          <a:p>
            <a:endParaRPr lang="en-US" dirty="0"/>
          </a:p>
        </p:txBody>
      </p:sp>
      <p:sp>
        <p:nvSpPr>
          <p:cNvPr id="4" name="Slide Number Placeholder 3"/>
          <p:cNvSpPr>
            <a:spLocks noGrp="1"/>
          </p:cNvSpPr>
          <p:nvPr>
            <p:ph type="sldNum" sz="quarter" idx="5"/>
          </p:nvPr>
        </p:nvSpPr>
        <p:spPr/>
        <p:txBody>
          <a:bodyPr/>
          <a:lstStyle/>
          <a:p>
            <a:fld id="{0C1B08BE-7FC2-42F1-A16A-80EE23BAB1F4}" type="slidenum">
              <a:rPr lang="en-US" smtClean="0"/>
              <a:t>5</a:t>
            </a:fld>
            <a:endParaRPr lang="en-US"/>
          </a:p>
        </p:txBody>
      </p:sp>
    </p:spTree>
    <p:extLst>
      <p:ext uri="{BB962C8B-B14F-4D97-AF65-F5344CB8AC3E}">
        <p14:creationId xmlns:p14="http://schemas.microsoft.com/office/powerpoint/2010/main" val="2461122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JUnit</a:t>
            </a:r>
            <a:r>
              <a:rPr lang="en-US" dirty="0"/>
              <a:t> (for Java applications): JUnit is widely used in top-down testing for unit and integration testing, where higher-level components can be tested first using mocks and stubs.</a:t>
            </a:r>
          </a:p>
          <a:p>
            <a:r>
              <a:rPr lang="en-US" b="1" dirty="0"/>
              <a:t>Mockito</a:t>
            </a:r>
            <a:r>
              <a:rPr lang="en-US" dirty="0"/>
              <a:t> (for Java): Mockito is used to create stubs for components that are not yet available. It allows you to mock lower-level services while testing high-level modules</a:t>
            </a:r>
          </a:p>
          <a:p>
            <a:r>
              <a:rPr lang="en-US" dirty="0"/>
              <a:t>.</a:t>
            </a:r>
            <a:r>
              <a:rPr lang="en-US" b="1" dirty="0"/>
              <a:t>Postman</a:t>
            </a:r>
            <a:r>
              <a:rPr lang="en-US" dirty="0"/>
              <a:t> (for API testing): If you're testing a high-level API, Postman can be used to simulate and test RESTful APIs.</a:t>
            </a:r>
          </a:p>
          <a:p>
            <a:r>
              <a:rPr lang="en-US" b="1" dirty="0" err="1"/>
              <a:t>WireMock</a:t>
            </a:r>
            <a:r>
              <a:rPr lang="en-US" dirty="0"/>
              <a:t>: </a:t>
            </a:r>
            <a:r>
              <a:rPr lang="en-US" dirty="0" err="1"/>
              <a:t>WireMock</a:t>
            </a:r>
            <a:r>
              <a:rPr lang="en-US" dirty="0"/>
              <a:t> is useful when you need to simulate HTTP-based services (i.e., for stubbing APIs during top-down testing).</a:t>
            </a:r>
          </a:p>
        </p:txBody>
      </p:sp>
      <p:sp>
        <p:nvSpPr>
          <p:cNvPr id="4" name="Slide Number Placeholder 3"/>
          <p:cNvSpPr>
            <a:spLocks noGrp="1"/>
          </p:cNvSpPr>
          <p:nvPr>
            <p:ph type="sldNum" sz="quarter" idx="5"/>
          </p:nvPr>
        </p:nvSpPr>
        <p:spPr/>
        <p:txBody>
          <a:bodyPr/>
          <a:lstStyle/>
          <a:p>
            <a:fld id="{0C1B08BE-7FC2-42F1-A16A-80EE23BAB1F4}" type="slidenum">
              <a:rPr lang="en-US" smtClean="0"/>
              <a:t>17</a:t>
            </a:fld>
            <a:endParaRPr lang="en-US"/>
          </a:p>
        </p:txBody>
      </p:sp>
    </p:spTree>
    <p:extLst>
      <p:ext uri="{BB962C8B-B14F-4D97-AF65-F5344CB8AC3E}">
        <p14:creationId xmlns:p14="http://schemas.microsoft.com/office/powerpoint/2010/main" val="4066548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Selenium</a:t>
            </a:r>
            <a:r>
              <a:rPr lang="en-US" dirty="0"/>
              <a:t> (for web applications): Selenium can be used for automating tests of the entire integrated system once all components are combined. It helps simulate user interactions with the UI.</a:t>
            </a:r>
          </a:p>
          <a:p>
            <a:r>
              <a:rPr lang="en-US" b="1" dirty="0"/>
              <a:t>Jenkins</a:t>
            </a:r>
            <a:r>
              <a:rPr lang="en-US" dirty="0"/>
              <a:t> (CI/CD tool): Jenkins can be used for running Big Bang integration tests in a continuous integration pipeline, triggering the integration testing process once all components are integrated.</a:t>
            </a:r>
          </a:p>
          <a:p>
            <a:r>
              <a:rPr lang="en-US" b="1" dirty="0"/>
              <a:t>JUnit/TestNG</a:t>
            </a:r>
            <a:r>
              <a:rPr lang="en-US" dirty="0"/>
              <a:t>: These testing frameworks can be used to run tests across the entire system once all components are integrated.</a:t>
            </a:r>
          </a:p>
          <a:p>
            <a:r>
              <a:rPr lang="en-US" b="1" dirty="0"/>
              <a:t>JMeter</a:t>
            </a:r>
            <a:r>
              <a:rPr lang="en-US" dirty="0"/>
              <a:t> (for performance testing): If Big Bang testing involves performance evaluation (e.g., load testing the entire system), JMeter is a popular tool for simulating high traffic loads on a complete integrated system.</a:t>
            </a:r>
          </a:p>
        </p:txBody>
      </p:sp>
      <p:sp>
        <p:nvSpPr>
          <p:cNvPr id="4" name="Slide Number Placeholder 3"/>
          <p:cNvSpPr>
            <a:spLocks noGrp="1"/>
          </p:cNvSpPr>
          <p:nvPr>
            <p:ph type="sldNum" sz="quarter" idx="5"/>
          </p:nvPr>
        </p:nvSpPr>
        <p:spPr/>
        <p:txBody>
          <a:bodyPr/>
          <a:lstStyle/>
          <a:p>
            <a:fld id="{0C1B08BE-7FC2-42F1-A16A-80EE23BAB1F4}" type="slidenum">
              <a:rPr lang="en-US" smtClean="0"/>
              <a:t>19</a:t>
            </a:fld>
            <a:endParaRPr lang="en-US"/>
          </a:p>
        </p:txBody>
      </p:sp>
    </p:spTree>
    <p:extLst>
      <p:ext uri="{BB962C8B-B14F-4D97-AF65-F5344CB8AC3E}">
        <p14:creationId xmlns:p14="http://schemas.microsoft.com/office/powerpoint/2010/main" val="840072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Smoke testing is a preliminary test that checks whether the basic functionalities of a software application are working as expected. It’s often </a:t>
            </a:r>
            <a:r>
              <a:rPr lang="en-US" b="1" dirty="0"/>
              <a:t>referred to as "Build Verification Testing" (BVT)</a:t>
            </a:r>
            <a:r>
              <a:rPr lang="en-US" dirty="0"/>
              <a:t> because it verifies if a build is stable enough to proceed with further testing.</a:t>
            </a:r>
          </a:p>
          <a:p>
            <a:endParaRPr lang="en-US" dirty="0"/>
          </a:p>
          <a:p>
            <a:r>
              <a:rPr lang="en-US" dirty="0"/>
              <a:t>Sanity testing  </a:t>
            </a:r>
            <a:r>
              <a:rPr lang="en-US" b="1" dirty="0"/>
              <a:t>new change </a:t>
            </a:r>
            <a:r>
              <a:rPr lang="en-US" b="1" dirty="0" err="1"/>
              <a:t>gareko</a:t>
            </a:r>
            <a:r>
              <a:rPr lang="en-US" b="1" dirty="0"/>
              <a:t> </a:t>
            </a:r>
            <a:r>
              <a:rPr lang="en-US" b="1" dirty="0" err="1"/>
              <a:t>xa</a:t>
            </a:r>
            <a:r>
              <a:rPr lang="en-US" b="1" dirty="0"/>
              <a:t> </a:t>
            </a:r>
            <a:r>
              <a:rPr lang="en-US" dirty="0"/>
              <a:t>vane is a type of software testing that verifies if a specific functionality or bug fix works correctly after changes have been made. It’s a more focused test compared to smoke testing, typically performed when a new build is received with minor changes, fixes, or enhancements to a specific module or feature.</a:t>
            </a:r>
          </a:p>
          <a:p>
            <a:endParaRPr lang="en-US" dirty="0"/>
          </a:p>
          <a:p>
            <a:r>
              <a:rPr lang="en-US" b="1" dirty="0"/>
              <a:t>Ad hoc testing</a:t>
            </a:r>
            <a:r>
              <a:rPr lang="en-US" dirty="0"/>
              <a:t> is a type of informal, unstructured testing that is done without predefined test cases or planning. The main idea is to test the application randomly, based on the tester's intuition, experience, or knowledge of the system</a:t>
            </a:r>
          </a:p>
        </p:txBody>
      </p:sp>
      <p:sp>
        <p:nvSpPr>
          <p:cNvPr id="4" name="Slide Number Placeholder 3"/>
          <p:cNvSpPr>
            <a:spLocks noGrp="1"/>
          </p:cNvSpPr>
          <p:nvPr>
            <p:ph type="sldNum" sz="quarter" idx="5"/>
          </p:nvPr>
        </p:nvSpPr>
        <p:spPr/>
        <p:txBody>
          <a:bodyPr/>
          <a:lstStyle/>
          <a:p>
            <a:fld id="{0C1B08BE-7FC2-42F1-A16A-80EE23BAB1F4}" type="slidenum">
              <a:rPr lang="en-US" smtClean="0"/>
              <a:t>24</a:t>
            </a:fld>
            <a:endParaRPr lang="en-US"/>
          </a:p>
        </p:txBody>
      </p:sp>
    </p:spTree>
    <p:extLst>
      <p:ext uri="{BB962C8B-B14F-4D97-AF65-F5344CB8AC3E}">
        <p14:creationId xmlns:p14="http://schemas.microsoft.com/office/powerpoint/2010/main" val="3589418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releasing the update, testers install the app on multiple devices (iOS, Android) with different OS versions.</a:t>
            </a:r>
          </a:p>
          <a:p>
            <a:r>
              <a:rPr lang="en-US" dirty="0"/>
              <a:t>They check for crashes, UI responsiveness, and integration with payment gateways.</a:t>
            </a:r>
          </a:p>
          <a:p>
            <a:r>
              <a:rPr lang="en-US" dirty="0"/>
              <a:t>The app is tested in real-world network conditions (Wi-Fi, mobile data, poor connectivity).</a:t>
            </a:r>
          </a:p>
          <a:p>
            <a:r>
              <a:rPr lang="en-US" dirty="0"/>
              <a:t>If issues are found, the release is delayed for fixes.</a:t>
            </a:r>
          </a:p>
        </p:txBody>
      </p:sp>
      <p:sp>
        <p:nvSpPr>
          <p:cNvPr id="4" name="Slide Number Placeholder 3"/>
          <p:cNvSpPr>
            <a:spLocks noGrp="1"/>
          </p:cNvSpPr>
          <p:nvPr>
            <p:ph type="sldNum" sz="quarter" idx="5"/>
          </p:nvPr>
        </p:nvSpPr>
        <p:spPr/>
        <p:txBody>
          <a:bodyPr/>
          <a:lstStyle/>
          <a:p>
            <a:fld id="{0C1B08BE-7FC2-42F1-A16A-80EE23BAB1F4}" type="slidenum">
              <a:rPr lang="en-US" smtClean="0"/>
              <a:t>28</a:t>
            </a:fld>
            <a:endParaRPr lang="en-US"/>
          </a:p>
        </p:txBody>
      </p:sp>
    </p:spTree>
    <p:extLst>
      <p:ext uri="{BB962C8B-B14F-4D97-AF65-F5344CB8AC3E}">
        <p14:creationId xmlns:p14="http://schemas.microsoft.com/office/powerpoint/2010/main" val="6900701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George </a:t>
            </a:r>
            <a:r>
              <a:rPr lang="en-US" dirty="0" err="1"/>
              <a:t>vanne</a:t>
            </a:r>
            <a:r>
              <a:rPr lang="en-US" dirty="0"/>
              <a:t> </a:t>
            </a:r>
            <a:r>
              <a:rPr lang="en-US" dirty="0" err="1"/>
              <a:t>ekjana</a:t>
            </a:r>
            <a:r>
              <a:rPr lang="en-US" dirty="0"/>
              <a:t> nurse </a:t>
            </a:r>
            <a:r>
              <a:rPr lang="en-US" dirty="0" err="1"/>
              <a:t>xa</a:t>
            </a:r>
            <a:r>
              <a:rPr lang="en-US" dirty="0"/>
              <a:t> </a:t>
            </a:r>
            <a:r>
              <a:rPr lang="en-US" dirty="0" err="1"/>
              <a:t>jasko</a:t>
            </a:r>
            <a:r>
              <a:rPr lang="en-US" dirty="0"/>
              <a:t> responsibility chai :</a:t>
            </a:r>
          </a:p>
          <a:p>
            <a:r>
              <a:rPr lang="en-US" dirty="0"/>
              <a:t>Home visit </a:t>
            </a:r>
            <a:r>
              <a:rPr lang="en-US" dirty="0" err="1"/>
              <a:t>garne</a:t>
            </a:r>
            <a:r>
              <a:rPr lang="en-US" dirty="0"/>
              <a:t> </a:t>
            </a:r>
            <a:r>
              <a:rPr lang="en-US" dirty="0" err="1"/>
              <a:t>ra</a:t>
            </a:r>
            <a:r>
              <a:rPr lang="en-US" dirty="0"/>
              <a:t> survey </a:t>
            </a:r>
            <a:r>
              <a:rPr lang="en-US" dirty="0" err="1"/>
              <a:t>garne</a:t>
            </a:r>
            <a:r>
              <a:rPr lang="en-US" dirty="0"/>
              <a:t> ki medicine effective </a:t>
            </a:r>
            <a:r>
              <a:rPr lang="en-US" dirty="0" err="1"/>
              <a:t>xa</a:t>
            </a:r>
            <a:r>
              <a:rPr lang="en-US" dirty="0"/>
              <a:t> ki </a:t>
            </a:r>
            <a:r>
              <a:rPr lang="en-US" dirty="0" err="1"/>
              <a:t>xaina</a:t>
            </a:r>
            <a:r>
              <a:rPr lang="en-US" dirty="0"/>
              <a:t> </a:t>
            </a:r>
            <a:r>
              <a:rPr lang="en-US" dirty="0" err="1"/>
              <a:t>vanera</a:t>
            </a:r>
            <a:endParaRPr lang="en-US" dirty="0"/>
          </a:p>
          <a:p>
            <a:r>
              <a:rPr lang="en-US" dirty="0" err="1"/>
              <a:t>Tesko</a:t>
            </a:r>
            <a:r>
              <a:rPr lang="en-US" dirty="0"/>
              <a:t> </a:t>
            </a:r>
            <a:r>
              <a:rPr lang="en-US" dirty="0" err="1"/>
              <a:t>lagi</a:t>
            </a:r>
            <a:r>
              <a:rPr lang="en-US" dirty="0"/>
              <a:t> MENTCARE </a:t>
            </a:r>
            <a:r>
              <a:rPr lang="en-US" dirty="0" err="1"/>
              <a:t>vanne</a:t>
            </a:r>
            <a:r>
              <a:rPr lang="en-US" dirty="0"/>
              <a:t> app use </a:t>
            </a:r>
            <a:r>
              <a:rPr lang="en-US" dirty="0" err="1"/>
              <a:t>garxa</a:t>
            </a:r>
            <a:r>
              <a:rPr lang="en-US" dirty="0"/>
              <a:t> </a:t>
            </a:r>
            <a:r>
              <a:rPr lang="en-US" dirty="0" err="1"/>
              <a:t>ra</a:t>
            </a:r>
            <a:r>
              <a:rPr lang="en-US" dirty="0"/>
              <a:t> ko patient ho </a:t>
            </a:r>
            <a:r>
              <a:rPr lang="en-US" dirty="0" err="1"/>
              <a:t>usko</a:t>
            </a:r>
            <a:r>
              <a:rPr lang="en-US" dirty="0"/>
              <a:t> document print </a:t>
            </a:r>
            <a:r>
              <a:rPr lang="en-US" dirty="0" err="1"/>
              <a:t>garxa</a:t>
            </a:r>
            <a:r>
              <a:rPr lang="en-US" dirty="0"/>
              <a:t>. </a:t>
            </a:r>
            <a:r>
              <a:rPr lang="en-US" b="1" dirty="0"/>
              <a:t>Authentication and download </a:t>
            </a:r>
            <a:r>
              <a:rPr lang="en-US" b="1" dirty="0" err="1"/>
              <a:t>hunu</a:t>
            </a:r>
            <a:r>
              <a:rPr lang="en-US" b="1" dirty="0"/>
              <a:t> </a:t>
            </a:r>
            <a:r>
              <a:rPr lang="en-US" b="1" dirty="0" err="1"/>
              <a:t>paryo</a:t>
            </a:r>
            <a:endParaRPr lang="en-US" b="1" dirty="0"/>
          </a:p>
          <a:p>
            <a:endParaRPr lang="en-US" b="1" dirty="0"/>
          </a:p>
          <a:p>
            <a:r>
              <a:rPr lang="en-US" b="1" dirty="0"/>
              <a:t>Jim  </a:t>
            </a:r>
            <a:r>
              <a:rPr lang="en-US" b="0" dirty="0" err="1"/>
              <a:t>vanne</a:t>
            </a:r>
            <a:r>
              <a:rPr lang="en-US" b="0" dirty="0"/>
              <a:t> </a:t>
            </a:r>
            <a:r>
              <a:rPr lang="en-US" b="0" dirty="0" err="1"/>
              <a:t>ekjana</a:t>
            </a:r>
            <a:r>
              <a:rPr lang="en-US" b="0" dirty="0"/>
              <a:t> patient </a:t>
            </a:r>
            <a:r>
              <a:rPr lang="en-US" b="0" dirty="0" err="1"/>
              <a:t>lai</a:t>
            </a:r>
            <a:r>
              <a:rPr lang="en-US" b="0" dirty="0"/>
              <a:t> chai depression </a:t>
            </a:r>
            <a:r>
              <a:rPr lang="en-US" b="0" dirty="0" err="1"/>
              <a:t>xa</a:t>
            </a:r>
            <a:r>
              <a:rPr lang="en-US" b="0" dirty="0"/>
              <a:t> </a:t>
            </a:r>
          </a:p>
          <a:p>
            <a:r>
              <a:rPr lang="en-US" b="0" dirty="0"/>
              <a:t>Medicine </a:t>
            </a:r>
            <a:r>
              <a:rPr lang="en-US" b="0" dirty="0" err="1"/>
              <a:t>kaam</a:t>
            </a:r>
            <a:r>
              <a:rPr lang="en-US" b="0" dirty="0"/>
              <a:t> ta </a:t>
            </a:r>
            <a:r>
              <a:rPr lang="en-US" b="0" dirty="0" err="1"/>
              <a:t>lairaxa</a:t>
            </a:r>
            <a:r>
              <a:rPr lang="en-US" b="0" dirty="0"/>
              <a:t> BUT SIDEEFFECT XA </a:t>
            </a:r>
            <a:r>
              <a:rPr lang="en-US" b="0" dirty="0" err="1"/>
              <a:t>uslai</a:t>
            </a:r>
            <a:r>
              <a:rPr lang="en-US" b="0" dirty="0"/>
              <a:t> </a:t>
            </a:r>
            <a:r>
              <a:rPr lang="en-US" b="0" dirty="0" err="1"/>
              <a:t>nindra</a:t>
            </a:r>
            <a:r>
              <a:rPr lang="en-US" b="0" dirty="0"/>
              <a:t> </a:t>
            </a:r>
            <a:r>
              <a:rPr lang="en-US" b="0" dirty="0" err="1"/>
              <a:t>laagdaina</a:t>
            </a:r>
            <a:r>
              <a:rPr lang="en-US" b="0" dirty="0"/>
              <a:t> .</a:t>
            </a:r>
          </a:p>
          <a:p>
            <a:r>
              <a:rPr lang="en-US" b="0" dirty="0"/>
              <a:t>So medication change </a:t>
            </a:r>
            <a:r>
              <a:rPr lang="en-US" b="0" dirty="0" err="1"/>
              <a:t>garnu</a:t>
            </a:r>
            <a:r>
              <a:rPr lang="en-US" b="0" dirty="0"/>
              <a:t> </a:t>
            </a:r>
            <a:r>
              <a:rPr lang="en-US" b="0" dirty="0" err="1"/>
              <a:t>parne</a:t>
            </a:r>
            <a:r>
              <a:rPr lang="en-US" b="0" dirty="0"/>
              <a:t> </a:t>
            </a:r>
            <a:r>
              <a:rPr lang="en-US" b="0" dirty="0" err="1"/>
              <a:t>hunxa</a:t>
            </a:r>
            <a:r>
              <a:rPr lang="en-US" b="0" dirty="0"/>
              <a:t> clinic ma visit date </a:t>
            </a:r>
            <a:r>
              <a:rPr lang="en-US" b="0" dirty="0" err="1"/>
              <a:t>ni</a:t>
            </a:r>
            <a:r>
              <a:rPr lang="en-US" b="0" dirty="0"/>
              <a:t> </a:t>
            </a:r>
            <a:r>
              <a:rPr lang="en-US" b="0" dirty="0" err="1"/>
              <a:t>dinu</a:t>
            </a:r>
            <a:r>
              <a:rPr lang="en-US" b="0" dirty="0"/>
              <a:t> </a:t>
            </a:r>
            <a:r>
              <a:rPr lang="en-US" b="0" dirty="0" err="1"/>
              <a:t>parne</a:t>
            </a:r>
            <a:r>
              <a:rPr lang="en-US" b="0" dirty="0"/>
              <a:t> </a:t>
            </a:r>
            <a:r>
              <a:rPr lang="en-US" b="0" dirty="0" err="1"/>
              <a:t>hunxa</a:t>
            </a:r>
            <a:r>
              <a:rPr lang="en-US" b="0" dirty="0"/>
              <a:t> : </a:t>
            </a:r>
            <a:r>
              <a:rPr lang="en-US" b="1" dirty="0"/>
              <a:t>DATA MANIPULATION SCHEDULE MILAUNE MEDICNE CHANGE GARNE</a:t>
            </a:r>
          </a:p>
          <a:p>
            <a:endParaRPr lang="en-US" dirty="0"/>
          </a:p>
          <a:p>
            <a:r>
              <a:rPr lang="en-US" dirty="0"/>
              <a:t>Jim </a:t>
            </a:r>
            <a:r>
              <a:rPr lang="en-US" dirty="0" err="1"/>
              <a:t>lai</a:t>
            </a:r>
            <a:r>
              <a:rPr lang="en-US" dirty="0"/>
              <a:t> appointment </a:t>
            </a:r>
            <a:r>
              <a:rPr lang="en-US" dirty="0" err="1"/>
              <a:t>ni</a:t>
            </a:r>
            <a:r>
              <a:rPr lang="en-US" dirty="0"/>
              <a:t> </a:t>
            </a:r>
            <a:r>
              <a:rPr lang="en-US" dirty="0" err="1"/>
              <a:t>milaidinxa</a:t>
            </a:r>
            <a:r>
              <a:rPr lang="en-US" dirty="0"/>
              <a:t> for physicians</a:t>
            </a:r>
          </a:p>
        </p:txBody>
      </p:sp>
      <p:sp>
        <p:nvSpPr>
          <p:cNvPr id="4" name="Slide Number Placeholder 3"/>
          <p:cNvSpPr>
            <a:spLocks noGrp="1"/>
          </p:cNvSpPr>
          <p:nvPr>
            <p:ph type="sldNum" sz="quarter" idx="5"/>
          </p:nvPr>
        </p:nvSpPr>
        <p:spPr/>
        <p:txBody>
          <a:bodyPr/>
          <a:lstStyle/>
          <a:p>
            <a:fld id="{0C1B08BE-7FC2-42F1-A16A-80EE23BAB1F4}" type="slidenum">
              <a:rPr lang="en-US" smtClean="0"/>
              <a:t>32</a:t>
            </a:fld>
            <a:endParaRPr lang="en-US"/>
          </a:p>
        </p:txBody>
      </p:sp>
    </p:spTree>
    <p:extLst>
      <p:ext uri="{BB962C8B-B14F-4D97-AF65-F5344CB8AC3E}">
        <p14:creationId xmlns:p14="http://schemas.microsoft.com/office/powerpoint/2010/main" val="2703875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Load Testing – Checks system performance under normal &amp; peak loads.</a:t>
            </a:r>
          </a:p>
          <a:p>
            <a:r>
              <a:rPr lang="en-US" b="1" dirty="0"/>
              <a:t>Example</a:t>
            </a:r>
            <a:r>
              <a:rPr lang="en-US" dirty="0"/>
              <a:t>:</a:t>
            </a:r>
          </a:p>
          <a:p>
            <a:pPr>
              <a:buFont typeface="Arial" panose="020B0604020202020204" pitchFamily="34" charset="0"/>
              <a:buChar char="•"/>
            </a:pPr>
            <a:r>
              <a:rPr lang="en-US" dirty="0"/>
              <a:t>Simulate 1,000 users visiting an online store and making purchases.</a:t>
            </a:r>
          </a:p>
          <a:p>
            <a:pPr>
              <a:buFont typeface="Arial" panose="020B0604020202020204" pitchFamily="34" charset="0"/>
              <a:buChar char="•"/>
            </a:pPr>
            <a:r>
              <a:rPr lang="en-US" dirty="0"/>
              <a:t>Monitor how the server handles traffic.</a:t>
            </a:r>
          </a:p>
          <a:p>
            <a:r>
              <a:rPr lang="en-US" b="1" dirty="0"/>
              <a:t>b) Stress Testing – Pushes the system beyond its capacity to see when it fails.</a:t>
            </a:r>
          </a:p>
          <a:p>
            <a:r>
              <a:rPr lang="en-US" b="1" dirty="0"/>
              <a:t>Example</a:t>
            </a:r>
            <a:r>
              <a:rPr lang="en-US" dirty="0"/>
              <a:t>:</a:t>
            </a:r>
          </a:p>
          <a:p>
            <a:pPr>
              <a:buFont typeface="Arial" panose="020B0604020202020204" pitchFamily="34" charset="0"/>
              <a:buChar char="•"/>
            </a:pPr>
            <a:r>
              <a:rPr lang="en-US" dirty="0"/>
              <a:t>Simulate 500,000 users logging in at the same time to test server limits.</a:t>
            </a:r>
          </a:p>
          <a:p>
            <a:r>
              <a:rPr lang="en-US" b="1" dirty="0"/>
              <a:t>c) Spike Testing – Tests system behavior with sudden traffic spikes.</a:t>
            </a:r>
          </a:p>
          <a:p>
            <a:r>
              <a:rPr lang="en-US" b="1" dirty="0"/>
              <a:t>Example</a:t>
            </a:r>
            <a:r>
              <a:rPr lang="en-US" dirty="0"/>
              <a:t>:</a:t>
            </a:r>
          </a:p>
          <a:p>
            <a:pPr>
              <a:buFont typeface="Arial" panose="020B0604020202020204" pitchFamily="34" charset="0"/>
              <a:buChar char="•"/>
            </a:pPr>
            <a:r>
              <a:rPr lang="en-US" dirty="0"/>
              <a:t>Simulate 10,000 users accessing a ticket booking site when a concert ticket sale goes live.</a:t>
            </a:r>
          </a:p>
          <a:p>
            <a:r>
              <a:rPr lang="en-US" b="1" dirty="0"/>
              <a:t>d) Endurance (Soak) Testing – Runs a system for an extended period to detect memory leaks.</a:t>
            </a:r>
          </a:p>
          <a:p>
            <a:r>
              <a:rPr lang="en-US" b="1" dirty="0"/>
              <a:t>Example</a:t>
            </a:r>
            <a:r>
              <a:rPr lang="en-US" dirty="0"/>
              <a:t>:</a:t>
            </a:r>
          </a:p>
          <a:p>
            <a:pPr>
              <a:buFont typeface="Arial" panose="020B0604020202020204" pitchFamily="34" charset="0"/>
              <a:buChar char="•"/>
            </a:pPr>
            <a:r>
              <a:rPr lang="en-US" dirty="0"/>
              <a:t>Simulate continuous transactions on a banking app for 24 hours.</a:t>
            </a:r>
          </a:p>
          <a:p>
            <a:r>
              <a:rPr lang="en-US" b="1" dirty="0"/>
              <a:t>e) Scalability Testing – Measures how the system scales when resources are increased.</a:t>
            </a:r>
          </a:p>
          <a:p>
            <a:r>
              <a:rPr lang="en-US" b="1" dirty="0"/>
              <a:t>Example</a:t>
            </a:r>
            <a:r>
              <a:rPr lang="en-US" dirty="0"/>
              <a:t>:</a:t>
            </a:r>
          </a:p>
          <a:p>
            <a:pPr>
              <a:buFont typeface="Arial" panose="020B0604020202020204" pitchFamily="34" charset="0"/>
              <a:buChar char="•"/>
            </a:pPr>
            <a:r>
              <a:rPr lang="en-US" dirty="0"/>
              <a:t>Add more servers to an app and check if performance improves.</a:t>
            </a:r>
          </a:p>
          <a:p>
            <a:endParaRPr lang="en-US" dirty="0"/>
          </a:p>
        </p:txBody>
      </p:sp>
      <p:sp>
        <p:nvSpPr>
          <p:cNvPr id="4" name="Slide Number Placeholder 3"/>
          <p:cNvSpPr>
            <a:spLocks noGrp="1"/>
          </p:cNvSpPr>
          <p:nvPr>
            <p:ph type="sldNum" sz="quarter" idx="5"/>
          </p:nvPr>
        </p:nvSpPr>
        <p:spPr/>
        <p:txBody>
          <a:bodyPr/>
          <a:lstStyle/>
          <a:p>
            <a:fld id="{0C1B08BE-7FC2-42F1-A16A-80EE23BAB1F4}" type="slidenum">
              <a:rPr lang="en-US" smtClean="0"/>
              <a:t>34</a:t>
            </a:fld>
            <a:endParaRPr lang="en-US"/>
          </a:p>
        </p:txBody>
      </p:sp>
    </p:spTree>
    <p:extLst>
      <p:ext uri="{BB962C8B-B14F-4D97-AF65-F5344CB8AC3E}">
        <p14:creationId xmlns:p14="http://schemas.microsoft.com/office/powerpoint/2010/main" val="2348782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Alpha Testing (Internal Testing)</a:t>
            </a:r>
          </a:p>
          <a:p>
            <a:r>
              <a:rPr lang="en-US" b="1" dirty="0"/>
              <a:t>Purpose:</a:t>
            </a:r>
          </a:p>
          <a:p>
            <a:pPr>
              <a:buFont typeface="Arial" panose="020B0604020202020204" pitchFamily="34" charset="0"/>
              <a:buChar char="•"/>
            </a:pPr>
            <a:r>
              <a:rPr lang="en-US" dirty="0"/>
              <a:t>Detect and fix bugs before releasing the software to external users.</a:t>
            </a:r>
          </a:p>
          <a:p>
            <a:pPr>
              <a:buFont typeface="Arial" panose="020B0604020202020204" pitchFamily="34" charset="0"/>
              <a:buChar char="•"/>
            </a:pPr>
            <a:r>
              <a:rPr lang="en-US" dirty="0"/>
              <a:t>Validate functionality, usability, and performance in a controlled environment.</a:t>
            </a:r>
          </a:p>
          <a:p>
            <a:r>
              <a:rPr lang="en-US" b="1" dirty="0"/>
              <a:t>Where It Happens:</a:t>
            </a:r>
          </a:p>
          <a:p>
            <a:pPr>
              <a:buFont typeface="Arial" panose="020B0604020202020204" pitchFamily="34" charset="0"/>
              <a:buChar char="•"/>
            </a:pPr>
            <a:r>
              <a:rPr lang="en-US" dirty="0"/>
              <a:t>Conducted in-house by </a:t>
            </a:r>
            <a:r>
              <a:rPr lang="en-US" b="1" dirty="0"/>
              <a:t>developers and internal testers</a:t>
            </a:r>
            <a:r>
              <a:rPr lang="en-US" dirty="0"/>
              <a:t> in a </a:t>
            </a:r>
            <a:r>
              <a:rPr lang="en-US" b="1" dirty="0"/>
              <a:t>staging environment</a:t>
            </a:r>
            <a:r>
              <a:rPr lang="en-US" dirty="0"/>
              <a:t>.</a:t>
            </a:r>
          </a:p>
          <a:p>
            <a:endParaRPr lang="en-US" dirty="0"/>
          </a:p>
          <a:p>
            <a:r>
              <a:rPr lang="en-US" b="1" dirty="0"/>
              <a:t>Beta Testing (Real-World Testing)</a:t>
            </a:r>
          </a:p>
          <a:p>
            <a:r>
              <a:rPr lang="en-US" b="1" dirty="0"/>
              <a:t>Purpose:</a:t>
            </a:r>
          </a:p>
          <a:p>
            <a:pPr>
              <a:buFont typeface="Arial" panose="020B0604020202020204" pitchFamily="34" charset="0"/>
              <a:buChar char="•"/>
            </a:pPr>
            <a:r>
              <a:rPr lang="en-US" dirty="0"/>
              <a:t>Gather real user feedback before the official launch.</a:t>
            </a:r>
          </a:p>
          <a:p>
            <a:pPr>
              <a:buFont typeface="Arial" panose="020B0604020202020204" pitchFamily="34" charset="0"/>
              <a:buChar char="•"/>
            </a:pPr>
            <a:r>
              <a:rPr lang="en-US" dirty="0"/>
              <a:t>Identify unexpected bugs in </a:t>
            </a:r>
            <a:r>
              <a:rPr lang="en-US" b="1" dirty="0"/>
              <a:t>diverse environments</a:t>
            </a:r>
            <a:r>
              <a:rPr lang="en-US" dirty="0"/>
              <a:t>.</a:t>
            </a:r>
          </a:p>
          <a:p>
            <a:r>
              <a:rPr lang="en-US" b="1" dirty="0"/>
              <a:t>Where It Happens:</a:t>
            </a:r>
          </a:p>
          <a:p>
            <a:pPr>
              <a:buFont typeface="Arial" panose="020B0604020202020204" pitchFamily="34" charset="0"/>
              <a:buChar char="•"/>
            </a:pPr>
            <a:r>
              <a:rPr lang="en-US" dirty="0"/>
              <a:t>Conducted </a:t>
            </a:r>
            <a:r>
              <a:rPr lang="en-US" b="1" dirty="0"/>
              <a:t>externally</a:t>
            </a:r>
            <a:r>
              <a:rPr lang="en-US" dirty="0"/>
              <a:t> by a </a:t>
            </a:r>
            <a:r>
              <a:rPr lang="en-US" b="1" dirty="0"/>
              <a:t>select group of real users</a:t>
            </a:r>
            <a:r>
              <a:rPr lang="en-US" dirty="0"/>
              <a:t> in their </a:t>
            </a:r>
            <a:r>
              <a:rPr lang="en-US" b="1" dirty="0"/>
              <a:t>own environments</a:t>
            </a:r>
            <a:r>
              <a:rPr lang="en-US" dirty="0"/>
              <a:t>.</a:t>
            </a:r>
          </a:p>
          <a:p>
            <a:r>
              <a:rPr lang="en-US" b="1" dirty="0"/>
              <a:t>Types of Beta Testing:</a:t>
            </a:r>
          </a:p>
          <a:p>
            <a:r>
              <a:rPr lang="en-US" dirty="0"/>
              <a:t>🔹 </a:t>
            </a:r>
            <a:r>
              <a:rPr lang="en-US" b="1" dirty="0"/>
              <a:t>Open Beta</a:t>
            </a:r>
            <a:r>
              <a:rPr lang="en-US" dirty="0"/>
              <a:t> – Anyone can test and provide feedback (e.g., public beta for apps).</a:t>
            </a:r>
            <a:br>
              <a:rPr lang="en-US" dirty="0"/>
            </a:br>
            <a:r>
              <a:rPr lang="en-US" dirty="0"/>
              <a:t>🔹 </a:t>
            </a:r>
            <a:r>
              <a:rPr lang="en-US" b="1" dirty="0"/>
              <a:t>Closed Beta</a:t>
            </a:r>
            <a:r>
              <a:rPr lang="en-US" dirty="0"/>
              <a:t> – Only invited users test the software (e.g., limited beta for enterprise software).</a:t>
            </a:r>
          </a:p>
          <a:p>
            <a:pPr>
              <a:buFont typeface="Arial" panose="020B0604020202020204" pitchFamily="34" charset="0"/>
              <a:buChar char="•"/>
            </a:pPr>
            <a:endParaRPr lang="en-US" dirty="0"/>
          </a:p>
          <a:p>
            <a:r>
              <a:rPr lang="en-US" b="1" dirty="0"/>
              <a:t>Acceptance Testing (Final Validation)</a:t>
            </a:r>
          </a:p>
          <a:p>
            <a:r>
              <a:rPr lang="en-US" b="1" dirty="0"/>
              <a:t>Purpose:</a:t>
            </a:r>
          </a:p>
          <a:p>
            <a:pPr>
              <a:buFont typeface="Arial" panose="020B0604020202020204" pitchFamily="34" charset="0"/>
              <a:buChar char="•"/>
            </a:pPr>
            <a:r>
              <a:rPr lang="en-US" dirty="0"/>
              <a:t>Ensure the software meets </a:t>
            </a:r>
            <a:r>
              <a:rPr lang="en-US" b="1" dirty="0"/>
              <a:t>business requirements</a:t>
            </a:r>
            <a:r>
              <a:rPr lang="en-US" dirty="0"/>
              <a:t> and is ready for deployment.</a:t>
            </a:r>
          </a:p>
          <a:p>
            <a:r>
              <a:rPr lang="en-US" b="1" dirty="0"/>
              <a:t>Where It Happens:</a:t>
            </a:r>
          </a:p>
          <a:p>
            <a:pPr>
              <a:buFont typeface="Arial" panose="020B0604020202020204" pitchFamily="34" charset="0"/>
              <a:buChar char="•"/>
            </a:pPr>
            <a:r>
              <a:rPr lang="en-US" dirty="0"/>
              <a:t>Conducted by </a:t>
            </a:r>
            <a:r>
              <a:rPr lang="en-US" b="1" dirty="0"/>
              <a:t>clients, end-users, or business stakeholders</a:t>
            </a:r>
            <a:r>
              <a:rPr lang="en-US" dirty="0"/>
              <a:t> in a pre-production environment.</a:t>
            </a:r>
          </a:p>
          <a:p>
            <a:pPr>
              <a:buFont typeface="Arial" panose="020B0604020202020204" pitchFamily="34" charset="0"/>
              <a:buChar char="•"/>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C1B08BE-7FC2-42F1-A16A-80EE23BAB1F4}" type="slidenum">
              <a:rPr lang="en-US" smtClean="0"/>
              <a:t>37</a:t>
            </a:fld>
            <a:endParaRPr lang="en-US"/>
          </a:p>
        </p:txBody>
      </p:sp>
    </p:spTree>
    <p:extLst>
      <p:ext uri="{BB962C8B-B14F-4D97-AF65-F5344CB8AC3E}">
        <p14:creationId xmlns:p14="http://schemas.microsoft.com/office/powerpoint/2010/main" val="65018784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EB6173-E67A-4ABF-9D07-B09534D3609E}" type="datetime1">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825034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B46388-AE01-495E-A422-64DF783CA3B7}" type="datetime1">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27487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99C16433-D5F8-4032-B388-28ED11946A35}" type="datetime1">
              <a:rPr lang="en-US" smtClean="0"/>
              <a:t>8/24/2026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1910801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504850-3495-4488-8FCD-CA2C2E246139}" type="datetime1">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41565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D61167-CE2C-4438-984C-13395A4B84EC}" type="datetime1">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968647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801522-C990-43F2-8182-0FD4A92B7E09}" type="datetime1">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126890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B2F88E-6C11-475F-BE2E-9D746C0DC1FA}" type="datetime1">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31332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5295CF-5C66-4080-A38E-555C4E259035}" type="datetime1">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2685557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086953-5472-4DB2-8C9D-C55ADA395F85}" type="datetime1">
              <a:rPr lang="en-US" smtClean="0"/>
              <a:t>8/24/2026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4292410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472C30-6944-4E86-995E-211D9B5BF857}" type="datetime1">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798607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799CB5-B776-4CF2-94FC-CA909301CA95}" type="datetime1">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6180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1CA38CA-2EB5-43C2-81A6-FE170C4CF28A}" type="datetime1">
              <a:rPr lang="en-US" smtClean="0"/>
              <a:t>8/24/2026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255C45AA-988C-4610-8E25-9C545FF2A435}" type="slidenum">
              <a:rPr lang="en-US" smtClean="0"/>
              <a:t>‹#›</a:t>
            </a:fld>
            <a:endParaRPr lang="en-US"/>
          </a:p>
        </p:txBody>
      </p:sp>
    </p:spTree>
    <p:extLst>
      <p:ext uri="{BB962C8B-B14F-4D97-AF65-F5344CB8AC3E}">
        <p14:creationId xmlns:p14="http://schemas.microsoft.com/office/powerpoint/2010/main" val="110445423"/>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DA0D-6E59-4383-9DF9-A8C233DC83C8}"/>
              </a:ext>
            </a:extLst>
          </p:cNvPr>
          <p:cNvSpPr>
            <a:spLocks noGrp="1"/>
          </p:cNvSpPr>
          <p:nvPr>
            <p:ph type="ctrTitle"/>
          </p:nvPr>
        </p:nvSpPr>
        <p:spPr/>
        <p:txBody>
          <a:bodyPr/>
          <a:lstStyle/>
          <a:p>
            <a:pPr>
              <a:lnSpc>
                <a:spcPct val="100000"/>
              </a:lnSpc>
            </a:pPr>
            <a:r>
              <a:rPr lang="en-US" sz="4800" dirty="0"/>
              <a:t>Unit 8</a:t>
            </a:r>
            <a:br>
              <a:rPr lang="en-US" sz="4800" dirty="0"/>
            </a:br>
            <a:br>
              <a:rPr lang="en-US" sz="6600" dirty="0"/>
            </a:br>
            <a:r>
              <a:rPr lang="en-US" sz="6600" dirty="0"/>
              <a:t>Software Testing</a:t>
            </a:r>
            <a:br>
              <a:rPr lang="en-US" dirty="0"/>
            </a:br>
            <a:endParaRPr lang="en-US" dirty="0"/>
          </a:p>
        </p:txBody>
      </p:sp>
      <p:sp>
        <p:nvSpPr>
          <p:cNvPr id="8" name="Subtitle 7">
            <a:extLst>
              <a:ext uri="{FF2B5EF4-FFF2-40B4-BE49-F238E27FC236}">
                <a16:creationId xmlns:a16="http://schemas.microsoft.com/office/drawing/2014/main" id="{FD94B0D4-AD5E-4142-BB4C-606A9BFB8C8B}"/>
              </a:ext>
            </a:extLst>
          </p:cNvPr>
          <p:cNvSpPr>
            <a:spLocks noGrp="1"/>
          </p:cNvSpPr>
          <p:nvPr>
            <p:ph type="subTitle" idx="1"/>
          </p:nvPr>
        </p:nvSpPr>
        <p:spPr>
          <a:xfrm>
            <a:off x="1051560" y="4615363"/>
            <a:ext cx="7891272" cy="1069848"/>
          </a:xfrm>
        </p:spPr>
        <p:txBody>
          <a:bodyPr/>
          <a:lstStyle/>
          <a:p>
            <a:r>
              <a:rPr lang="en-US" dirty="0"/>
              <a:t>Software Engineering</a:t>
            </a:r>
          </a:p>
          <a:p>
            <a:r>
              <a:rPr lang="en-US" dirty="0"/>
              <a:t>CSIT 6</a:t>
            </a:r>
            <a:r>
              <a:rPr lang="en-US" baseline="30000" dirty="0"/>
              <a:t>th</a:t>
            </a:r>
            <a:r>
              <a:rPr lang="en-US" dirty="0"/>
              <a:t> Semester</a:t>
            </a:r>
          </a:p>
        </p:txBody>
      </p:sp>
      <p:sp>
        <p:nvSpPr>
          <p:cNvPr id="3" name="Slide Number Placeholder 2">
            <a:extLst>
              <a:ext uri="{FF2B5EF4-FFF2-40B4-BE49-F238E27FC236}">
                <a16:creationId xmlns:a16="http://schemas.microsoft.com/office/drawing/2014/main" id="{6E315391-4770-44DD-96B8-AB52F28EC26C}"/>
              </a:ext>
            </a:extLst>
          </p:cNvPr>
          <p:cNvSpPr>
            <a:spLocks noGrp="1"/>
          </p:cNvSpPr>
          <p:nvPr>
            <p:ph type="sldNum" sz="quarter" idx="12"/>
          </p:nvPr>
        </p:nvSpPr>
        <p:spPr/>
        <p:txBody>
          <a:bodyPr/>
          <a:lstStyle/>
          <a:p>
            <a:fld id="{255C45AA-988C-4610-8E25-9C545FF2A435}" type="slidenum">
              <a:rPr lang="en-US" smtClean="0"/>
              <a:t>1</a:t>
            </a:fld>
            <a:endParaRPr lang="en-US"/>
          </a:p>
        </p:txBody>
      </p:sp>
    </p:spTree>
    <p:extLst>
      <p:ext uri="{BB962C8B-B14F-4D97-AF65-F5344CB8AC3E}">
        <p14:creationId xmlns:p14="http://schemas.microsoft.com/office/powerpoint/2010/main" val="4082152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085FA-53FE-49DA-95EE-BF8D71FB079D}"/>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34883A51-3C9B-4315-8D30-E190E9B94F5A}"/>
              </a:ext>
            </a:extLst>
          </p:cNvPr>
          <p:cNvSpPr>
            <a:spLocks noGrp="1"/>
          </p:cNvSpPr>
          <p:nvPr>
            <p:ph idx="1"/>
          </p:nvPr>
        </p:nvSpPr>
        <p:spPr/>
        <p:txBody>
          <a:bodyPr>
            <a:normAutofit/>
          </a:bodyPr>
          <a:lstStyle/>
          <a:p>
            <a:r>
              <a:rPr lang="en-US" dirty="0"/>
              <a:t>Introduction</a:t>
            </a:r>
          </a:p>
          <a:p>
            <a:r>
              <a:rPr lang="en-US" dirty="0"/>
              <a:t>Validation and Verification Testing</a:t>
            </a:r>
          </a:p>
          <a:p>
            <a:r>
              <a:rPr lang="en-US" dirty="0"/>
              <a:t>Software Inspection</a:t>
            </a:r>
          </a:p>
          <a:p>
            <a:r>
              <a:rPr lang="en-US" dirty="0"/>
              <a:t>Software Testing Process</a:t>
            </a:r>
          </a:p>
          <a:p>
            <a:r>
              <a:rPr lang="en-US" dirty="0"/>
              <a:t>Development Testing</a:t>
            </a:r>
          </a:p>
          <a:p>
            <a:r>
              <a:rPr lang="en-US" dirty="0"/>
              <a:t>Test-Driven Development</a:t>
            </a:r>
          </a:p>
          <a:p>
            <a:r>
              <a:rPr lang="en-US" dirty="0"/>
              <a:t>Release Testing</a:t>
            </a:r>
          </a:p>
          <a:p>
            <a:r>
              <a:rPr lang="en-US" dirty="0"/>
              <a:t>User Testing</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C9B78AC-CDA8-45C3-B850-3A69787F6754}"/>
              </a:ext>
            </a:extLst>
          </p:cNvPr>
          <p:cNvSpPr>
            <a:spLocks noGrp="1"/>
          </p:cNvSpPr>
          <p:nvPr>
            <p:ph type="sldNum" sz="quarter" idx="12"/>
          </p:nvPr>
        </p:nvSpPr>
        <p:spPr/>
        <p:txBody>
          <a:bodyPr/>
          <a:lstStyle/>
          <a:p>
            <a:fld id="{255C45AA-988C-4610-8E25-9C545FF2A435}" type="slidenum">
              <a:rPr lang="en-US" smtClean="0"/>
              <a:t>2</a:t>
            </a:fld>
            <a:endParaRPr lang="en-US"/>
          </a:p>
        </p:txBody>
      </p:sp>
    </p:spTree>
    <p:extLst>
      <p:ext uri="{BB962C8B-B14F-4D97-AF65-F5344CB8AC3E}">
        <p14:creationId xmlns:p14="http://schemas.microsoft.com/office/powerpoint/2010/main" val="361983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System Testing</a:t>
            </a:r>
          </a:p>
        </p:txBody>
      </p:sp>
      <p:sp>
        <p:nvSpPr>
          <p:cNvPr id="3" name="Content Placeholder 2"/>
          <p:cNvSpPr>
            <a:spLocks noGrp="1"/>
          </p:cNvSpPr>
          <p:nvPr>
            <p:ph idx="1"/>
          </p:nvPr>
        </p:nvSpPr>
        <p:spPr/>
        <p:txBody>
          <a:bodyPr>
            <a:normAutofit/>
          </a:bodyPr>
          <a:lstStyle/>
          <a:p>
            <a:pPr algn="just"/>
            <a:r>
              <a:rPr lang="en-US" dirty="0"/>
              <a:t>System testing is a type of software testing that evaluates the behavior and functionality of a complete and integrated software system. The goal of system testing is to verify that the software meets its specified requirements and that it performs as expected in the intended environment.</a:t>
            </a:r>
          </a:p>
          <a:p>
            <a:pPr algn="just"/>
            <a:r>
              <a:rPr lang="en-US" dirty="0"/>
              <a:t>System testing is typically performed after unit testing, integration testing, and other forms of testing have been completed. It involves testing the software system as a whole, including all its components and interfaces, and evaluating how well it works in different scenarios and situations. </a:t>
            </a:r>
          </a:p>
          <a:p>
            <a:pPr algn="just"/>
            <a:r>
              <a:rPr lang="en-US" dirty="0"/>
              <a:t>System testing can include functional testing, performance testing, security testing, usability testing, and other types of testing depending on the specific requirements of the software system being tested.</a:t>
            </a:r>
          </a:p>
          <a:p>
            <a:pPr algn="just"/>
            <a:endParaRPr lang="en-US" dirty="0"/>
          </a:p>
        </p:txBody>
      </p:sp>
    </p:spTree>
    <p:extLst>
      <p:ext uri="{BB962C8B-B14F-4D97-AF65-F5344CB8AC3E}">
        <p14:creationId xmlns:p14="http://schemas.microsoft.com/office/powerpoint/2010/main" val="3108001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Verification</a:t>
            </a:r>
            <a:r>
              <a:rPr lang="en-US" dirty="0"/>
              <a:t>:</a:t>
            </a:r>
          </a:p>
        </p:txBody>
      </p:sp>
      <p:sp>
        <p:nvSpPr>
          <p:cNvPr id="3" name="Content Placeholder 2"/>
          <p:cNvSpPr>
            <a:spLocks noGrp="1"/>
          </p:cNvSpPr>
          <p:nvPr>
            <p:ph idx="1"/>
          </p:nvPr>
        </p:nvSpPr>
        <p:spPr/>
        <p:txBody>
          <a:bodyPr>
            <a:normAutofit/>
          </a:bodyPr>
          <a:lstStyle/>
          <a:p>
            <a:pPr algn="just"/>
            <a:r>
              <a:rPr lang="en-US" b="1" dirty="0"/>
              <a:t>Verification</a:t>
            </a:r>
            <a:r>
              <a:rPr lang="en-US" dirty="0"/>
              <a:t> is the process of checking that a software achieves its goal without any bugs. It is the process to ensure whether the product that is developed is right or not. It verifies whether the developed product fulfills the requirements that we have. Verification is static testing. </a:t>
            </a:r>
            <a:br>
              <a:rPr lang="en-US" dirty="0"/>
            </a:br>
            <a:r>
              <a:rPr lang="en-US" dirty="0"/>
              <a:t>Verification means </a:t>
            </a:r>
            <a:r>
              <a:rPr lang="en-US" b="1" dirty="0"/>
              <a:t>Are we building the product right?</a:t>
            </a:r>
            <a:r>
              <a:rPr lang="en-US" dirty="0"/>
              <a:t> </a:t>
            </a:r>
          </a:p>
          <a:p>
            <a:pPr marL="0" indent="0" algn="just" fontAlgn="base">
              <a:buNone/>
            </a:pPr>
            <a:r>
              <a:rPr lang="en-US" dirty="0"/>
              <a:t>Activities involved in verification:</a:t>
            </a:r>
          </a:p>
          <a:p>
            <a:pPr algn="just" fontAlgn="base"/>
            <a:r>
              <a:rPr lang="en-US" dirty="0"/>
              <a:t>Inspections</a:t>
            </a:r>
          </a:p>
          <a:p>
            <a:pPr algn="just" fontAlgn="base"/>
            <a:r>
              <a:rPr lang="en-US" dirty="0"/>
              <a:t>Reviews</a:t>
            </a:r>
          </a:p>
          <a:p>
            <a:pPr algn="just" fontAlgn="base"/>
            <a:r>
              <a:rPr lang="en-US" dirty="0"/>
              <a:t>Walkthroughs</a:t>
            </a:r>
          </a:p>
          <a:p>
            <a:pPr algn="just" fontAlgn="base"/>
            <a:r>
              <a:rPr lang="en-US" dirty="0"/>
              <a:t>Desk-checking</a:t>
            </a:r>
          </a:p>
          <a:p>
            <a:pPr algn="just"/>
            <a:endParaRPr lang="en-US" dirty="0"/>
          </a:p>
        </p:txBody>
      </p:sp>
    </p:spTree>
    <p:extLst>
      <p:ext uri="{BB962C8B-B14F-4D97-AF65-F5344CB8AC3E}">
        <p14:creationId xmlns:p14="http://schemas.microsoft.com/office/powerpoint/2010/main" val="1604135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Validation</a:t>
            </a:r>
          </a:p>
        </p:txBody>
      </p:sp>
      <p:sp>
        <p:nvSpPr>
          <p:cNvPr id="3" name="Content Placeholder 2"/>
          <p:cNvSpPr>
            <a:spLocks noGrp="1"/>
          </p:cNvSpPr>
          <p:nvPr>
            <p:ph idx="1"/>
          </p:nvPr>
        </p:nvSpPr>
        <p:spPr/>
        <p:txBody>
          <a:bodyPr>
            <a:normAutofit/>
          </a:bodyPr>
          <a:lstStyle/>
          <a:p>
            <a:pPr algn="just"/>
            <a:r>
              <a:rPr lang="en-US" dirty="0"/>
              <a:t>Validation is the process of checking whether the software product is up to the mark or in other words product has high level requirements. It is the process of checking the validation of product i.e. it checks what we are developing is the right product. It is validation of actual and expected product. </a:t>
            </a:r>
          </a:p>
          <a:p>
            <a:r>
              <a:rPr lang="en-US" dirty="0"/>
              <a:t>Validation is the dynamic testing. </a:t>
            </a:r>
            <a:br>
              <a:rPr lang="en-US" b="1" dirty="0"/>
            </a:br>
            <a:r>
              <a:rPr lang="en-US" dirty="0"/>
              <a:t>Validation means</a:t>
            </a:r>
            <a:r>
              <a:rPr lang="en-US" b="1" dirty="0"/>
              <a:t> Are we building the right product? </a:t>
            </a:r>
          </a:p>
          <a:p>
            <a:pPr marL="0" indent="0" algn="just" fontAlgn="base">
              <a:buNone/>
            </a:pPr>
            <a:r>
              <a:rPr lang="en-US" dirty="0"/>
              <a:t>Activities involved in validation:</a:t>
            </a:r>
          </a:p>
          <a:p>
            <a:pPr algn="just" fontAlgn="base"/>
            <a:r>
              <a:rPr lang="en-US" dirty="0"/>
              <a:t>Black box testing</a:t>
            </a:r>
          </a:p>
          <a:p>
            <a:pPr algn="just" fontAlgn="base"/>
            <a:r>
              <a:rPr lang="en-US" dirty="0"/>
              <a:t>White box testing</a:t>
            </a:r>
          </a:p>
          <a:p>
            <a:pPr algn="just"/>
            <a:endParaRPr lang="en-US" dirty="0"/>
          </a:p>
        </p:txBody>
      </p:sp>
    </p:spTree>
    <p:extLst>
      <p:ext uri="{BB962C8B-B14F-4D97-AF65-F5344CB8AC3E}">
        <p14:creationId xmlns:p14="http://schemas.microsoft.com/office/powerpoint/2010/main" val="1177604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Difference between verification and validation</a:t>
            </a:r>
          </a:p>
        </p:txBody>
      </p:sp>
      <p:pic>
        <p:nvPicPr>
          <p:cNvPr id="9" name="Content Placeholder 8"/>
          <p:cNvPicPr>
            <a:picLocks noGrp="1" noChangeAspect="1"/>
          </p:cNvPicPr>
          <p:nvPr>
            <p:ph idx="1"/>
          </p:nvPr>
        </p:nvPicPr>
        <p:blipFill>
          <a:blip r:embed="rId2"/>
          <a:stretch>
            <a:fillRect/>
          </a:stretch>
        </p:blipFill>
        <p:spPr>
          <a:xfrm>
            <a:off x="2571829" y="1761095"/>
            <a:ext cx="7048342" cy="4450921"/>
          </a:xfrm>
          <a:prstGeom prst="rect">
            <a:avLst/>
          </a:prstGeom>
        </p:spPr>
      </p:pic>
    </p:spTree>
    <p:extLst>
      <p:ext uri="{BB962C8B-B14F-4D97-AF65-F5344CB8AC3E}">
        <p14:creationId xmlns:p14="http://schemas.microsoft.com/office/powerpoint/2010/main" val="2504762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Contd</a:t>
            </a:r>
            <a:r>
              <a:rPr lang="en-US" dirty="0"/>
              <a:t>.</a:t>
            </a:r>
          </a:p>
        </p:txBody>
      </p:sp>
      <p:pic>
        <p:nvPicPr>
          <p:cNvPr id="4" name="Content Placeholder 3"/>
          <p:cNvPicPr>
            <a:picLocks noGrp="1" noChangeAspect="1"/>
          </p:cNvPicPr>
          <p:nvPr>
            <p:ph idx="1"/>
          </p:nvPr>
        </p:nvPicPr>
        <p:blipFill>
          <a:blip r:embed="rId2"/>
          <a:stretch>
            <a:fillRect/>
          </a:stretch>
        </p:blipFill>
        <p:spPr>
          <a:xfrm>
            <a:off x="1882405" y="2250632"/>
            <a:ext cx="8001513" cy="3870767"/>
          </a:xfrm>
          <a:prstGeom prst="rect">
            <a:avLst/>
          </a:prstGeom>
        </p:spPr>
      </p:pic>
    </p:spTree>
    <p:extLst>
      <p:ext uri="{BB962C8B-B14F-4D97-AF65-F5344CB8AC3E}">
        <p14:creationId xmlns:p14="http://schemas.microsoft.com/office/powerpoint/2010/main" val="3044324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Testing Technique:</a:t>
            </a:r>
          </a:p>
        </p:txBody>
      </p:sp>
      <p:sp>
        <p:nvSpPr>
          <p:cNvPr id="3" name="Content Placeholder 2"/>
          <p:cNvSpPr>
            <a:spLocks noGrp="1"/>
          </p:cNvSpPr>
          <p:nvPr>
            <p:ph idx="1"/>
          </p:nvPr>
        </p:nvSpPr>
        <p:spPr/>
        <p:txBody>
          <a:bodyPr>
            <a:normAutofit/>
          </a:bodyPr>
          <a:lstStyle/>
          <a:p>
            <a:pPr algn="just"/>
            <a:r>
              <a:rPr lang="en-US" dirty="0"/>
              <a:t>Testing Techniques is the method applied to evaluate a system or a component with a purpose to find if it satisfies the given requirements. </a:t>
            </a:r>
          </a:p>
          <a:p>
            <a:pPr algn="just"/>
            <a:r>
              <a:rPr lang="en-US" dirty="0"/>
              <a:t>Testing of a system helps to identify gaps, errors, or any kind of missing requirements differing from the actual requirements. Testing techniques are the best practices used by the testing team to assess the developed software in regards to given requirements.</a:t>
            </a:r>
          </a:p>
          <a:p>
            <a:pPr algn="just"/>
            <a:r>
              <a:rPr lang="en-US" dirty="0"/>
              <a:t> These techniques ensure the overall quality of the product or software including performance, security, customer experience, and so on. </a:t>
            </a:r>
          </a:p>
        </p:txBody>
      </p:sp>
    </p:spTree>
    <p:extLst>
      <p:ext uri="{BB962C8B-B14F-4D97-AF65-F5344CB8AC3E}">
        <p14:creationId xmlns:p14="http://schemas.microsoft.com/office/powerpoint/2010/main" val="1869657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9D43C-C4DE-4270-BD9C-DAA3E5201A35}"/>
              </a:ext>
            </a:extLst>
          </p:cNvPr>
          <p:cNvSpPr>
            <a:spLocks noGrp="1"/>
          </p:cNvSpPr>
          <p:nvPr>
            <p:ph type="title"/>
          </p:nvPr>
        </p:nvSpPr>
        <p:spPr/>
        <p:txBody>
          <a:bodyPr/>
          <a:lstStyle/>
          <a:p>
            <a:r>
              <a:rPr lang="en-US" dirty="0"/>
              <a:t>Software Inspection</a:t>
            </a:r>
          </a:p>
        </p:txBody>
      </p:sp>
      <p:sp>
        <p:nvSpPr>
          <p:cNvPr id="3" name="Content Placeholder 2">
            <a:extLst>
              <a:ext uri="{FF2B5EF4-FFF2-40B4-BE49-F238E27FC236}">
                <a16:creationId xmlns:a16="http://schemas.microsoft.com/office/drawing/2014/main" id="{F3A027A7-6AE4-4800-B22D-90633F8E2F99}"/>
              </a:ext>
            </a:extLst>
          </p:cNvPr>
          <p:cNvSpPr>
            <a:spLocks noGrp="1"/>
          </p:cNvSpPr>
          <p:nvPr>
            <p:ph idx="1"/>
          </p:nvPr>
        </p:nvSpPr>
        <p:spPr/>
        <p:txBody>
          <a:bodyPr/>
          <a:lstStyle/>
          <a:p>
            <a:r>
              <a:rPr lang="en-US" b="1" dirty="0"/>
              <a:t>Software inspection is a control technique for ensuring that the documentation produced during a given phase remains consistent with the documentation of the previous phases and respects reestablished rules and standards. </a:t>
            </a:r>
          </a:p>
          <a:p>
            <a:r>
              <a:rPr lang="en-US" dirty="0"/>
              <a:t>It is a technique to </a:t>
            </a:r>
            <a:r>
              <a:rPr lang="en-US" b="1" dirty="0"/>
              <a:t>analyze</a:t>
            </a:r>
            <a:r>
              <a:rPr lang="en-US" dirty="0"/>
              <a:t> and check system representation such as </a:t>
            </a:r>
            <a:r>
              <a:rPr lang="en-US" b="1" dirty="0"/>
              <a:t>requirement document</a:t>
            </a:r>
            <a:r>
              <a:rPr lang="en-US" dirty="0"/>
              <a:t>, </a:t>
            </a:r>
            <a:r>
              <a:rPr lang="en-US" b="1" dirty="0"/>
              <a:t>design diagrams</a:t>
            </a:r>
            <a:r>
              <a:rPr lang="en-US" dirty="0"/>
              <a:t> and </a:t>
            </a:r>
            <a:r>
              <a:rPr lang="en-US" b="1" dirty="0"/>
              <a:t>program source code with executing it</a:t>
            </a:r>
            <a:r>
              <a:rPr lang="en-US" dirty="0"/>
              <a:t>. It can be used as verification technique techniques before software is implemented. </a:t>
            </a:r>
          </a:p>
          <a:p>
            <a:r>
              <a:rPr lang="en-US" dirty="0"/>
              <a:t>Inspection have proved to be an effective techniques of </a:t>
            </a:r>
            <a:r>
              <a:rPr lang="en-US" b="1" dirty="0"/>
              <a:t>error detection</a:t>
            </a:r>
            <a:r>
              <a:rPr lang="en-US" dirty="0"/>
              <a:t>, error can be found more cheaply through inspection than by extensive program testing. The aim of inspection is to locate faults and process should be driven by fault check list. </a:t>
            </a:r>
          </a:p>
        </p:txBody>
      </p:sp>
      <p:sp>
        <p:nvSpPr>
          <p:cNvPr id="4" name="Slide Number Placeholder 3">
            <a:extLst>
              <a:ext uri="{FF2B5EF4-FFF2-40B4-BE49-F238E27FC236}">
                <a16:creationId xmlns:a16="http://schemas.microsoft.com/office/drawing/2014/main" id="{D8F084A1-617E-49BA-8231-1C5609D5A10D}"/>
              </a:ext>
            </a:extLst>
          </p:cNvPr>
          <p:cNvSpPr>
            <a:spLocks noGrp="1"/>
          </p:cNvSpPr>
          <p:nvPr>
            <p:ph type="sldNum" sz="quarter" idx="12"/>
          </p:nvPr>
        </p:nvSpPr>
        <p:spPr/>
        <p:txBody>
          <a:bodyPr/>
          <a:lstStyle/>
          <a:p>
            <a:fld id="{255C45AA-988C-4610-8E25-9C545FF2A435}" type="slidenum">
              <a:rPr lang="en-US" smtClean="0"/>
              <a:t>9</a:t>
            </a:fld>
            <a:endParaRPr lang="en-US"/>
          </a:p>
        </p:txBody>
      </p:sp>
    </p:spTree>
    <p:extLst>
      <p:ext uri="{BB962C8B-B14F-4D97-AF65-F5344CB8AC3E}">
        <p14:creationId xmlns:p14="http://schemas.microsoft.com/office/powerpoint/2010/main" val="2535386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9D43C-C4DE-4270-BD9C-DAA3E5201A35}"/>
              </a:ext>
            </a:extLst>
          </p:cNvPr>
          <p:cNvSpPr>
            <a:spLocks noGrp="1"/>
          </p:cNvSpPr>
          <p:nvPr>
            <p:ph type="title"/>
          </p:nvPr>
        </p:nvSpPr>
        <p:spPr/>
        <p:txBody>
          <a:bodyPr/>
          <a:lstStyle/>
          <a:p>
            <a:r>
              <a:rPr lang="en-US" dirty="0"/>
              <a:t>Software Inspection</a:t>
            </a:r>
          </a:p>
        </p:txBody>
      </p:sp>
      <p:sp>
        <p:nvSpPr>
          <p:cNvPr id="3" name="Content Placeholder 2">
            <a:extLst>
              <a:ext uri="{FF2B5EF4-FFF2-40B4-BE49-F238E27FC236}">
                <a16:creationId xmlns:a16="http://schemas.microsoft.com/office/drawing/2014/main" id="{F3A027A7-6AE4-4800-B22D-90633F8E2F99}"/>
              </a:ext>
            </a:extLst>
          </p:cNvPr>
          <p:cNvSpPr>
            <a:spLocks noGrp="1"/>
          </p:cNvSpPr>
          <p:nvPr>
            <p:ph idx="1"/>
          </p:nvPr>
        </p:nvSpPr>
        <p:spPr/>
        <p:txBody>
          <a:bodyPr>
            <a:normAutofit fontScale="92500" lnSpcReduction="10000"/>
          </a:bodyPr>
          <a:lstStyle/>
          <a:p>
            <a:r>
              <a:rPr lang="en-US" b="1" dirty="0"/>
              <a:t>Inspection key Points </a:t>
            </a:r>
          </a:p>
          <a:p>
            <a:r>
              <a:rPr lang="en-US" dirty="0"/>
              <a:t>It is most formal review type </a:t>
            </a:r>
          </a:p>
          <a:p>
            <a:r>
              <a:rPr lang="en-US" dirty="0"/>
              <a:t>It is lead by trained moderator </a:t>
            </a:r>
          </a:p>
          <a:p>
            <a:r>
              <a:rPr lang="en-US" dirty="0"/>
              <a:t>Documents are prepared and checked thoroughly by the reviewer. </a:t>
            </a:r>
          </a:p>
          <a:p>
            <a:r>
              <a:rPr lang="en-US" dirty="0"/>
              <a:t>A separate preparation is carried out during which product is examined and defects are found </a:t>
            </a:r>
          </a:p>
          <a:p>
            <a:r>
              <a:rPr lang="en-US" dirty="0"/>
              <a:t>It helps the author to improve the quality of the documents under inspection </a:t>
            </a:r>
          </a:p>
          <a:p>
            <a:r>
              <a:rPr lang="en-US" dirty="0"/>
              <a:t>It removes the defects efficiently and as early as possible </a:t>
            </a:r>
          </a:p>
          <a:p>
            <a:r>
              <a:rPr lang="en-US" dirty="0"/>
              <a:t>It improves product quality </a:t>
            </a:r>
          </a:p>
          <a:p>
            <a:r>
              <a:rPr lang="en-US" dirty="0"/>
              <a:t>It creates common understanding by exchanging information </a:t>
            </a:r>
          </a:p>
          <a:p>
            <a:r>
              <a:rPr lang="en-US" dirty="0"/>
              <a:t>It learn from defects found and prevent the occurrence of similar defects.</a:t>
            </a:r>
          </a:p>
        </p:txBody>
      </p:sp>
      <p:sp>
        <p:nvSpPr>
          <p:cNvPr id="4" name="Slide Number Placeholder 3">
            <a:extLst>
              <a:ext uri="{FF2B5EF4-FFF2-40B4-BE49-F238E27FC236}">
                <a16:creationId xmlns:a16="http://schemas.microsoft.com/office/drawing/2014/main" id="{D8F084A1-617E-49BA-8231-1C5609D5A10D}"/>
              </a:ext>
            </a:extLst>
          </p:cNvPr>
          <p:cNvSpPr>
            <a:spLocks noGrp="1"/>
          </p:cNvSpPr>
          <p:nvPr>
            <p:ph type="sldNum" sz="quarter" idx="12"/>
          </p:nvPr>
        </p:nvSpPr>
        <p:spPr/>
        <p:txBody>
          <a:bodyPr/>
          <a:lstStyle/>
          <a:p>
            <a:fld id="{255C45AA-988C-4610-8E25-9C545FF2A435}" type="slidenum">
              <a:rPr lang="en-US" smtClean="0"/>
              <a:t>10</a:t>
            </a:fld>
            <a:endParaRPr lang="en-US"/>
          </a:p>
        </p:txBody>
      </p:sp>
    </p:spTree>
    <p:extLst>
      <p:ext uri="{BB962C8B-B14F-4D97-AF65-F5344CB8AC3E}">
        <p14:creationId xmlns:p14="http://schemas.microsoft.com/office/powerpoint/2010/main" val="1865306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9D43C-C4DE-4270-BD9C-DAA3E5201A35}"/>
              </a:ext>
            </a:extLst>
          </p:cNvPr>
          <p:cNvSpPr>
            <a:spLocks noGrp="1"/>
          </p:cNvSpPr>
          <p:nvPr>
            <p:ph type="title"/>
          </p:nvPr>
        </p:nvSpPr>
        <p:spPr/>
        <p:txBody>
          <a:bodyPr/>
          <a:lstStyle/>
          <a:p>
            <a:r>
              <a:rPr lang="en-US" dirty="0"/>
              <a:t>Software Inspection</a:t>
            </a:r>
          </a:p>
        </p:txBody>
      </p:sp>
      <p:sp>
        <p:nvSpPr>
          <p:cNvPr id="3" name="Content Placeholder 2">
            <a:extLst>
              <a:ext uri="{FF2B5EF4-FFF2-40B4-BE49-F238E27FC236}">
                <a16:creationId xmlns:a16="http://schemas.microsoft.com/office/drawing/2014/main" id="{F3A027A7-6AE4-4800-B22D-90633F8E2F99}"/>
              </a:ext>
            </a:extLst>
          </p:cNvPr>
          <p:cNvSpPr>
            <a:spLocks noGrp="1"/>
          </p:cNvSpPr>
          <p:nvPr>
            <p:ph idx="1"/>
          </p:nvPr>
        </p:nvSpPr>
        <p:spPr/>
        <p:txBody>
          <a:bodyPr>
            <a:normAutofit fontScale="92500" lnSpcReduction="20000"/>
          </a:bodyPr>
          <a:lstStyle/>
          <a:p>
            <a:r>
              <a:rPr lang="en-US" dirty="0"/>
              <a:t>During an inspection, following roles are used </a:t>
            </a:r>
          </a:p>
          <a:p>
            <a:r>
              <a:rPr lang="en-US" b="1" dirty="0"/>
              <a:t>Author:</a:t>
            </a:r>
            <a:r>
              <a:rPr lang="en-US" dirty="0"/>
              <a:t> An author is the person who created the work product being inspected. Author is responsible for producing the program or document, fixing defects discovered during the inspection process. </a:t>
            </a:r>
          </a:p>
          <a:p>
            <a:r>
              <a:rPr lang="en-US" b="1" dirty="0"/>
              <a:t>Moderator:</a:t>
            </a:r>
            <a:r>
              <a:rPr lang="en-US" dirty="0"/>
              <a:t> Moderator is the leader of the inspection plans the inspection and coordinates it. Moderator reports process results to the chief moderator. </a:t>
            </a:r>
          </a:p>
          <a:p>
            <a:r>
              <a:rPr lang="en-US" b="1" dirty="0"/>
              <a:t>Chief Moderator</a:t>
            </a:r>
            <a:r>
              <a:rPr lang="en-US" dirty="0"/>
              <a:t>: Responsible for inspection process improvement, checklist updating, standards developments etc. </a:t>
            </a:r>
          </a:p>
          <a:p>
            <a:r>
              <a:rPr lang="en-US" b="1" dirty="0"/>
              <a:t>Reader:</a:t>
            </a:r>
            <a:r>
              <a:rPr lang="en-US" dirty="0"/>
              <a:t> Reader is the person reading through the documents one item at a time presents the code or documents at inspection meeting. </a:t>
            </a:r>
          </a:p>
          <a:p>
            <a:r>
              <a:rPr lang="en-US" b="1" dirty="0"/>
              <a:t>Recorder/Scribe:</a:t>
            </a:r>
            <a:r>
              <a:rPr lang="en-US" dirty="0"/>
              <a:t> The person that documents the defects that are found during the inspection is recorder. </a:t>
            </a:r>
          </a:p>
          <a:p>
            <a:r>
              <a:rPr lang="en-US" b="1" dirty="0"/>
              <a:t>Inspector:</a:t>
            </a:r>
            <a:r>
              <a:rPr lang="en-US" dirty="0"/>
              <a:t> Inspector is the person that examines the work product to identify possible defects, finds errors, omissions and inconsistencies in the code and documents. </a:t>
            </a:r>
          </a:p>
        </p:txBody>
      </p:sp>
      <p:sp>
        <p:nvSpPr>
          <p:cNvPr id="4" name="Slide Number Placeholder 3">
            <a:extLst>
              <a:ext uri="{FF2B5EF4-FFF2-40B4-BE49-F238E27FC236}">
                <a16:creationId xmlns:a16="http://schemas.microsoft.com/office/drawing/2014/main" id="{D8F084A1-617E-49BA-8231-1C5609D5A10D}"/>
              </a:ext>
            </a:extLst>
          </p:cNvPr>
          <p:cNvSpPr>
            <a:spLocks noGrp="1"/>
          </p:cNvSpPr>
          <p:nvPr>
            <p:ph type="sldNum" sz="quarter" idx="12"/>
          </p:nvPr>
        </p:nvSpPr>
        <p:spPr/>
        <p:txBody>
          <a:bodyPr/>
          <a:lstStyle/>
          <a:p>
            <a:fld id="{255C45AA-988C-4610-8E25-9C545FF2A435}" type="slidenum">
              <a:rPr lang="en-US" smtClean="0"/>
              <a:t>11</a:t>
            </a:fld>
            <a:endParaRPr lang="en-US"/>
          </a:p>
        </p:txBody>
      </p:sp>
    </p:spTree>
    <p:extLst>
      <p:ext uri="{BB962C8B-B14F-4D97-AF65-F5344CB8AC3E}">
        <p14:creationId xmlns:p14="http://schemas.microsoft.com/office/powerpoint/2010/main" val="1695961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9D43C-C4DE-4270-BD9C-DAA3E5201A35}"/>
              </a:ext>
            </a:extLst>
          </p:cNvPr>
          <p:cNvSpPr>
            <a:spLocks noGrp="1"/>
          </p:cNvSpPr>
          <p:nvPr>
            <p:ph type="title"/>
          </p:nvPr>
        </p:nvSpPr>
        <p:spPr/>
        <p:txBody>
          <a:bodyPr/>
          <a:lstStyle/>
          <a:p>
            <a:r>
              <a:rPr lang="en-US" dirty="0"/>
              <a:t>Inspection Process</a:t>
            </a:r>
          </a:p>
        </p:txBody>
      </p:sp>
      <p:sp>
        <p:nvSpPr>
          <p:cNvPr id="3" name="Content Placeholder 2">
            <a:extLst>
              <a:ext uri="{FF2B5EF4-FFF2-40B4-BE49-F238E27FC236}">
                <a16:creationId xmlns:a16="http://schemas.microsoft.com/office/drawing/2014/main" id="{F3A027A7-6AE4-4800-B22D-90633F8E2F99}"/>
              </a:ext>
            </a:extLst>
          </p:cNvPr>
          <p:cNvSpPr>
            <a:spLocks noGrp="1"/>
          </p:cNvSpPr>
          <p:nvPr>
            <p:ph idx="1"/>
          </p:nvPr>
        </p:nvSpPr>
        <p:spPr/>
        <p:txBody>
          <a:bodyPr>
            <a:normAutofit/>
          </a:bodyPr>
          <a:lstStyle/>
          <a:p>
            <a:r>
              <a:rPr lang="en-US" dirty="0"/>
              <a:t>Inspections are a formal process used to identify and correct errors in a completed deliverable, before the deliverable is used as input to a subsequent deliverable. For example, after inspection, the Requirements Definition is released for reference by the Functional Design Specification.</a:t>
            </a:r>
          </a:p>
        </p:txBody>
      </p:sp>
      <p:sp>
        <p:nvSpPr>
          <p:cNvPr id="4" name="Slide Number Placeholder 3">
            <a:extLst>
              <a:ext uri="{FF2B5EF4-FFF2-40B4-BE49-F238E27FC236}">
                <a16:creationId xmlns:a16="http://schemas.microsoft.com/office/drawing/2014/main" id="{D8F084A1-617E-49BA-8231-1C5609D5A10D}"/>
              </a:ext>
            </a:extLst>
          </p:cNvPr>
          <p:cNvSpPr>
            <a:spLocks noGrp="1"/>
          </p:cNvSpPr>
          <p:nvPr>
            <p:ph type="sldNum" sz="quarter" idx="12"/>
          </p:nvPr>
        </p:nvSpPr>
        <p:spPr/>
        <p:txBody>
          <a:bodyPr/>
          <a:lstStyle/>
          <a:p>
            <a:fld id="{255C45AA-988C-4610-8E25-9C545FF2A435}" type="slidenum">
              <a:rPr lang="en-US" smtClean="0"/>
              <a:t>12</a:t>
            </a:fld>
            <a:endParaRPr lang="en-US"/>
          </a:p>
        </p:txBody>
      </p:sp>
      <p:pic>
        <p:nvPicPr>
          <p:cNvPr id="6" name="Picture 5">
            <a:extLst>
              <a:ext uri="{FF2B5EF4-FFF2-40B4-BE49-F238E27FC236}">
                <a16:creationId xmlns:a16="http://schemas.microsoft.com/office/drawing/2014/main" id="{56E738E0-C604-419A-8B7E-9B5B835B34E5}"/>
              </a:ext>
            </a:extLst>
          </p:cNvPr>
          <p:cNvPicPr>
            <a:picLocks noChangeAspect="1"/>
          </p:cNvPicPr>
          <p:nvPr/>
        </p:nvPicPr>
        <p:blipFill>
          <a:blip r:embed="rId2"/>
          <a:stretch>
            <a:fillRect/>
          </a:stretch>
        </p:blipFill>
        <p:spPr>
          <a:xfrm>
            <a:off x="2886862" y="3592963"/>
            <a:ext cx="5852667" cy="1463167"/>
          </a:xfrm>
          <a:prstGeom prst="rect">
            <a:avLst/>
          </a:prstGeom>
        </p:spPr>
      </p:pic>
    </p:spTree>
    <p:extLst>
      <p:ext uri="{BB962C8B-B14F-4D97-AF65-F5344CB8AC3E}">
        <p14:creationId xmlns:p14="http://schemas.microsoft.com/office/powerpoint/2010/main" val="1529954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9D43C-C4DE-4270-BD9C-DAA3E5201A35}"/>
              </a:ext>
            </a:extLst>
          </p:cNvPr>
          <p:cNvSpPr>
            <a:spLocks noGrp="1"/>
          </p:cNvSpPr>
          <p:nvPr>
            <p:ph type="title"/>
          </p:nvPr>
        </p:nvSpPr>
        <p:spPr>
          <a:xfrm>
            <a:off x="1069848" y="186806"/>
            <a:ext cx="10058400" cy="1609344"/>
          </a:xfrm>
        </p:spPr>
        <p:txBody>
          <a:bodyPr/>
          <a:lstStyle/>
          <a:p>
            <a:r>
              <a:rPr lang="en-US" dirty="0"/>
              <a:t>Inspection Process</a:t>
            </a:r>
          </a:p>
        </p:txBody>
      </p:sp>
      <p:sp>
        <p:nvSpPr>
          <p:cNvPr id="3" name="Content Placeholder 2">
            <a:extLst>
              <a:ext uri="{FF2B5EF4-FFF2-40B4-BE49-F238E27FC236}">
                <a16:creationId xmlns:a16="http://schemas.microsoft.com/office/drawing/2014/main" id="{F3A027A7-6AE4-4800-B22D-90633F8E2F99}"/>
              </a:ext>
            </a:extLst>
          </p:cNvPr>
          <p:cNvSpPr>
            <a:spLocks noGrp="1"/>
          </p:cNvSpPr>
          <p:nvPr>
            <p:ph idx="1"/>
          </p:nvPr>
        </p:nvSpPr>
        <p:spPr>
          <a:xfrm>
            <a:off x="1069848" y="3268524"/>
            <a:ext cx="10346012" cy="3301958"/>
          </a:xfrm>
        </p:spPr>
        <p:txBody>
          <a:bodyPr>
            <a:normAutofit fontScale="62500" lnSpcReduction="20000"/>
          </a:bodyPr>
          <a:lstStyle/>
          <a:p>
            <a:pPr>
              <a:lnSpc>
                <a:spcPct val="120000"/>
              </a:lnSpc>
            </a:pPr>
            <a:r>
              <a:rPr lang="en-US" b="1" dirty="0"/>
              <a:t>Planning:</a:t>
            </a:r>
            <a:r>
              <a:rPr lang="en-US" dirty="0"/>
              <a:t> The inspection is planned by the moderator which involves </a:t>
            </a:r>
            <a:r>
              <a:rPr lang="en-US" b="1" dirty="0"/>
              <a:t>selecting an inspection team, organizing a meeting room and ensuring that the material to be inspected and its specifications are complete</a:t>
            </a:r>
            <a:r>
              <a:rPr lang="en-US" dirty="0"/>
              <a:t>. </a:t>
            </a:r>
          </a:p>
          <a:p>
            <a:pPr>
              <a:lnSpc>
                <a:spcPct val="120000"/>
              </a:lnSpc>
            </a:pPr>
            <a:r>
              <a:rPr lang="en-US" b="1" dirty="0"/>
              <a:t>Overview:</a:t>
            </a:r>
            <a:r>
              <a:rPr lang="en-US" dirty="0"/>
              <a:t> In this step, the </a:t>
            </a:r>
            <a:r>
              <a:rPr lang="en-US" b="1" dirty="0"/>
              <a:t>software and documents to be inspected</a:t>
            </a:r>
            <a:r>
              <a:rPr lang="en-US" dirty="0"/>
              <a:t> are presented to the inspection team where author of the code describes the background of the work product. </a:t>
            </a:r>
          </a:p>
          <a:p>
            <a:pPr>
              <a:lnSpc>
                <a:spcPct val="120000"/>
              </a:lnSpc>
            </a:pPr>
            <a:r>
              <a:rPr lang="en-US" b="1" dirty="0"/>
              <a:t>Individual Preparation:</a:t>
            </a:r>
            <a:r>
              <a:rPr lang="en-US" dirty="0"/>
              <a:t> In this stage, each inspection team member studies the specification and the program and looks for the defects and identifies possible defects. </a:t>
            </a:r>
            <a:endParaRPr lang="en-US" b="1" dirty="0"/>
          </a:p>
          <a:p>
            <a:pPr>
              <a:lnSpc>
                <a:spcPct val="120000"/>
              </a:lnSpc>
            </a:pPr>
            <a:r>
              <a:rPr lang="en-US" b="1" dirty="0"/>
              <a:t>Inspection Meeting:</a:t>
            </a:r>
            <a:r>
              <a:rPr lang="en-US" dirty="0"/>
              <a:t> During this meeting, the readers read through the work product part by part and inspectors point out defects for every part. Inspection meeting should be fairly short no more than two hours and should be focused on defect detection.</a:t>
            </a:r>
          </a:p>
          <a:p>
            <a:pPr>
              <a:lnSpc>
                <a:spcPct val="120000"/>
              </a:lnSpc>
            </a:pPr>
            <a:r>
              <a:rPr lang="en-US" b="1" dirty="0"/>
              <a:t>Rework:</a:t>
            </a:r>
            <a:r>
              <a:rPr lang="en-US" dirty="0"/>
              <a:t> In this stage, the author makes changes to work product according to the action plan from the inspection meeting. </a:t>
            </a:r>
          </a:p>
          <a:p>
            <a:pPr>
              <a:lnSpc>
                <a:spcPct val="120000"/>
              </a:lnSpc>
            </a:pPr>
            <a:r>
              <a:rPr lang="en-US" b="1" dirty="0"/>
              <a:t>Follow up:</a:t>
            </a:r>
            <a:r>
              <a:rPr lang="en-US" dirty="0"/>
              <a:t> In this step, the changes made by the author are checked to make sure that everything correct. The moderator should decide whether reinspection of the code and document is required. If not the software is then approved by moderator for release.</a:t>
            </a:r>
          </a:p>
        </p:txBody>
      </p:sp>
      <p:sp>
        <p:nvSpPr>
          <p:cNvPr id="4" name="Slide Number Placeholder 3">
            <a:extLst>
              <a:ext uri="{FF2B5EF4-FFF2-40B4-BE49-F238E27FC236}">
                <a16:creationId xmlns:a16="http://schemas.microsoft.com/office/drawing/2014/main" id="{D8F084A1-617E-49BA-8231-1C5609D5A10D}"/>
              </a:ext>
            </a:extLst>
          </p:cNvPr>
          <p:cNvSpPr>
            <a:spLocks noGrp="1"/>
          </p:cNvSpPr>
          <p:nvPr>
            <p:ph type="sldNum" sz="quarter" idx="12"/>
          </p:nvPr>
        </p:nvSpPr>
        <p:spPr/>
        <p:txBody>
          <a:bodyPr/>
          <a:lstStyle/>
          <a:p>
            <a:fld id="{255C45AA-988C-4610-8E25-9C545FF2A435}" type="slidenum">
              <a:rPr lang="en-US" smtClean="0"/>
              <a:t>13</a:t>
            </a:fld>
            <a:endParaRPr lang="en-US"/>
          </a:p>
        </p:txBody>
      </p:sp>
      <p:pic>
        <p:nvPicPr>
          <p:cNvPr id="6" name="Picture 5">
            <a:extLst>
              <a:ext uri="{FF2B5EF4-FFF2-40B4-BE49-F238E27FC236}">
                <a16:creationId xmlns:a16="http://schemas.microsoft.com/office/drawing/2014/main" id="{56E738E0-C604-419A-8B7E-9B5B835B34E5}"/>
              </a:ext>
            </a:extLst>
          </p:cNvPr>
          <p:cNvPicPr>
            <a:picLocks noChangeAspect="1"/>
          </p:cNvPicPr>
          <p:nvPr/>
        </p:nvPicPr>
        <p:blipFill>
          <a:blip r:embed="rId2"/>
          <a:stretch>
            <a:fillRect/>
          </a:stretch>
        </p:blipFill>
        <p:spPr>
          <a:xfrm>
            <a:off x="1340866" y="1423447"/>
            <a:ext cx="9141740" cy="1873358"/>
          </a:xfrm>
          <a:prstGeom prst="rect">
            <a:avLst/>
          </a:prstGeom>
        </p:spPr>
      </p:pic>
    </p:spTree>
    <p:extLst>
      <p:ext uri="{BB962C8B-B14F-4D97-AF65-F5344CB8AC3E}">
        <p14:creationId xmlns:p14="http://schemas.microsoft.com/office/powerpoint/2010/main" val="2305819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 Development testing</a:t>
            </a:r>
          </a:p>
        </p:txBody>
      </p:sp>
      <p:sp>
        <p:nvSpPr>
          <p:cNvPr id="3" name="Content Placeholder 2"/>
          <p:cNvSpPr>
            <a:spLocks noGrp="1"/>
          </p:cNvSpPr>
          <p:nvPr>
            <p:ph idx="1"/>
          </p:nvPr>
        </p:nvSpPr>
        <p:spPr/>
        <p:txBody>
          <a:bodyPr>
            <a:normAutofit/>
          </a:bodyPr>
          <a:lstStyle/>
          <a:p>
            <a:pPr algn="just"/>
            <a:r>
              <a:rPr lang="en-US" dirty="0"/>
              <a:t>Development testing is the process of testing software during the development phase, which helps to identify defects early in the development lifecycle. It involves a variety of testing techniques, such as </a:t>
            </a:r>
            <a:r>
              <a:rPr lang="en-US" b="1" dirty="0"/>
              <a:t>unit testing, integration testing and system testing.</a:t>
            </a:r>
          </a:p>
          <a:p>
            <a:pPr algn="just"/>
            <a:r>
              <a:rPr lang="en-US" dirty="0"/>
              <a:t>Development testing helps to ensure that software is of high quality and is reliable, efficient, and secure. It also helps to reduce the risk of defects and issues that may arise later in the software development process, which can be more costly and time-consuming to fix. By conducting thorough development testing, developers can identify and fix defects early in the development process, which helps to save time and resources in the long run.</a:t>
            </a:r>
          </a:p>
          <a:p>
            <a:pPr algn="just"/>
            <a:endParaRPr lang="en-US" dirty="0"/>
          </a:p>
        </p:txBody>
      </p:sp>
    </p:spTree>
    <p:extLst>
      <p:ext uri="{BB962C8B-B14F-4D97-AF65-F5344CB8AC3E}">
        <p14:creationId xmlns:p14="http://schemas.microsoft.com/office/powerpoint/2010/main" val="943048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4.1 Unit testing </a:t>
            </a:r>
          </a:p>
        </p:txBody>
      </p:sp>
      <p:sp>
        <p:nvSpPr>
          <p:cNvPr id="3" name="Content Placeholder 2"/>
          <p:cNvSpPr>
            <a:spLocks noGrp="1"/>
          </p:cNvSpPr>
          <p:nvPr>
            <p:ph idx="1"/>
          </p:nvPr>
        </p:nvSpPr>
        <p:spPr/>
        <p:txBody>
          <a:bodyPr>
            <a:normAutofit/>
          </a:bodyPr>
          <a:lstStyle/>
          <a:p>
            <a:pPr algn="just"/>
            <a:r>
              <a:rPr lang="en-US" dirty="0"/>
              <a:t>Unit testing is a type of testing that is performed on individual units or components of a software application. The purpose of unit testing is to validate that each unit of code works as intended and meets the specified requirements. It is typically performed by developers themselves or by an automated testing tool.</a:t>
            </a:r>
          </a:p>
          <a:p>
            <a:pPr algn="just"/>
            <a:r>
              <a:rPr lang="en-US" dirty="0"/>
              <a:t>During unit testing, developers write test cases to validate the behavior of individual functions or methods within a software component. The test cases are designed to exercise the code with different input values and verify that the output is correct. This helps to catch defects early in the development cycle and provides developers with fast feedback on the quality of their code.</a:t>
            </a:r>
          </a:p>
        </p:txBody>
      </p:sp>
    </p:spTree>
    <p:extLst>
      <p:ext uri="{BB962C8B-B14F-4D97-AF65-F5344CB8AC3E}">
        <p14:creationId xmlns:p14="http://schemas.microsoft.com/office/powerpoint/2010/main" val="1132057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4.1 Unit Testing</a:t>
            </a:r>
          </a:p>
        </p:txBody>
      </p:sp>
      <p:pic>
        <p:nvPicPr>
          <p:cNvPr id="4" name="Content Placeholder 3"/>
          <p:cNvPicPr>
            <a:picLocks noGrp="1" noChangeAspect="1"/>
          </p:cNvPicPr>
          <p:nvPr>
            <p:ph idx="1"/>
          </p:nvPr>
        </p:nvPicPr>
        <p:blipFill>
          <a:blip r:embed="rId2"/>
          <a:stretch>
            <a:fillRect/>
          </a:stretch>
        </p:blipFill>
        <p:spPr>
          <a:xfrm>
            <a:off x="3154869" y="1825625"/>
            <a:ext cx="5882262" cy="4351338"/>
          </a:xfrm>
          <a:prstGeom prst="rect">
            <a:avLst/>
          </a:prstGeom>
        </p:spPr>
      </p:pic>
    </p:spTree>
    <p:extLst>
      <p:ext uri="{BB962C8B-B14F-4D97-AF65-F5344CB8AC3E}">
        <p14:creationId xmlns:p14="http://schemas.microsoft.com/office/powerpoint/2010/main" val="421202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4.2 Integration testing </a:t>
            </a:r>
          </a:p>
        </p:txBody>
      </p:sp>
      <p:sp>
        <p:nvSpPr>
          <p:cNvPr id="3" name="Content Placeholder 2"/>
          <p:cNvSpPr>
            <a:spLocks noGrp="1"/>
          </p:cNvSpPr>
          <p:nvPr>
            <p:ph idx="1"/>
          </p:nvPr>
        </p:nvSpPr>
        <p:spPr>
          <a:xfrm>
            <a:off x="838200" y="1825625"/>
            <a:ext cx="6976621" cy="4351338"/>
          </a:xfrm>
        </p:spPr>
        <p:txBody>
          <a:bodyPr>
            <a:normAutofit/>
          </a:bodyPr>
          <a:lstStyle/>
          <a:p>
            <a:pPr algn="just"/>
            <a:r>
              <a:rPr lang="en-US" dirty="0"/>
              <a:t>Integration testing is a type of testing that is performed to verify the interaction between different components or modules of a software system. The purpose of integration testing is to detect defects that may arise from the integration of different software components, such as interfaces, data flow, and communication.</a:t>
            </a:r>
          </a:p>
          <a:p>
            <a:pPr algn="just"/>
            <a:r>
              <a:rPr lang="en-US" dirty="0"/>
              <a:t>Integration testing is typically performed after unit testing and before system testing. During integration testing, the individual software components are combined and tested as a group. This helps to identify defects that may arise from the integration of the individual components and to ensure that the system functions as intended.</a:t>
            </a:r>
          </a:p>
        </p:txBody>
      </p:sp>
      <p:pic>
        <p:nvPicPr>
          <p:cNvPr id="1026" name="Picture 2" descr="Integration Testing: 4 Reasons Why You Should Use 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2744" y="2492686"/>
            <a:ext cx="3842439" cy="2418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932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4.2 Different approaches of Integration testing</a:t>
            </a:r>
          </a:p>
        </p:txBody>
      </p:sp>
      <p:pic>
        <p:nvPicPr>
          <p:cNvPr id="4" name="Content Placeholder 3"/>
          <p:cNvPicPr>
            <a:picLocks noGrp="1" noChangeAspect="1"/>
          </p:cNvPicPr>
          <p:nvPr>
            <p:ph idx="1"/>
          </p:nvPr>
        </p:nvPicPr>
        <p:blipFill>
          <a:blip r:embed="rId2"/>
          <a:stretch>
            <a:fillRect/>
          </a:stretch>
        </p:blipFill>
        <p:spPr>
          <a:xfrm>
            <a:off x="1913467" y="2027312"/>
            <a:ext cx="8831881" cy="4156671"/>
          </a:xfrm>
          <a:prstGeom prst="rect">
            <a:avLst/>
          </a:prstGeom>
        </p:spPr>
      </p:pic>
    </p:spTree>
    <p:extLst>
      <p:ext uri="{BB962C8B-B14F-4D97-AF65-F5344CB8AC3E}">
        <p14:creationId xmlns:p14="http://schemas.microsoft.com/office/powerpoint/2010/main" val="2773145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4.2.1 Big Bang Integration testing</a:t>
            </a:r>
          </a:p>
        </p:txBody>
      </p:sp>
      <p:sp>
        <p:nvSpPr>
          <p:cNvPr id="3" name="Content Placeholder 2"/>
          <p:cNvSpPr>
            <a:spLocks noGrp="1"/>
          </p:cNvSpPr>
          <p:nvPr>
            <p:ph idx="1"/>
          </p:nvPr>
        </p:nvSpPr>
        <p:spPr/>
        <p:txBody>
          <a:bodyPr/>
          <a:lstStyle/>
          <a:p>
            <a:pPr algn="just"/>
            <a:r>
              <a:rPr lang="en-US" dirty="0"/>
              <a:t>Use this approach when all the components or modules of the application are readily available.</a:t>
            </a:r>
          </a:p>
          <a:p>
            <a:pPr algn="just"/>
            <a:r>
              <a:rPr lang="en-US" dirty="0"/>
              <a:t>Once the module development is finished, they are integrated and tested together in one go. Due to the sheer volume of this type of testing, it is generally suitable for testing compact applications.</a:t>
            </a:r>
          </a:p>
        </p:txBody>
      </p:sp>
      <p:pic>
        <p:nvPicPr>
          <p:cNvPr id="4098" name="Picture 2" descr="Big Bang Integration Testing - GeeksforGeek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4211" y="4094272"/>
            <a:ext cx="5267667" cy="26364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97698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4.2.2 Incremental Integration Testing </a:t>
            </a:r>
          </a:p>
        </p:txBody>
      </p:sp>
      <p:sp>
        <p:nvSpPr>
          <p:cNvPr id="3" name="Content Placeholder 2"/>
          <p:cNvSpPr>
            <a:spLocks noGrp="1"/>
          </p:cNvSpPr>
          <p:nvPr>
            <p:ph idx="1"/>
          </p:nvPr>
        </p:nvSpPr>
        <p:spPr/>
        <p:txBody>
          <a:bodyPr>
            <a:normAutofit/>
          </a:bodyPr>
          <a:lstStyle/>
          <a:p>
            <a:pPr algn="just"/>
            <a:r>
              <a:rPr lang="en-US" dirty="0"/>
              <a:t>Incremental Integration Testing is a type of integration testing approach in which software components or modules are combined and tested in a gradual manner, from simple to complex. This approach allows for testing of smaller and more manageable units of code, which are combined and tested as a group to ensure that they work together as intended.</a:t>
            </a:r>
          </a:p>
          <a:p>
            <a:pPr algn="just"/>
            <a:r>
              <a:rPr lang="en-US" dirty="0"/>
              <a:t>In incremental integration testing, the system is built and tested incrementally, with each iteration integrating more components until the entire system is tested. This approach can be performed in several ways, including top-down, bottom-up, and a Sandwich (combination of both) testing.</a:t>
            </a:r>
          </a:p>
        </p:txBody>
      </p:sp>
    </p:spTree>
    <p:extLst>
      <p:ext uri="{BB962C8B-B14F-4D97-AF65-F5344CB8AC3E}">
        <p14:creationId xmlns:p14="http://schemas.microsoft.com/office/powerpoint/2010/main" val="3937554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4.2.2 Incremental Integration Testing </a:t>
            </a:r>
            <a:endParaRPr lang="en-US" dirty="0"/>
          </a:p>
        </p:txBody>
      </p:sp>
      <p:sp>
        <p:nvSpPr>
          <p:cNvPr id="3" name="Content Placeholder 2"/>
          <p:cNvSpPr>
            <a:spLocks noGrp="1"/>
          </p:cNvSpPr>
          <p:nvPr>
            <p:ph idx="1"/>
          </p:nvPr>
        </p:nvSpPr>
        <p:spPr/>
        <p:txBody>
          <a:bodyPr>
            <a:normAutofit/>
          </a:bodyPr>
          <a:lstStyle/>
          <a:p>
            <a:pPr algn="just"/>
            <a:r>
              <a:rPr lang="en-US" dirty="0"/>
              <a:t>In </a:t>
            </a:r>
            <a:r>
              <a:rPr lang="en-US" b="1" dirty="0"/>
              <a:t>top-down incremental integration testing</a:t>
            </a:r>
            <a:r>
              <a:rPr lang="en-US" dirty="0"/>
              <a:t>, the high-level components or modules are tested first, and then the lower-level components are integrated and tested. This approach allows for testing of the overall system structure and functionality early in the development cycle.</a:t>
            </a:r>
          </a:p>
          <a:p>
            <a:pPr algn="just"/>
            <a:r>
              <a:rPr lang="en-US" dirty="0"/>
              <a:t>In </a:t>
            </a:r>
            <a:r>
              <a:rPr lang="en-US" b="1" dirty="0"/>
              <a:t>bottom-up incremental integration testing</a:t>
            </a:r>
            <a:r>
              <a:rPr lang="en-US" dirty="0"/>
              <a:t>, the low-level components are tested first, and then the higher-level components are integrated and tested. This approach allows for testing of individual components and their functionality before they are combined with other components.</a:t>
            </a:r>
          </a:p>
          <a:p>
            <a:pPr algn="just"/>
            <a:r>
              <a:rPr lang="en-US" dirty="0"/>
              <a:t>Finally, the </a:t>
            </a:r>
            <a:r>
              <a:rPr lang="en-US" b="1" dirty="0"/>
              <a:t>combination approach </a:t>
            </a:r>
            <a:r>
              <a:rPr lang="en-US" dirty="0"/>
              <a:t>is a hybrid of both top-down and bottom-up testing. In this approach, the testing team selects a set of related components to integrate and test together.</a:t>
            </a:r>
          </a:p>
        </p:txBody>
      </p:sp>
    </p:spTree>
    <p:extLst>
      <p:ext uri="{BB962C8B-B14F-4D97-AF65-F5344CB8AC3E}">
        <p14:creationId xmlns:p14="http://schemas.microsoft.com/office/powerpoint/2010/main" val="102665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944990" y="1766103"/>
            <a:ext cx="5151010" cy="2409972"/>
          </a:xfrm>
          <a:prstGeom prst="rect">
            <a:avLst/>
          </a:prstGeom>
        </p:spPr>
      </p:pic>
      <p:pic>
        <p:nvPicPr>
          <p:cNvPr id="5" name="Picture 4"/>
          <p:cNvPicPr>
            <a:picLocks noChangeAspect="1"/>
          </p:cNvPicPr>
          <p:nvPr/>
        </p:nvPicPr>
        <p:blipFill>
          <a:blip r:embed="rId3"/>
          <a:stretch>
            <a:fillRect/>
          </a:stretch>
        </p:blipFill>
        <p:spPr>
          <a:xfrm>
            <a:off x="5679703" y="4176075"/>
            <a:ext cx="5674097" cy="2546138"/>
          </a:xfrm>
          <a:prstGeom prst="rect">
            <a:avLst/>
          </a:prstGeom>
        </p:spPr>
      </p:pic>
    </p:spTree>
    <p:extLst>
      <p:ext uri="{BB962C8B-B14F-4D97-AF65-F5344CB8AC3E}">
        <p14:creationId xmlns:p14="http://schemas.microsoft.com/office/powerpoint/2010/main" val="13998311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4.3 System testing </a:t>
            </a:r>
          </a:p>
        </p:txBody>
      </p:sp>
      <p:sp>
        <p:nvSpPr>
          <p:cNvPr id="3" name="Content Placeholder 2"/>
          <p:cNvSpPr>
            <a:spLocks noGrp="1"/>
          </p:cNvSpPr>
          <p:nvPr>
            <p:ph idx="1"/>
          </p:nvPr>
        </p:nvSpPr>
        <p:spPr/>
        <p:txBody>
          <a:bodyPr>
            <a:normAutofit/>
          </a:bodyPr>
          <a:lstStyle/>
          <a:p>
            <a:pPr algn="just"/>
            <a:r>
              <a:rPr lang="en-US" dirty="0"/>
              <a:t>System testing is a type of software testing that evaluates the entire software system as a whole to verify that it meets the specified requirements and performs as expected. The objective of system testing is to identify defects, errors, and other issues that could impact the functionality, reliability, and usability of the software system.</a:t>
            </a:r>
          </a:p>
          <a:p>
            <a:pPr algn="just"/>
            <a:r>
              <a:rPr lang="en-US" dirty="0"/>
              <a:t>System testing involves testing the entire system, including all hardware and software components, to ensure that they work together as intended. This testing can include functional testing, performance testing, security testing, usability testing, and other types of testing, depending on the requirements of the software system.</a:t>
            </a:r>
          </a:p>
        </p:txBody>
      </p:sp>
    </p:spTree>
    <p:extLst>
      <p:ext uri="{BB962C8B-B14F-4D97-AF65-F5344CB8AC3E}">
        <p14:creationId xmlns:p14="http://schemas.microsoft.com/office/powerpoint/2010/main" val="298865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4.3 System testing </a:t>
            </a:r>
          </a:p>
        </p:txBody>
      </p:sp>
      <p:pic>
        <p:nvPicPr>
          <p:cNvPr id="2050" name="Picture 2" descr="What is System Testing - A Ultimate Beginner's Guid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18058" y="2239709"/>
            <a:ext cx="9704179" cy="3218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96099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Regression Testing</a:t>
            </a:r>
          </a:p>
        </p:txBody>
      </p:sp>
      <p:sp>
        <p:nvSpPr>
          <p:cNvPr id="3" name="Content Placeholder 2"/>
          <p:cNvSpPr>
            <a:spLocks noGrp="1"/>
          </p:cNvSpPr>
          <p:nvPr>
            <p:ph idx="1"/>
          </p:nvPr>
        </p:nvSpPr>
        <p:spPr/>
        <p:txBody>
          <a:bodyPr>
            <a:normAutofit/>
          </a:bodyPr>
          <a:lstStyle/>
          <a:p>
            <a:pPr algn="just"/>
            <a:r>
              <a:rPr lang="en-US" dirty="0"/>
              <a:t>Regression testing is a software testing technique that involves retesting previously tested software features after modifications or changes have been made to the software. The main objective of regression testing is to ensure that the software still functions correctly after the changes have been made.</a:t>
            </a:r>
          </a:p>
          <a:p>
            <a:pPr algn="just"/>
            <a:r>
              <a:rPr lang="en-US" dirty="0"/>
              <a:t>Regression testing is typically performed when changes are made to the software code, such as bug fixes, feature enhancements, or updates to external libraries or APIs. This testing is important because it ensures that the changes made to the software have not caused any unintended side effects or introduced new bugs that were not present before.</a:t>
            </a:r>
          </a:p>
        </p:txBody>
      </p:sp>
    </p:spTree>
    <p:extLst>
      <p:ext uri="{BB962C8B-B14F-4D97-AF65-F5344CB8AC3E}">
        <p14:creationId xmlns:p14="http://schemas.microsoft.com/office/powerpoint/2010/main" val="34748267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3074" name="Picture 2" descr="System Testing - javatpoi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79941" y="1921594"/>
            <a:ext cx="8170690" cy="4524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16371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r>
              <a:rPr lang="en-US" dirty="0"/>
              <a:t>What is System testing? Differentiate between Verification and Validation.</a:t>
            </a:r>
          </a:p>
          <a:p>
            <a:r>
              <a:rPr lang="en-US" dirty="0"/>
              <a:t>Explain Black Box testing and White Box testing.</a:t>
            </a:r>
          </a:p>
          <a:p>
            <a:pPr algn="just"/>
            <a:r>
              <a:rPr lang="en-US" dirty="0"/>
              <a:t>What is Development testing? What are the variety of testing techniques in development testing? Explain with proper example.</a:t>
            </a:r>
          </a:p>
        </p:txBody>
      </p:sp>
    </p:spTree>
    <p:extLst>
      <p:ext uri="{BB962C8B-B14F-4D97-AF65-F5344CB8AC3E}">
        <p14:creationId xmlns:p14="http://schemas.microsoft.com/office/powerpoint/2010/main" val="10156663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 Release testing</a:t>
            </a:r>
          </a:p>
        </p:txBody>
      </p:sp>
      <p:sp>
        <p:nvSpPr>
          <p:cNvPr id="3" name="Content Placeholder 2"/>
          <p:cNvSpPr>
            <a:spLocks noGrp="1"/>
          </p:cNvSpPr>
          <p:nvPr>
            <p:ph idx="1"/>
          </p:nvPr>
        </p:nvSpPr>
        <p:spPr/>
        <p:txBody>
          <a:bodyPr>
            <a:normAutofit/>
          </a:bodyPr>
          <a:lstStyle/>
          <a:p>
            <a:pPr algn="just"/>
            <a:r>
              <a:rPr lang="en-US" dirty="0"/>
              <a:t>Release testing is the process of testing a particular release of a system that is intended for use outside of the development team. Normally, the system release is for customers and users. </a:t>
            </a:r>
          </a:p>
          <a:p>
            <a:pPr algn="just"/>
            <a:r>
              <a:rPr lang="en-US" dirty="0"/>
              <a:t>The primary goal of the release testing process is to convince the supplier of the system that it is good enough for use. If so, it can be released as a product or delivered to the customer. Release testing, therefore, has to show that the system delivers its specified functionality, performance, and dependability, and that it does not fail during normal use.</a:t>
            </a:r>
          </a:p>
          <a:p>
            <a:pPr algn="just"/>
            <a:r>
              <a:rPr lang="en-US" dirty="0"/>
              <a:t>Release testing is usually a </a:t>
            </a:r>
            <a:r>
              <a:rPr lang="en-US" b="1" dirty="0"/>
              <a:t>black-box testing </a:t>
            </a:r>
            <a:r>
              <a:rPr lang="en-US" dirty="0"/>
              <a:t>process whereby tests are derived from the system specification. The system is treated as a black box whose behavior can only be determined by studying its inputs and the related outputs</a:t>
            </a:r>
          </a:p>
        </p:txBody>
      </p:sp>
    </p:spTree>
    <p:extLst>
      <p:ext uri="{BB962C8B-B14F-4D97-AF65-F5344CB8AC3E}">
        <p14:creationId xmlns:p14="http://schemas.microsoft.com/office/powerpoint/2010/main" val="23974937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5.1 Requirements-based testing</a:t>
            </a:r>
          </a:p>
        </p:txBody>
      </p:sp>
      <p:sp>
        <p:nvSpPr>
          <p:cNvPr id="3" name="Content Placeholder 2"/>
          <p:cNvSpPr>
            <a:spLocks noGrp="1"/>
          </p:cNvSpPr>
          <p:nvPr>
            <p:ph idx="1"/>
          </p:nvPr>
        </p:nvSpPr>
        <p:spPr/>
        <p:txBody>
          <a:bodyPr>
            <a:normAutofit/>
          </a:bodyPr>
          <a:lstStyle/>
          <a:p>
            <a:pPr algn="just"/>
            <a:r>
              <a:rPr lang="en-US" dirty="0"/>
              <a:t>A general principle of good requirements engineering practice is that requirements should be testable. That is, the requirement should be written so that a test can be designed for that requirement. A tester can then check that the requirement has been satisfied. Requirements-based testing, therefore, is a systematic approach to test-case design where you consider each requirement and derive a set of tests for it.</a:t>
            </a:r>
          </a:p>
          <a:p>
            <a:pPr algn="just"/>
            <a:r>
              <a:rPr lang="en-US" dirty="0"/>
              <a:t>For example, consider the following </a:t>
            </a:r>
            <a:r>
              <a:rPr lang="en-US" dirty="0" err="1"/>
              <a:t>Mentcare</a:t>
            </a:r>
            <a:r>
              <a:rPr lang="en-US" dirty="0"/>
              <a:t> system requirements that are concerned with checking for drug allergies:</a:t>
            </a:r>
          </a:p>
          <a:p>
            <a:pPr marL="0" indent="0" algn="just">
              <a:buNone/>
            </a:pPr>
            <a:r>
              <a:rPr lang="en-US" i="1" dirty="0"/>
              <a:t>If a patient is known to be allergic to any particular medication, then prescription of that medication shall result in a warning message being issued to the system user. If a prescriber chooses to ignore an allergy warning, he or she shall provide a reason why this has been ignored.</a:t>
            </a:r>
          </a:p>
        </p:txBody>
      </p:sp>
    </p:spTree>
    <p:extLst>
      <p:ext uri="{BB962C8B-B14F-4D97-AF65-F5344CB8AC3E}">
        <p14:creationId xmlns:p14="http://schemas.microsoft.com/office/powerpoint/2010/main" val="1969684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5.1 Requirements-based testing</a:t>
            </a:r>
            <a:endParaRPr lang="en-US" dirty="0"/>
          </a:p>
        </p:txBody>
      </p:sp>
      <p:sp>
        <p:nvSpPr>
          <p:cNvPr id="3" name="Content Placeholder 2"/>
          <p:cNvSpPr>
            <a:spLocks noGrp="1"/>
          </p:cNvSpPr>
          <p:nvPr>
            <p:ph idx="1"/>
          </p:nvPr>
        </p:nvSpPr>
        <p:spPr>
          <a:xfrm>
            <a:off x="838199" y="1825625"/>
            <a:ext cx="10662501" cy="4886260"/>
          </a:xfrm>
        </p:spPr>
        <p:txBody>
          <a:bodyPr>
            <a:normAutofit fontScale="92500" lnSpcReduction="20000"/>
          </a:bodyPr>
          <a:lstStyle/>
          <a:p>
            <a:pPr marL="0" indent="0" algn="just">
              <a:buNone/>
            </a:pPr>
            <a:r>
              <a:rPr lang="en-US" dirty="0"/>
              <a:t>To check if these requirements have been satisfied, you may need to develop several related tests:</a:t>
            </a:r>
          </a:p>
          <a:p>
            <a:pPr marL="0" indent="0" algn="just">
              <a:lnSpc>
                <a:spcPct val="110000"/>
              </a:lnSpc>
              <a:buNone/>
            </a:pPr>
            <a:r>
              <a:rPr lang="en-US" dirty="0"/>
              <a:t> 1. Set up a patient record with no known allergies. Prescribe medication for allergies that are known to exist. Check that a warning message is not issued by the system. </a:t>
            </a:r>
          </a:p>
          <a:p>
            <a:pPr marL="0" indent="0" algn="just">
              <a:lnSpc>
                <a:spcPct val="110000"/>
              </a:lnSpc>
              <a:buNone/>
            </a:pPr>
            <a:r>
              <a:rPr lang="en-US" dirty="0"/>
              <a:t>2. Set up a patient record with a known allergy. Prescribe the medication that the patient is allergic to and check that the warning is issued by the system.</a:t>
            </a:r>
          </a:p>
          <a:p>
            <a:pPr marL="0" indent="0" algn="just">
              <a:lnSpc>
                <a:spcPct val="110000"/>
              </a:lnSpc>
              <a:buNone/>
            </a:pPr>
            <a:r>
              <a:rPr lang="en-US" dirty="0"/>
              <a:t> 3. Set up a patient record in which allergies to two or more drugs are recorded. Prescribe both of these drugs separately and check that the correct warning for each drug is issued. </a:t>
            </a:r>
          </a:p>
          <a:p>
            <a:pPr marL="0" indent="0" algn="just">
              <a:lnSpc>
                <a:spcPct val="110000"/>
              </a:lnSpc>
              <a:buNone/>
            </a:pPr>
            <a:r>
              <a:rPr lang="en-US" dirty="0"/>
              <a:t>4. Prescribe two drugs that the patient is allergic to. Check that two warnings are correctly issued. </a:t>
            </a:r>
          </a:p>
          <a:p>
            <a:pPr marL="0" indent="0" algn="just">
              <a:lnSpc>
                <a:spcPct val="110000"/>
              </a:lnSpc>
              <a:buNone/>
            </a:pPr>
            <a:r>
              <a:rPr lang="en-US" dirty="0"/>
              <a:t>5. Prescribe a drug that issues a warning and overrule that warning. Check that the system requires the user to provide information explaining why the warning was overruled.</a:t>
            </a:r>
          </a:p>
          <a:p>
            <a:pPr marL="0" indent="0" algn="just">
              <a:lnSpc>
                <a:spcPct val="110000"/>
              </a:lnSpc>
              <a:buNone/>
            </a:pPr>
            <a:r>
              <a:rPr lang="en-US" i="1" dirty="0"/>
              <a:t> You can see from this list that testing a requirement does not mean just writing a single test. You normally have to write several tests to ensure that you have coverage of the requirement. You should also keep traceability records of your requirements based testing, which link the tests to the specific requirements that you have tested.</a:t>
            </a:r>
          </a:p>
        </p:txBody>
      </p:sp>
    </p:spTree>
    <p:extLst>
      <p:ext uri="{BB962C8B-B14F-4D97-AF65-F5344CB8AC3E}">
        <p14:creationId xmlns:p14="http://schemas.microsoft.com/office/powerpoint/2010/main" val="639857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5.2  Scenario testing</a:t>
            </a:r>
          </a:p>
        </p:txBody>
      </p:sp>
      <p:sp>
        <p:nvSpPr>
          <p:cNvPr id="3" name="Content Placeholder 2"/>
          <p:cNvSpPr>
            <a:spLocks noGrp="1"/>
          </p:cNvSpPr>
          <p:nvPr>
            <p:ph idx="1"/>
          </p:nvPr>
        </p:nvSpPr>
        <p:spPr/>
        <p:txBody>
          <a:bodyPr>
            <a:normAutofit/>
          </a:bodyPr>
          <a:lstStyle/>
          <a:p>
            <a:pPr algn="just"/>
            <a:r>
              <a:rPr lang="en-US" dirty="0"/>
              <a:t>Scenario testing is an approach to release testing whereby you devise typical scenarios of use and use these scenarios to develop test cases for the system. A scenario is a story that describes one way in which the system might be used. </a:t>
            </a:r>
          </a:p>
          <a:p>
            <a:pPr algn="just"/>
            <a:r>
              <a:rPr lang="en-US" dirty="0"/>
              <a:t>Scenarios should be realistic, and real system users should be able to relate to them. If you have used scenarios or user stories as part of the requirements engineering process (described in Chapter 4), then you may be able to reuse them as testing scenarios. </a:t>
            </a:r>
          </a:p>
          <a:p>
            <a:pPr algn="just"/>
            <a:r>
              <a:rPr lang="en-US" dirty="0"/>
              <a:t>In a short paper on scenario testing, </a:t>
            </a:r>
            <a:r>
              <a:rPr lang="en-US" dirty="0" err="1"/>
              <a:t>Kaner</a:t>
            </a:r>
            <a:r>
              <a:rPr lang="en-US" dirty="0"/>
              <a:t> suggests that a scenario test should be a narrative story that is credible and fairly complex. It should motivate stakeholders; that is, they should relate to the scenario and believe that it is important that the system passes the test. He also suggests that it should be easy to evaluate. If there are problems with the system, then the release testing team should recognize them.</a:t>
            </a:r>
          </a:p>
        </p:txBody>
      </p:sp>
    </p:spTree>
    <p:extLst>
      <p:ext uri="{BB962C8B-B14F-4D97-AF65-F5344CB8AC3E}">
        <p14:creationId xmlns:p14="http://schemas.microsoft.com/office/powerpoint/2010/main" val="29089799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5.2  Scenario testing</a:t>
            </a:r>
            <a:endParaRPr lang="en-US" dirty="0"/>
          </a:p>
        </p:txBody>
      </p:sp>
      <p:pic>
        <p:nvPicPr>
          <p:cNvPr id="4" name="Content Placeholder 3"/>
          <p:cNvPicPr>
            <a:picLocks noGrp="1" noChangeAspect="1"/>
          </p:cNvPicPr>
          <p:nvPr>
            <p:ph idx="1"/>
          </p:nvPr>
        </p:nvPicPr>
        <p:blipFill>
          <a:blip r:embed="rId3"/>
          <a:stretch>
            <a:fillRect/>
          </a:stretch>
        </p:blipFill>
        <p:spPr>
          <a:xfrm>
            <a:off x="1485689" y="1809947"/>
            <a:ext cx="9666220" cy="4310870"/>
          </a:xfrm>
          <a:prstGeom prst="rect">
            <a:avLst/>
          </a:prstGeom>
        </p:spPr>
      </p:pic>
    </p:spTree>
    <p:extLst>
      <p:ext uri="{BB962C8B-B14F-4D97-AF65-F5344CB8AC3E}">
        <p14:creationId xmlns:p14="http://schemas.microsoft.com/office/powerpoint/2010/main" val="33853847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5.2  Scenario testing</a:t>
            </a:r>
            <a:endParaRPr lang="en-US" dirty="0"/>
          </a:p>
        </p:txBody>
      </p:sp>
      <p:sp>
        <p:nvSpPr>
          <p:cNvPr id="3" name="Content Placeholder 2"/>
          <p:cNvSpPr>
            <a:spLocks noGrp="1"/>
          </p:cNvSpPr>
          <p:nvPr>
            <p:ph idx="1"/>
          </p:nvPr>
        </p:nvSpPr>
        <p:spPr/>
        <p:txBody>
          <a:bodyPr>
            <a:normAutofit/>
          </a:bodyPr>
          <a:lstStyle/>
          <a:p>
            <a:pPr algn="just"/>
            <a:r>
              <a:rPr lang="en-US" dirty="0"/>
              <a:t>As an example of a possible scenario from the </a:t>
            </a:r>
            <a:r>
              <a:rPr lang="en-US" dirty="0" err="1"/>
              <a:t>Mentcare</a:t>
            </a:r>
            <a:r>
              <a:rPr lang="en-US" dirty="0"/>
              <a:t> system, Figure describes one way that the system may be used on a home visit. This scenario tests a number of features of the </a:t>
            </a:r>
            <a:r>
              <a:rPr lang="en-US" dirty="0" err="1"/>
              <a:t>Mentcare</a:t>
            </a:r>
            <a:r>
              <a:rPr lang="en-US" dirty="0"/>
              <a:t> system: </a:t>
            </a:r>
          </a:p>
          <a:p>
            <a:pPr marL="0" indent="0" algn="just">
              <a:buNone/>
            </a:pPr>
            <a:r>
              <a:rPr lang="en-US" dirty="0"/>
              <a:t>1. Authentication by logging on to the system. </a:t>
            </a:r>
          </a:p>
          <a:p>
            <a:pPr marL="0" indent="0" algn="just">
              <a:buNone/>
            </a:pPr>
            <a:r>
              <a:rPr lang="en-US" dirty="0"/>
              <a:t>2. Downloading and uploading of specified patient records to a laptop. </a:t>
            </a:r>
          </a:p>
          <a:p>
            <a:pPr marL="0" indent="0" algn="just">
              <a:buNone/>
            </a:pPr>
            <a:r>
              <a:rPr lang="en-US" dirty="0"/>
              <a:t>3. Home visit scheduling. </a:t>
            </a:r>
          </a:p>
          <a:p>
            <a:pPr marL="0" indent="0" algn="just">
              <a:buNone/>
            </a:pPr>
            <a:r>
              <a:rPr lang="en-US" dirty="0"/>
              <a:t>4. Encryption and decryption of patient records on a mobile device. </a:t>
            </a:r>
          </a:p>
          <a:p>
            <a:pPr marL="0" indent="0" algn="just">
              <a:buNone/>
            </a:pPr>
            <a:r>
              <a:rPr lang="en-US" dirty="0"/>
              <a:t>5. Record retrieval and modification. </a:t>
            </a:r>
          </a:p>
          <a:p>
            <a:pPr marL="0" indent="0" algn="just">
              <a:buNone/>
            </a:pPr>
            <a:r>
              <a:rPr lang="en-US" dirty="0"/>
              <a:t>6. Links with the drugs database that maintains side-effect information. </a:t>
            </a:r>
          </a:p>
          <a:p>
            <a:pPr marL="0" indent="0" algn="just">
              <a:buNone/>
            </a:pPr>
            <a:r>
              <a:rPr lang="en-US" dirty="0"/>
              <a:t>7. The system for call prompting.</a:t>
            </a:r>
          </a:p>
        </p:txBody>
      </p:sp>
    </p:spTree>
    <p:extLst>
      <p:ext uri="{BB962C8B-B14F-4D97-AF65-F5344CB8AC3E}">
        <p14:creationId xmlns:p14="http://schemas.microsoft.com/office/powerpoint/2010/main" val="7546487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5.3 Performance testing</a:t>
            </a:r>
          </a:p>
        </p:txBody>
      </p:sp>
      <p:sp>
        <p:nvSpPr>
          <p:cNvPr id="3" name="Content Placeholder 2"/>
          <p:cNvSpPr>
            <a:spLocks noGrp="1"/>
          </p:cNvSpPr>
          <p:nvPr>
            <p:ph idx="1"/>
          </p:nvPr>
        </p:nvSpPr>
        <p:spPr/>
        <p:txBody>
          <a:bodyPr>
            <a:normAutofit/>
          </a:bodyPr>
          <a:lstStyle/>
          <a:p>
            <a:pPr algn="just"/>
            <a:r>
              <a:rPr lang="en-US" dirty="0"/>
              <a:t>Once a system has been completely integrated, it is possible to test for emergent properties, such as performance and reliability. Performance tests have to be designed to ensure that the system can process its intended load. This usually involves running a series of tests where you increase the load until the system performance becomes unacceptable.</a:t>
            </a:r>
          </a:p>
          <a:p>
            <a:pPr algn="just"/>
            <a:r>
              <a:rPr lang="en-US" dirty="0"/>
              <a:t>This approach, of course, is not necessarily the best approach for defect testing. Experience has shown that an effective way to discover defects is to design tests around the limits of the system. In performance testing, this means stressing the system by making demands that are outside the design limits of the software. This is known as stress testing.</a:t>
            </a:r>
          </a:p>
          <a:p>
            <a:pPr algn="just"/>
            <a:endParaRPr lang="en-US" dirty="0"/>
          </a:p>
        </p:txBody>
      </p:sp>
    </p:spTree>
    <p:extLst>
      <p:ext uri="{BB962C8B-B14F-4D97-AF65-F5344CB8AC3E}">
        <p14:creationId xmlns:p14="http://schemas.microsoft.com/office/powerpoint/2010/main" val="842530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5.3 Performance testing</a:t>
            </a:r>
          </a:p>
        </p:txBody>
      </p:sp>
      <p:sp>
        <p:nvSpPr>
          <p:cNvPr id="3" name="Content Placeholder 2"/>
          <p:cNvSpPr>
            <a:spLocks noGrp="1"/>
          </p:cNvSpPr>
          <p:nvPr>
            <p:ph idx="1"/>
          </p:nvPr>
        </p:nvSpPr>
        <p:spPr/>
        <p:txBody>
          <a:bodyPr/>
          <a:lstStyle/>
          <a:p>
            <a:pPr algn="just"/>
            <a:r>
              <a:rPr lang="en-US" dirty="0"/>
              <a:t>Say you are testing a transaction processing system that is designed to process up to 300 transactions per second. You start by testing this system with fewer than 300 transactions per second. You then gradually increase the load on the system beyond 300 transactions per second until it is well beyond the maximum design load of the system and the system fails.</a:t>
            </a:r>
          </a:p>
        </p:txBody>
      </p:sp>
    </p:spTree>
    <p:extLst>
      <p:ext uri="{BB962C8B-B14F-4D97-AF65-F5344CB8AC3E}">
        <p14:creationId xmlns:p14="http://schemas.microsoft.com/office/powerpoint/2010/main" val="6439156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6. User Testing</a:t>
            </a:r>
          </a:p>
        </p:txBody>
      </p:sp>
      <p:sp>
        <p:nvSpPr>
          <p:cNvPr id="3" name="Content Placeholder 2"/>
          <p:cNvSpPr>
            <a:spLocks noGrp="1"/>
          </p:cNvSpPr>
          <p:nvPr>
            <p:ph idx="1"/>
          </p:nvPr>
        </p:nvSpPr>
        <p:spPr/>
        <p:txBody>
          <a:bodyPr>
            <a:normAutofit/>
          </a:bodyPr>
          <a:lstStyle/>
          <a:p>
            <a:pPr algn="just"/>
            <a:r>
              <a:rPr lang="en-US" dirty="0"/>
              <a:t>User or customer testing is a stage in the testing process in which users or customers provide input and advice on system testing. This may involve formally testing a system that has been commissioned from an external supplier.</a:t>
            </a:r>
          </a:p>
          <a:p>
            <a:pPr algn="just"/>
            <a:r>
              <a:rPr lang="en-US" dirty="0"/>
              <a:t> Alternatively, it may be an informal process where users experiment with a new software product to see if they like it and to check that it does what they need.</a:t>
            </a:r>
          </a:p>
          <a:p>
            <a:pPr algn="just"/>
            <a:r>
              <a:rPr lang="en-US" dirty="0"/>
              <a:t> User testing is essential, even when comprehensive system and release testing have been carried out. Influences from the user’s working environment can have a major effect on the reliability, performance, usability, and robustness of a system.</a:t>
            </a:r>
          </a:p>
        </p:txBody>
      </p:sp>
    </p:spTree>
    <p:extLst>
      <p:ext uri="{BB962C8B-B14F-4D97-AF65-F5344CB8AC3E}">
        <p14:creationId xmlns:p14="http://schemas.microsoft.com/office/powerpoint/2010/main" val="10251823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6. User testing</a:t>
            </a:r>
          </a:p>
        </p:txBody>
      </p:sp>
      <p:sp>
        <p:nvSpPr>
          <p:cNvPr id="3" name="Content Placeholder 2"/>
          <p:cNvSpPr>
            <a:spLocks noGrp="1"/>
          </p:cNvSpPr>
          <p:nvPr>
            <p:ph idx="1"/>
          </p:nvPr>
        </p:nvSpPr>
        <p:spPr/>
        <p:txBody>
          <a:bodyPr/>
          <a:lstStyle/>
          <a:p>
            <a:pPr marL="0" indent="0" algn="just">
              <a:buNone/>
            </a:pPr>
            <a:r>
              <a:rPr lang="en-US" dirty="0"/>
              <a:t>There are three different types of user testing: </a:t>
            </a:r>
          </a:p>
          <a:p>
            <a:pPr marL="0" indent="0" algn="just">
              <a:buNone/>
            </a:pPr>
            <a:r>
              <a:rPr lang="en-US" dirty="0"/>
              <a:t>1. </a:t>
            </a:r>
            <a:r>
              <a:rPr lang="en-US" b="1" dirty="0"/>
              <a:t>Alpha testing</a:t>
            </a:r>
            <a:r>
              <a:rPr lang="en-US" dirty="0"/>
              <a:t>, where a selected group of software users work closely with the development team to test early releases of the software. </a:t>
            </a:r>
          </a:p>
          <a:p>
            <a:pPr marL="0" indent="0" algn="just">
              <a:buNone/>
            </a:pPr>
            <a:r>
              <a:rPr lang="en-US" dirty="0"/>
              <a:t>2. </a:t>
            </a:r>
            <a:r>
              <a:rPr lang="en-US" b="1" dirty="0"/>
              <a:t>Beta testing</a:t>
            </a:r>
            <a:r>
              <a:rPr lang="en-US" dirty="0"/>
              <a:t>, where a release of the software is made available to a larger group of users to allow them to experiment and to raise problems that they discover with the system developers.</a:t>
            </a:r>
          </a:p>
          <a:p>
            <a:pPr marL="0" indent="0" algn="just">
              <a:buNone/>
            </a:pPr>
            <a:r>
              <a:rPr lang="en-US" dirty="0"/>
              <a:t> 3. </a:t>
            </a:r>
            <a:r>
              <a:rPr lang="en-US" b="1" dirty="0"/>
              <a:t>Acceptance testing</a:t>
            </a:r>
            <a:r>
              <a:rPr lang="en-US" dirty="0"/>
              <a:t>, where customers test a system to decide whether or not it is ready to be accepted from the system developers and deployed in the customer environment.</a:t>
            </a:r>
          </a:p>
        </p:txBody>
      </p:sp>
    </p:spTree>
    <p:extLst>
      <p:ext uri="{BB962C8B-B14F-4D97-AF65-F5344CB8AC3E}">
        <p14:creationId xmlns:p14="http://schemas.microsoft.com/office/powerpoint/2010/main" val="6525268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7. Test Driven Development</a:t>
            </a:r>
          </a:p>
        </p:txBody>
      </p:sp>
      <p:sp>
        <p:nvSpPr>
          <p:cNvPr id="3" name="Content Placeholder 2"/>
          <p:cNvSpPr>
            <a:spLocks noGrp="1"/>
          </p:cNvSpPr>
          <p:nvPr>
            <p:ph idx="1"/>
          </p:nvPr>
        </p:nvSpPr>
        <p:spPr/>
        <p:txBody>
          <a:bodyPr/>
          <a:lstStyle/>
          <a:p>
            <a:pPr algn="just"/>
            <a:r>
              <a:rPr lang="en-US" dirty="0"/>
              <a:t>Test-driven development (TDD) is an approach to program development in which you interleave testing and code development You develop the code incrementally, along with a set of tests for that increment. You don’t start working on the next increment until the code that you have developed passes all of its tests. </a:t>
            </a:r>
          </a:p>
          <a:p>
            <a:pPr algn="just"/>
            <a:r>
              <a:rPr lang="en-US" dirty="0"/>
              <a:t>Test-driven development was introduced as part of the XP agile development method. However, it has now gained mainstream acceptance and may be used in both agile and plan-based processes</a:t>
            </a:r>
          </a:p>
        </p:txBody>
      </p:sp>
    </p:spTree>
    <p:extLst>
      <p:ext uri="{BB962C8B-B14F-4D97-AF65-F5344CB8AC3E}">
        <p14:creationId xmlns:p14="http://schemas.microsoft.com/office/powerpoint/2010/main" val="2023708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 Driven Development</a:t>
            </a:r>
            <a:endParaRPr lang="en-US" dirty="0"/>
          </a:p>
        </p:txBody>
      </p:sp>
      <p:pic>
        <p:nvPicPr>
          <p:cNvPr id="4" name="Content Placeholder 3"/>
          <p:cNvPicPr>
            <a:picLocks noGrp="1" noChangeAspect="1"/>
          </p:cNvPicPr>
          <p:nvPr>
            <p:ph idx="1"/>
          </p:nvPr>
        </p:nvPicPr>
        <p:blipFill>
          <a:blip r:embed="rId2"/>
          <a:stretch>
            <a:fillRect/>
          </a:stretch>
        </p:blipFill>
        <p:spPr>
          <a:xfrm>
            <a:off x="1965905" y="2388457"/>
            <a:ext cx="9085552" cy="3154504"/>
          </a:xfrm>
          <a:prstGeom prst="rect">
            <a:avLst/>
          </a:prstGeom>
        </p:spPr>
      </p:pic>
    </p:spTree>
    <p:extLst>
      <p:ext uri="{BB962C8B-B14F-4D97-AF65-F5344CB8AC3E}">
        <p14:creationId xmlns:p14="http://schemas.microsoft.com/office/powerpoint/2010/main" val="507321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 Driven Development</a:t>
            </a:r>
            <a:endParaRPr lang="en-US" dirty="0"/>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a:t>The fundamental TDD process is shown in Figure 8.9. The steps in the process are as follows:</a:t>
            </a:r>
          </a:p>
          <a:p>
            <a:pPr marL="0" indent="0" algn="just">
              <a:buNone/>
            </a:pPr>
            <a:r>
              <a:rPr lang="en-US" dirty="0"/>
              <a:t> 1. You start by identifying the increment of functionality that is required. This should normally be small and implementable in a few lines of code.</a:t>
            </a:r>
          </a:p>
          <a:p>
            <a:pPr marL="0" indent="0" algn="just">
              <a:buNone/>
            </a:pPr>
            <a:r>
              <a:rPr lang="en-US" dirty="0"/>
              <a:t> 2. You write a test for this functionality and implement it as an automated test. This means that the test can be executed and will report whether or not it has passed or failed.</a:t>
            </a:r>
          </a:p>
          <a:p>
            <a:pPr marL="0" indent="0" algn="just">
              <a:buNone/>
            </a:pPr>
            <a:r>
              <a:rPr lang="en-US" dirty="0"/>
              <a:t> 3. You then run the test, along with all other tests that have been implemented. Initially, you have not implemented the functionality so the new test will fail. This is deliberate as it shows that the test adds something to the test set.</a:t>
            </a:r>
          </a:p>
          <a:p>
            <a:pPr marL="0" indent="0" algn="just">
              <a:buNone/>
            </a:pPr>
            <a:r>
              <a:rPr lang="en-US" dirty="0"/>
              <a:t> 4. You then implement the functionality and re-run the test. This may involve refactoring existing code to improve it and add new code to what’s already there. </a:t>
            </a:r>
          </a:p>
          <a:p>
            <a:pPr marL="0" indent="0" algn="just">
              <a:buNone/>
            </a:pPr>
            <a:r>
              <a:rPr lang="en-US" dirty="0"/>
              <a:t>5. Once all tests run successfully, you move on to implementing the next chunk of functionality.</a:t>
            </a:r>
          </a:p>
        </p:txBody>
      </p:sp>
    </p:spTree>
    <p:extLst>
      <p:ext uri="{BB962C8B-B14F-4D97-AF65-F5344CB8AC3E}">
        <p14:creationId xmlns:p14="http://schemas.microsoft.com/office/powerpoint/2010/main" val="19281938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8. Test</a:t>
            </a:r>
            <a:r>
              <a:rPr lang="en-US" dirty="0"/>
              <a:t> </a:t>
            </a:r>
            <a:r>
              <a:rPr lang="en-US" b="1" dirty="0"/>
              <a:t>Cases</a:t>
            </a:r>
            <a:r>
              <a:rPr lang="en-US" dirty="0"/>
              <a:t>:</a:t>
            </a:r>
          </a:p>
        </p:txBody>
      </p:sp>
      <p:sp>
        <p:nvSpPr>
          <p:cNvPr id="3" name="Content Placeholder 2"/>
          <p:cNvSpPr>
            <a:spLocks noGrp="1"/>
          </p:cNvSpPr>
          <p:nvPr>
            <p:ph idx="1"/>
          </p:nvPr>
        </p:nvSpPr>
        <p:spPr/>
        <p:txBody>
          <a:bodyPr/>
          <a:lstStyle/>
          <a:p>
            <a:pPr algn="just"/>
            <a:r>
              <a:rPr lang="en-US" dirty="0"/>
              <a:t>The test case is defined as a group of conditions under which a tester determines whether a software application is working as per the customer's requirements or not. Test case designing includes preconditions, case name, input conditions, and expected result. A test case is a first level action and derived from test scenarios.</a:t>
            </a:r>
          </a:p>
          <a:p>
            <a:pPr algn="just"/>
            <a:r>
              <a:rPr lang="en-US" dirty="0"/>
              <a:t>It is an in-details document that contains all possible inputs (positive as well as negative) and the navigation steps, which are used for the test execution process. Writing of test cases is a one-time attempt that can be used in the future at the time of regression testing.</a:t>
            </a:r>
          </a:p>
        </p:txBody>
      </p:sp>
    </p:spTree>
    <p:extLst>
      <p:ext uri="{BB962C8B-B14F-4D97-AF65-F5344CB8AC3E}">
        <p14:creationId xmlns:p14="http://schemas.microsoft.com/office/powerpoint/2010/main" val="19865147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 case template</a:t>
            </a:r>
          </a:p>
        </p:txBody>
      </p:sp>
      <p:sp>
        <p:nvSpPr>
          <p:cNvPr id="3" name="Content Placeholder 2"/>
          <p:cNvSpPr>
            <a:spLocks noGrp="1"/>
          </p:cNvSpPr>
          <p:nvPr>
            <p:ph idx="1"/>
          </p:nvPr>
        </p:nvSpPr>
        <p:spPr/>
        <p:txBody>
          <a:bodyPr/>
          <a:lstStyle/>
          <a:p>
            <a:r>
              <a:rPr lang="en-US" dirty="0"/>
              <a:t>The primary purpose of writing a test case is to achieve the efficiency of the application.</a:t>
            </a:r>
          </a:p>
          <a:p>
            <a:endParaRPr lang="en-US" dirty="0"/>
          </a:p>
        </p:txBody>
      </p:sp>
      <p:pic>
        <p:nvPicPr>
          <p:cNvPr id="4" name="Picture 3"/>
          <p:cNvPicPr>
            <a:picLocks noChangeAspect="1"/>
          </p:cNvPicPr>
          <p:nvPr/>
        </p:nvPicPr>
        <p:blipFill>
          <a:blip r:embed="rId2"/>
          <a:stretch>
            <a:fillRect/>
          </a:stretch>
        </p:blipFill>
        <p:spPr>
          <a:xfrm>
            <a:off x="2943939" y="2597150"/>
            <a:ext cx="5291438" cy="3071008"/>
          </a:xfrm>
          <a:prstGeom prst="rect">
            <a:avLst/>
          </a:prstGeom>
        </p:spPr>
      </p:pic>
    </p:spTree>
    <p:extLst>
      <p:ext uri="{BB962C8B-B14F-4D97-AF65-F5344CB8AC3E}">
        <p14:creationId xmlns:p14="http://schemas.microsoft.com/office/powerpoint/2010/main" val="24648829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Example of a test case template</a:t>
            </a:r>
            <a:br>
              <a:rPr lang="en-US" dirty="0"/>
            </a:br>
            <a:endParaRPr lang="en-US" dirty="0"/>
          </a:p>
        </p:txBody>
      </p:sp>
      <p:pic>
        <p:nvPicPr>
          <p:cNvPr id="4" name="Content Placeholder 3"/>
          <p:cNvPicPr>
            <a:picLocks noGrp="1" noChangeAspect="1"/>
          </p:cNvPicPr>
          <p:nvPr>
            <p:ph idx="1"/>
          </p:nvPr>
        </p:nvPicPr>
        <p:blipFill>
          <a:blip r:embed="rId2"/>
          <a:stretch>
            <a:fillRect/>
          </a:stretch>
        </p:blipFill>
        <p:spPr>
          <a:xfrm>
            <a:off x="2004291" y="1348509"/>
            <a:ext cx="8460510" cy="5347855"/>
          </a:xfrm>
          <a:prstGeom prst="rect">
            <a:avLst/>
          </a:prstGeom>
        </p:spPr>
      </p:pic>
    </p:spTree>
    <p:extLst>
      <p:ext uri="{BB962C8B-B14F-4D97-AF65-F5344CB8AC3E}">
        <p14:creationId xmlns:p14="http://schemas.microsoft.com/office/powerpoint/2010/main" val="22777637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pPr algn="just"/>
            <a:r>
              <a:rPr lang="en-US" dirty="0"/>
              <a:t>What is Release testing? Also explain requirement based testing, scenario based testing and performance based testing.</a:t>
            </a:r>
          </a:p>
          <a:p>
            <a:pPr algn="just"/>
            <a:r>
              <a:rPr lang="en-US" dirty="0"/>
              <a:t>What is User testing? Also explain Alpha testing, Beta testing and Acceptance testing.</a:t>
            </a:r>
          </a:p>
          <a:p>
            <a:pPr algn="just"/>
            <a:r>
              <a:rPr lang="en-US" dirty="0"/>
              <a:t>What is Test Driven Development? Explain its steps.</a:t>
            </a:r>
          </a:p>
          <a:p>
            <a:pPr algn="just"/>
            <a:r>
              <a:rPr lang="en-US" dirty="0"/>
              <a:t>Write test case of any module of your project work with proper details as shown in the sample.</a:t>
            </a:r>
          </a:p>
          <a:p>
            <a:pPr algn="just"/>
            <a:endParaRPr lang="en-US" dirty="0"/>
          </a:p>
        </p:txBody>
      </p:sp>
    </p:spTree>
    <p:extLst>
      <p:ext uri="{BB962C8B-B14F-4D97-AF65-F5344CB8AC3E}">
        <p14:creationId xmlns:p14="http://schemas.microsoft.com/office/powerpoint/2010/main" val="3490018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CE061C-DC39-4F16-BA73-3D452D51FA47}"/>
              </a:ext>
            </a:extLst>
          </p:cNvPr>
          <p:cNvSpPr>
            <a:spLocks noGrp="1"/>
          </p:cNvSpPr>
          <p:nvPr>
            <p:ph type="title"/>
          </p:nvPr>
        </p:nvSpPr>
        <p:spPr/>
        <p:txBody>
          <a:bodyPr/>
          <a:lstStyle/>
          <a:p>
            <a:r>
              <a:rPr lang="en-US" dirty="0"/>
              <a:t>End of unit 7</a:t>
            </a:r>
          </a:p>
        </p:txBody>
      </p:sp>
      <p:sp>
        <p:nvSpPr>
          <p:cNvPr id="2" name="Slide Number Placeholder 1">
            <a:extLst>
              <a:ext uri="{FF2B5EF4-FFF2-40B4-BE49-F238E27FC236}">
                <a16:creationId xmlns:a16="http://schemas.microsoft.com/office/drawing/2014/main" id="{60992EE2-28BE-4C3F-84F4-906D77A2E9EC}"/>
              </a:ext>
            </a:extLst>
          </p:cNvPr>
          <p:cNvSpPr>
            <a:spLocks noGrp="1"/>
          </p:cNvSpPr>
          <p:nvPr>
            <p:ph type="sldNum" sz="quarter" idx="12"/>
          </p:nvPr>
        </p:nvSpPr>
        <p:spPr/>
        <p:txBody>
          <a:bodyPr/>
          <a:lstStyle/>
          <a:p>
            <a:fld id="{255C45AA-988C-4610-8E25-9C545FF2A435}" type="slidenum">
              <a:rPr lang="en-US" smtClean="0"/>
              <a:t>45</a:t>
            </a:fld>
            <a:endParaRPr lang="en-US"/>
          </a:p>
        </p:txBody>
      </p:sp>
    </p:spTree>
    <p:extLst>
      <p:ext uri="{BB962C8B-B14F-4D97-AF65-F5344CB8AC3E}">
        <p14:creationId xmlns:p14="http://schemas.microsoft.com/office/powerpoint/2010/main" val="33554693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1118</TotalTime>
  <Words>4792</Words>
  <Application>Microsoft Office PowerPoint</Application>
  <PresentationFormat>Widescreen</PresentationFormat>
  <Paragraphs>262</Paragraphs>
  <Slides>45</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Times New Roman</vt:lpstr>
      <vt:lpstr>Wingdings</vt:lpstr>
      <vt:lpstr>Wood Type</vt:lpstr>
      <vt:lpstr>Unit 8  Software Testing </vt:lpstr>
      <vt:lpstr>Syllabus</vt:lpstr>
      <vt:lpstr>1. System Testing</vt:lpstr>
      <vt:lpstr>Verification:</vt:lpstr>
      <vt:lpstr>Validation</vt:lpstr>
      <vt:lpstr>Difference between verification and validation</vt:lpstr>
      <vt:lpstr>Contd.</vt:lpstr>
      <vt:lpstr>2. Testing Technique:</vt:lpstr>
      <vt:lpstr>Software Inspection</vt:lpstr>
      <vt:lpstr>Software Inspection</vt:lpstr>
      <vt:lpstr>Software Inspection</vt:lpstr>
      <vt:lpstr>Inspection Process</vt:lpstr>
      <vt:lpstr>Inspection Process</vt:lpstr>
      <vt:lpstr>4. Development testing</vt:lpstr>
      <vt:lpstr>4.1 Unit testing </vt:lpstr>
      <vt:lpstr>4.1 Unit Testing</vt:lpstr>
      <vt:lpstr>4.2 Integration testing </vt:lpstr>
      <vt:lpstr>4.2 Different approaches of Integration testing</vt:lpstr>
      <vt:lpstr>4.2.1 Big Bang Integration testing</vt:lpstr>
      <vt:lpstr>4.2.2 Incremental Integration Testing </vt:lpstr>
      <vt:lpstr>4.2.2 Incremental Integration Testing </vt:lpstr>
      <vt:lpstr>Example:</vt:lpstr>
      <vt:lpstr>4.3 System testing </vt:lpstr>
      <vt:lpstr>4.3 System testing </vt:lpstr>
      <vt:lpstr>Regression Testing</vt:lpstr>
      <vt:lpstr>Example:</vt:lpstr>
      <vt:lpstr>Question:</vt:lpstr>
      <vt:lpstr>5. Release testing</vt:lpstr>
      <vt:lpstr>5.1 Requirements-based testing</vt:lpstr>
      <vt:lpstr>5.1 Requirements-based testing</vt:lpstr>
      <vt:lpstr>5.2  Scenario testing</vt:lpstr>
      <vt:lpstr>5.2  Scenario testing</vt:lpstr>
      <vt:lpstr>5.2  Scenario testing</vt:lpstr>
      <vt:lpstr>5.3 Performance testing</vt:lpstr>
      <vt:lpstr>5.3 Performance testing</vt:lpstr>
      <vt:lpstr>6. User Testing</vt:lpstr>
      <vt:lpstr>6. User testing</vt:lpstr>
      <vt:lpstr>7. Test Driven Development</vt:lpstr>
      <vt:lpstr>Test Driven Development</vt:lpstr>
      <vt:lpstr>Test Driven Development</vt:lpstr>
      <vt:lpstr>8. Test Cases:</vt:lpstr>
      <vt:lpstr>Test case template</vt:lpstr>
      <vt:lpstr>Example of a test case template </vt:lpstr>
      <vt:lpstr>Question:</vt:lpstr>
      <vt:lpstr>End of unit 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Yachu</dc:creator>
  <cp:lastModifiedBy>Yachu</cp:lastModifiedBy>
  <cp:revision>144</cp:revision>
  <dcterms:created xsi:type="dcterms:W3CDTF">2026-06-22T07:06:56Z</dcterms:created>
  <dcterms:modified xsi:type="dcterms:W3CDTF">2026-08-24T04:00:11Z</dcterms:modified>
</cp:coreProperties>
</file>